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to Topic 1.12: Transformations of Functions.
Timing: 60 minutes (Diagnose 6, Targeted Instruction 18, Practice 12, Production 12, Mastery Gate 6, Smart Production 6). For a 40-minute class scale every station by two thirds.
The journey map on the next slide shows the six stations; in slideshow mode the Morph transition zooms the station circles into the breadcrumb at the top of every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whole map. Walk it left to right: Diagnose (what we already know), Targeted Instruction (Additive transformations: translations; Multiplicative transformations: dilations; Combined transformations, domain and range), Practice (Practice, Apply, Investigate), Production (the arch of a footbridge), Mastery Gate (three questions to pass), Smart Production (create, then Time to Check).
In slideshow mode the Morph transition animates these circles shrinking into the breadcrumb on later slides; without Morph the slides fade.
Ask the class which station they think will be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Read the objectives aloud one at a time and have students say which one they feel least sure about.
Vocabulary used today: additive transformation, multiplicative transformation, vertical translation, horizontal translation, dilation, reflection, preimage, image, parent function.
Standards are listed on this slide.
The essential question and mathematical practices are not shown because they are not in the project documents; add them from the curriculum map if you want them displayed.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(Diagnose, 6 min, no calculator):
Speaker notes (Diagnose, 6 min, no calculator).
Solutions: Q1 f(x + 3) = 2(x + 3) + 1 = 2x + 7. Q2 (3, 2): reflection over the x-axis changes the sign of y only. Q3 x - 2 &gt;= 0, so the domain is [2, infinity).
Verbal misconceptions: 'f(x + 3) = 2x + 1 + 3' (the 3 goes inside the function); 'reflect over the x-axis changes x'; 'the domain is x &gt; -2'.
Adaptive routing: if more than 30% miss Q1, route to slide 5 (additive transformations). If Q2 or Q3 is missed by more than 30%, route to slide 6 (multiplicative transformations).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1 of 3):
Speaker notes (Targeted Instruction, block 1 of 3, LO 1.12.A). EK 1.12.A.1: 'The function g(x) = f(x) + k is an additive transformation of the function f that results in a vertical translation of the graph of f by k units.' EK 1.12.A.2: 'The function g(x) = f(x + h) is an additive transformation of the function f that results in a horizontal translation of the graph of f by -h units.'
Worked solutions: Example A: g(x) = f(x + 3) - 5 with f(x) = x^2; the parent vertex (0, 0) moves left 3 and down 5 to (-3, -5). Example B: g(x) = f(x - 1) + 2 means h = -1, so a shift right 1; (2, 4) becomes (3, 6). Example C: h = 4 so shift left 4; k = -7; (1, 5) becomes (-3, -2).
Verbal misconceptions: 'x + 3 moves the graph right because it is positive'; 'the horizontal shift is h, not -h'.
Adaptive routing: if more than 30% miss Gate Q1, return to this slide and redo Example A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2 of 3):
Speaker notes (Targeted Instruction, block 2 of 3, LO 1.12.A). EK 1.12.A.3 and 1.12.A.4 (the dilation factors were garbled in the fetched text and are reconstructed in standard form; check against the CED PDF): g(x) = a f(x), a not 0, gives a vertical dilation by a factor of |a| with a reflection over the x-axis if a &lt; 0; g(x) = f(bx), b not 0, gives a horizontal dilation by a factor of 1/|b| with a reflection over the y-axis if b &lt; 0.
Worked solutions: Example A: f(x) = sqrt(x) passes through (4, 2). With a = -2 every y-value is multiplied by -2: (4, -4). The outputs of f are 0 or more, so the outputs of g are 0 or less: range (-infinity, 0]. Example B: b = 1/3 so every x-value is multiplied by 1/|b| = 3: (4, 2) goes to (12, 2). Check: h(12) = sqrt(12/3) = 2. The domain stays [0, infinity).
Verbal misconceptions: 'f(x/3) squeezes the graph by 3' (it stretches horizontally by 3); 'a negative a only changes the dilation'; 'multiply the x-coordinate by b'.
Adaptive routing: if more than 30% miss Gate Q2, return to this slide and trace the point (4, 2) on both panels.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3 of 3):
Speaker notes (Targeted Instruction, block 3 of 3, LO 1.12.A). EK 1.12.A.5: 'Additive and multiplicative transformations can be combined, resulting in combinations of horizontal and vertical translations and dilations. The set of points prior to the transformations is called the preimage of the transformations, and the set of points after the transformations is called the image of the transformations.' EK 1.12.A.6: 'The domain and range of a function that is a transformation of a parent function may be different from those of the parent function.'
Worked solutions: Example A: g(4 + 2) = 3 f(4) - 1 = 3(2) - 1 = 5, so the image of (4, 2) is (6, 5). Domain: x - 2 &gt;= 0 gives [2, infinity). Range: 3 sqrt(.) &gt;= 0, minus 1 gives [-1, infinity). Example B: g(x) is defined when 2x is in [-2, 4], so x is in [-1, 2]. The outputs of f lie in [0, 6]; negating gives [-6, 0]; adding 1 gives [-5, 1].
Verbal misconceptions: 'the domain of f(2x) is [-4, 8]' (it is divided by 2, not multiplied); 'the +1 is applied before the negation'.
Adaptive routing: if more than 30% miss Gate Q3, return to this slide and redo Example B on a number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(Practice, 12 min; tierless differentiation: students choose the starting column and may move across):
Speaker notes (Practice, 12 min; tierless: students choose the starting column and may move across).
Answers: Practice: left 3 and down 4: (-2, 5) becomes (-5, 1). Apply: vertical dilation by 1/2 and reflection over the x-axis: (6, 8) becomes (6, -4). Investigate: g(x) = f(x + 3) takes the same output at x = a - 3 that f takes at x = a, so each point moves 3 units left.
Verbal misconceptions: 'plus means right'.
Adaptive routing: finished students move to Apply then Investigate; stuck students return to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(Production, 12 min):
Speaker notes (Production, 12 min).
Solutions: Task 1: shift right 20, vertical dilation by 0.05, reflection over the x-axis, shift up 20. Task 2: the vertex is (20, 20): greatest height 20 m at x = 20; A(10) = -0.05(100) + 20 = 15 m. Task 3: -0.05(x - 20)^2 + 20 = 12 gives (x - 20)^2 = 160, so x = 20 +/- 12.649, i.e. x = 7.35 m and x = 32.65 m. A(0) = A(40) = 0, so the range on the domain is [0, 20].
Verbal misconceptions: 'x - 20 moves the arch left'; losing the second solution of the square root.
Adaptive routing: if students cannot start, send them to slide 5 Example A and the hint.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(Mastery Gate, 6 min, no calculator):
Speaker notes (Mastery Gate, 6 min, no calculator).
Answers: Q1 (-4, -2). Q2 b = -2: x becomes 6/(-2) = -3, y unchanged: (-3, -3) (dilation by 1/2 and reflection over the y-axis). Q3 0 &lt;= 3x &lt;= 12 gives [0, 4].
Verbal misconceptions: Q1 '(4, -2)'; Q2 'multiply x by -2 to get (-12, -3)'; Q3 'multiply the domain by 3 to get [0, 36]'.
Adaptive routing: Q1 missed, route to slide 5 Example A; Q2 missed, route to slide 6 Example B; Q3 missed, route to slide 7 Example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(Smart Production, 6 min):
Speaker notes (Smart Production, 6 min).
Exit answer: the vertex of |x| moves right 1 and up 2 to (1, 2); a = -3 reflects over the x-axis, so the graph opens downward and is steeper (slopes of -3 and 3 on each side, with the outputs reflected).
Verbal misconceptions: students give (-1, 2) or say it opens upward. Ask: which number is inside the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 station is checked off. Recap in one sentence: Inside changes move and stretch the graph horizontally in the opposite sense, outside changes act vertically, and domain and range can change. Collect the Time to Check responses. Next lesson: Topic 1.13 Function Model Selection and Assumption Articulation.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slideLayout" Target="../slideLayouts/slideLayout1.xml"/><Relationship Id="rId1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1.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1.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6583680" y="1463040"/>
            <a:ext cx="7863840" cy="7863840"/>
          </a:xfrm>
          <a:prstGeom prst="ellipse">
            <a:avLst/>
          </a:prstGeom>
          <a:solidFill>
            <a:srgbClr val="0E4F4C"/>
          </a:solidFill>
          <a:ln w="12700">
            <a:solidFill>
              <a:srgbClr val="0E4F4C"/>
            </a:solidFill>
            <a:prstDash val="solid"/>
          </a:ln>
        </p:spPr>
      </p:sp>
      <p:sp>
        <p:nvSpPr>
          <p:cNvPr id="3" name="Shape 1"/>
          <p:cNvSpPr/>
          <p:nvPr/>
        </p:nvSpPr>
        <p:spPr>
          <a:xfrm>
            <a:off x="8595360" y="-1463040"/>
            <a:ext cx="3291840" cy="3291840"/>
          </a:xfrm>
          <a:prstGeom prst="ellipse">
            <a:avLst/>
          </a:prstGeom>
          <a:solidFill>
            <a:srgbClr val="F0B323">
              <a:alpha val="30000"/>
            </a:srgbClr>
          </a:solidFill>
          <a:ln w="12700">
            <a:solidFill>
              <a:srgbClr val="F0B323">
                <a:alpha val="0"/>
              </a:srgbClr>
            </a:solidFill>
            <a:prstDash val="solid"/>
          </a:ln>
        </p:spPr>
      </p:sp>
      <p:sp>
        <p:nvSpPr>
          <p:cNvPr id="4" name="Shape 2"/>
          <p:cNvSpPr/>
          <p:nvPr/>
        </p:nvSpPr>
        <p:spPr>
          <a:xfrm>
            <a:off x="-1280160" y="4023360"/>
            <a:ext cx="3291840" cy="3291840"/>
          </a:xfrm>
          <a:prstGeom prst="ellipse">
            <a:avLst/>
          </a:prstGeom>
          <a:solidFill>
            <a:srgbClr val="17A199">
              <a:alpha val="15000"/>
            </a:srgbClr>
          </a:solidFill>
          <a:ln w="12700">
            <a:solidFill>
              <a:srgbClr val="17A199">
                <a:alpha val="0"/>
              </a:srgbClr>
            </a:solidFill>
            <a:prstDash val="solid"/>
          </a:ln>
        </p:spPr>
      </p:sp>
      <p:pic>
        <p:nvPicPr>
          <p:cNvPr id="5"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6" name="Image 1" descr="../cognia_badge.png">    </p:cNvPr>
          <p:cNvPicPr>
            <a:picLocks noChangeAspect="1"/>
          </p:cNvPicPr>
          <p:nvPr/>
        </p:nvPicPr>
        <p:blipFill>
          <a:blip r:embed="rId2"/>
          <a:stretch>
            <a:fillRect/>
          </a:stretch>
        </p:blipFill>
        <p:spPr>
          <a:xfrm>
            <a:off x="4663440" y="91440"/>
            <a:ext cx="1188720" cy="891540"/>
          </a:xfrm>
          <a:prstGeom prst="rect">
            <a:avLst/>
          </a:prstGeom>
        </p:spPr>
      </p:pic>
      <p:pic>
        <p:nvPicPr>
          <p:cNvPr id="7" name="Image 2" descr="../school_logo.png">    </p:cNvPr>
          <p:cNvPicPr>
            <a:picLocks noChangeAspect="1"/>
          </p:cNvPicPr>
          <p:nvPr/>
        </p:nvPicPr>
        <p:blipFill>
          <a:blip r:embed="rId3"/>
          <a:stretch>
            <a:fillRect/>
          </a:stretch>
        </p:blipFill>
        <p:spPr>
          <a:xfrm>
            <a:off x="11292840" y="164592"/>
            <a:ext cx="566928" cy="566928"/>
          </a:xfrm>
          <a:prstGeom prst="rect">
            <a:avLst/>
          </a:prstGeom>
        </p:spPr>
      </p:pic>
      <p:sp>
        <p:nvSpPr>
          <p:cNvPr id="8" name="Text 3"/>
          <p:cNvSpPr txBox="1"/>
          <p:nvPr/>
        </p:nvSpPr>
        <p:spPr>
          <a:xfrm>
            <a:off x="640080" y="1828800"/>
            <a:ext cx="6400800" cy="274320"/>
          </a:xfrm>
          <a:prstGeom prst="rect">
            <a:avLst/>
          </a:prstGeom>
          <a:noFill/>
          <a:ln/>
        </p:spPr>
        <p:txBody>
          <a:bodyPr wrap="square" lIns="0" tIns="0" rIns="0" bIns="0" rtlCol="0" anchor="t"/>
          <a:lstStyle/>
          <a:p>
            <a:pPr indent="0" marL="0">
              <a:buNone/>
            </a:pPr>
            <a:r>
              <a:rPr lang="en-US" sz="1400" b="1" spc="300" kern="0" dirty="0">
                <a:solidFill>
                  <a:srgbClr val="E8762C"/>
                </a:solidFill>
                <a:latin typeface="Calibri" pitchFamily="34" charset="0"/>
                <a:ea typeface="Calibri" pitchFamily="34" charset="-122"/>
                <a:cs typeface="Calibri" pitchFamily="34" charset="-120"/>
              </a:rPr>
              <a:t>GRADE 9-10  ·  AP PRECALCULUS  ·  UNIT 1</a:t>
            </a:r>
            <a:endParaRPr lang="en-US" sz="1400" dirty="0"/>
          </a:p>
        </p:txBody>
      </p:sp>
      <p:sp>
        <p:nvSpPr>
          <p:cNvPr id="9" name="Text 4"/>
          <p:cNvSpPr txBox="1"/>
          <p:nvPr/>
        </p:nvSpPr>
        <p:spPr>
          <a:xfrm>
            <a:off x="640080" y="2194560"/>
            <a:ext cx="5943600" cy="548640"/>
          </a:xfrm>
          <a:prstGeom prst="rect">
            <a:avLst/>
          </a:prstGeom>
          <a:noFill/>
          <a:ln/>
        </p:spPr>
        <p:txBody>
          <a:bodyPr wrap="square" lIns="0" tIns="0" rIns="0" bIns="0" rtlCol="0" anchor="t"/>
          <a:lstStyle/>
          <a:p>
            <a:pPr indent="0" marL="0">
              <a:buNone/>
            </a:pPr>
            <a:r>
              <a:rPr lang="en-US" sz="2600" b="1" dirty="0">
                <a:solidFill>
                  <a:srgbClr val="17A199"/>
                </a:solidFill>
                <a:latin typeface="Cambria" pitchFamily="34" charset="0"/>
                <a:ea typeface="Cambria" pitchFamily="34" charset="-122"/>
                <a:cs typeface="Cambria" pitchFamily="34" charset="-120"/>
              </a:rPr>
              <a:t>Topic 1.12</a:t>
            </a:r>
            <a:endParaRPr lang="en-US" sz="2600" dirty="0"/>
          </a:p>
        </p:txBody>
      </p:sp>
      <p:sp>
        <p:nvSpPr>
          <p:cNvPr id="10" name="Text 5"/>
          <p:cNvSpPr txBox="1"/>
          <p:nvPr/>
        </p:nvSpPr>
        <p:spPr>
          <a:xfrm>
            <a:off x="640080" y="2743200"/>
            <a:ext cx="6035040" cy="1737360"/>
          </a:xfrm>
          <a:prstGeom prst="rect">
            <a:avLst/>
          </a:prstGeom>
          <a:noFill/>
          <a:ln/>
        </p:spPr>
        <p:txBody>
          <a:bodyPr wrap="square" lIns="0" tIns="0" rIns="0" bIns="0" rtlCol="0" anchor="t"/>
          <a:lstStyle/>
          <a:p>
            <a:pPr indent="0" marL="0">
              <a:buNone/>
            </a:pPr>
            <a:r>
              <a:rPr lang="en-US" sz="4400" b="1" dirty="0">
                <a:solidFill>
                  <a:srgbClr val="1F3864"/>
                </a:solidFill>
                <a:latin typeface="Cambria" pitchFamily="34" charset="0"/>
                <a:ea typeface="Cambria" pitchFamily="34" charset="-122"/>
                <a:cs typeface="Cambria" pitchFamily="34" charset="-120"/>
              </a:rPr>
              <a:t>Transformations</a:t>
            </a:r>
            <a:endParaRPr lang="en-US" sz="4400" dirty="0"/>
          </a:p>
          <a:p>
            <a:pPr indent="0" marL="0">
              <a:buNone/>
            </a:pPr>
            <a:r>
              <a:rPr lang="en-US" sz="4400" b="1" dirty="0">
                <a:solidFill>
                  <a:srgbClr val="1F3864"/>
                </a:solidFill>
                <a:latin typeface="Cambria" pitchFamily="34" charset="0"/>
                <a:ea typeface="Cambria" pitchFamily="34" charset="-122"/>
                <a:cs typeface="Cambria" pitchFamily="34" charset="-120"/>
              </a:rPr>
              <a:t>of Functions</a:t>
            </a:r>
            <a:endParaRPr lang="en-US" sz="4400" dirty="0"/>
          </a:p>
        </p:txBody>
      </p:sp>
      <p:sp>
        <p:nvSpPr>
          <p:cNvPr id="11" name="Text 6"/>
          <p:cNvSpPr txBox="1"/>
          <p:nvPr/>
        </p:nvSpPr>
        <p:spPr>
          <a:xfrm>
            <a:off x="640080" y="4572000"/>
            <a:ext cx="6035040" cy="365760"/>
          </a:xfrm>
          <a:prstGeom prst="rect">
            <a:avLst/>
          </a:prstGeom>
          <a:noFill/>
          <a:ln/>
        </p:spPr>
        <p:txBody>
          <a:bodyPr wrap="square" lIns="0" tIns="0" rIns="0" bIns="0" rtlCol="0" anchor="t"/>
          <a:lstStyle/>
          <a:p>
            <a:pPr indent="0" marL="0">
              <a:buNone/>
            </a:pPr>
            <a:r>
              <a:rPr lang="en-US" sz="1800" dirty="0">
                <a:solidFill>
                  <a:srgbClr val="222E2D"/>
                </a:solidFill>
                <a:latin typeface="Calibri" pitchFamily="34" charset="0"/>
                <a:ea typeface="Calibri" pitchFamily="34" charset="-122"/>
                <a:cs typeface="Calibri" pitchFamily="34" charset="-120"/>
              </a:rPr>
              <a:t>Polynomial and Rational Functions</a:t>
            </a:r>
            <a:endParaRPr lang="en-US" sz="1800" dirty="0"/>
          </a:p>
        </p:txBody>
      </p:sp>
      <p:sp>
        <p:nvSpPr>
          <p:cNvPr id="12" name="Text 7"/>
          <p:cNvSpPr txBox="1"/>
          <p:nvPr/>
        </p:nvSpPr>
        <p:spPr>
          <a:xfrm>
            <a:off x="640080" y="5074920"/>
            <a:ext cx="4572000" cy="365760"/>
          </a:xfrm>
          <a:prstGeom prst="rect">
            <a:avLst/>
          </a:prstGeom>
          <a:noFill/>
          <a:ln/>
        </p:spPr>
        <p:txBody>
          <a:bodyPr wrap="square" lIns="0" tIns="0" rIns="0" bIns="0" rtlCol="0" anchor="t"/>
          <a:lstStyle/>
          <a:p>
            <a:pPr indent="0" marL="0">
              <a:buNone/>
            </a:pPr>
            <a:r>
              <a:rPr lang="en-US" sz="1800" b="1" dirty="0">
                <a:solidFill>
                  <a:srgbClr val="222E2D"/>
                </a:solidFill>
                <a:latin typeface="Calibri" pitchFamily="34" charset="0"/>
                <a:ea typeface="Calibri" pitchFamily="34" charset="-122"/>
                <a:cs typeface="Calibri" pitchFamily="34" charset="-120"/>
              </a:rPr>
              <a:t>Mr Malek Thiab</a:t>
            </a:r>
            <a:endParaRPr lang="en-US" sz="1800" dirty="0"/>
          </a:p>
        </p:txBody>
      </p:sp>
      <p:pic>
        <p:nvPicPr>
          <p:cNvPr id="13" name="Image 3" descr="m_AP1-12/kec1ae26cb5.png">    </p:cNvPr>
          <p:cNvPicPr>
            <a:picLocks noChangeAspect="1"/>
          </p:cNvPicPr>
          <p:nvPr/>
        </p:nvPicPr>
        <p:blipFill>
          <a:blip r:embed="rId4"/>
          <a:stretch>
            <a:fillRect/>
          </a:stretch>
        </p:blipFill>
        <p:spPr>
          <a:xfrm>
            <a:off x="8567745" y="3017520"/>
            <a:ext cx="2981310" cy="494508"/>
          </a:xfrm>
          <a:prstGeom prst="rect">
            <a:avLst/>
          </a:prstGeom>
        </p:spPr>
      </p:pic>
      <p:sp>
        <p:nvSpPr>
          <p:cNvPr id="14" name="Text 8"/>
          <p:cNvSpPr txBox="1"/>
          <p:nvPr/>
        </p:nvSpPr>
        <p:spPr>
          <a:xfrm>
            <a:off x="8138160" y="4160520"/>
            <a:ext cx="3840480" cy="365760"/>
          </a:xfrm>
          <a:prstGeom prst="rect">
            <a:avLst/>
          </a:prstGeom>
          <a:noFill/>
          <a:ln/>
        </p:spPr>
        <p:txBody>
          <a:bodyPr wrap="square" lIns="0" tIns="0" rIns="0" bIns="0"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Journey of 6 stations, 60 minutes</a:t>
            </a:r>
            <a:endParaRPr lang="en-US" sz="1600" dirty="0"/>
          </a:p>
        </p:txBody>
      </p:sp>
      <p:sp>
        <p:nvSpPr>
          <p:cNvPr id="15" name="Text 9"/>
          <p:cNvSpPr txBox="1"/>
          <p:nvPr/>
        </p:nvSpPr>
        <p:spPr>
          <a:xfrm>
            <a:off x="365760" y="6492240"/>
            <a:ext cx="5943600" cy="228600"/>
          </a:xfrm>
          <a:prstGeom prst="rect">
            <a:avLst/>
          </a:prstGeom>
          <a:noFill/>
          <a:ln/>
        </p:spPr>
        <p:txBody>
          <a:bodyPr wrap="square" lIns="0" tIns="0" rIns="0" bIns="0" rtlCol="0" anchor="t"/>
          <a:lstStyle/>
          <a:p>
            <a:pP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Today's journey</a:t>
            </a:r>
            <a:endParaRPr lang="en-US" sz="4000" dirty="0"/>
          </a:p>
        </p:txBody>
      </p:sp>
      <p:sp>
        <p:nvSpPr>
          <p:cNvPr id="7" name="Text 3"/>
          <p:cNvSpPr txBox="1"/>
          <p:nvPr/>
        </p:nvSpPr>
        <p:spPr>
          <a:xfrm>
            <a:off x="548640" y="1554480"/>
            <a:ext cx="10972800" cy="365760"/>
          </a:xfrm>
          <a:prstGeom prst="rect">
            <a:avLst/>
          </a:prstGeom>
          <a:noFill/>
          <a:ln/>
        </p:spPr>
        <p:txBody>
          <a:bodyPr wrap="square" lIns="0" tIns="0" rIns="0" bIns="0" rtlCol="0" anchor="t"/>
          <a:lstStyle/>
          <a:p>
            <a:pPr indent="0" marL="0">
              <a:buNone/>
            </a:pPr>
            <a:r>
              <a:rPr lang="en-US" sz="1800" dirty="0">
                <a:solidFill>
                  <a:srgbClr val="BFD8D5"/>
                </a:solidFill>
                <a:latin typeface="Calibri" pitchFamily="34" charset="0"/>
                <a:ea typeface="Calibri" pitchFamily="34" charset="-122"/>
                <a:cs typeface="Calibri" pitchFamily="34" charset="-120"/>
              </a:rPr>
              <a:t>Six stations. Each one zooms in as we arrive.</a:t>
            </a:r>
            <a:endParaRPr lang="en-US" sz="1800" dirty="0"/>
          </a:p>
        </p:txBody>
      </p:sp>
      <p:sp>
        <p:nvSpPr>
          <p:cNvPr id="8" name="path1"/>
          <p:cNvSpPr/>
          <p:nvPr/>
        </p:nvSpPr>
        <p:spPr>
          <a:xfrm flipV="1">
            <a:off x="1371600" y="3200400"/>
            <a:ext cx="1965960" cy="1097280"/>
          </a:xfrm>
          <a:prstGeom prst="line">
            <a:avLst/>
          </a:prstGeom>
          <a:noFill/>
          <a:ln w="38100">
            <a:solidFill>
              <a:srgbClr val="F0B323"/>
            </a:solidFill>
            <a:prstDash val="dash"/>
          </a:ln>
        </p:spPr>
      </p:sp>
      <p:sp>
        <p:nvSpPr>
          <p:cNvPr id="9" name="path2"/>
          <p:cNvSpPr/>
          <p:nvPr/>
        </p:nvSpPr>
        <p:spPr>
          <a:xfrm>
            <a:off x="3337560" y="3200400"/>
            <a:ext cx="1965960" cy="1097280"/>
          </a:xfrm>
          <a:prstGeom prst="line">
            <a:avLst/>
          </a:prstGeom>
          <a:noFill/>
          <a:ln w="38100">
            <a:solidFill>
              <a:srgbClr val="F0B323"/>
            </a:solidFill>
            <a:prstDash val="dash"/>
          </a:ln>
        </p:spPr>
      </p:sp>
      <p:sp>
        <p:nvSpPr>
          <p:cNvPr id="10" name="path3"/>
          <p:cNvSpPr/>
          <p:nvPr/>
        </p:nvSpPr>
        <p:spPr>
          <a:xfrm flipV="1">
            <a:off x="5303520" y="3200400"/>
            <a:ext cx="1965960" cy="1097280"/>
          </a:xfrm>
          <a:prstGeom prst="line">
            <a:avLst/>
          </a:prstGeom>
          <a:noFill/>
          <a:ln w="38100">
            <a:solidFill>
              <a:srgbClr val="F0B323"/>
            </a:solidFill>
            <a:prstDash val="dash"/>
          </a:ln>
        </p:spPr>
      </p:sp>
      <p:sp>
        <p:nvSpPr>
          <p:cNvPr id="11" name="path4"/>
          <p:cNvSpPr/>
          <p:nvPr/>
        </p:nvSpPr>
        <p:spPr>
          <a:xfrm>
            <a:off x="7269480" y="3200400"/>
            <a:ext cx="1965960" cy="1097280"/>
          </a:xfrm>
          <a:prstGeom prst="line">
            <a:avLst/>
          </a:prstGeom>
          <a:noFill/>
          <a:ln w="38100">
            <a:solidFill>
              <a:srgbClr val="F0B323"/>
            </a:solidFill>
            <a:prstDash val="dash"/>
          </a:ln>
        </p:spPr>
      </p:sp>
      <p:sp>
        <p:nvSpPr>
          <p:cNvPr id="12" name="path5"/>
          <p:cNvSpPr/>
          <p:nvPr/>
        </p:nvSpPr>
        <p:spPr>
          <a:xfrm flipV="1">
            <a:off x="9235440" y="3200400"/>
            <a:ext cx="1737360" cy="1097280"/>
          </a:xfrm>
          <a:prstGeom prst="line">
            <a:avLst/>
          </a:prstGeom>
          <a:noFill/>
          <a:ln w="38100">
            <a:solidFill>
              <a:srgbClr val="F0B323"/>
            </a:solidFill>
            <a:prstDash val="dash"/>
          </a:ln>
        </p:spPr>
      </p:sp>
      <p:sp>
        <p:nvSpPr>
          <p:cNvPr id="13" name="stn1"/>
          <p:cNvSpPr/>
          <p:nvPr/>
        </p:nvSpPr>
        <p:spPr>
          <a:xfrm>
            <a:off x="708660" y="3634740"/>
            <a:ext cx="1325880" cy="1325880"/>
          </a:xfrm>
          <a:prstGeom prst="ellipse">
            <a:avLst/>
          </a:prstGeom>
          <a:solidFill>
            <a:srgbClr val="E8762C"/>
          </a:solidFill>
          <a:ln w="38100">
            <a:solidFill>
              <a:srgbClr val="FFFFFF"/>
            </a:solidFill>
            <a:prstDash val="solid"/>
          </a:ln>
        </p:spPr>
      </p:sp>
      <p:sp>
        <p:nvSpPr>
          <p:cNvPr id="14" name="Text 10"/>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5" name="Text 11"/>
          <p:cNvSpPr txBox="1"/>
          <p:nvPr/>
        </p:nvSpPr>
        <p:spPr>
          <a:xfrm>
            <a:off x="41148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Diagnose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16" name="stn2"/>
          <p:cNvSpPr/>
          <p:nvPr/>
        </p:nvSpPr>
        <p:spPr>
          <a:xfrm>
            <a:off x="2674620" y="2537460"/>
            <a:ext cx="1325880" cy="1325880"/>
          </a:xfrm>
          <a:prstGeom prst="ellipse">
            <a:avLst/>
          </a:prstGeom>
          <a:solidFill>
            <a:srgbClr val="17A199"/>
          </a:solidFill>
          <a:ln w="38100">
            <a:solidFill>
              <a:srgbClr val="FFFFFF"/>
            </a:solidFill>
            <a:prstDash val="solid"/>
          </a:ln>
        </p:spPr>
      </p:sp>
      <p:sp>
        <p:nvSpPr>
          <p:cNvPr id="17" name="Text 13"/>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8" name="Text 14"/>
          <p:cNvSpPr txBox="1"/>
          <p:nvPr/>
        </p:nvSpPr>
        <p:spPr>
          <a:xfrm>
            <a:off x="237744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Targeted Instruction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18 min</a:t>
            </a:r>
            <a:endParaRPr lang="en-US" sz="1700" dirty="0"/>
          </a:p>
        </p:txBody>
      </p:sp>
      <p:sp>
        <p:nvSpPr>
          <p:cNvPr id="19" name="stn3"/>
          <p:cNvSpPr/>
          <p:nvPr/>
        </p:nvSpPr>
        <p:spPr>
          <a:xfrm>
            <a:off x="4640580" y="3634740"/>
            <a:ext cx="1325880" cy="1325880"/>
          </a:xfrm>
          <a:prstGeom prst="ellipse">
            <a:avLst/>
          </a:prstGeom>
          <a:solidFill>
            <a:srgbClr val="17A199"/>
          </a:solidFill>
          <a:ln w="38100">
            <a:solidFill>
              <a:srgbClr val="FFFFFF"/>
            </a:solidFill>
            <a:prstDash val="solid"/>
          </a:ln>
        </p:spPr>
      </p:sp>
      <p:sp>
        <p:nvSpPr>
          <p:cNvPr id="20" name="Text 16"/>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1" name="Text 17"/>
          <p:cNvSpPr txBox="1"/>
          <p:nvPr/>
        </p:nvSpPr>
        <p:spPr>
          <a:xfrm>
            <a:off x="434340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Practice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2" name="stn4"/>
          <p:cNvSpPr/>
          <p:nvPr/>
        </p:nvSpPr>
        <p:spPr>
          <a:xfrm>
            <a:off x="6606540" y="2537460"/>
            <a:ext cx="1325880" cy="1325880"/>
          </a:xfrm>
          <a:prstGeom prst="ellipse">
            <a:avLst/>
          </a:prstGeom>
          <a:solidFill>
            <a:srgbClr val="17A199"/>
          </a:solidFill>
          <a:ln w="38100">
            <a:solidFill>
              <a:srgbClr val="FFFFFF"/>
            </a:solidFill>
            <a:prstDash val="solid"/>
          </a:ln>
        </p:spPr>
      </p:sp>
      <p:sp>
        <p:nvSpPr>
          <p:cNvPr id="23" name="Text 19"/>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24" name="Text 20"/>
          <p:cNvSpPr txBox="1"/>
          <p:nvPr/>
        </p:nvSpPr>
        <p:spPr>
          <a:xfrm>
            <a:off x="630936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5" name="stn5"/>
          <p:cNvSpPr/>
          <p:nvPr/>
        </p:nvSpPr>
        <p:spPr>
          <a:xfrm>
            <a:off x="8572500" y="3634740"/>
            <a:ext cx="1325880" cy="1325880"/>
          </a:xfrm>
          <a:prstGeom prst="ellipse">
            <a:avLst/>
          </a:prstGeom>
          <a:solidFill>
            <a:srgbClr val="17A199"/>
          </a:solidFill>
          <a:ln w="38100">
            <a:solidFill>
              <a:srgbClr val="FFFFFF"/>
            </a:solidFill>
            <a:prstDash val="solid"/>
          </a:ln>
        </p:spPr>
      </p:sp>
      <p:sp>
        <p:nvSpPr>
          <p:cNvPr id="26" name="Text 22"/>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27" name="Text 23"/>
          <p:cNvSpPr txBox="1"/>
          <p:nvPr/>
        </p:nvSpPr>
        <p:spPr>
          <a:xfrm>
            <a:off x="827532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Mastery Gate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28" name="stn6"/>
          <p:cNvSpPr/>
          <p:nvPr/>
        </p:nvSpPr>
        <p:spPr>
          <a:xfrm>
            <a:off x="10309860" y="2537460"/>
            <a:ext cx="1325880" cy="1325880"/>
          </a:xfrm>
          <a:prstGeom prst="ellipse">
            <a:avLst/>
          </a:prstGeom>
          <a:solidFill>
            <a:srgbClr val="17A199"/>
          </a:solidFill>
          <a:ln w="38100">
            <a:solidFill>
              <a:srgbClr val="FFFFFF"/>
            </a:solidFill>
            <a:prstDash val="solid"/>
          </a:ln>
        </p:spPr>
      </p:sp>
      <p:sp>
        <p:nvSpPr>
          <p:cNvPr id="29" name="Text 25"/>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30" name="Text 26"/>
          <p:cNvSpPr txBox="1"/>
          <p:nvPr/>
        </p:nvSpPr>
        <p:spPr>
          <a:xfrm>
            <a:off x="1001268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Smart 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1.12.A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What we are learning</a:t>
            </a:r>
            <a:endParaRPr lang="en-US" sz="3000" dirty="0"/>
          </a:p>
        </p:txBody>
      </p:sp>
      <p:sp>
        <p:nvSpPr>
          <p:cNvPr id="11" name="Shape 6"/>
          <p:cNvSpPr/>
          <p:nvPr/>
        </p:nvSpPr>
        <p:spPr>
          <a:xfrm>
            <a:off x="457200" y="1280160"/>
            <a:ext cx="5760720" cy="5029200"/>
          </a:xfrm>
          <a:prstGeom prst="roundRect">
            <a:avLst>
              <a:gd name="adj" fmla="val 218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OBJECTIVES</a:t>
            </a:r>
            <a:endParaRPr lang="en-US" sz="1100" dirty="0"/>
          </a:p>
        </p:txBody>
      </p:sp>
      <p:sp>
        <p:nvSpPr>
          <p:cNvPr id="13" name="Text 8"/>
          <p:cNvSpPr txBox="1"/>
          <p:nvPr/>
        </p:nvSpPr>
        <p:spPr>
          <a:xfrm>
            <a:off x="731520" y="1691640"/>
            <a:ext cx="5303520" cy="44805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Construct a function that is an additive and/or multiplicative transformation of another function.</a:t>
            </a:r>
            <a:endParaRPr lang="en-US" sz="1700" dirty="0"/>
          </a:p>
        </p:txBody>
      </p:sp>
      <p:sp>
        <p:nvSpPr>
          <p:cNvPr id="14" name="Shape 9"/>
          <p:cNvSpPr/>
          <p:nvPr/>
        </p:nvSpPr>
        <p:spPr>
          <a:xfrm>
            <a:off x="6400800" y="1280160"/>
            <a:ext cx="5303520" cy="2148840"/>
          </a:xfrm>
          <a:prstGeom prst="roundRect">
            <a:avLst>
              <a:gd name="adj" fmla="val 5106"/>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5" name="Text 10"/>
          <p:cNvSpPr txBox="1"/>
          <p:nvPr/>
        </p:nvSpPr>
        <p:spPr>
          <a:xfrm>
            <a:off x="66751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VOCABULARY</a:t>
            </a:r>
            <a:endParaRPr lang="en-US" sz="1100" dirty="0"/>
          </a:p>
        </p:txBody>
      </p:sp>
      <p:sp>
        <p:nvSpPr>
          <p:cNvPr id="16" name="Shape 11"/>
          <p:cNvSpPr/>
          <p:nvPr/>
        </p:nvSpPr>
        <p:spPr>
          <a:xfrm>
            <a:off x="6629400" y="1691640"/>
            <a:ext cx="2468880" cy="265176"/>
          </a:xfrm>
          <a:prstGeom prst="roundRect">
            <a:avLst>
              <a:gd name="adj" fmla="val 48276"/>
            </a:avLst>
          </a:prstGeom>
          <a:solidFill>
            <a:srgbClr val="17A199"/>
          </a:solidFill>
          <a:ln w="12700">
            <a:solidFill>
              <a:srgbClr val="FFFFFF"/>
            </a:solidFill>
            <a:prstDash val="solid"/>
          </a:ln>
        </p:spPr>
      </p:sp>
      <p:sp>
        <p:nvSpPr>
          <p:cNvPr id="17" name="Text 12"/>
          <p:cNvSpPr txBox="1"/>
          <p:nvPr/>
        </p:nvSpPr>
        <p:spPr>
          <a:xfrm>
            <a:off x="662940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additive transformation</a:t>
            </a:r>
            <a:endParaRPr lang="en-US" sz="1100" dirty="0"/>
          </a:p>
        </p:txBody>
      </p:sp>
      <p:sp>
        <p:nvSpPr>
          <p:cNvPr id="18" name="Shape 13"/>
          <p:cNvSpPr/>
          <p:nvPr/>
        </p:nvSpPr>
        <p:spPr>
          <a:xfrm>
            <a:off x="9189720" y="1691640"/>
            <a:ext cx="2468880" cy="265176"/>
          </a:xfrm>
          <a:prstGeom prst="roundRect">
            <a:avLst>
              <a:gd name="adj" fmla="val 48276"/>
            </a:avLst>
          </a:prstGeom>
          <a:solidFill>
            <a:srgbClr val="17A199"/>
          </a:solidFill>
          <a:ln w="12700">
            <a:solidFill>
              <a:srgbClr val="FFFFFF"/>
            </a:solidFill>
            <a:prstDash val="solid"/>
          </a:ln>
        </p:spPr>
      </p:sp>
      <p:sp>
        <p:nvSpPr>
          <p:cNvPr id="19" name="Text 14"/>
          <p:cNvSpPr txBox="1"/>
          <p:nvPr/>
        </p:nvSpPr>
        <p:spPr>
          <a:xfrm>
            <a:off x="9189720" y="1691640"/>
            <a:ext cx="2468880" cy="26517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multiplicative transformation</a:t>
            </a:r>
            <a:endParaRPr lang="en-US" sz="950" dirty="0"/>
          </a:p>
        </p:txBody>
      </p:sp>
      <p:sp>
        <p:nvSpPr>
          <p:cNvPr id="20" name="Shape 15"/>
          <p:cNvSpPr/>
          <p:nvPr/>
        </p:nvSpPr>
        <p:spPr>
          <a:xfrm>
            <a:off x="6629400" y="1993392"/>
            <a:ext cx="2468880" cy="265176"/>
          </a:xfrm>
          <a:prstGeom prst="roundRect">
            <a:avLst>
              <a:gd name="adj" fmla="val 48276"/>
            </a:avLst>
          </a:prstGeom>
          <a:solidFill>
            <a:srgbClr val="1F3864"/>
          </a:solidFill>
          <a:ln w="12700">
            <a:solidFill>
              <a:srgbClr val="FFFFFF"/>
            </a:solidFill>
            <a:prstDash val="solid"/>
          </a:ln>
        </p:spPr>
      </p:sp>
      <p:sp>
        <p:nvSpPr>
          <p:cNvPr id="21" name="Text 16"/>
          <p:cNvSpPr txBox="1"/>
          <p:nvPr/>
        </p:nvSpPr>
        <p:spPr>
          <a:xfrm>
            <a:off x="662940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vertical translation</a:t>
            </a:r>
            <a:endParaRPr lang="en-US" sz="1100" dirty="0"/>
          </a:p>
        </p:txBody>
      </p:sp>
      <p:sp>
        <p:nvSpPr>
          <p:cNvPr id="22" name="Shape 17"/>
          <p:cNvSpPr/>
          <p:nvPr/>
        </p:nvSpPr>
        <p:spPr>
          <a:xfrm>
            <a:off x="9189720" y="1993392"/>
            <a:ext cx="2468880" cy="265176"/>
          </a:xfrm>
          <a:prstGeom prst="roundRect">
            <a:avLst>
              <a:gd name="adj" fmla="val 48276"/>
            </a:avLst>
          </a:prstGeom>
          <a:solidFill>
            <a:srgbClr val="1F3864"/>
          </a:solidFill>
          <a:ln w="12700">
            <a:solidFill>
              <a:srgbClr val="FFFFFF"/>
            </a:solidFill>
            <a:prstDash val="solid"/>
          </a:ln>
        </p:spPr>
      </p:sp>
      <p:sp>
        <p:nvSpPr>
          <p:cNvPr id="23" name="Text 18"/>
          <p:cNvSpPr txBox="1"/>
          <p:nvPr/>
        </p:nvSpPr>
        <p:spPr>
          <a:xfrm>
            <a:off x="918972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horizontal translation</a:t>
            </a:r>
            <a:endParaRPr lang="en-US" sz="1100" dirty="0"/>
          </a:p>
        </p:txBody>
      </p:sp>
      <p:sp>
        <p:nvSpPr>
          <p:cNvPr id="24" name="Shape 19"/>
          <p:cNvSpPr/>
          <p:nvPr/>
        </p:nvSpPr>
        <p:spPr>
          <a:xfrm>
            <a:off x="6629400" y="2295144"/>
            <a:ext cx="2468880" cy="265176"/>
          </a:xfrm>
          <a:prstGeom prst="roundRect">
            <a:avLst>
              <a:gd name="adj" fmla="val 48276"/>
            </a:avLst>
          </a:prstGeom>
          <a:solidFill>
            <a:srgbClr val="E8762C"/>
          </a:solidFill>
          <a:ln w="12700">
            <a:solidFill>
              <a:srgbClr val="FFFFFF"/>
            </a:solidFill>
            <a:prstDash val="solid"/>
          </a:ln>
        </p:spPr>
      </p:sp>
      <p:sp>
        <p:nvSpPr>
          <p:cNvPr id="25" name="Text 20"/>
          <p:cNvSpPr txBox="1"/>
          <p:nvPr/>
        </p:nvSpPr>
        <p:spPr>
          <a:xfrm>
            <a:off x="662940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dilation</a:t>
            </a:r>
            <a:endParaRPr lang="en-US" sz="1100" dirty="0"/>
          </a:p>
        </p:txBody>
      </p:sp>
      <p:sp>
        <p:nvSpPr>
          <p:cNvPr id="26" name="Shape 21"/>
          <p:cNvSpPr/>
          <p:nvPr/>
        </p:nvSpPr>
        <p:spPr>
          <a:xfrm>
            <a:off x="9189720" y="2295144"/>
            <a:ext cx="2468880" cy="265176"/>
          </a:xfrm>
          <a:prstGeom prst="roundRect">
            <a:avLst>
              <a:gd name="adj" fmla="val 48276"/>
            </a:avLst>
          </a:prstGeom>
          <a:solidFill>
            <a:srgbClr val="E8762C"/>
          </a:solidFill>
          <a:ln w="12700">
            <a:solidFill>
              <a:srgbClr val="FFFFFF"/>
            </a:solidFill>
            <a:prstDash val="solid"/>
          </a:ln>
        </p:spPr>
      </p:sp>
      <p:sp>
        <p:nvSpPr>
          <p:cNvPr id="27" name="Text 22"/>
          <p:cNvSpPr txBox="1"/>
          <p:nvPr/>
        </p:nvSpPr>
        <p:spPr>
          <a:xfrm>
            <a:off x="918972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reflection</a:t>
            </a:r>
            <a:endParaRPr lang="en-US" sz="1100" dirty="0"/>
          </a:p>
        </p:txBody>
      </p:sp>
      <p:sp>
        <p:nvSpPr>
          <p:cNvPr id="28" name="Shape 23"/>
          <p:cNvSpPr/>
          <p:nvPr/>
        </p:nvSpPr>
        <p:spPr>
          <a:xfrm>
            <a:off x="6629400" y="2596896"/>
            <a:ext cx="2468880" cy="265176"/>
          </a:xfrm>
          <a:prstGeom prst="roundRect">
            <a:avLst>
              <a:gd name="adj" fmla="val 48276"/>
            </a:avLst>
          </a:prstGeom>
          <a:solidFill>
            <a:srgbClr val="17A199"/>
          </a:solidFill>
          <a:ln w="12700">
            <a:solidFill>
              <a:srgbClr val="FFFFFF"/>
            </a:solidFill>
            <a:prstDash val="solid"/>
          </a:ln>
        </p:spPr>
      </p:sp>
      <p:sp>
        <p:nvSpPr>
          <p:cNvPr id="29" name="Text 24"/>
          <p:cNvSpPr txBox="1"/>
          <p:nvPr/>
        </p:nvSpPr>
        <p:spPr>
          <a:xfrm>
            <a:off x="6629400" y="2596896"/>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preimage</a:t>
            </a:r>
            <a:endParaRPr lang="en-US" sz="1100" dirty="0"/>
          </a:p>
        </p:txBody>
      </p:sp>
      <p:sp>
        <p:nvSpPr>
          <p:cNvPr id="30" name="Shape 25"/>
          <p:cNvSpPr/>
          <p:nvPr/>
        </p:nvSpPr>
        <p:spPr>
          <a:xfrm>
            <a:off x="9189720" y="2596896"/>
            <a:ext cx="2468880" cy="265176"/>
          </a:xfrm>
          <a:prstGeom prst="roundRect">
            <a:avLst>
              <a:gd name="adj" fmla="val 48276"/>
            </a:avLst>
          </a:prstGeom>
          <a:solidFill>
            <a:srgbClr val="17A199"/>
          </a:solidFill>
          <a:ln w="12700">
            <a:solidFill>
              <a:srgbClr val="FFFFFF"/>
            </a:solidFill>
            <a:prstDash val="solid"/>
          </a:ln>
        </p:spPr>
      </p:sp>
      <p:sp>
        <p:nvSpPr>
          <p:cNvPr id="31" name="Text 26"/>
          <p:cNvSpPr txBox="1"/>
          <p:nvPr/>
        </p:nvSpPr>
        <p:spPr>
          <a:xfrm>
            <a:off x="9189720" y="2596896"/>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image</a:t>
            </a:r>
            <a:endParaRPr lang="en-US" sz="1100" dirty="0"/>
          </a:p>
        </p:txBody>
      </p:sp>
      <p:sp>
        <p:nvSpPr>
          <p:cNvPr id="32" name="Shape 27"/>
          <p:cNvSpPr/>
          <p:nvPr/>
        </p:nvSpPr>
        <p:spPr>
          <a:xfrm>
            <a:off x="6629400" y="2898648"/>
            <a:ext cx="2468880" cy="265176"/>
          </a:xfrm>
          <a:prstGeom prst="roundRect">
            <a:avLst>
              <a:gd name="adj" fmla="val 48276"/>
            </a:avLst>
          </a:prstGeom>
          <a:solidFill>
            <a:srgbClr val="1F3864"/>
          </a:solidFill>
          <a:ln w="12700">
            <a:solidFill>
              <a:srgbClr val="FFFFFF"/>
            </a:solidFill>
            <a:prstDash val="solid"/>
          </a:ln>
        </p:spPr>
      </p:sp>
      <p:sp>
        <p:nvSpPr>
          <p:cNvPr id="33" name="Text 28"/>
          <p:cNvSpPr txBox="1"/>
          <p:nvPr/>
        </p:nvSpPr>
        <p:spPr>
          <a:xfrm>
            <a:off x="6629400" y="2898648"/>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parent function</a:t>
            </a:r>
            <a:endParaRPr lang="en-US" sz="1100" dirty="0"/>
          </a:p>
        </p:txBody>
      </p:sp>
      <p:sp>
        <p:nvSpPr>
          <p:cNvPr id="34" name="Shape 29"/>
          <p:cNvSpPr/>
          <p:nvPr/>
        </p:nvSpPr>
        <p:spPr>
          <a:xfrm>
            <a:off x="6400800" y="3566160"/>
            <a:ext cx="5303520" cy="2743200"/>
          </a:xfrm>
          <a:prstGeom prst="roundRect">
            <a:avLst>
              <a:gd name="adj" fmla="val 4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Text 30"/>
          <p:cNvSpPr txBox="1"/>
          <p:nvPr/>
        </p:nvSpPr>
        <p:spPr>
          <a:xfrm>
            <a:off x="6675120" y="3639312"/>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STANDARDS</a:t>
            </a:r>
            <a:endParaRPr lang="en-US" sz="1100" dirty="0"/>
          </a:p>
        </p:txBody>
      </p:sp>
      <p:sp>
        <p:nvSpPr>
          <p:cNvPr id="36" name="Text 31"/>
          <p:cNvSpPr txBox="1"/>
          <p:nvPr/>
        </p:nvSpPr>
        <p:spPr>
          <a:xfrm>
            <a:off x="6675120" y="3931920"/>
            <a:ext cx="4846320" cy="2286000"/>
          </a:xfrm>
          <a:prstGeom prst="rect">
            <a:avLst/>
          </a:prstGeom>
          <a:noFill/>
          <a:ln/>
        </p:spPr>
        <p:txBody>
          <a:bodyPr wrap="square" lIns="0" tIns="0" rIns="0" bIns="0" rtlCol="0" anchor="t"/>
          <a:lstStyle/>
          <a:p>
            <a:pPr indent="0" marL="0">
              <a:buNone/>
            </a:pPr>
            <a:r>
              <a:rPr lang="en-US" sz="1050" b="1" dirty="0">
                <a:solidFill>
                  <a:srgbClr val="222E2D"/>
                </a:solidFill>
                <a:latin typeface="Calibri" pitchFamily="34" charset="0"/>
                <a:ea typeface="Calibri" pitchFamily="34" charset="-122"/>
                <a:cs typeface="Calibri" pitchFamily="34" charset="-120"/>
              </a:rPr>
              <a:t>LO 1.12.A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Construct a function that is an additive and/or multiplicative transformation of another function.</a:t>
            </a:r>
            <a:endParaRPr lang="en-US" sz="10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1.12.A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4</a:t>
            </a:r>
            <a:endParaRPr lang="en-US" sz="1000" dirty="0"/>
          </a:p>
        </p:txBody>
      </p:sp>
      <p:sp>
        <p:nvSpPr>
          <p:cNvPr id="9" name="stn1"/>
          <p:cNvSpPr/>
          <p:nvPr/>
        </p:nvSpPr>
        <p:spPr>
          <a:xfrm>
            <a:off x="3931920" y="228600"/>
            <a:ext cx="457200" cy="457200"/>
          </a:xfrm>
          <a:prstGeom prst="ellipse">
            <a:avLst/>
          </a:prstGeom>
          <a:solidFill>
            <a:srgbClr val="E8762C"/>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path1"/>
          <p:cNvSpPr/>
          <p:nvPr/>
        </p:nvSpPr>
        <p:spPr>
          <a:xfrm>
            <a:off x="4407408" y="457200"/>
            <a:ext cx="32918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1  ·  DIAGNOSE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Start here: three quick checks</a:t>
            </a:r>
            <a:endParaRPr lang="en-US" sz="3000" dirty="0"/>
          </a:p>
        </p:txBody>
      </p:sp>
      <p:sp>
        <p:nvSpPr>
          <p:cNvPr id="29" name="Shape 24"/>
          <p:cNvSpPr/>
          <p:nvPr/>
        </p:nvSpPr>
        <p:spPr>
          <a:xfrm>
            <a:off x="45720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17A199"/>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AP1-12/k257e3f95f7.png">    </p:cNvPr>
          <p:cNvPicPr>
            <a:picLocks noChangeAspect="1"/>
          </p:cNvPicPr>
          <p:nvPr/>
        </p:nvPicPr>
        <p:blipFill>
          <a:blip r:embed="rId3"/>
          <a:stretch>
            <a:fillRect/>
          </a:stretch>
        </p:blipFill>
        <p:spPr>
          <a:xfrm>
            <a:off x="594360" y="2697480"/>
            <a:ext cx="3383280" cy="332572"/>
          </a:xfrm>
          <a:prstGeom prst="rect">
            <a:avLst/>
          </a:prstGeom>
        </p:spPr>
      </p:pic>
      <p:sp>
        <p:nvSpPr>
          <p:cNvPr id="33" name="Shape 27"/>
          <p:cNvSpPr/>
          <p:nvPr/>
        </p:nvSpPr>
        <p:spPr>
          <a:xfrm>
            <a:off x="420624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17A199"/>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AP1-12/k126b738f55.png">    </p:cNvPr>
          <p:cNvPicPr>
            <a:picLocks noChangeAspect="1"/>
          </p:cNvPicPr>
          <p:nvPr/>
        </p:nvPicPr>
        <p:blipFill>
          <a:blip r:embed="rId4"/>
          <a:stretch>
            <a:fillRect/>
          </a:stretch>
        </p:blipFill>
        <p:spPr>
          <a:xfrm>
            <a:off x="4343400" y="2697480"/>
            <a:ext cx="3383280" cy="322512"/>
          </a:xfrm>
          <a:prstGeom prst="rect">
            <a:avLst/>
          </a:prstGeom>
        </p:spPr>
      </p:pic>
      <p:sp>
        <p:nvSpPr>
          <p:cNvPr id="37" name="Shape 30"/>
          <p:cNvSpPr/>
          <p:nvPr/>
        </p:nvSpPr>
        <p:spPr>
          <a:xfrm>
            <a:off x="795528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17A199"/>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AP1-12/k1e1f4f4707.png">    </p:cNvPr>
          <p:cNvPicPr>
            <a:picLocks noChangeAspect="1"/>
          </p:cNvPicPr>
          <p:nvPr/>
        </p:nvPicPr>
        <p:blipFill>
          <a:blip r:embed="rId5"/>
          <a:stretch>
            <a:fillRect/>
          </a:stretch>
        </p:blipFill>
        <p:spPr>
          <a:xfrm>
            <a:off x="8545982" y="2697480"/>
            <a:ext cx="2476195" cy="395021"/>
          </a:xfrm>
          <a:prstGeom prst="rect">
            <a:avLst/>
          </a:prstGeom>
        </p:spPr>
      </p:pic>
      <p:sp>
        <p:nvSpPr>
          <p:cNvPr id="41" name="Shape 33"/>
          <p:cNvSpPr/>
          <p:nvPr/>
        </p:nvSpPr>
        <p:spPr>
          <a:xfrm>
            <a:off x="457200" y="4434840"/>
            <a:ext cx="11247120" cy="1463040"/>
          </a:xfrm>
          <a:prstGeom prst="roundRect">
            <a:avLst>
              <a:gd name="adj" fmla="val 75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57200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Done when</a:t>
            </a:r>
            <a:endParaRPr lang="en-US" sz="1400" dirty="0"/>
          </a:p>
        </p:txBody>
      </p:sp>
      <p:sp>
        <p:nvSpPr>
          <p:cNvPr id="43" name="Text 35"/>
          <p:cNvSpPr txBox="1"/>
          <p:nvPr/>
        </p:nvSpPr>
        <p:spPr>
          <a:xfrm>
            <a:off x="777240" y="4937760"/>
            <a:ext cx="10607040" cy="8229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All three answers are written without a calculator, and you can explain which variable changed in each.</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1.12.A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5</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Additive transformations: translations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AP1-12/kfc5abfac89.png">    </p:cNvPr>
          <p:cNvPicPr>
            <a:picLocks noChangeAspect="1"/>
          </p:cNvPicPr>
          <p:nvPr/>
        </p:nvPicPr>
        <p:blipFill>
          <a:blip r:embed="rId3"/>
          <a:stretch>
            <a:fillRect/>
          </a:stretch>
        </p:blipFill>
        <p:spPr>
          <a:xfrm>
            <a:off x="731520" y="2172112"/>
            <a:ext cx="4726865" cy="319217"/>
          </a:xfrm>
          <a:prstGeom prst="rect">
            <a:avLst/>
          </a:prstGeom>
        </p:spPr>
      </p:pic>
      <p:pic>
        <p:nvPicPr>
          <p:cNvPr id="31" name="Image 3" descr="m_AP1-12/k3fcb65d08e.png">    </p:cNvPr>
          <p:cNvPicPr>
            <a:picLocks noChangeAspect="1"/>
          </p:cNvPicPr>
          <p:nvPr/>
        </p:nvPicPr>
        <p:blipFill>
          <a:blip r:embed="rId4"/>
          <a:stretch>
            <a:fillRect/>
          </a:stretch>
        </p:blipFill>
        <p:spPr>
          <a:xfrm>
            <a:off x="6098465" y="2172112"/>
            <a:ext cx="5331535" cy="319217"/>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AP1-12/k3bc3c9d57b.png">    </p:cNvPr>
          <p:cNvPicPr>
            <a:picLocks noChangeAspect="1"/>
          </p:cNvPicPr>
          <p:nvPr/>
        </p:nvPicPr>
        <p:blipFill>
          <a:blip r:embed="rId5"/>
          <a:stretch>
            <a:fillRect/>
          </a:stretch>
        </p:blipFill>
        <p:spPr>
          <a:xfrm>
            <a:off x="640080" y="3566160"/>
            <a:ext cx="3291840" cy="330068"/>
          </a:xfrm>
          <a:prstGeom prst="rect">
            <a:avLst/>
          </a:prstGeom>
        </p:spPr>
      </p:pic>
      <p:pic>
        <p:nvPicPr>
          <p:cNvPr id="35" name="Image 5" descr="m_AP1-12/k5185f1364d.png">    </p:cNvPr>
          <p:cNvPicPr>
            <a:picLocks noChangeAspect="1"/>
          </p:cNvPicPr>
          <p:nvPr/>
        </p:nvPicPr>
        <p:blipFill>
          <a:blip r:embed="rId6"/>
          <a:stretch>
            <a:fillRect/>
          </a:stretch>
        </p:blipFill>
        <p:spPr>
          <a:xfrm>
            <a:off x="1300094" y="4051676"/>
            <a:ext cx="1971812" cy="342351"/>
          </a:xfrm>
          <a:prstGeom prst="rect">
            <a:avLst/>
          </a:prstGeom>
        </p:spPr>
      </p:pic>
      <p:pic>
        <p:nvPicPr>
          <p:cNvPr id="36" name="Image 6" descr="m_AP1-12/k4a91cc86ff.png">    </p:cNvPr>
          <p:cNvPicPr>
            <a:picLocks noChangeAspect="1"/>
          </p:cNvPicPr>
          <p:nvPr/>
        </p:nvPicPr>
        <p:blipFill>
          <a:blip r:embed="rId7"/>
          <a:stretch>
            <a:fillRect/>
          </a:stretch>
        </p:blipFill>
        <p:spPr>
          <a:xfrm>
            <a:off x="1500896" y="4549475"/>
            <a:ext cx="1570208" cy="283098"/>
          </a:xfrm>
          <a:prstGeom prst="rect">
            <a:avLst/>
          </a:prstGeom>
        </p:spPr>
      </p:pic>
      <p:pic>
        <p:nvPicPr>
          <p:cNvPr id="37" name="Image 7" descr="m_AP1-12/kbc2cf8ada4.png">    </p:cNvPr>
          <p:cNvPicPr>
            <a:picLocks noChangeAspect="1"/>
          </p:cNvPicPr>
          <p:nvPr/>
        </p:nvPicPr>
        <p:blipFill>
          <a:blip r:embed="rId8"/>
          <a:stretch>
            <a:fillRect/>
          </a:stretch>
        </p:blipFill>
        <p:spPr>
          <a:xfrm>
            <a:off x="1336304" y="4988022"/>
            <a:ext cx="1899392" cy="342351"/>
          </a:xfrm>
          <a:prstGeom prst="rect">
            <a:avLst/>
          </a:prstGeom>
        </p:spPr>
      </p:pic>
      <p:sp>
        <p:nvSpPr>
          <p:cNvPr id="38"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0" name="Image 8" descr="m_AP1-12/ka71d5796a2.png">    </p:cNvPr>
          <p:cNvPicPr>
            <a:picLocks noChangeAspect="1"/>
          </p:cNvPicPr>
          <p:nvPr/>
        </p:nvPicPr>
        <p:blipFill>
          <a:blip r:embed="rId9"/>
          <a:stretch>
            <a:fillRect/>
          </a:stretch>
        </p:blipFill>
        <p:spPr>
          <a:xfrm>
            <a:off x="4712013" y="3566160"/>
            <a:ext cx="2737494" cy="767328"/>
          </a:xfrm>
          <a:prstGeom prst="rect">
            <a:avLst/>
          </a:prstGeom>
        </p:spPr>
      </p:pic>
      <p:pic>
        <p:nvPicPr>
          <p:cNvPr id="41" name="Image 9" descr="m_AP1-12/k4e16b30e14.png">    </p:cNvPr>
          <p:cNvPicPr>
            <a:picLocks noChangeAspect="1"/>
          </p:cNvPicPr>
          <p:nvPr/>
        </p:nvPicPr>
        <p:blipFill>
          <a:blip r:embed="rId10"/>
          <a:stretch>
            <a:fillRect/>
          </a:stretch>
        </p:blipFill>
        <p:spPr>
          <a:xfrm>
            <a:off x="4926970" y="4488936"/>
            <a:ext cx="2307580" cy="342351"/>
          </a:xfrm>
          <a:prstGeom prst="rect">
            <a:avLst/>
          </a:prstGeom>
        </p:spPr>
      </p:pic>
      <p:pic>
        <p:nvPicPr>
          <p:cNvPr id="42" name="Image 10" descr="m_AP1-12/k3eb56582d6.png">    </p:cNvPr>
          <p:cNvPicPr>
            <a:picLocks noChangeAspect="1"/>
          </p:cNvPicPr>
          <p:nvPr/>
        </p:nvPicPr>
        <p:blipFill>
          <a:blip r:embed="rId11"/>
          <a:stretch>
            <a:fillRect/>
          </a:stretch>
        </p:blipFill>
        <p:spPr>
          <a:xfrm>
            <a:off x="5063581" y="4986735"/>
            <a:ext cx="2034357" cy="342351"/>
          </a:xfrm>
          <a:prstGeom prst="rect">
            <a:avLst/>
          </a:prstGeom>
        </p:spPr>
      </p:pic>
      <p:pic>
        <p:nvPicPr>
          <p:cNvPr id="43" name="Image 11" descr="m_AP1-12/kc04e17feed.png">    </p:cNvPr>
          <p:cNvPicPr>
            <a:picLocks noChangeAspect="1"/>
          </p:cNvPicPr>
          <p:nvPr/>
        </p:nvPicPr>
        <p:blipFill>
          <a:blip r:embed="rId12"/>
          <a:stretch>
            <a:fillRect/>
          </a:stretch>
        </p:blipFill>
        <p:spPr>
          <a:xfrm>
            <a:off x="5361493" y="5484535"/>
            <a:ext cx="1438534" cy="342351"/>
          </a:xfrm>
          <a:prstGeom prst="rect">
            <a:avLst/>
          </a:prstGeom>
        </p:spPr>
      </p:pic>
      <p:sp>
        <p:nvSpPr>
          <p:cNvPr id="44"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5"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6" name="Image 12" descr="m_AP1-12/ka12007d180.png">    </p:cNvPr>
          <p:cNvPicPr>
            <a:picLocks noChangeAspect="1"/>
          </p:cNvPicPr>
          <p:nvPr/>
        </p:nvPicPr>
        <p:blipFill>
          <a:blip r:embed="rId13"/>
          <a:stretch>
            <a:fillRect/>
          </a:stretch>
        </p:blipFill>
        <p:spPr>
          <a:xfrm>
            <a:off x="8506773" y="3566160"/>
            <a:ext cx="2737494" cy="767328"/>
          </a:xfrm>
          <a:prstGeom prst="rect">
            <a:avLst/>
          </a:prstGeom>
        </p:spPr>
      </p:pic>
      <p:pic>
        <p:nvPicPr>
          <p:cNvPr id="47" name="Image 13" descr="m_AP1-12/k9e4e839d42.png">    </p:cNvPr>
          <p:cNvPicPr>
            <a:picLocks noChangeAspect="1"/>
          </p:cNvPicPr>
          <p:nvPr/>
        </p:nvPicPr>
        <p:blipFill>
          <a:blip r:embed="rId14"/>
          <a:stretch>
            <a:fillRect/>
          </a:stretch>
        </p:blipFill>
        <p:spPr>
          <a:xfrm>
            <a:off x="8705271" y="4488936"/>
            <a:ext cx="2340498" cy="342351"/>
          </a:xfrm>
          <a:prstGeom prst="rect">
            <a:avLst/>
          </a:prstGeom>
        </p:spPr>
      </p:pic>
      <p:pic>
        <p:nvPicPr>
          <p:cNvPr id="48" name="Image 14" descr="m_AP1-12/k9cb1d6f0bc.png">    </p:cNvPr>
          <p:cNvPicPr>
            <a:picLocks noChangeAspect="1"/>
          </p:cNvPicPr>
          <p:nvPr/>
        </p:nvPicPr>
        <p:blipFill>
          <a:blip r:embed="rId15"/>
          <a:stretch>
            <a:fillRect/>
          </a:stretch>
        </p:blipFill>
        <p:spPr>
          <a:xfrm>
            <a:off x="8591702" y="4986735"/>
            <a:ext cx="2567635" cy="342351"/>
          </a:xfrm>
          <a:prstGeom prst="rect">
            <a:avLst/>
          </a:prstGeom>
        </p:spPr>
      </p:pic>
      <p:pic>
        <p:nvPicPr>
          <p:cNvPr id="49" name="Image 15" descr="m_AP1-12/k998160f72f.png">    </p:cNvPr>
          <p:cNvPicPr>
            <a:picLocks noChangeAspect="1"/>
          </p:cNvPicPr>
          <p:nvPr/>
        </p:nvPicPr>
        <p:blipFill>
          <a:blip r:embed="rId16"/>
          <a:stretch>
            <a:fillRect/>
          </a:stretch>
        </p:blipFill>
        <p:spPr>
          <a:xfrm>
            <a:off x="8943929" y="5484535"/>
            <a:ext cx="1863181" cy="34235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1.12.A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6</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Multiplicative transformations: dilations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AP1-12/k3a775c4373.png">    </p:cNvPr>
          <p:cNvPicPr>
            <a:picLocks noChangeAspect="1"/>
          </p:cNvPicPr>
          <p:nvPr/>
        </p:nvPicPr>
        <p:blipFill>
          <a:blip r:embed="rId3"/>
          <a:stretch>
            <a:fillRect/>
          </a:stretch>
        </p:blipFill>
        <p:spPr>
          <a:xfrm>
            <a:off x="731520" y="2161737"/>
            <a:ext cx="4913154" cy="339965"/>
          </a:xfrm>
          <a:prstGeom prst="rect">
            <a:avLst/>
          </a:prstGeom>
        </p:spPr>
      </p:pic>
      <p:pic>
        <p:nvPicPr>
          <p:cNvPr id="31" name="Image 3" descr="m_AP1-12/kea04f49a16.png">    </p:cNvPr>
          <p:cNvPicPr>
            <a:picLocks noChangeAspect="1"/>
          </p:cNvPicPr>
          <p:nvPr/>
        </p:nvPicPr>
        <p:blipFill>
          <a:blip r:embed="rId4"/>
          <a:stretch>
            <a:fillRect/>
          </a:stretch>
        </p:blipFill>
        <p:spPr>
          <a:xfrm>
            <a:off x="6284754" y="1990120"/>
            <a:ext cx="5145246" cy="683200"/>
          </a:xfrm>
          <a:prstGeom prst="rect">
            <a:avLst/>
          </a:prstGeom>
        </p:spPr>
      </p:pic>
      <p:sp>
        <p:nvSpPr>
          <p:cNvPr id="32" name="Shape 25"/>
          <p:cNvSpPr/>
          <p:nvPr/>
        </p:nvSpPr>
        <p:spPr>
          <a:xfrm>
            <a:off x="457200" y="3108960"/>
            <a:ext cx="39319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4" descr="figs/AP1-12_dilate.png">    </p:cNvPr>
          <p:cNvPicPr>
            <a:picLocks noChangeAspect="1"/>
          </p:cNvPicPr>
          <p:nvPr/>
        </p:nvPicPr>
        <p:blipFill>
          <a:blip r:embed="rId5"/>
          <a:stretch>
            <a:fillRect/>
          </a:stretch>
        </p:blipFill>
        <p:spPr>
          <a:xfrm>
            <a:off x="594360" y="3303549"/>
            <a:ext cx="3657600" cy="2765502"/>
          </a:xfrm>
          <a:prstGeom prst="rect">
            <a:avLst/>
          </a:prstGeom>
        </p:spPr>
      </p:pic>
      <p:sp>
        <p:nvSpPr>
          <p:cNvPr id="34" name="Shape 26"/>
          <p:cNvSpPr/>
          <p:nvPr/>
        </p:nvSpPr>
        <p:spPr>
          <a:xfrm>
            <a:off x="45262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Text 27"/>
          <p:cNvSpPr txBox="1"/>
          <p:nvPr/>
        </p:nvSpPr>
        <p:spPr>
          <a:xfrm>
            <a:off x="47548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6" name="Image 5" descr="m_AP1-12/kc7a3de6dce.png">    </p:cNvPr>
          <p:cNvPicPr>
            <a:picLocks noChangeAspect="1"/>
          </p:cNvPicPr>
          <p:nvPr/>
        </p:nvPicPr>
        <p:blipFill>
          <a:blip r:embed="rId6"/>
          <a:stretch>
            <a:fillRect/>
          </a:stretch>
        </p:blipFill>
        <p:spPr>
          <a:xfrm>
            <a:off x="4709160" y="3566160"/>
            <a:ext cx="3154680" cy="359354"/>
          </a:xfrm>
          <a:prstGeom prst="rect">
            <a:avLst/>
          </a:prstGeom>
        </p:spPr>
      </p:pic>
      <p:pic>
        <p:nvPicPr>
          <p:cNvPr id="37" name="Image 6" descr="m_AP1-12/k68a5d51dd8.png">    </p:cNvPr>
          <p:cNvPicPr>
            <a:picLocks noChangeAspect="1"/>
          </p:cNvPicPr>
          <p:nvPr/>
        </p:nvPicPr>
        <p:blipFill>
          <a:blip r:embed="rId7"/>
          <a:stretch>
            <a:fillRect/>
          </a:stretch>
        </p:blipFill>
        <p:spPr>
          <a:xfrm>
            <a:off x="4709160" y="4080962"/>
            <a:ext cx="3154680" cy="274195"/>
          </a:xfrm>
          <a:prstGeom prst="rect">
            <a:avLst/>
          </a:prstGeom>
        </p:spPr>
      </p:pic>
      <p:pic>
        <p:nvPicPr>
          <p:cNvPr id="38" name="Image 7" descr="m_AP1-12/k8f32e7b476.png">    </p:cNvPr>
          <p:cNvPicPr>
            <a:picLocks noChangeAspect="1"/>
          </p:cNvPicPr>
          <p:nvPr/>
        </p:nvPicPr>
        <p:blipFill>
          <a:blip r:embed="rId8"/>
          <a:stretch>
            <a:fillRect/>
          </a:stretch>
        </p:blipFill>
        <p:spPr>
          <a:xfrm>
            <a:off x="5336804" y="4510604"/>
            <a:ext cx="1899392" cy="342351"/>
          </a:xfrm>
          <a:prstGeom prst="rect">
            <a:avLst/>
          </a:prstGeom>
        </p:spPr>
      </p:pic>
      <p:pic>
        <p:nvPicPr>
          <p:cNvPr id="39" name="Image 8" descr="m_AP1-12/k835d398fdb.png">    </p:cNvPr>
          <p:cNvPicPr>
            <a:picLocks noChangeAspect="1"/>
          </p:cNvPicPr>
          <p:nvPr/>
        </p:nvPicPr>
        <p:blipFill>
          <a:blip r:embed="rId9"/>
          <a:stretch>
            <a:fillRect/>
          </a:stretch>
        </p:blipFill>
        <p:spPr>
          <a:xfrm>
            <a:off x="5428976" y="5008404"/>
            <a:ext cx="1715049" cy="342351"/>
          </a:xfrm>
          <a:prstGeom prst="rect">
            <a:avLst/>
          </a:prstGeom>
        </p:spPr>
      </p:pic>
      <p:sp>
        <p:nvSpPr>
          <p:cNvPr id="40" name="Shape 28"/>
          <p:cNvSpPr/>
          <p:nvPr/>
        </p:nvSpPr>
        <p:spPr>
          <a:xfrm>
            <a:off x="81838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1" name="Text 29"/>
          <p:cNvSpPr txBox="1"/>
          <p:nvPr/>
        </p:nvSpPr>
        <p:spPr>
          <a:xfrm>
            <a:off x="84124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2" name="Image 9" descr="m_AP1-12/k70e441ae28.png">    </p:cNvPr>
          <p:cNvPicPr>
            <a:picLocks noChangeAspect="1"/>
          </p:cNvPicPr>
          <p:nvPr/>
        </p:nvPicPr>
        <p:blipFill>
          <a:blip r:embed="rId10"/>
          <a:stretch>
            <a:fillRect/>
          </a:stretch>
        </p:blipFill>
        <p:spPr>
          <a:xfrm>
            <a:off x="9083448" y="3566160"/>
            <a:ext cx="1721303" cy="601419"/>
          </a:xfrm>
          <a:prstGeom prst="rect">
            <a:avLst/>
          </a:prstGeom>
        </p:spPr>
      </p:pic>
      <p:pic>
        <p:nvPicPr>
          <p:cNvPr id="43" name="Image 10" descr="m_AP1-12/k23d3d00243.png">    </p:cNvPr>
          <p:cNvPicPr>
            <a:picLocks noChangeAspect="1"/>
          </p:cNvPicPr>
          <p:nvPr/>
        </p:nvPicPr>
        <p:blipFill>
          <a:blip r:embed="rId11"/>
          <a:stretch>
            <a:fillRect/>
          </a:stretch>
        </p:blipFill>
        <p:spPr>
          <a:xfrm>
            <a:off x="8630656" y="4323027"/>
            <a:ext cx="2626888" cy="687995"/>
          </a:xfrm>
          <a:prstGeom prst="rect">
            <a:avLst/>
          </a:prstGeom>
        </p:spPr>
      </p:pic>
      <p:pic>
        <p:nvPicPr>
          <p:cNvPr id="44" name="Image 11" descr="m_AP1-12/k0bc07dc451.png">    </p:cNvPr>
          <p:cNvPicPr>
            <a:picLocks noChangeAspect="1"/>
          </p:cNvPicPr>
          <p:nvPr/>
        </p:nvPicPr>
        <p:blipFill>
          <a:blip r:embed="rId12"/>
          <a:stretch>
            <a:fillRect/>
          </a:stretch>
        </p:blipFill>
        <p:spPr>
          <a:xfrm>
            <a:off x="9033906" y="5166470"/>
            <a:ext cx="1820388" cy="342351"/>
          </a:xfrm>
          <a:prstGeom prst="rect">
            <a:avLst/>
          </a:prstGeom>
        </p:spPr>
      </p:pic>
      <p:pic>
        <p:nvPicPr>
          <p:cNvPr id="45" name="Image 12" descr="m_AP1-12/ka7c8aa8b12.png">    </p:cNvPr>
          <p:cNvPicPr>
            <a:picLocks noChangeAspect="1"/>
          </p:cNvPicPr>
          <p:nvPr/>
        </p:nvPicPr>
        <p:blipFill>
          <a:blip r:embed="rId13"/>
          <a:stretch>
            <a:fillRect/>
          </a:stretch>
        </p:blipFill>
        <p:spPr>
          <a:xfrm>
            <a:off x="9079992" y="5664269"/>
            <a:ext cx="1728216" cy="34235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1.12.A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7</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Combined transformations, domain and range</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AP1-12/k1f97f32945.png">    </p:cNvPr>
          <p:cNvPicPr>
            <a:picLocks noChangeAspect="1"/>
          </p:cNvPicPr>
          <p:nvPr/>
        </p:nvPicPr>
        <p:blipFill>
          <a:blip r:embed="rId3"/>
          <a:stretch>
            <a:fillRect/>
          </a:stretch>
        </p:blipFill>
        <p:spPr>
          <a:xfrm>
            <a:off x="2741371" y="2163470"/>
            <a:ext cx="2483510" cy="336499"/>
          </a:xfrm>
          <a:prstGeom prst="rect">
            <a:avLst/>
          </a:prstGeom>
        </p:spPr>
      </p:pic>
      <p:pic>
        <p:nvPicPr>
          <p:cNvPr id="31" name="Image 3" descr="m_AP1-12/ke721d598ab.png">    </p:cNvPr>
          <p:cNvPicPr>
            <a:picLocks noChangeAspect="1"/>
          </p:cNvPicPr>
          <p:nvPr/>
        </p:nvPicPr>
        <p:blipFill>
          <a:blip r:embed="rId4"/>
          <a:stretch>
            <a:fillRect/>
          </a:stretch>
        </p:blipFill>
        <p:spPr>
          <a:xfrm>
            <a:off x="5864962" y="2157984"/>
            <a:ext cx="3555187" cy="347472"/>
          </a:xfrm>
          <a:prstGeom prst="rect">
            <a:avLst/>
          </a:prstGeom>
        </p:spPr>
      </p:pic>
      <p:sp>
        <p:nvSpPr>
          <p:cNvPr id="32" name="Shape 25"/>
          <p:cNvSpPr/>
          <p:nvPr/>
        </p:nvSpPr>
        <p:spPr>
          <a:xfrm>
            <a:off x="457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AP1-12/kd32d631b73.png">    </p:cNvPr>
          <p:cNvPicPr>
            <a:picLocks noChangeAspect="1"/>
          </p:cNvPicPr>
          <p:nvPr/>
        </p:nvPicPr>
        <p:blipFill>
          <a:blip r:embed="rId5"/>
          <a:stretch>
            <a:fillRect/>
          </a:stretch>
        </p:blipFill>
        <p:spPr>
          <a:xfrm>
            <a:off x="1128662" y="3566160"/>
            <a:ext cx="4189196" cy="390577"/>
          </a:xfrm>
          <a:prstGeom prst="rect">
            <a:avLst/>
          </a:prstGeom>
        </p:spPr>
      </p:pic>
      <p:pic>
        <p:nvPicPr>
          <p:cNvPr id="35" name="Image 5" descr="m_AP1-12/k6126c28498.png">    </p:cNvPr>
          <p:cNvPicPr>
            <a:picLocks noChangeAspect="1"/>
          </p:cNvPicPr>
          <p:nvPr/>
        </p:nvPicPr>
        <p:blipFill>
          <a:blip r:embed="rId6"/>
          <a:stretch>
            <a:fillRect/>
          </a:stretch>
        </p:blipFill>
        <p:spPr>
          <a:xfrm>
            <a:off x="2380549" y="4112185"/>
            <a:ext cx="1685422" cy="342351"/>
          </a:xfrm>
          <a:prstGeom prst="rect">
            <a:avLst/>
          </a:prstGeom>
        </p:spPr>
      </p:pic>
      <p:pic>
        <p:nvPicPr>
          <p:cNvPr id="36" name="Image 6" descr="m_AP1-12/kc94a5c0d5e.png">    </p:cNvPr>
          <p:cNvPicPr>
            <a:picLocks noChangeAspect="1"/>
          </p:cNvPicPr>
          <p:nvPr/>
        </p:nvPicPr>
        <p:blipFill>
          <a:blip r:embed="rId7"/>
          <a:stretch>
            <a:fillRect/>
          </a:stretch>
        </p:blipFill>
        <p:spPr>
          <a:xfrm>
            <a:off x="2359152" y="4609984"/>
            <a:ext cx="1728216" cy="342351"/>
          </a:xfrm>
          <a:prstGeom prst="rect">
            <a:avLst/>
          </a:prstGeom>
        </p:spPr>
      </p:pic>
      <p:pic>
        <p:nvPicPr>
          <p:cNvPr id="37" name="Image 7" descr="m_AP1-12/k36edfda95a.png">    </p:cNvPr>
          <p:cNvPicPr>
            <a:picLocks noChangeAspect="1"/>
          </p:cNvPicPr>
          <p:nvPr/>
        </p:nvPicPr>
        <p:blipFill>
          <a:blip r:embed="rId8"/>
          <a:stretch>
            <a:fillRect/>
          </a:stretch>
        </p:blipFill>
        <p:spPr>
          <a:xfrm>
            <a:off x="2365736" y="5107784"/>
            <a:ext cx="1715049" cy="342351"/>
          </a:xfrm>
          <a:prstGeom prst="rect">
            <a:avLst/>
          </a:prstGeom>
        </p:spPr>
      </p:pic>
      <p:sp>
        <p:nvSpPr>
          <p:cNvPr id="38" name="Shape 27"/>
          <p:cNvSpPr/>
          <p:nvPr/>
        </p:nvSpPr>
        <p:spPr>
          <a:xfrm>
            <a:off x="6172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28"/>
          <p:cNvSpPr txBox="1"/>
          <p:nvPr/>
        </p:nvSpPr>
        <p:spPr>
          <a:xfrm>
            <a:off x="6400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0" name="Image 8" descr="m_AP1-12/k3424b90b09.png">    </p:cNvPr>
          <p:cNvPicPr>
            <a:picLocks noChangeAspect="1"/>
          </p:cNvPicPr>
          <p:nvPr/>
        </p:nvPicPr>
        <p:blipFill>
          <a:blip r:embed="rId9"/>
          <a:stretch>
            <a:fillRect/>
          </a:stretch>
        </p:blipFill>
        <p:spPr>
          <a:xfrm>
            <a:off x="7633457" y="3566160"/>
            <a:ext cx="2609606" cy="767328"/>
          </a:xfrm>
          <a:prstGeom prst="rect">
            <a:avLst/>
          </a:prstGeom>
        </p:spPr>
      </p:pic>
      <p:pic>
        <p:nvPicPr>
          <p:cNvPr id="41" name="Image 9" descr="m_AP1-12/k04c6150fbc.png">    </p:cNvPr>
          <p:cNvPicPr>
            <a:picLocks noChangeAspect="1"/>
          </p:cNvPicPr>
          <p:nvPr/>
        </p:nvPicPr>
        <p:blipFill>
          <a:blip r:embed="rId10"/>
          <a:stretch>
            <a:fillRect/>
          </a:stretch>
        </p:blipFill>
        <p:spPr>
          <a:xfrm>
            <a:off x="7568855" y="4488936"/>
            <a:ext cx="2738811" cy="342351"/>
          </a:xfrm>
          <a:prstGeom prst="rect">
            <a:avLst/>
          </a:prstGeom>
        </p:spPr>
      </p:pic>
      <p:pic>
        <p:nvPicPr>
          <p:cNvPr id="42" name="Image 10" descr="m_AP1-12/k2b9577ed8e.png">    </p:cNvPr>
          <p:cNvPicPr>
            <a:picLocks noChangeAspect="1"/>
          </p:cNvPicPr>
          <p:nvPr/>
        </p:nvPicPr>
        <p:blipFill>
          <a:blip r:embed="rId11"/>
          <a:stretch>
            <a:fillRect/>
          </a:stretch>
        </p:blipFill>
        <p:spPr>
          <a:xfrm>
            <a:off x="7764719" y="4986735"/>
            <a:ext cx="2347082" cy="299557"/>
          </a:xfrm>
          <a:prstGeom prst="rect">
            <a:avLst/>
          </a:prstGeom>
        </p:spPr>
      </p:pic>
      <p:pic>
        <p:nvPicPr>
          <p:cNvPr id="43" name="Image 11" descr="m_AP1-12/kfbc8f1b2e6.png">    </p:cNvPr>
          <p:cNvPicPr>
            <a:picLocks noChangeAspect="1"/>
          </p:cNvPicPr>
          <p:nvPr/>
        </p:nvPicPr>
        <p:blipFill>
          <a:blip r:embed="rId12"/>
          <a:stretch>
            <a:fillRect/>
          </a:stretch>
        </p:blipFill>
        <p:spPr>
          <a:xfrm>
            <a:off x="7210044" y="5441741"/>
            <a:ext cx="3456432" cy="34235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1.12.A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8</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329184" cy="0"/>
          </a:xfrm>
          <a:prstGeom prst="line">
            <a:avLst/>
          </a:prstGeom>
          <a:noFill/>
          <a:ln w="25400">
            <a:solidFill>
              <a:srgbClr val="17A199"/>
            </a:solidFill>
            <a:prstDash val="dash"/>
          </a:ln>
        </p:spPr>
      </p:sp>
      <p:sp>
        <p:nvSpPr>
          <p:cNvPr id="15" name="stn3"/>
          <p:cNvSpPr/>
          <p:nvPr/>
        </p:nvSpPr>
        <p:spPr>
          <a:xfrm>
            <a:off x="535838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5833872" y="457200"/>
            <a:ext cx="32918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PRACTICE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Give it a go: Practice, Apply, Investigate</a:t>
            </a:r>
            <a:endParaRPr lang="en-US" sz="3000" dirty="0"/>
          </a:p>
        </p:txBody>
      </p:sp>
      <p:sp>
        <p:nvSpPr>
          <p:cNvPr id="29" name="Shape 24"/>
          <p:cNvSpPr/>
          <p:nvPr/>
        </p:nvSpPr>
        <p:spPr>
          <a:xfrm>
            <a:off x="457200" y="1828800"/>
            <a:ext cx="3611880" cy="777240"/>
          </a:xfrm>
          <a:prstGeom prst="roundRect">
            <a:avLst>
              <a:gd name="adj" fmla="val 14118"/>
            </a:avLst>
          </a:prstGeom>
          <a:solidFill>
            <a:srgbClr val="17A199"/>
          </a:solidFill>
          <a:ln w="12700">
            <a:solidFill>
              <a:srgbClr val="FFFFFF"/>
            </a:solidFill>
            <a:prstDash val="solid"/>
          </a:ln>
        </p:spPr>
      </p:sp>
      <p:sp>
        <p:nvSpPr>
          <p:cNvPr id="30" name="Text 25"/>
          <p:cNvSpPr txBox="1"/>
          <p:nvPr/>
        </p:nvSpPr>
        <p:spPr>
          <a:xfrm>
            <a:off x="68580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PRACTICE</a:t>
            </a:r>
            <a:endParaRPr lang="en-US" sz="2000" dirty="0"/>
          </a:p>
        </p:txBody>
      </p:sp>
      <p:sp>
        <p:nvSpPr>
          <p:cNvPr id="31" name="Text 26"/>
          <p:cNvSpPr txBox="1"/>
          <p:nvPr/>
        </p:nvSpPr>
        <p:spPr>
          <a:xfrm>
            <a:off x="68580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Secure the method</a:t>
            </a:r>
            <a:endParaRPr lang="en-US" sz="1300" dirty="0"/>
          </a:p>
        </p:txBody>
      </p:sp>
      <p:sp>
        <p:nvSpPr>
          <p:cNvPr id="32" name="Shape 27"/>
          <p:cNvSpPr/>
          <p:nvPr/>
        </p:nvSpPr>
        <p:spPr>
          <a:xfrm>
            <a:off x="45720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2" descr="m_AP1-12/ka80a3efabc.png">    </p:cNvPr>
          <p:cNvPicPr>
            <a:picLocks noChangeAspect="1"/>
          </p:cNvPicPr>
          <p:nvPr/>
        </p:nvPicPr>
        <p:blipFill>
          <a:blip r:embed="rId3"/>
          <a:stretch>
            <a:fillRect/>
          </a:stretch>
        </p:blipFill>
        <p:spPr>
          <a:xfrm>
            <a:off x="571500" y="2926080"/>
            <a:ext cx="3383280" cy="258721"/>
          </a:xfrm>
          <a:prstGeom prst="rect">
            <a:avLst/>
          </a:prstGeom>
        </p:spPr>
      </p:pic>
      <p:sp>
        <p:nvSpPr>
          <p:cNvPr id="34" name="Text 28"/>
          <p:cNvSpPr txBox="1"/>
          <p:nvPr/>
        </p:nvSpPr>
        <p:spPr>
          <a:xfrm>
            <a:off x="685800" y="5212080"/>
            <a:ext cx="3200400" cy="1005840"/>
          </a:xfrm>
          <a:prstGeom prst="rect">
            <a:avLst/>
          </a:prstGeom>
          <a:noFill/>
          <a:ln/>
        </p:spPr>
        <p:txBody>
          <a:bodyPr wrap="square" lIns="0" tIns="0" rIns="0" bIns="0" rtlCol="0" anchor="b"/>
          <a:lstStyle/>
          <a:p>
            <a:pPr indent="0" marL="0">
              <a:buNone/>
            </a:pPr>
            <a:r>
              <a:rPr lang="en-US" sz="1250" dirty="0">
                <a:solidFill>
                  <a:srgbClr val="3F4B49"/>
                </a:solidFill>
                <a:latin typeface="Calibri" pitchFamily="34" charset="0"/>
                <a:ea typeface="Calibri" pitchFamily="34" charset="-122"/>
                <a:cs typeface="Calibri" pitchFamily="34" charset="-120"/>
              </a:rPr>
              <a:t>Done when: you state the shift in each direction and write the image point.</a:t>
            </a:r>
            <a:endParaRPr lang="en-US" sz="1250" dirty="0"/>
          </a:p>
        </p:txBody>
      </p:sp>
      <p:sp>
        <p:nvSpPr>
          <p:cNvPr id="35" name="Shape 29"/>
          <p:cNvSpPr/>
          <p:nvPr/>
        </p:nvSpPr>
        <p:spPr>
          <a:xfrm>
            <a:off x="4251960" y="1828800"/>
            <a:ext cx="3611880" cy="777240"/>
          </a:xfrm>
          <a:prstGeom prst="roundRect">
            <a:avLst>
              <a:gd name="adj" fmla="val 14118"/>
            </a:avLst>
          </a:prstGeom>
          <a:solidFill>
            <a:srgbClr val="E8762C"/>
          </a:solidFill>
          <a:ln w="12700">
            <a:solidFill>
              <a:srgbClr val="FFFFFF"/>
            </a:solidFill>
            <a:prstDash val="solid"/>
          </a:ln>
        </p:spPr>
      </p:sp>
      <p:sp>
        <p:nvSpPr>
          <p:cNvPr id="36" name="Text 30"/>
          <p:cNvSpPr txBox="1"/>
          <p:nvPr/>
        </p:nvSpPr>
        <p:spPr>
          <a:xfrm>
            <a:off x="448056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APPLY</a:t>
            </a:r>
            <a:endParaRPr lang="en-US" sz="2000" dirty="0"/>
          </a:p>
        </p:txBody>
      </p:sp>
      <p:sp>
        <p:nvSpPr>
          <p:cNvPr id="37" name="Text 31"/>
          <p:cNvSpPr txBox="1"/>
          <p:nvPr/>
        </p:nvSpPr>
        <p:spPr>
          <a:xfrm>
            <a:off x="448056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it in context</a:t>
            </a:r>
            <a:endParaRPr lang="en-US" sz="1300" dirty="0"/>
          </a:p>
        </p:txBody>
      </p:sp>
      <p:sp>
        <p:nvSpPr>
          <p:cNvPr id="38" name="Shape 32"/>
          <p:cNvSpPr/>
          <p:nvPr/>
        </p:nvSpPr>
        <p:spPr>
          <a:xfrm>
            <a:off x="425196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9" name="Image 3" descr="m_AP1-12/k6134f9ed1e.png">    </p:cNvPr>
          <p:cNvPicPr>
            <a:picLocks noChangeAspect="1"/>
          </p:cNvPicPr>
          <p:nvPr/>
        </p:nvPicPr>
        <p:blipFill>
          <a:blip r:embed="rId4"/>
          <a:stretch>
            <a:fillRect/>
          </a:stretch>
        </p:blipFill>
        <p:spPr>
          <a:xfrm>
            <a:off x="4366260" y="2926080"/>
            <a:ext cx="3383280" cy="558434"/>
          </a:xfrm>
          <a:prstGeom prst="rect">
            <a:avLst/>
          </a:prstGeom>
        </p:spPr>
      </p:pic>
      <p:sp>
        <p:nvSpPr>
          <p:cNvPr id="40" name="Text 33"/>
          <p:cNvSpPr txBox="1"/>
          <p:nvPr/>
        </p:nvSpPr>
        <p:spPr>
          <a:xfrm>
            <a:off x="4480560" y="5212080"/>
            <a:ext cx="3200400" cy="1005840"/>
          </a:xfrm>
          <a:prstGeom prst="rect">
            <a:avLst/>
          </a:prstGeom>
          <a:noFill/>
          <a:ln/>
        </p:spPr>
        <p:txBody>
          <a:bodyPr wrap="square" lIns="0" tIns="0" rIns="0" bIns="0" rtlCol="0" anchor="b"/>
          <a:lstStyle/>
          <a:p>
            <a:pPr indent="0" marL="0">
              <a:buNone/>
            </a:pPr>
            <a:r>
              <a:rPr lang="en-US" sz="1250" dirty="0">
                <a:solidFill>
                  <a:srgbClr val="3F4B49"/>
                </a:solidFill>
                <a:latin typeface="Calibri" pitchFamily="34" charset="0"/>
                <a:ea typeface="Calibri" pitchFamily="34" charset="-122"/>
                <a:cs typeface="Calibri" pitchFamily="34" charset="-120"/>
              </a:rPr>
              <a:t>Done when: you name the dilation factor and the reflection, and write the image point.</a:t>
            </a:r>
            <a:endParaRPr lang="en-US" sz="1250" dirty="0"/>
          </a:p>
        </p:txBody>
      </p:sp>
      <p:sp>
        <p:nvSpPr>
          <p:cNvPr id="41" name="Shape 34"/>
          <p:cNvSpPr/>
          <p:nvPr/>
        </p:nvSpPr>
        <p:spPr>
          <a:xfrm>
            <a:off x="8046720" y="1828800"/>
            <a:ext cx="3611880" cy="777240"/>
          </a:xfrm>
          <a:prstGeom prst="roundRect">
            <a:avLst>
              <a:gd name="adj" fmla="val 14118"/>
            </a:avLst>
          </a:prstGeom>
          <a:solidFill>
            <a:srgbClr val="1F3864"/>
          </a:solidFill>
          <a:ln w="12700">
            <a:solidFill>
              <a:srgbClr val="FFFFFF"/>
            </a:solidFill>
            <a:prstDash val="solid"/>
          </a:ln>
        </p:spPr>
      </p:sp>
      <p:sp>
        <p:nvSpPr>
          <p:cNvPr id="42" name="Text 35"/>
          <p:cNvSpPr txBox="1"/>
          <p:nvPr/>
        </p:nvSpPr>
        <p:spPr>
          <a:xfrm>
            <a:off x="827532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INVESTIGATE</a:t>
            </a:r>
            <a:endParaRPr lang="en-US" sz="2000" dirty="0"/>
          </a:p>
        </p:txBody>
      </p:sp>
      <p:sp>
        <p:nvSpPr>
          <p:cNvPr id="43" name="Text 36"/>
          <p:cNvSpPr txBox="1"/>
          <p:nvPr/>
        </p:nvSpPr>
        <p:spPr>
          <a:xfrm>
            <a:off x="827532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Find out why</a:t>
            </a:r>
            <a:endParaRPr lang="en-US" sz="1300" dirty="0"/>
          </a:p>
        </p:txBody>
      </p:sp>
      <p:sp>
        <p:nvSpPr>
          <p:cNvPr id="44" name="Shape 37"/>
          <p:cNvSpPr/>
          <p:nvPr/>
        </p:nvSpPr>
        <p:spPr>
          <a:xfrm>
            <a:off x="804672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5" name="Image 4" descr="m_AP1-12/k1f66ce1398.png">    </p:cNvPr>
          <p:cNvPicPr>
            <a:picLocks noChangeAspect="1"/>
          </p:cNvPicPr>
          <p:nvPr/>
        </p:nvPicPr>
        <p:blipFill>
          <a:blip r:embed="rId5"/>
          <a:stretch>
            <a:fillRect/>
          </a:stretch>
        </p:blipFill>
        <p:spPr>
          <a:xfrm>
            <a:off x="8161020" y="2926080"/>
            <a:ext cx="3383280" cy="240836"/>
          </a:xfrm>
          <a:prstGeom prst="rect">
            <a:avLst/>
          </a:prstGeom>
        </p:spPr>
      </p:pic>
      <p:sp>
        <p:nvSpPr>
          <p:cNvPr id="46" name="Text 38"/>
          <p:cNvSpPr txBox="1"/>
          <p:nvPr/>
        </p:nvSpPr>
        <p:spPr>
          <a:xfrm>
            <a:off x="827532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your explanation uses a specific input value that gives the same output as before.</a:t>
            </a:r>
            <a:endParaRPr lang="en-US" sz="11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1.12.A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9</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329184" cy="0"/>
          </a:xfrm>
          <a:prstGeom prst="line">
            <a:avLst/>
          </a:prstGeom>
          <a:noFill/>
          <a:ln w="25400">
            <a:solidFill>
              <a:srgbClr val="17A199"/>
            </a:solidFill>
            <a:prstDash val="dash"/>
          </a:ln>
        </p:spPr>
      </p:sp>
      <p:sp>
        <p:nvSpPr>
          <p:cNvPr id="18" name="stn4"/>
          <p:cNvSpPr/>
          <p:nvPr/>
        </p:nvSpPr>
        <p:spPr>
          <a:xfrm>
            <a:off x="6071616" y="228600"/>
            <a:ext cx="457200" cy="457200"/>
          </a:xfrm>
          <a:prstGeom prst="ellipse">
            <a:avLst/>
          </a:prstGeom>
          <a:solidFill>
            <a:srgbClr val="E8762C"/>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path4"/>
          <p:cNvSpPr/>
          <p:nvPr/>
        </p:nvSpPr>
        <p:spPr>
          <a:xfrm>
            <a:off x="6547104" y="457200"/>
            <a:ext cx="32918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4  ·  PRODUCTION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Production: the arch of a footbridge</a:t>
            </a:r>
            <a:endParaRPr lang="en-US" sz="3000" dirty="0"/>
          </a:p>
        </p:txBody>
      </p:sp>
      <p:sp>
        <p:nvSpPr>
          <p:cNvPr id="29" name="Shape 24"/>
          <p:cNvSpPr/>
          <p:nvPr/>
        </p:nvSpPr>
        <p:spPr>
          <a:xfrm>
            <a:off x="457200" y="1828800"/>
            <a:ext cx="585216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Text 25"/>
          <p:cNvSpPr txBox="1"/>
          <p:nvPr/>
        </p:nvSpPr>
        <p:spPr>
          <a:xfrm>
            <a:off x="73152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THE MODEL</a:t>
            </a:r>
            <a:endParaRPr lang="en-US" sz="1100" dirty="0"/>
          </a:p>
        </p:txBody>
      </p:sp>
      <p:sp>
        <p:nvSpPr>
          <p:cNvPr id="31" name="Text 26"/>
          <p:cNvSpPr txBox="1"/>
          <p:nvPr/>
        </p:nvSpPr>
        <p:spPr>
          <a:xfrm>
            <a:off x="731520" y="2194560"/>
            <a:ext cx="5303520" cy="1280160"/>
          </a:xfrm>
          <a:prstGeom prst="rect">
            <a:avLst/>
          </a:prstGeom>
          <a:noFill/>
          <a:ln/>
        </p:spPr>
        <p:txBody>
          <a:bodyPr wrap="square" lIns="0" tIns="0" rIns="0" bIns="0" rtlCol="0" anchor="t"/>
          <a:lstStyle/>
          <a:p>
            <a:pPr indent="0" marL="0">
              <a:buNone/>
            </a:pPr>
            <a:r>
              <a:rPr lang="en-US" sz="1400" dirty="0">
                <a:solidFill>
                  <a:srgbClr val="222E2D"/>
                </a:solidFill>
                <a:latin typeface="Calibri" pitchFamily="34" charset="0"/>
                <a:ea typeface="Calibri" pitchFamily="34" charset="-122"/>
                <a:cs typeface="Calibri" pitchFamily="34" charset="-120"/>
              </a:rPr>
              <a:t>The arch of a footbridge is built from the parent function x squared by transformations. The model gives the height in metres of the arch above the water at a horizontal distance x metres from the left bank. The numbers are model values for practice, not a real bridge.</a:t>
            </a:r>
            <a:endParaRPr lang="en-US" sz="1400" dirty="0"/>
          </a:p>
        </p:txBody>
      </p:sp>
      <p:pic>
        <p:nvPicPr>
          <p:cNvPr id="32" name="Image 2" descr="m_AP1-12/k31b48266a4.png">    </p:cNvPr>
          <p:cNvPicPr>
            <a:picLocks noChangeAspect="1"/>
          </p:cNvPicPr>
          <p:nvPr/>
        </p:nvPicPr>
        <p:blipFill>
          <a:blip r:embed="rId3"/>
          <a:stretch>
            <a:fillRect/>
          </a:stretch>
        </p:blipFill>
        <p:spPr>
          <a:xfrm>
            <a:off x="1895368" y="3566160"/>
            <a:ext cx="2975823" cy="327721"/>
          </a:xfrm>
          <a:prstGeom prst="rect">
            <a:avLst/>
          </a:prstGeom>
        </p:spPr>
      </p:pic>
      <p:pic>
        <p:nvPicPr>
          <p:cNvPr id="33" name="Image 3" descr="m_AP1-12/k42ec833567.png">    </p:cNvPr>
          <p:cNvPicPr>
            <a:picLocks noChangeAspect="1"/>
          </p:cNvPicPr>
          <p:nvPr/>
        </p:nvPicPr>
        <p:blipFill>
          <a:blip r:embed="rId4"/>
          <a:stretch>
            <a:fillRect/>
          </a:stretch>
        </p:blipFill>
        <p:spPr>
          <a:xfrm>
            <a:off x="2781971" y="4003609"/>
            <a:ext cx="1202619" cy="251643"/>
          </a:xfrm>
          <a:prstGeom prst="rect">
            <a:avLst/>
          </a:prstGeom>
        </p:spPr>
      </p:pic>
      <p:sp>
        <p:nvSpPr>
          <p:cNvPr id="34" name="Text 27"/>
          <p:cNvSpPr txBox="1"/>
          <p:nvPr/>
        </p:nvSpPr>
        <p:spPr>
          <a:xfrm>
            <a:off x="731520" y="4502140"/>
            <a:ext cx="5303520" cy="171578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Describe, in order, the transformations of the parent function x squared that give the arch.</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Find the greatest height of the arch and the height 10 metres from the left bank.</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Find the horizontal distances at which the arch is 12 metres high.</a:t>
            </a:r>
            <a:endParaRPr lang="en-US" sz="1300" dirty="0"/>
          </a:p>
        </p:txBody>
      </p:sp>
      <p:sp>
        <p:nvSpPr>
          <p:cNvPr id="35" name="Shape 28"/>
          <p:cNvSpPr/>
          <p:nvPr/>
        </p:nvSpPr>
        <p:spPr>
          <a:xfrm>
            <a:off x="6492240" y="1828800"/>
            <a:ext cx="521208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6" name="Text 29"/>
          <p:cNvSpPr txBox="1"/>
          <p:nvPr/>
        </p:nvSpPr>
        <p:spPr>
          <a:xfrm>
            <a:off x="676656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DONE WHEN</a:t>
            </a:r>
            <a:endParaRPr lang="en-US" sz="1100" dirty="0"/>
          </a:p>
        </p:txBody>
      </p:sp>
      <p:sp>
        <p:nvSpPr>
          <p:cNvPr id="37" name="Text 30"/>
          <p:cNvSpPr txBox="1"/>
          <p:nvPr/>
        </p:nvSpPr>
        <p:spPr>
          <a:xfrm>
            <a:off x="6766560" y="2286000"/>
            <a:ext cx="4663440" cy="2926080"/>
          </a:xfrm>
          <a:prstGeom prst="rect">
            <a:avLst/>
          </a:prstGeom>
          <a:noFill/>
          <a:ln/>
        </p:spPr>
        <p:txBody>
          <a:bodyPr wrap="square" lIns="0" tIns="0" rIns="0" bIns="0" rtlCol="0" anchor="t"/>
          <a:lstStyle/>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Each transformation names its direction or factor.</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The greatest height is given with the value of x.</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Both distances are given to two decimal places.</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Every answer includes units (metres).</a:t>
            </a:r>
            <a:endParaRPr lang="en-US" sz="1550" dirty="0"/>
          </a:p>
        </p:txBody>
      </p:sp>
      <p:sp>
        <p:nvSpPr>
          <p:cNvPr id="38" name="Text 31"/>
          <p:cNvSpPr txBox="1"/>
          <p:nvPr/>
        </p:nvSpPr>
        <p:spPr>
          <a:xfrm>
            <a:off x="6766560" y="5303520"/>
            <a:ext cx="4663440" cy="822960"/>
          </a:xfrm>
          <a:prstGeom prst="rect">
            <a:avLst/>
          </a:prstGeom>
          <a:noFill/>
          <a:ln/>
        </p:spPr>
        <p:txBody>
          <a:bodyPr wrap="square" lIns="0" tIns="0" rIns="0" bIns="0" rtlCol="0" anchor="t"/>
          <a:lstStyle/>
          <a:p>
            <a:pPr indent="0" marL="0">
              <a:buNone/>
            </a:pPr>
            <a:r>
              <a:rPr lang="en-US" sz="1250" i="1" dirty="0">
                <a:solidFill>
                  <a:srgbClr val="F0B323"/>
                </a:solidFill>
                <a:latin typeface="Calibri" pitchFamily="34" charset="0"/>
                <a:ea typeface="Calibri" pitchFamily="34" charset="-122"/>
                <a:cs typeface="Calibri" pitchFamily="34" charset="-120"/>
              </a:rPr>
              <a:t>Hint: set the height equal to 12 and isolate the squared bracket first.</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1.12.A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10</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329184" cy="0"/>
          </a:xfrm>
          <a:prstGeom prst="line">
            <a:avLst/>
          </a:prstGeom>
          <a:noFill/>
          <a:ln w="25400">
            <a:solidFill>
              <a:srgbClr val="17A199"/>
            </a:solidFill>
            <a:prstDash val="dash"/>
          </a:ln>
        </p:spPr>
      </p:sp>
      <p:sp>
        <p:nvSpPr>
          <p:cNvPr id="21" name="stn5"/>
          <p:cNvSpPr/>
          <p:nvPr/>
        </p:nvSpPr>
        <p:spPr>
          <a:xfrm>
            <a:off x="6784848" y="228600"/>
            <a:ext cx="457200" cy="457200"/>
          </a:xfrm>
          <a:prstGeom prst="ellipse">
            <a:avLst/>
          </a:prstGeom>
          <a:solidFill>
            <a:srgbClr val="E8762C"/>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path5"/>
          <p:cNvSpPr/>
          <p:nvPr/>
        </p:nvSpPr>
        <p:spPr>
          <a:xfrm>
            <a:off x="7260336" y="457200"/>
            <a:ext cx="32918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5  ·  MASTERY GATE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Mastery Gate: three questions to pass</a:t>
            </a:r>
            <a:endParaRPr lang="en-US" sz="3000" dirty="0"/>
          </a:p>
        </p:txBody>
      </p:sp>
      <p:sp>
        <p:nvSpPr>
          <p:cNvPr id="29" name="Shape 24"/>
          <p:cNvSpPr/>
          <p:nvPr/>
        </p:nvSpPr>
        <p:spPr>
          <a:xfrm>
            <a:off x="45720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E8762C"/>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AP1-12/ka3a77084e2.png">    </p:cNvPr>
          <p:cNvPicPr>
            <a:picLocks noChangeAspect="1"/>
          </p:cNvPicPr>
          <p:nvPr/>
        </p:nvPicPr>
        <p:blipFill>
          <a:blip r:embed="rId3"/>
          <a:stretch>
            <a:fillRect/>
          </a:stretch>
        </p:blipFill>
        <p:spPr>
          <a:xfrm>
            <a:off x="685800" y="2743200"/>
            <a:ext cx="3200400" cy="590598"/>
          </a:xfrm>
          <a:prstGeom prst="rect">
            <a:avLst/>
          </a:prstGeom>
        </p:spPr>
      </p:pic>
      <p:sp>
        <p:nvSpPr>
          <p:cNvPr id="33" name="Shape 27"/>
          <p:cNvSpPr/>
          <p:nvPr/>
        </p:nvSpPr>
        <p:spPr>
          <a:xfrm>
            <a:off x="420624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E8762C"/>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AP1-12/keb02e70dca.png">    </p:cNvPr>
          <p:cNvPicPr>
            <a:picLocks noChangeAspect="1"/>
          </p:cNvPicPr>
          <p:nvPr/>
        </p:nvPicPr>
        <p:blipFill>
          <a:blip r:embed="rId4"/>
          <a:stretch>
            <a:fillRect/>
          </a:stretch>
        </p:blipFill>
        <p:spPr>
          <a:xfrm>
            <a:off x="4657314" y="2743200"/>
            <a:ext cx="2755453" cy="771388"/>
          </a:xfrm>
          <a:prstGeom prst="rect">
            <a:avLst/>
          </a:prstGeom>
        </p:spPr>
      </p:pic>
      <p:sp>
        <p:nvSpPr>
          <p:cNvPr id="37" name="Shape 30"/>
          <p:cNvSpPr/>
          <p:nvPr/>
        </p:nvSpPr>
        <p:spPr>
          <a:xfrm>
            <a:off x="795528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E8762C"/>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AP1-12/k6322c4e295.png">    </p:cNvPr>
          <p:cNvPicPr>
            <a:picLocks noChangeAspect="1"/>
          </p:cNvPicPr>
          <p:nvPr/>
        </p:nvPicPr>
        <p:blipFill>
          <a:blip r:embed="rId5"/>
          <a:stretch>
            <a:fillRect/>
          </a:stretch>
        </p:blipFill>
        <p:spPr>
          <a:xfrm>
            <a:off x="8183880" y="2743200"/>
            <a:ext cx="3200400" cy="712627"/>
          </a:xfrm>
          <a:prstGeom prst="rect">
            <a:avLst/>
          </a:prstGeom>
        </p:spPr>
      </p:pic>
      <p:sp>
        <p:nvSpPr>
          <p:cNvPr id="41" name="Shape 33"/>
          <p:cNvSpPr/>
          <p:nvPr/>
        </p:nvSpPr>
        <p:spPr>
          <a:xfrm>
            <a:off x="457200" y="4480560"/>
            <a:ext cx="11247120" cy="1554480"/>
          </a:xfrm>
          <a:prstGeom prst="roundRect">
            <a:avLst>
              <a:gd name="adj" fmla="val 705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61772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Pass mark</a:t>
            </a:r>
            <a:endParaRPr lang="en-US" sz="1400" dirty="0"/>
          </a:p>
        </p:txBody>
      </p:sp>
      <p:sp>
        <p:nvSpPr>
          <p:cNvPr id="43" name="Text 35"/>
          <p:cNvSpPr txBox="1"/>
          <p:nvPr/>
        </p:nvSpPr>
        <p:spPr>
          <a:xfrm>
            <a:off x="777240" y="4983480"/>
            <a:ext cx="1060704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3 of 3 correct unlocks Station 6. Fewer than that: return to the slide for the question you missed, redo it, then re-take the gate.</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1.12.A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11</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329184" cy="0"/>
          </a:xfrm>
          <a:prstGeom prst="line">
            <a:avLst/>
          </a:prstGeom>
          <a:noFill/>
          <a:ln w="25400">
            <a:solidFill>
              <a:srgbClr val="17A199"/>
            </a:solidFill>
            <a:prstDash val="dash"/>
          </a:ln>
        </p:spPr>
      </p:sp>
      <p:sp>
        <p:nvSpPr>
          <p:cNvPr id="24" name="stn6"/>
          <p:cNvSpPr/>
          <p:nvPr/>
        </p:nvSpPr>
        <p:spPr>
          <a:xfrm>
            <a:off x="7498080" y="228600"/>
            <a:ext cx="457200" cy="457200"/>
          </a:xfrm>
          <a:prstGeom prst="ellipse">
            <a:avLst/>
          </a:prstGeom>
          <a:solidFill>
            <a:srgbClr val="E8762C"/>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6  ·  SMART PRODUCTION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Smart Production: make one, then check it</a:t>
            </a:r>
            <a:endParaRPr lang="en-US" sz="3000" dirty="0"/>
          </a:p>
        </p:txBody>
      </p:sp>
      <p:sp>
        <p:nvSpPr>
          <p:cNvPr id="29" name="Shape 24"/>
          <p:cNvSpPr/>
          <p:nvPr/>
        </p:nvSpPr>
        <p:spPr>
          <a:xfrm>
            <a:off x="457200" y="1828800"/>
            <a:ext cx="557784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731520" y="2011680"/>
            <a:ext cx="2377440" cy="457200"/>
          </a:xfrm>
          <a:prstGeom prst="roundRect">
            <a:avLst>
              <a:gd name="adj" fmla="val 50000"/>
            </a:avLst>
          </a:prstGeom>
          <a:solidFill>
            <a:srgbClr val="17A199"/>
          </a:solidFill>
          <a:ln w="12700">
            <a:solidFill>
              <a:srgbClr val="FFFFFF"/>
            </a:solidFill>
            <a:prstDash val="solid"/>
          </a:ln>
        </p:spPr>
      </p:sp>
      <p:sp>
        <p:nvSpPr>
          <p:cNvPr id="31" name="Text 26"/>
          <p:cNvSpPr txBox="1"/>
          <p:nvPr/>
        </p:nvSpPr>
        <p:spPr>
          <a:xfrm>
            <a:off x="731520" y="2011680"/>
            <a:ext cx="23774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CREATE</a:t>
            </a:r>
            <a:endParaRPr lang="en-US" sz="1600" dirty="0"/>
          </a:p>
        </p:txBody>
      </p:sp>
      <p:sp>
        <p:nvSpPr>
          <p:cNvPr id="32" name="Text 27"/>
          <p:cNvSpPr txBox="1"/>
          <p:nvPr/>
        </p:nvSpPr>
        <p:spPr>
          <a:xfrm>
            <a:off x="731520" y="2697480"/>
            <a:ext cx="5029200" cy="24688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Choose a parent function and write g(x) with one translation, one dilation and one reflection.</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On the back, write the image of one point of your choice.</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Swap with a partner: they name each transformation in order and check your image point.</a:t>
            </a:r>
            <a:endParaRPr lang="en-US" sz="1500" dirty="0"/>
          </a:p>
        </p:txBody>
      </p:sp>
      <p:sp>
        <p:nvSpPr>
          <p:cNvPr id="33" name="Text 28"/>
          <p:cNvSpPr txBox="1"/>
          <p:nvPr/>
        </p:nvSpPr>
        <p:spPr>
          <a:xfrm>
            <a:off x="731520" y="5212080"/>
            <a:ext cx="5029200" cy="914400"/>
          </a:xfrm>
          <a:prstGeom prst="rect">
            <a:avLst/>
          </a:prstGeom>
          <a:noFill/>
          <a:ln/>
        </p:spPr>
        <p:txBody>
          <a:bodyPr wrap="square" lIns="0" tIns="0" rIns="0" bIns="0" rtlCol="0" anchor="t"/>
          <a:lstStyle/>
          <a:p>
            <a:pPr indent="0" marL="0">
              <a:buNone/>
            </a:pPr>
            <a:r>
              <a:rPr lang="en-US" sz="1400" dirty="0">
                <a:solidFill>
                  <a:srgbClr val="3F4B49"/>
                </a:solidFill>
                <a:latin typeface="Calibri" pitchFamily="34" charset="0"/>
                <a:ea typeface="Calibri" pitchFamily="34" charset="-122"/>
                <a:cs typeface="Calibri" pitchFamily="34" charset="-120"/>
              </a:rPr>
              <a:t>Done when: your partner confirms every transformation and the image point.</a:t>
            </a:r>
            <a:endParaRPr lang="en-US" sz="1400" dirty="0"/>
          </a:p>
        </p:txBody>
      </p:sp>
      <p:sp>
        <p:nvSpPr>
          <p:cNvPr id="34" name="Shape 29"/>
          <p:cNvSpPr/>
          <p:nvPr/>
        </p:nvSpPr>
        <p:spPr>
          <a:xfrm>
            <a:off x="6217920" y="1828800"/>
            <a:ext cx="548640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Shape 30"/>
          <p:cNvSpPr/>
          <p:nvPr/>
        </p:nvSpPr>
        <p:spPr>
          <a:xfrm>
            <a:off x="6492240" y="2011680"/>
            <a:ext cx="2651760" cy="457200"/>
          </a:xfrm>
          <a:prstGeom prst="roundRect">
            <a:avLst>
              <a:gd name="adj" fmla="val 50000"/>
            </a:avLst>
          </a:prstGeom>
          <a:solidFill>
            <a:srgbClr val="F0B323"/>
          </a:solidFill>
          <a:ln w="12700">
            <a:solidFill>
              <a:srgbClr val="FFFFFF"/>
            </a:solidFill>
            <a:prstDash val="solid"/>
          </a:ln>
        </p:spPr>
      </p:sp>
      <p:sp>
        <p:nvSpPr>
          <p:cNvPr id="36" name="Text 31"/>
          <p:cNvSpPr txBox="1"/>
          <p:nvPr/>
        </p:nvSpPr>
        <p:spPr>
          <a:xfrm>
            <a:off x="6492240" y="2011680"/>
            <a:ext cx="2651760" cy="457200"/>
          </a:xfrm>
          <a:prstGeom prst="rect">
            <a:avLst/>
          </a:prstGeom>
          <a:noFill/>
          <a:ln/>
        </p:spPr>
        <p:txBody>
          <a:bodyPr wrap="square" lIns="0" tIns="0" rIns="0" bIns="0" rtlCol="0" anchor="ctr"/>
          <a:lstStyle/>
          <a:p>
            <a:pPr algn="ctr" indent="0" marL="0">
              <a:buNone/>
            </a:pPr>
            <a:r>
              <a:rPr lang="en-US" sz="1600" b="1" dirty="0">
                <a:solidFill>
                  <a:srgbClr val="222E2D"/>
                </a:solidFill>
                <a:latin typeface="Calibri" pitchFamily="34" charset="0"/>
                <a:ea typeface="Calibri" pitchFamily="34" charset="-122"/>
                <a:cs typeface="Calibri" pitchFamily="34" charset="-120"/>
              </a:rPr>
              <a:t>TIME TO CHECK</a:t>
            </a:r>
            <a:endParaRPr lang="en-US" sz="1600" dirty="0"/>
          </a:p>
        </p:txBody>
      </p:sp>
      <p:sp>
        <p:nvSpPr>
          <p:cNvPr id="37" name="Text 32"/>
          <p:cNvSpPr txBox="1"/>
          <p:nvPr/>
        </p:nvSpPr>
        <p:spPr>
          <a:xfrm>
            <a:off x="6492240" y="2697480"/>
            <a:ext cx="4937760" cy="8229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Exit ticket: write your answer on a sticky note and place it on the door.</a:t>
            </a:r>
            <a:endParaRPr lang="en-US" sz="1600" dirty="0"/>
          </a:p>
        </p:txBody>
      </p:sp>
      <p:sp>
        <p:nvSpPr>
          <p:cNvPr id="38" name="Shape 33"/>
          <p:cNvSpPr/>
          <p:nvPr/>
        </p:nvSpPr>
        <p:spPr>
          <a:xfrm>
            <a:off x="6492240" y="3611880"/>
            <a:ext cx="4937760" cy="1234440"/>
          </a:xfrm>
          <a:prstGeom prst="roundRect">
            <a:avLst>
              <a:gd name="adj" fmla="val 7407"/>
            </a:avLst>
          </a:prstGeom>
          <a:solidFill>
            <a:srgbClr val="FFFFFF"/>
          </a:solidFill>
          <a:ln w="12700">
            <a:solidFill>
              <a:srgbClr val="FFFFFF"/>
            </a:solidFill>
            <a:prstDash val="solid"/>
          </a:ln>
        </p:spPr>
      </p:sp>
      <p:pic>
        <p:nvPicPr>
          <p:cNvPr id="39" name="Image 2" descr="m_AP1-12/k41ee003b3b.png">    </p:cNvPr>
          <p:cNvPicPr>
            <a:picLocks noChangeAspect="1"/>
          </p:cNvPicPr>
          <p:nvPr/>
        </p:nvPicPr>
        <p:blipFill>
          <a:blip r:embed="rId3"/>
          <a:stretch>
            <a:fillRect/>
          </a:stretch>
        </p:blipFill>
        <p:spPr>
          <a:xfrm>
            <a:off x="7028444" y="3703320"/>
            <a:ext cx="3865352" cy="649590"/>
          </a:xfrm>
          <a:prstGeom prst="rect">
            <a:avLst/>
          </a:prstGeom>
        </p:spPr>
      </p:pic>
      <p:sp>
        <p:nvSpPr>
          <p:cNvPr id="40" name="Text 34"/>
          <p:cNvSpPr txBox="1"/>
          <p:nvPr/>
        </p:nvSpPr>
        <p:spPr>
          <a:xfrm>
            <a:off x="6492240" y="5074920"/>
            <a:ext cx="4937760" cy="822960"/>
          </a:xfrm>
          <a:prstGeom prst="rect">
            <a:avLst/>
          </a:prstGeom>
          <a:noFill/>
          <a:ln/>
        </p:spPr>
        <p:txBody>
          <a:bodyPr wrap="square" lIns="0" tIns="0" rIns="0" bIns="0" rtlCol="0" anchor="t"/>
          <a:lstStyle/>
          <a:p>
            <a:pPr indent="0" marL="0">
              <a:buNone/>
            </a:pPr>
            <a:r>
              <a:rPr lang="en-US" sz="1500" dirty="0">
                <a:solidFill>
                  <a:srgbClr val="BFD8D5"/>
                </a:solidFill>
                <a:latin typeface="Calibri" pitchFamily="34" charset="0"/>
                <a:ea typeface="Calibri" pitchFamily="34" charset="-122"/>
                <a:cs typeface="Calibri" pitchFamily="34" charset="-120"/>
              </a:rPr>
              <a:t>Next lesson: Topic 1.13 Function Model Selection and Assumption Articulation.</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Journey complete</a:t>
            </a:r>
            <a:endParaRPr lang="en-US" sz="4000" dirty="0"/>
          </a:p>
        </p:txBody>
      </p:sp>
      <p:sp>
        <p:nvSpPr>
          <p:cNvPr id="7" name="path1"/>
          <p:cNvSpPr/>
          <p:nvPr/>
        </p:nvSpPr>
        <p:spPr>
          <a:xfrm flipV="1">
            <a:off x="1371600" y="3200400"/>
            <a:ext cx="1965960" cy="1097280"/>
          </a:xfrm>
          <a:prstGeom prst="line">
            <a:avLst/>
          </a:prstGeom>
          <a:noFill/>
          <a:ln w="38100">
            <a:solidFill>
              <a:srgbClr val="F0B323"/>
            </a:solidFill>
            <a:prstDash val="dash"/>
          </a:ln>
        </p:spPr>
      </p:sp>
      <p:sp>
        <p:nvSpPr>
          <p:cNvPr id="8" name="path2"/>
          <p:cNvSpPr/>
          <p:nvPr/>
        </p:nvSpPr>
        <p:spPr>
          <a:xfrm>
            <a:off x="3337560" y="3200400"/>
            <a:ext cx="1965960" cy="1097280"/>
          </a:xfrm>
          <a:prstGeom prst="line">
            <a:avLst/>
          </a:prstGeom>
          <a:noFill/>
          <a:ln w="38100">
            <a:solidFill>
              <a:srgbClr val="F0B323"/>
            </a:solidFill>
            <a:prstDash val="dash"/>
          </a:ln>
        </p:spPr>
      </p:sp>
      <p:sp>
        <p:nvSpPr>
          <p:cNvPr id="9" name="path3"/>
          <p:cNvSpPr/>
          <p:nvPr/>
        </p:nvSpPr>
        <p:spPr>
          <a:xfrm flipV="1">
            <a:off x="5303520" y="3200400"/>
            <a:ext cx="1965960" cy="1097280"/>
          </a:xfrm>
          <a:prstGeom prst="line">
            <a:avLst/>
          </a:prstGeom>
          <a:noFill/>
          <a:ln w="38100">
            <a:solidFill>
              <a:srgbClr val="F0B323"/>
            </a:solidFill>
            <a:prstDash val="dash"/>
          </a:ln>
        </p:spPr>
      </p:sp>
      <p:sp>
        <p:nvSpPr>
          <p:cNvPr id="10" name="path4"/>
          <p:cNvSpPr/>
          <p:nvPr/>
        </p:nvSpPr>
        <p:spPr>
          <a:xfrm>
            <a:off x="7269480" y="3200400"/>
            <a:ext cx="1965960" cy="1097280"/>
          </a:xfrm>
          <a:prstGeom prst="line">
            <a:avLst/>
          </a:prstGeom>
          <a:noFill/>
          <a:ln w="38100">
            <a:solidFill>
              <a:srgbClr val="F0B323"/>
            </a:solidFill>
            <a:prstDash val="dash"/>
          </a:ln>
        </p:spPr>
      </p:sp>
      <p:sp>
        <p:nvSpPr>
          <p:cNvPr id="11" name="path5"/>
          <p:cNvSpPr/>
          <p:nvPr/>
        </p:nvSpPr>
        <p:spPr>
          <a:xfrm flipV="1">
            <a:off x="9235440" y="3200400"/>
            <a:ext cx="1737360" cy="1097280"/>
          </a:xfrm>
          <a:prstGeom prst="line">
            <a:avLst/>
          </a:prstGeom>
          <a:noFill/>
          <a:ln w="38100">
            <a:solidFill>
              <a:srgbClr val="F0B323"/>
            </a:solidFill>
            <a:prstDash val="dash"/>
          </a:ln>
        </p:spPr>
      </p:sp>
      <p:sp>
        <p:nvSpPr>
          <p:cNvPr id="12" name="stn1"/>
          <p:cNvSpPr/>
          <p:nvPr/>
        </p:nvSpPr>
        <p:spPr>
          <a:xfrm>
            <a:off x="708660" y="3634740"/>
            <a:ext cx="1325880" cy="1325880"/>
          </a:xfrm>
          <a:prstGeom prst="ellipse">
            <a:avLst/>
          </a:prstGeom>
          <a:solidFill>
            <a:srgbClr val="F0B323"/>
          </a:solidFill>
          <a:ln w="38100">
            <a:solidFill>
              <a:srgbClr val="FFFFFF"/>
            </a:solidFill>
            <a:prstDash val="solid"/>
          </a:ln>
        </p:spPr>
      </p:sp>
      <p:sp>
        <p:nvSpPr>
          <p:cNvPr id="13" name="Text 9"/>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4" name="Text 10"/>
          <p:cNvSpPr txBox="1"/>
          <p:nvPr/>
        </p:nvSpPr>
        <p:spPr>
          <a:xfrm>
            <a:off x="41148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Diagnose</a:t>
            </a:r>
            <a:endParaRPr lang="en-US" sz="1600" dirty="0"/>
          </a:p>
        </p:txBody>
      </p:sp>
      <p:sp>
        <p:nvSpPr>
          <p:cNvPr id="15" name="stn2"/>
          <p:cNvSpPr/>
          <p:nvPr/>
        </p:nvSpPr>
        <p:spPr>
          <a:xfrm>
            <a:off x="2674620" y="2537460"/>
            <a:ext cx="1325880" cy="1325880"/>
          </a:xfrm>
          <a:prstGeom prst="ellipse">
            <a:avLst/>
          </a:prstGeom>
          <a:solidFill>
            <a:srgbClr val="F0B323"/>
          </a:solidFill>
          <a:ln w="38100">
            <a:solidFill>
              <a:srgbClr val="FFFFFF"/>
            </a:solidFill>
            <a:prstDash val="solid"/>
          </a:ln>
        </p:spPr>
      </p:sp>
      <p:sp>
        <p:nvSpPr>
          <p:cNvPr id="16" name="Text 12"/>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7" name="Text 13"/>
          <p:cNvSpPr txBox="1"/>
          <p:nvPr/>
        </p:nvSpPr>
        <p:spPr>
          <a:xfrm>
            <a:off x="237744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Targeted Instruction</a:t>
            </a:r>
            <a:endParaRPr lang="en-US" sz="1600" dirty="0"/>
          </a:p>
        </p:txBody>
      </p:sp>
      <p:sp>
        <p:nvSpPr>
          <p:cNvPr id="18" name="stn3"/>
          <p:cNvSpPr/>
          <p:nvPr/>
        </p:nvSpPr>
        <p:spPr>
          <a:xfrm>
            <a:off x="4640580" y="3634740"/>
            <a:ext cx="1325880" cy="1325880"/>
          </a:xfrm>
          <a:prstGeom prst="ellipse">
            <a:avLst/>
          </a:prstGeom>
          <a:solidFill>
            <a:srgbClr val="F0B323"/>
          </a:solidFill>
          <a:ln w="38100">
            <a:solidFill>
              <a:srgbClr val="FFFFFF"/>
            </a:solidFill>
            <a:prstDash val="solid"/>
          </a:ln>
        </p:spPr>
      </p:sp>
      <p:sp>
        <p:nvSpPr>
          <p:cNvPr id="19" name="Text 15"/>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0" name="Text 16"/>
          <p:cNvSpPr txBox="1"/>
          <p:nvPr/>
        </p:nvSpPr>
        <p:spPr>
          <a:xfrm>
            <a:off x="434340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Practice</a:t>
            </a:r>
            <a:endParaRPr lang="en-US" sz="1600" dirty="0"/>
          </a:p>
        </p:txBody>
      </p:sp>
      <p:sp>
        <p:nvSpPr>
          <p:cNvPr id="21" name="stn4"/>
          <p:cNvSpPr/>
          <p:nvPr/>
        </p:nvSpPr>
        <p:spPr>
          <a:xfrm>
            <a:off x="6606540" y="2537460"/>
            <a:ext cx="1325880" cy="1325880"/>
          </a:xfrm>
          <a:prstGeom prst="ellipse">
            <a:avLst/>
          </a:prstGeom>
          <a:solidFill>
            <a:srgbClr val="F0B323"/>
          </a:solidFill>
          <a:ln w="38100">
            <a:solidFill>
              <a:srgbClr val="FFFFFF"/>
            </a:solidFill>
            <a:prstDash val="solid"/>
          </a:ln>
        </p:spPr>
      </p:sp>
      <p:sp>
        <p:nvSpPr>
          <p:cNvPr id="22" name="Text 18"/>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3" name="Text 19"/>
          <p:cNvSpPr txBox="1"/>
          <p:nvPr/>
        </p:nvSpPr>
        <p:spPr>
          <a:xfrm>
            <a:off x="630936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Production</a:t>
            </a:r>
            <a:endParaRPr lang="en-US" sz="1600" dirty="0"/>
          </a:p>
        </p:txBody>
      </p:sp>
      <p:sp>
        <p:nvSpPr>
          <p:cNvPr id="24" name="stn5"/>
          <p:cNvSpPr/>
          <p:nvPr/>
        </p:nvSpPr>
        <p:spPr>
          <a:xfrm>
            <a:off x="8572500" y="3634740"/>
            <a:ext cx="1325880" cy="1325880"/>
          </a:xfrm>
          <a:prstGeom prst="ellipse">
            <a:avLst/>
          </a:prstGeom>
          <a:solidFill>
            <a:srgbClr val="F0B323"/>
          </a:solidFill>
          <a:ln w="38100">
            <a:solidFill>
              <a:srgbClr val="FFFFFF"/>
            </a:solidFill>
            <a:prstDash val="solid"/>
          </a:ln>
        </p:spPr>
      </p:sp>
      <p:sp>
        <p:nvSpPr>
          <p:cNvPr id="25" name="Text 21"/>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6" name="Text 22"/>
          <p:cNvSpPr txBox="1"/>
          <p:nvPr/>
        </p:nvSpPr>
        <p:spPr>
          <a:xfrm>
            <a:off x="827532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Mastery Gate</a:t>
            </a:r>
            <a:endParaRPr lang="en-US" sz="1600" dirty="0"/>
          </a:p>
        </p:txBody>
      </p:sp>
      <p:sp>
        <p:nvSpPr>
          <p:cNvPr id="27" name="stn6"/>
          <p:cNvSpPr/>
          <p:nvPr/>
        </p:nvSpPr>
        <p:spPr>
          <a:xfrm>
            <a:off x="10309860" y="2537460"/>
            <a:ext cx="1325880" cy="1325880"/>
          </a:xfrm>
          <a:prstGeom prst="ellipse">
            <a:avLst/>
          </a:prstGeom>
          <a:solidFill>
            <a:srgbClr val="F0B323"/>
          </a:solidFill>
          <a:ln w="38100">
            <a:solidFill>
              <a:srgbClr val="FFFFFF"/>
            </a:solidFill>
            <a:prstDash val="solid"/>
          </a:ln>
        </p:spPr>
      </p:sp>
      <p:sp>
        <p:nvSpPr>
          <p:cNvPr id="28" name="Text 24"/>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9" name="Text 25"/>
          <p:cNvSpPr txBox="1"/>
          <p:nvPr/>
        </p:nvSpPr>
        <p:spPr>
          <a:xfrm>
            <a:off x="1001268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Smart Production</a:t>
            </a:r>
            <a:endParaRPr lang="en-US" sz="1600" dirty="0"/>
          </a:p>
        </p:txBody>
      </p:sp>
      <p:sp>
        <p:nvSpPr>
          <p:cNvPr id="30" name="Text 26"/>
          <p:cNvSpPr txBox="1"/>
          <p:nvPr/>
        </p:nvSpPr>
        <p:spPr>
          <a:xfrm>
            <a:off x="548640" y="5669280"/>
            <a:ext cx="11064240" cy="640080"/>
          </a:xfrm>
          <a:prstGeom prst="rect">
            <a:avLst/>
          </a:prstGeom>
          <a:noFill/>
          <a:ln/>
        </p:spPr>
        <p:txBody>
          <a:bodyPr wrap="square" lIns="0" tIns="0" rIns="0" bIns="0" rtlCol="0" anchor="ctr"/>
          <a:lstStyle/>
          <a:p>
            <a:pPr algn="ctr" indent="0" marL="0">
              <a:buNone/>
            </a:pPr>
            <a:r>
              <a:rPr lang="en-US" sz="1700" b="1" dirty="0">
                <a:solidFill>
                  <a:srgbClr val="F0B323"/>
                </a:solidFill>
                <a:latin typeface="Calibri" pitchFamily="34" charset="0"/>
                <a:ea typeface="Calibri" pitchFamily="34" charset="-122"/>
                <a:cs typeface="Calibri" pitchFamily="34" charset="-120"/>
              </a:rPr>
              <a:t>Inside changes move and stretch the graph horizontally in the opposite sense, outside changes act vertically, and domain and range can change.</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 Precalculus Topic 1.12 Transformations of Functions presentation</dc:title>
  <dc:subject>PptxGenJS Presentation</dc:subject>
  <dc:creator>Mr Malek Thiab</dc:creator>
  <cp:lastModifiedBy>Mr Malek Thiab</cp:lastModifiedBy>
  <cp:revision>1</cp:revision>
  <dcterms:created xsi:type="dcterms:W3CDTF">2026-10-13T04:32:21Z</dcterms:created>
  <dcterms:modified xsi:type="dcterms:W3CDTF">2026-10-13T04:32:21Z</dcterms:modified>
</cp:coreProperties>
</file>