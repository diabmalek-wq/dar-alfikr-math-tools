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Topic 1.11: Equivalent Representations.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(Factored form and standard form; Polynomial long division; The binomial theorem), Practice (Practice, Apply, Investigate), Production (average cost at a workshop),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factored form, standard form, equivalent forms, polynomial long division, quotient, remainder, slant asymptote, binomial theorem, Pascal's Triangle.
Standards are listed on this slide.
The essential question and mathematical practices are not shown because they are not in the project documents; add them from the curriculum map if you want them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Speaker notes (Diagnose, 6 min, no calculator).
Solutions: Q1 x^2 - x - 12 = (x - 4)(x + 3), because -4 and 3 multiply to -12 and add to -1. Q2 (x - 3)(x + 3)/(x + 3) = x - 3 for x not equal to -3. Q3 (x - 2)^2 = x^2 - 4x + 4.
Verbal misconceptions: 'factor pairs only need the right product' (check the sum); 'cancel the x^2 and the 9'; '(x - 2)^2 = x^2 - 4' (the middle term is missing).
Adaptive routing: if more than 30% miss Q1 or Q2, route to slide 5 (factored form). If more than 30% miss Q3, route to slide 7 (binomial theorem).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3):
Speaker notes (Targeted Instruction, block 1 of 3, LO 1.11.A). EK 1.11.A.1: 'Because the factored form of a polynomial or rational function readily provides information about real zeros, it can reveal information about x-intercepts, asymptotes, holes, domain, and range.' EK 1.11.A.2: 'The standard form of a polynomial or rational function can reveal information about end behaviors of the function.' EK 1.11.A.3: 'The information extracted from different analytic representations of the same polynomial or rational function can be used to answer questions in context.'
Worked solutions: Example A: x^3 - 4x^2 - 5x = x(x^2 - 4x - 5) = x(x - 5)(x + 1); zeros -1, 0, 5. The standard form has leading term x^3, so f tends to infinity as x tends to infinity. Example B: x^2 - x - 6 = (x - 3)(x + 2) and x^2 - 9 = (x - 3)(x + 3). The common factor x - 3 gives a hole at x = 3; the reduced function (x + 2)/(x + 3) has value 5/6 there, so the hole is (3, 5/6). The factor x + 3 stays in the denominator: vertical asymptote x = -3. The zero is x = -2. Equal degrees with ratio 1/1 give the horizontal asymptote y = 1.
Verbal misconceptions: 'a common factor that cancels leaves no trace' (it leaves a hole); 'a hole and a vertical asymptote are the same thing'.
Adaptive routing: if more than 30% miss Gate Q1, return to this slide and redo Example A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3):
Speaker notes (Targeted Instruction, block 2 of 3, LO 1.11.B). EK 1.11.B.2: 'The result of polynomial long division is helpful in finding equations of slant asymptotes for graphs of rational functions.' EK 1.11.B.1 describes long division as an algebraic process similar to numerical long division with a quotient and a remainder; the fetched wording was partly garbled (check against the CED PDF).
Worked solutions: Example A: divide by x - 2 (synthetic division with 2): coefficients 2, -3, 1, 5 become 2, 1, 3, 11. So the quotient is 2x^2 + x + 3 and the remainder is 11; check: (x - 2)(2x^2 + x + 3) = 2x^3 - 3x^2 + x - 6 ... plus 11 gives 2x^3 - 3x^2 + x + 5. Example B: divide by x - 1 with 1: coefficients 1, 3, -1 become 1, 4, 3. So r(x) = x + 4 + 3/(x - 1). As x grows large the fraction tends to 0, so the graph approaches the line y = x + 4. The denominator is zero at x = 1: vertical asymptote.
Verbal misconceptions: 'the remainder goes in the quotient'; 'the degree of the remainder can equal the degree of the divisor'; 'a slant asymptote is the same as a horizontal asymptote'.
Adaptive routing: if more than 30% miss Gate Q2, return to this slide and redo Example A with the remainder written as a fraction.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3):
Speaker notes (Targeted Instruction, block 3 of 3, LO 1.11.C). EK 1.11.C.1 (partly garbled in the fetched text; check against the CED PDF): the binomial theorem uses one row of Pascal's Triangle to expand (a + b)^n more easily, including polynomial functions of the form p(x) = (x + c)^n.
Worked solutions: Example A: row 4 is 1, 4, 6, 4, 1. Powers of 2 are 1, 2, 4, 8, 16, giving x^4 + 8x^3 + 24x^2 + 32x + 16. Example B: row 3 is 1, 3, 3, 1 with c = -3: powers of -3 are 1, -3, 9, -27, so x^3 - 9x^2 + 27x - 27. Example C: a = 2x, b = 1: 8x^3 + 3(4x^2) + 3(2x) + 1 = 8x^3 + 12x^2 + 6x + 1.
Verbal misconceptions: '(x + 2)^4 = x^4 + 16' (the middle terms are missing); 'the coefficient is only the Pascal number' (multiply by the power of c); 'with a negative c every sign is positive'; 'in (2x + 1)^3 the 2 is not cubed'.
Adaptive routing: if more than 30% miss Gate Q3, return to this slide; build Pascal rows 1 to 5 on the board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Speaker notes (Practice, 12 min; tierless: students choose the starting column and may move across).
Answers: Practice: synthetic division with 1: coefficients 1, 2, -5, 1 become 1, 3, -2, -1, so the quotient is x^2 + 3x - 2 and the remainder is -1: x^2 + 3x - 2 - 1/(x - 1). Apply: (x + 2)^3 = x^3 + 6x^2 + 12x + 8; at x = 1 this is 27 = 3^3. Investigate: (x^2 - 9)/(x - 3) = (x + 3)(x - 3)/(x - 3); the factor x - 3 cancels, so the graph is the line y = x + 3 with a hole at (3, 6).
Verbal misconceptions: 'if the denominator is zero there is always an asymptote'.
Adaptive routing: finished students move to Apply then Investigate; stuck students return to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Speaker notes (Production, 12 min).
Solutions: Synthetic division with -2: coefficients 1, 8, 30 become 1, 6, 18. So A(x) = x + 6 + 18/(x + 2): quotient x + 6, remainder 18. Task 2: the slant asymptote is y = x + 6; for large orders the average cost per case is close to x + 6 dollars, so it keeps growing with x in this model. Task 3: original form (64 + 64 + 30)/10 = 15.8; rewritten form 8 + 6 + 18/10 = 15.8; both 15.80 dollars.
Verbal misconceptions: using +2 in synthetic division; writing the remainder as a number added to the quotient.
Adaptive routing: if students cannot start, send them to slide 6 Example A and the hint.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Speaker notes (Mastery Gate, 6 min, no calculator).
Answers: Q1 x^3 - 9x = x(x - 3)(x + 3), zeros -3, 0, 3. Q2 synthetic division with -2: 1, 5, 7 become 1, 3, 1, so x + 3 + 1/(x + 2). Q3 x^3 + 6x^2 + 12x + 8.
Verbal misconceptions: Q1 'divide by x and lose the zero at 0'; Q2 'remainder 1 written as +1 in the quotient'; Q3 'x^3 + 8'.
Adaptive routing: Q1 missed, route to slide 5 Example A; Q2 missed, route to slide 6 Example A; Q3 missed, route to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Speaker notes (Smart Production, 6 min).
Create example: (x - 2)(x + 3)/((x - 2)(x + 1)): hole where x = 2 (y = 5/3), asymptote x = -1, zero x = -3. Exit answer: row 4 with c = -1: x^4 - 4x^3 + 6x^2 - 4x + 1.
Verbal misconceptions: students keep all signs positive; ask: what happens to the sign of each term when c is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Factored form shows zeros and holes, standard form shows end behavior, long division reveals the slant asymptote, and Pascal's Triangle expands repeated binomials. Collect the Time to Check responses. Next lesson: Topic 1.12 Transformations of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1.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9.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slideLayout" Target="../slideLayouts/slideLayout1.xml"/><Relationship Id="rId1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9-10  ·  AP PRECALCULUS  ·  UNIT 1</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Topic 1.11</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4400" b="1" dirty="0">
                <a:solidFill>
                  <a:srgbClr val="1F3864"/>
                </a:solidFill>
                <a:latin typeface="Cambria" pitchFamily="34" charset="0"/>
                <a:ea typeface="Cambria" pitchFamily="34" charset="-122"/>
                <a:cs typeface="Cambria" pitchFamily="34" charset="-120"/>
              </a:rPr>
              <a:t>Equivalent</a:t>
            </a:r>
            <a:endParaRPr lang="en-US" sz="4400" dirty="0"/>
          </a:p>
          <a:p>
            <a:pPr indent="0" marL="0">
              <a:buNone/>
            </a:pPr>
            <a:r>
              <a:rPr lang="en-US" sz="4400" b="1" dirty="0">
                <a:solidFill>
                  <a:srgbClr val="1F3864"/>
                </a:solidFill>
                <a:latin typeface="Cambria" pitchFamily="34" charset="0"/>
                <a:ea typeface="Cambria" pitchFamily="34" charset="-122"/>
                <a:cs typeface="Cambria" pitchFamily="34" charset="-120"/>
              </a:rPr>
              <a:t>Representations</a:t>
            </a:r>
            <a:endParaRPr lang="en-US" sz="44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Polynomial and Rational Functions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AP1-11/k7d3a586497.png">    </p:cNvPr>
          <p:cNvPicPr>
            <a:picLocks noChangeAspect="1"/>
          </p:cNvPicPr>
          <p:nvPr/>
        </p:nvPicPr>
        <p:blipFill>
          <a:blip r:embed="rId4"/>
          <a:stretch>
            <a:fillRect/>
          </a:stretch>
        </p:blipFill>
        <p:spPr>
          <a:xfrm>
            <a:off x="8412480" y="3017520"/>
            <a:ext cx="3291840" cy="431717"/>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1.11.A · LO 1.11.B · LO 1.11.C</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5029200"/>
          </a:xfrm>
          <a:prstGeom prst="roundRect">
            <a:avLst>
              <a:gd name="adj" fmla="val 218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44805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Rewrite polynomial and rational expressions in equivalent forms.</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Determine the quotient of two polynomial functions using long division.</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Rewrite the repeated product of binomials using the binomial theorem.</a:t>
            </a:r>
            <a:endParaRPr lang="en-US" sz="1700" dirty="0"/>
          </a:p>
        </p:txBody>
      </p:sp>
      <p:sp>
        <p:nvSpPr>
          <p:cNvPr id="14" name="Shape 9"/>
          <p:cNvSpPr/>
          <p:nvPr/>
        </p:nvSpPr>
        <p:spPr>
          <a:xfrm>
            <a:off x="6400800" y="1280160"/>
            <a:ext cx="5303520" cy="2148840"/>
          </a:xfrm>
          <a:prstGeom prst="roundRect">
            <a:avLst>
              <a:gd name="adj" fmla="val 5106"/>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16" name="Shape 11"/>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17" name="Text 12"/>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factored form</a:t>
            </a:r>
            <a:endParaRPr lang="en-US" sz="1100" dirty="0"/>
          </a:p>
        </p:txBody>
      </p:sp>
      <p:sp>
        <p:nvSpPr>
          <p:cNvPr id="18" name="Shape 13"/>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19" name="Text 14"/>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standard form</a:t>
            </a:r>
            <a:endParaRPr lang="en-US" sz="1100" dirty="0"/>
          </a:p>
        </p:txBody>
      </p:sp>
      <p:sp>
        <p:nvSpPr>
          <p:cNvPr id="20" name="Shape 15"/>
          <p:cNvSpPr/>
          <p:nvPr/>
        </p:nvSpPr>
        <p:spPr>
          <a:xfrm>
            <a:off x="6629400" y="1993392"/>
            <a:ext cx="2468880" cy="265176"/>
          </a:xfrm>
          <a:prstGeom prst="roundRect">
            <a:avLst>
              <a:gd name="adj" fmla="val 48276"/>
            </a:avLst>
          </a:prstGeom>
          <a:solidFill>
            <a:srgbClr val="1F3864"/>
          </a:solidFill>
          <a:ln w="12700">
            <a:solidFill>
              <a:srgbClr val="FFFFFF"/>
            </a:solidFill>
            <a:prstDash val="solid"/>
          </a:ln>
        </p:spPr>
      </p:sp>
      <p:sp>
        <p:nvSpPr>
          <p:cNvPr id="21" name="Text 16"/>
          <p:cNvSpPr txBox="1"/>
          <p:nvPr/>
        </p:nvSpPr>
        <p:spPr>
          <a:xfrm>
            <a:off x="662940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equivalent forms</a:t>
            </a:r>
            <a:endParaRPr lang="en-US" sz="1100" dirty="0"/>
          </a:p>
        </p:txBody>
      </p:sp>
      <p:sp>
        <p:nvSpPr>
          <p:cNvPr id="22" name="Shape 17"/>
          <p:cNvSpPr/>
          <p:nvPr/>
        </p:nvSpPr>
        <p:spPr>
          <a:xfrm>
            <a:off x="9189720" y="1993392"/>
            <a:ext cx="2468880" cy="265176"/>
          </a:xfrm>
          <a:prstGeom prst="roundRect">
            <a:avLst>
              <a:gd name="adj" fmla="val 48276"/>
            </a:avLst>
          </a:prstGeom>
          <a:solidFill>
            <a:srgbClr val="1F3864"/>
          </a:solidFill>
          <a:ln w="12700">
            <a:solidFill>
              <a:srgbClr val="FFFFFF"/>
            </a:solidFill>
            <a:prstDash val="solid"/>
          </a:ln>
        </p:spPr>
      </p:sp>
      <p:sp>
        <p:nvSpPr>
          <p:cNvPr id="23" name="Text 18"/>
          <p:cNvSpPr txBox="1"/>
          <p:nvPr/>
        </p:nvSpPr>
        <p:spPr>
          <a:xfrm>
            <a:off x="918972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polynomial long division</a:t>
            </a:r>
            <a:endParaRPr lang="en-US" sz="1100" dirty="0"/>
          </a:p>
        </p:txBody>
      </p:sp>
      <p:sp>
        <p:nvSpPr>
          <p:cNvPr id="24" name="Shape 19"/>
          <p:cNvSpPr/>
          <p:nvPr/>
        </p:nvSpPr>
        <p:spPr>
          <a:xfrm>
            <a:off x="6629400" y="2295144"/>
            <a:ext cx="2468880" cy="265176"/>
          </a:xfrm>
          <a:prstGeom prst="roundRect">
            <a:avLst>
              <a:gd name="adj" fmla="val 48276"/>
            </a:avLst>
          </a:prstGeom>
          <a:solidFill>
            <a:srgbClr val="E8762C"/>
          </a:solidFill>
          <a:ln w="12700">
            <a:solidFill>
              <a:srgbClr val="FFFFFF"/>
            </a:solidFill>
            <a:prstDash val="solid"/>
          </a:ln>
        </p:spPr>
      </p:sp>
      <p:sp>
        <p:nvSpPr>
          <p:cNvPr id="25" name="Text 20"/>
          <p:cNvSpPr txBox="1"/>
          <p:nvPr/>
        </p:nvSpPr>
        <p:spPr>
          <a:xfrm>
            <a:off x="662940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quotient</a:t>
            </a:r>
            <a:endParaRPr lang="en-US" sz="1100" dirty="0"/>
          </a:p>
        </p:txBody>
      </p:sp>
      <p:sp>
        <p:nvSpPr>
          <p:cNvPr id="26" name="Shape 21"/>
          <p:cNvSpPr/>
          <p:nvPr/>
        </p:nvSpPr>
        <p:spPr>
          <a:xfrm>
            <a:off x="9189720" y="2295144"/>
            <a:ext cx="2468880" cy="265176"/>
          </a:xfrm>
          <a:prstGeom prst="roundRect">
            <a:avLst>
              <a:gd name="adj" fmla="val 48276"/>
            </a:avLst>
          </a:prstGeom>
          <a:solidFill>
            <a:srgbClr val="E8762C"/>
          </a:solidFill>
          <a:ln w="12700">
            <a:solidFill>
              <a:srgbClr val="FFFFFF"/>
            </a:solidFill>
            <a:prstDash val="solid"/>
          </a:ln>
        </p:spPr>
      </p:sp>
      <p:sp>
        <p:nvSpPr>
          <p:cNvPr id="27" name="Text 22"/>
          <p:cNvSpPr txBox="1"/>
          <p:nvPr/>
        </p:nvSpPr>
        <p:spPr>
          <a:xfrm>
            <a:off x="918972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remainder</a:t>
            </a:r>
            <a:endParaRPr lang="en-US" sz="1100" dirty="0"/>
          </a:p>
        </p:txBody>
      </p:sp>
      <p:sp>
        <p:nvSpPr>
          <p:cNvPr id="28" name="Shape 23"/>
          <p:cNvSpPr/>
          <p:nvPr/>
        </p:nvSpPr>
        <p:spPr>
          <a:xfrm>
            <a:off x="6629400" y="2596896"/>
            <a:ext cx="2468880" cy="265176"/>
          </a:xfrm>
          <a:prstGeom prst="roundRect">
            <a:avLst>
              <a:gd name="adj" fmla="val 48276"/>
            </a:avLst>
          </a:prstGeom>
          <a:solidFill>
            <a:srgbClr val="17A199"/>
          </a:solidFill>
          <a:ln w="12700">
            <a:solidFill>
              <a:srgbClr val="FFFFFF"/>
            </a:solidFill>
            <a:prstDash val="solid"/>
          </a:ln>
        </p:spPr>
      </p:sp>
      <p:sp>
        <p:nvSpPr>
          <p:cNvPr id="29" name="Text 24"/>
          <p:cNvSpPr txBox="1"/>
          <p:nvPr/>
        </p:nvSpPr>
        <p:spPr>
          <a:xfrm>
            <a:off x="662940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slant asymptote</a:t>
            </a:r>
            <a:endParaRPr lang="en-US" sz="1100" dirty="0"/>
          </a:p>
        </p:txBody>
      </p:sp>
      <p:sp>
        <p:nvSpPr>
          <p:cNvPr id="30" name="Shape 25"/>
          <p:cNvSpPr/>
          <p:nvPr/>
        </p:nvSpPr>
        <p:spPr>
          <a:xfrm>
            <a:off x="9189720" y="2596896"/>
            <a:ext cx="2468880" cy="265176"/>
          </a:xfrm>
          <a:prstGeom prst="roundRect">
            <a:avLst>
              <a:gd name="adj" fmla="val 48276"/>
            </a:avLst>
          </a:prstGeom>
          <a:solidFill>
            <a:srgbClr val="17A199"/>
          </a:solidFill>
          <a:ln w="12700">
            <a:solidFill>
              <a:srgbClr val="FFFFFF"/>
            </a:solidFill>
            <a:prstDash val="solid"/>
          </a:ln>
        </p:spPr>
      </p:sp>
      <p:sp>
        <p:nvSpPr>
          <p:cNvPr id="31" name="Text 26"/>
          <p:cNvSpPr txBox="1"/>
          <p:nvPr/>
        </p:nvSpPr>
        <p:spPr>
          <a:xfrm>
            <a:off x="918972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binomial theorem</a:t>
            </a:r>
            <a:endParaRPr lang="en-US" sz="1100" dirty="0"/>
          </a:p>
        </p:txBody>
      </p:sp>
      <p:sp>
        <p:nvSpPr>
          <p:cNvPr id="32" name="Shape 27"/>
          <p:cNvSpPr/>
          <p:nvPr/>
        </p:nvSpPr>
        <p:spPr>
          <a:xfrm>
            <a:off x="6629400" y="2898648"/>
            <a:ext cx="2468880" cy="265176"/>
          </a:xfrm>
          <a:prstGeom prst="roundRect">
            <a:avLst>
              <a:gd name="adj" fmla="val 48276"/>
            </a:avLst>
          </a:prstGeom>
          <a:solidFill>
            <a:srgbClr val="1F3864"/>
          </a:solidFill>
          <a:ln w="12700">
            <a:solidFill>
              <a:srgbClr val="FFFFFF"/>
            </a:solidFill>
            <a:prstDash val="solid"/>
          </a:ln>
        </p:spPr>
      </p:sp>
      <p:sp>
        <p:nvSpPr>
          <p:cNvPr id="33" name="Text 28"/>
          <p:cNvSpPr txBox="1"/>
          <p:nvPr/>
        </p:nvSpPr>
        <p:spPr>
          <a:xfrm>
            <a:off x="6629400" y="2898648"/>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Pascal's Triangle</a:t>
            </a:r>
            <a:endParaRPr lang="en-US" sz="1100" dirty="0"/>
          </a:p>
        </p:txBody>
      </p:sp>
      <p:sp>
        <p:nvSpPr>
          <p:cNvPr id="34" name="Shape 29"/>
          <p:cNvSpPr/>
          <p:nvPr/>
        </p:nvSpPr>
        <p:spPr>
          <a:xfrm>
            <a:off x="6400800" y="3566160"/>
            <a:ext cx="5303520" cy="2743200"/>
          </a:xfrm>
          <a:prstGeom prst="roundRect">
            <a:avLst>
              <a:gd name="adj" fmla="val 4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Text 30"/>
          <p:cNvSpPr txBox="1"/>
          <p:nvPr/>
        </p:nvSpPr>
        <p:spPr>
          <a:xfrm>
            <a:off x="6675120" y="3639312"/>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STANDARDS</a:t>
            </a:r>
            <a:endParaRPr lang="en-US" sz="1100" dirty="0"/>
          </a:p>
        </p:txBody>
      </p:sp>
      <p:sp>
        <p:nvSpPr>
          <p:cNvPr id="36" name="Text 31"/>
          <p:cNvSpPr txBox="1"/>
          <p:nvPr/>
        </p:nvSpPr>
        <p:spPr>
          <a:xfrm>
            <a:off x="6675120" y="3931920"/>
            <a:ext cx="4846320" cy="2286000"/>
          </a:xfrm>
          <a:prstGeom prst="rect">
            <a:avLst/>
          </a:prstGeom>
          <a:noFill/>
          <a:ln/>
        </p:spPr>
        <p:txBody>
          <a:bodyPr wrap="square" lIns="0" tIns="0" rIns="0" bIns="0" rtlCol="0" anchor="t"/>
          <a:lstStyle/>
          <a:p>
            <a:pPr indent="0" marL="0">
              <a:buNone/>
            </a:pPr>
            <a:r>
              <a:rPr lang="en-US" sz="1050" b="1" dirty="0">
                <a:solidFill>
                  <a:srgbClr val="222E2D"/>
                </a:solidFill>
                <a:latin typeface="Calibri" pitchFamily="34" charset="0"/>
                <a:ea typeface="Calibri" pitchFamily="34" charset="-122"/>
                <a:cs typeface="Calibri" pitchFamily="34" charset="-120"/>
              </a:rPr>
              <a:t>LO 1.11.A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Rewrite polynomial and rational expressions in equivalent forms.</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LO 1.11.B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Determine the quotient of two polynomial functions using long division.</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LO 1.11.C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Rewrite the repeated product of binomials using the binomial theorem.</a:t>
            </a:r>
            <a:endParaRPr lang="en-US" sz="10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1.11.A · LO 1.11.B · LO 1.11.C</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AP1-11/k455df1b700.png">    </p:cNvPr>
          <p:cNvPicPr>
            <a:picLocks noChangeAspect="1"/>
          </p:cNvPicPr>
          <p:nvPr/>
        </p:nvPicPr>
        <p:blipFill>
          <a:blip r:embed="rId3"/>
          <a:stretch>
            <a:fillRect/>
          </a:stretch>
        </p:blipFill>
        <p:spPr>
          <a:xfrm>
            <a:off x="1033272" y="2697480"/>
            <a:ext cx="2505456" cy="358445"/>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AP1-11/k2122ce1744.png">    </p:cNvPr>
          <p:cNvPicPr>
            <a:picLocks noChangeAspect="1"/>
          </p:cNvPicPr>
          <p:nvPr/>
        </p:nvPicPr>
        <p:blipFill>
          <a:blip r:embed="rId4"/>
          <a:stretch>
            <a:fillRect/>
          </a:stretch>
        </p:blipFill>
        <p:spPr>
          <a:xfrm>
            <a:off x="4974336" y="2697480"/>
            <a:ext cx="2121408" cy="757123"/>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AP1-11/k940a7a8dd3.png">    </p:cNvPr>
          <p:cNvPicPr>
            <a:picLocks noChangeAspect="1"/>
          </p:cNvPicPr>
          <p:nvPr/>
        </p:nvPicPr>
        <p:blipFill>
          <a:blip r:embed="rId5"/>
          <a:stretch>
            <a:fillRect/>
          </a:stretch>
        </p:blipFill>
        <p:spPr>
          <a:xfrm>
            <a:off x="8673998" y="2697480"/>
            <a:ext cx="2220163" cy="409651"/>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All three answers are written without a calculator, and you can say how you checked each one by multiplying back.</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1.11.A · LO 1.11.B · LO 1.11.C</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Factored form and standard form</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11/k9b8eb246c3.png">    </p:cNvPr>
          <p:cNvPicPr>
            <a:picLocks noChangeAspect="1"/>
          </p:cNvPicPr>
          <p:nvPr/>
        </p:nvPicPr>
        <p:blipFill>
          <a:blip r:embed="rId3"/>
          <a:stretch>
            <a:fillRect/>
          </a:stretch>
        </p:blipFill>
        <p:spPr>
          <a:xfrm>
            <a:off x="731520" y="2166056"/>
            <a:ext cx="6378923" cy="331327"/>
          </a:xfrm>
          <a:prstGeom prst="rect">
            <a:avLst/>
          </a:prstGeom>
        </p:spPr>
      </p:pic>
      <p:pic>
        <p:nvPicPr>
          <p:cNvPr id="31" name="Image 3" descr="m_AP1-11/kb860604528.png">    </p:cNvPr>
          <p:cNvPicPr>
            <a:picLocks noChangeAspect="1"/>
          </p:cNvPicPr>
          <p:nvPr/>
        </p:nvPicPr>
        <p:blipFill>
          <a:blip r:embed="rId4"/>
          <a:stretch>
            <a:fillRect/>
          </a:stretch>
        </p:blipFill>
        <p:spPr>
          <a:xfrm>
            <a:off x="7750523" y="2193958"/>
            <a:ext cx="3679477" cy="275525"/>
          </a:xfrm>
          <a:prstGeom prst="rect">
            <a:avLst/>
          </a:prstGeom>
        </p:spPr>
      </p:pic>
      <p:sp>
        <p:nvSpPr>
          <p:cNvPr id="32" name="Shape 25"/>
          <p:cNvSpPr/>
          <p:nvPr/>
        </p:nvSpPr>
        <p:spPr>
          <a:xfrm>
            <a:off x="457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AP1-11/k69a19f34e5.png">    </p:cNvPr>
          <p:cNvPicPr>
            <a:picLocks noChangeAspect="1"/>
          </p:cNvPicPr>
          <p:nvPr/>
        </p:nvPicPr>
        <p:blipFill>
          <a:blip r:embed="rId5"/>
          <a:stretch>
            <a:fillRect/>
          </a:stretch>
        </p:blipFill>
        <p:spPr>
          <a:xfrm>
            <a:off x="1878708" y="3566160"/>
            <a:ext cx="2689104" cy="387120"/>
          </a:xfrm>
          <a:prstGeom prst="rect">
            <a:avLst/>
          </a:prstGeom>
        </p:spPr>
      </p:pic>
      <p:pic>
        <p:nvPicPr>
          <p:cNvPr id="35" name="Image 5" descr="m_AP1-11/k86f86288e5.png">    </p:cNvPr>
          <p:cNvPicPr>
            <a:picLocks noChangeAspect="1"/>
          </p:cNvPicPr>
          <p:nvPr/>
        </p:nvPicPr>
        <p:blipFill>
          <a:blip r:embed="rId6"/>
          <a:stretch>
            <a:fillRect/>
          </a:stretch>
        </p:blipFill>
        <p:spPr>
          <a:xfrm>
            <a:off x="1845625" y="4108728"/>
            <a:ext cx="2755270" cy="342351"/>
          </a:xfrm>
          <a:prstGeom prst="rect">
            <a:avLst/>
          </a:prstGeom>
        </p:spPr>
      </p:pic>
      <p:pic>
        <p:nvPicPr>
          <p:cNvPr id="36" name="Image 6" descr="m_AP1-11/k672ed7659b.png">    </p:cNvPr>
          <p:cNvPicPr>
            <a:picLocks noChangeAspect="1"/>
          </p:cNvPicPr>
          <p:nvPr/>
        </p:nvPicPr>
        <p:blipFill>
          <a:blip r:embed="rId7"/>
          <a:stretch>
            <a:fillRect/>
          </a:stretch>
        </p:blipFill>
        <p:spPr>
          <a:xfrm>
            <a:off x="2028322" y="4606528"/>
            <a:ext cx="2389876" cy="299557"/>
          </a:xfrm>
          <a:prstGeom prst="rect">
            <a:avLst/>
          </a:prstGeom>
        </p:spPr>
      </p:pic>
      <p:pic>
        <p:nvPicPr>
          <p:cNvPr id="37" name="Image 7" descr="m_AP1-11/ka125528ccc.png">    </p:cNvPr>
          <p:cNvPicPr>
            <a:picLocks noChangeAspect="1"/>
          </p:cNvPicPr>
          <p:nvPr/>
        </p:nvPicPr>
        <p:blipFill>
          <a:blip r:embed="rId8"/>
          <a:stretch>
            <a:fillRect/>
          </a:stretch>
        </p:blipFill>
        <p:spPr>
          <a:xfrm>
            <a:off x="2339401" y="5061533"/>
            <a:ext cx="1767718" cy="467441"/>
          </a:xfrm>
          <a:prstGeom prst="rect">
            <a:avLst/>
          </a:prstGeom>
        </p:spPr>
      </p:pic>
      <p:sp>
        <p:nvSpPr>
          <p:cNvPr id="38" name="Shape 27"/>
          <p:cNvSpPr/>
          <p:nvPr/>
        </p:nvSpPr>
        <p:spPr>
          <a:xfrm>
            <a:off x="6172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AP1-11/k8fdaf9714b.png">    </p:cNvPr>
          <p:cNvPicPr>
            <a:picLocks noChangeAspect="1"/>
          </p:cNvPicPr>
          <p:nvPr/>
        </p:nvPicPr>
        <p:blipFill>
          <a:blip r:embed="rId9"/>
          <a:stretch>
            <a:fillRect/>
          </a:stretch>
        </p:blipFill>
        <p:spPr>
          <a:xfrm>
            <a:off x="7918677" y="3566160"/>
            <a:ext cx="2039166" cy="635704"/>
          </a:xfrm>
          <a:prstGeom prst="rect">
            <a:avLst/>
          </a:prstGeom>
        </p:spPr>
      </p:pic>
      <p:pic>
        <p:nvPicPr>
          <p:cNvPr id="41" name="Image 9" descr="m_AP1-11/kd6023e64f1.png">    </p:cNvPr>
          <p:cNvPicPr>
            <a:picLocks noChangeAspect="1"/>
          </p:cNvPicPr>
          <p:nvPr/>
        </p:nvPicPr>
        <p:blipFill>
          <a:blip r:embed="rId10"/>
          <a:stretch>
            <a:fillRect/>
          </a:stretch>
        </p:blipFill>
        <p:spPr>
          <a:xfrm>
            <a:off x="7772730" y="4339979"/>
            <a:ext cx="2331061" cy="634680"/>
          </a:xfrm>
          <a:prstGeom prst="rect">
            <a:avLst/>
          </a:prstGeom>
        </p:spPr>
      </p:pic>
      <p:pic>
        <p:nvPicPr>
          <p:cNvPr id="42" name="Image 10" descr="m_AP1-11/k349d54265e.png">    </p:cNvPr>
          <p:cNvPicPr>
            <a:picLocks noChangeAspect="1"/>
          </p:cNvPicPr>
          <p:nvPr/>
        </p:nvPicPr>
        <p:blipFill>
          <a:blip r:embed="rId11"/>
          <a:stretch>
            <a:fillRect/>
          </a:stretch>
        </p:blipFill>
        <p:spPr>
          <a:xfrm>
            <a:off x="7562145" y="5112775"/>
            <a:ext cx="2752231" cy="646379"/>
          </a:xfrm>
          <a:prstGeom prst="rect">
            <a:avLst/>
          </a:prstGeom>
        </p:spPr>
      </p:pic>
      <p:pic>
        <p:nvPicPr>
          <p:cNvPr id="43" name="Image 11" descr="m_AP1-11/k844b142f04.png">    </p:cNvPr>
          <p:cNvPicPr>
            <a:picLocks noChangeAspect="1"/>
          </p:cNvPicPr>
          <p:nvPr/>
        </p:nvPicPr>
        <p:blipFill>
          <a:blip r:embed="rId12"/>
          <a:stretch>
            <a:fillRect/>
          </a:stretch>
        </p:blipFill>
        <p:spPr>
          <a:xfrm>
            <a:off x="7682061" y="5897269"/>
            <a:ext cx="2512398" cy="27493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1.11.A · LO 1.11.B · LO 1.11.C</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Polynomial long division</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11/k4426af8e38.png">    </p:cNvPr>
          <p:cNvPicPr>
            <a:picLocks noChangeAspect="1"/>
          </p:cNvPicPr>
          <p:nvPr/>
        </p:nvPicPr>
        <p:blipFill>
          <a:blip r:embed="rId3"/>
          <a:stretch>
            <a:fillRect/>
          </a:stretch>
        </p:blipFill>
        <p:spPr>
          <a:xfrm>
            <a:off x="3317443" y="2141525"/>
            <a:ext cx="3112618" cy="380390"/>
          </a:xfrm>
          <a:prstGeom prst="rect">
            <a:avLst/>
          </a:prstGeom>
        </p:spPr>
      </p:pic>
      <p:pic>
        <p:nvPicPr>
          <p:cNvPr id="31" name="Image 3" descr="m_AP1-11/k31de2a0fd7.png">    </p:cNvPr>
          <p:cNvPicPr>
            <a:picLocks noChangeAspect="1"/>
          </p:cNvPicPr>
          <p:nvPr/>
        </p:nvPicPr>
        <p:blipFill>
          <a:blip r:embed="rId4"/>
          <a:stretch>
            <a:fillRect/>
          </a:stretch>
        </p:blipFill>
        <p:spPr>
          <a:xfrm>
            <a:off x="7070141" y="2157984"/>
            <a:ext cx="1773936" cy="347472"/>
          </a:xfrm>
          <a:prstGeom prst="rect">
            <a:avLst/>
          </a:prstGeom>
        </p:spPr>
      </p:pic>
      <p:sp>
        <p:nvSpPr>
          <p:cNvPr id="32" name="Shape 25"/>
          <p:cNvSpPr/>
          <p:nvPr/>
        </p:nvSpPr>
        <p:spPr>
          <a:xfrm>
            <a:off x="457200" y="3108960"/>
            <a:ext cx="39319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4" descr="figs/AP1-11_slant.png">    </p:cNvPr>
          <p:cNvPicPr>
            <a:picLocks noChangeAspect="1"/>
          </p:cNvPicPr>
          <p:nvPr/>
        </p:nvPicPr>
        <p:blipFill>
          <a:blip r:embed="rId5"/>
          <a:stretch>
            <a:fillRect/>
          </a:stretch>
        </p:blipFill>
        <p:spPr>
          <a:xfrm>
            <a:off x="594360" y="3303549"/>
            <a:ext cx="3657600" cy="2765502"/>
          </a:xfrm>
          <a:prstGeom prst="rect">
            <a:avLst/>
          </a:prstGeom>
        </p:spPr>
      </p:pic>
      <p:sp>
        <p:nvSpPr>
          <p:cNvPr id="34" name="Shape 26"/>
          <p:cNvSpPr/>
          <p:nvPr/>
        </p:nvSpPr>
        <p:spPr>
          <a:xfrm>
            <a:off x="45262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Text 27"/>
          <p:cNvSpPr txBox="1"/>
          <p:nvPr/>
        </p:nvSpPr>
        <p:spPr>
          <a:xfrm>
            <a:off x="47548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6" name="Image 5" descr="m_AP1-11/kb56a3e502c.png">    </p:cNvPr>
          <p:cNvPicPr>
            <a:picLocks noChangeAspect="1"/>
          </p:cNvPicPr>
          <p:nvPr/>
        </p:nvPicPr>
        <p:blipFill>
          <a:blip r:embed="rId6"/>
          <a:stretch>
            <a:fillRect/>
          </a:stretch>
        </p:blipFill>
        <p:spPr>
          <a:xfrm>
            <a:off x="5135508" y="3566160"/>
            <a:ext cx="2301984" cy="715481"/>
          </a:xfrm>
          <a:prstGeom prst="rect">
            <a:avLst/>
          </a:prstGeom>
        </p:spPr>
      </p:pic>
      <p:pic>
        <p:nvPicPr>
          <p:cNvPr id="37" name="Image 6" descr="m_AP1-11/kdfcdd2aded.png">    </p:cNvPr>
          <p:cNvPicPr>
            <a:picLocks noChangeAspect="1"/>
          </p:cNvPicPr>
          <p:nvPr/>
        </p:nvPicPr>
        <p:blipFill>
          <a:blip r:embed="rId7"/>
          <a:stretch>
            <a:fillRect/>
          </a:stretch>
        </p:blipFill>
        <p:spPr>
          <a:xfrm>
            <a:off x="4709160" y="4437089"/>
            <a:ext cx="3154680" cy="349480"/>
          </a:xfrm>
          <a:prstGeom prst="rect">
            <a:avLst/>
          </a:prstGeom>
        </p:spPr>
      </p:pic>
      <p:pic>
        <p:nvPicPr>
          <p:cNvPr id="38" name="Image 7" descr="m_AP1-11/k6bccfa2de0.png">    </p:cNvPr>
          <p:cNvPicPr>
            <a:picLocks noChangeAspect="1"/>
          </p:cNvPicPr>
          <p:nvPr/>
        </p:nvPicPr>
        <p:blipFill>
          <a:blip r:embed="rId8"/>
          <a:stretch>
            <a:fillRect/>
          </a:stretch>
        </p:blipFill>
        <p:spPr>
          <a:xfrm>
            <a:off x="4709160" y="4942017"/>
            <a:ext cx="3154680" cy="324746"/>
          </a:xfrm>
          <a:prstGeom prst="rect">
            <a:avLst/>
          </a:prstGeom>
        </p:spPr>
      </p:pic>
      <p:pic>
        <p:nvPicPr>
          <p:cNvPr id="39" name="Image 8" descr="m_AP1-11/k81abb0ad98.png">    </p:cNvPr>
          <p:cNvPicPr>
            <a:picLocks noChangeAspect="1"/>
          </p:cNvPicPr>
          <p:nvPr/>
        </p:nvPicPr>
        <p:blipFill>
          <a:blip r:embed="rId9"/>
          <a:stretch>
            <a:fillRect/>
          </a:stretch>
        </p:blipFill>
        <p:spPr>
          <a:xfrm>
            <a:off x="5080041" y="5422212"/>
            <a:ext cx="2412919" cy="641909"/>
          </a:xfrm>
          <a:prstGeom prst="rect">
            <a:avLst/>
          </a:prstGeom>
        </p:spPr>
      </p:pic>
      <p:sp>
        <p:nvSpPr>
          <p:cNvPr id="40" name="Shape 28"/>
          <p:cNvSpPr/>
          <p:nvPr/>
        </p:nvSpPr>
        <p:spPr>
          <a:xfrm>
            <a:off x="81838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1" name="Text 29"/>
          <p:cNvSpPr txBox="1"/>
          <p:nvPr/>
        </p:nvSpPr>
        <p:spPr>
          <a:xfrm>
            <a:off x="84124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2" name="Image 9" descr="m_AP1-11/k3aa691ad04.png">    </p:cNvPr>
          <p:cNvPicPr>
            <a:picLocks noChangeAspect="1"/>
          </p:cNvPicPr>
          <p:nvPr/>
        </p:nvPicPr>
        <p:blipFill>
          <a:blip r:embed="rId10"/>
          <a:stretch>
            <a:fillRect/>
          </a:stretch>
        </p:blipFill>
        <p:spPr>
          <a:xfrm>
            <a:off x="8727436" y="3566160"/>
            <a:ext cx="2433328" cy="715481"/>
          </a:xfrm>
          <a:prstGeom prst="rect">
            <a:avLst/>
          </a:prstGeom>
        </p:spPr>
      </p:pic>
      <p:pic>
        <p:nvPicPr>
          <p:cNvPr id="43" name="Image 10" descr="m_AP1-11/kd7722f06a8.png">    </p:cNvPr>
          <p:cNvPicPr>
            <a:picLocks noChangeAspect="1"/>
          </p:cNvPicPr>
          <p:nvPr/>
        </p:nvPicPr>
        <p:blipFill>
          <a:blip r:embed="rId11"/>
          <a:stretch>
            <a:fillRect/>
          </a:stretch>
        </p:blipFill>
        <p:spPr>
          <a:xfrm>
            <a:off x="8675096" y="4437089"/>
            <a:ext cx="2538009" cy="641909"/>
          </a:xfrm>
          <a:prstGeom prst="rect">
            <a:avLst/>
          </a:prstGeom>
        </p:spPr>
      </p:pic>
      <p:pic>
        <p:nvPicPr>
          <p:cNvPr id="44" name="Image 11" descr="m_AP1-11/kcfafa15350.png">    </p:cNvPr>
          <p:cNvPicPr>
            <a:picLocks noChangeAspect="1"/>
          </p:cNvPicPr>
          <p:nvPr/>
        </p:nvPicPr>
        <p:blipFill>
          <a:blip r:embed="rId12"/>
          <a:stretch>
            <a:fillRect/>
          </a:stretch>
        </p:blipFill>
        <p:spPr>
          <a:xfrm>
            <a:off x="8375538" y="5234446"/>
            <a:ext cx="3137124" cy="312725"/>
          </a:xfrm>
          <a:prstGeom prst="rect">
            <a:avLst/>
          </a:prstGeom>
        </p:spPr>
      </p:pic>
      <p:pic>
        <p:nvPicPr>
          <p:cNvPr id="45" name="Image 12" descr="m_AP1-11/k58fc17f1c9.png">    </p:cNvPr>
          <p:cNvPicPr>
            <a:picLocks noChangeAspect="1"/>
          </p:cNvPicPr>
          <p:nvPr/>
        </p:nvPicPr>
        <p:blipFill>
          <a:blip r:embed="rId13"/>
          <a:stretch>
            <a:fillRect/>
          </a:stretch>
        </p:blipFill>
        <p:spPr>
          <a:xfrm>
            <a:off x="8459480" y="5702619"/>
            <a:ext cx="2969240" cy="3127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1.11.A · LO 1.11.B · LO 1.11.C</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The binomial theorem</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11/k32f22f01df.png">    </p:cNvPr>
          <p:cNvPicPr>
            <a:picLocks noChangeAspect="1"/>
          </p:cNvPicPr>
          <p:nvPr/>
        </p:nvPicPr>
        <p:blipFill>
          <a:blip r:embed="rId3"/>
          <a:stretch>
            <a:fillRect/>
          </a:stretch>
        </p:blipFill>
        <p:spPr>
          <a:xfrm>
            <a:off x="3599078" y="2141525"/>
            <a:ext cx="4963363" cy="380390"/>
          </a:xfrm>
          <a:prstGeom prst="rect">
            <a:avLst/>
          </a:prstGeom>
        </p:spPr>
      </p:pic>
      <p:sp>
        <p:nvSpPr>
          <p:cNvPr id="31"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2"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3" name="Image 3" descr="m_AP1-11/k237d76a05e.png">    </p:cNvPr>
          <p:cNvPicPr>
            <a:picLocks noChangeAspect="1"/>
          </p:cNvPicPr>
          <p:nvPr/>
        </p:nvPicPr>
        <p:blipFill>
          <a:blip r:embed="rId4"/>
          <a:stretch>
            <a:fillRect/>
          </a:stretch>
        </p:blipFill>
        <p:spPr>
          <a:xfrm>
            <a:off x="1760622" y="3566160"/>
            <a:ext cx="1050755" cy="387120"/>
          </a:xfrm>
          <a:prstGeom prst="rect">
            <a:avLst/>
          </a:prstGeom>
        </p:spPr>
      </p:pic>
      <p:pic>
        <p:nvPicPr>
          <p:cNvPr id="34" name="Image 4" descr="m_AP1-11/ka6541ee90c.png">    </p:cNvPr>
          <p:cNvPicPr>
            <a:picLocks noChangeAspect="1"/>
          </p:cNvPicPr>
          <p:nvPr/>
        </p:nvPicPr>
        <p:blipFill>
          <a:blip r:embed="rId5"/>
          <a:stretch>
            <a:fillRect/>
          </a:stretch>
        </p:blipFill>
        <p:spPr>
          <a:xfrm>
            <a:off x="970910" y="4108728"/>
            <a:ext cx="2630180" cy="309433"/>
          </a:xfrm>
          <a:prstGeom prst="rect">
            <a:avLst/>
          </a:prstGeom>
        </p:spPr>
      </p:pic>
      <p:pic>
        <p:nvPicPr>
          <p:cNvPr id="35" name="Image 5" descr="m_AP1-11/k8846192105.png">    </p:cNvPr>
          <p:cNvPicPr>
            <a:picLocks noChangeAspect="1"/>
          </p:cNvPicPr>
          <p:nvPr/>
        </p:nvPicPr>
        <p:blipFill>
          <a:blip r:embed="rId6"/>
          <a:stretch>
            <a:fillRect/>
          </a:stretch>
        </p:blipFill>
        <p:spPr>
          <a:xfrm>
            <a:off x="640080" y="4573609"/>
            <a:ext cx="3291840" cy="277625"/>
          </a:xfrm>
          <a:prstGeom prst="rect">
            <a:avLst/>
          </a:prstGeom>
        </p:spPr>
      </p:pic>
      <p:pic>
        <p:nvPicPr>
          <p:cNvPr id="36" name="Image 6" descr="m_AP1-11/kbef7e543c5.png">    </p:cNvPr>
          <p:cNvPicPr>
            <a:picLocks noChangeAspect="1"/>
          </p:cNvPicPr>
          <p:nvPr/>
        </p:nvPicPr>
        <p:blipFill>
          <a:blip r:embed="rId7"/>
          <a:stretch>
            <a:fillRect/>
          </a:stretch>
        </p:blipFill>
        <p:spPr>
          <a:xfrm>
            <a:off x="656539" y="5006682"/>
            <a:ext cx="3258922" cy="322600"/>
          </a:xfrm>
          <a:prstGeom prst="rect">
            <a:avLst/>
          </a:prstGeom>
        </p:spPr>
      </p:pic>
      <p:sp>
        <p:nvSpPr>
          <p:cNvPr id="37"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AP1-11/ka5f7c96b65.png">    </p:cNvPr>
          <p:cNvPicPr>
            <a:picLocks noChangeAspect="1"/>
          </p:cNvPicPr>
          <p:nvPr/>
        </p:nvPicPr>
        <p:blipFill>
          <a:blip r:embed="rId8"/>
          <a:stretch>
            <a:fillRect/>
          </a:stretch>
        </p:blipFill>
        <p:spPr>
          <a:xfrm>
            <a:off x="5551926" y="3566160"/>
            <a:ext cx="1057668" cy="387120"/>
          </a:xfrm>
          <a:prstGeom prst="rect">
            <a:avLst/>
          </a:prstGeom>
        </p:spPr>
      </p:pic>
      <p:pic>
        <p:nvPicPr>
          <p:cNvPr id="40" name="Image 8" descr="m_AP1-11/k4c85f56da4.png">    </p:cNvPr>
          <p:cNvPicPr>
            <a:picLocks noChangeAspect="1"/>
          </p:cNvPicPr>
          <p:nvPr/>
        </p:nvPicPr>
        <p:blipFill>
          <a:blip r:embed="rId9"/>
          <a:stretch>
            <a:fillRect/>
          </a:stretch>
        </p:blipFill>
        <p:spPr>
          <a:xfrm>
            <a:off x="4936846" y="4108728"/>
            <a:ext cx="2287829" cy="309433"/>
          </a:xfrm>
          <a:prstGeom prst="rect">
            <a:avLst/>
          </a:prstGeom>
        </p:spPr>
      </p:pic>
      <p:pic>
        <p:nvPicPr>
          <p:cNvPr id="41" name="Image 9" descr="m_AP1-11/k139e18a969.png">    </p:cNvPr>
          <p:cNvPicPr>
            <a:picLocks noChangeAspect="1"/>
          </p:cNvPicPr>
          <p:nvPr/>
        </p:nvPicPr>
        <p:blipFill>
          <a:blip r:embed="rId10"/>
          <a:stretch>
            <a:fillRect/>
          </a:stretch>
        </p:blipFill>
        <p:spPr>
          <a:xfrm>
            <a:off x="4497385" y="4573609"/>
            <a:ext cx="3166750" cy="368686"/>
          </a:xfrm>
          <a:prstGeom prst="rect">
            <a:avLst/>
          </a:prstGeom>
        </p:spPr>
      </p:pic>
      <p:pic>
        <p:nvPicPr>
          <p:cNvPr id="42" name="Image 10" descr="m_AP1-11/k0887243de9.png">    </p:cNvPr>
          <p:cNvPicPr>
            <a:picLocks noChangeAspect="1"/>
          </p:cNvPicPr>
          <p:nvPr/>
        </p:nvPicPr>
        <p:blipFill>
          <a:blip r:embed="rId11"/>
          <a:stretch>
            <a:fillRect/>
          </a:stretch>
        </p:blipFill>
        <p:spPr>
          <a:xfrm>
            <a:off x="4875947" y="5097743"/>
            <a:ext cx="2409627" cy="322600"/>
          </a:xfrm>
          <a:prstGeom prst="rect">
            <a:avLst/>
          </a:prstGeom>
        </p:spPr>
      </p:pic>
      <p:sp>
        <p:nvSpPr>
          <p:cNvPr id="43"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4"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5" name="Image 11" descr="m_AP1-11/kcb2a8fa0d1.png">    </p:cNvPr>
          <p:cNvPicPr>
            <a:picLocks noChangeAspect="1"/>
          </p:cNvPicPr>
          <p:nvPr/>
        </p:nvPicPr>
        <p:blipFill>
          <a:blip r:embed="rId12"/>
          <a:stretch>
            <a:fillRect/>
          </a:stretch>
        </p:blipFill>
        <p:spPr>
          <a:xfrm>
            <a:off x="9279285" y="3566160"/>
            <a:ext cx="1192469" cy="387120"/>
          </a:xfrm>
          <a:prstGeom prst="rect">
            <a:avLst/>
          </a:prstGeom>
        </p:spPr>
      </p:pic>
      <p:pic>
        <p:nvPicPr>
          <p:cNvPr id="46" name="Image 12" descr="m_AP1-11/k4c85f56da4.png">    </p:cNvPr>
          <p:cNvPicPr>
            <a:picLocks noChangeAspect="1"/>
          </p:cNvPicPr>
          <p:nvPr/>
        </p:nvPicPr>
        <p:blipFill>
          <a:blip r:embed="rId13"/>
          <a:stretch>
            <a:fillRect/>
          </a:stretch>
        </p:blipFill>
        <p:spPr>
          <a:xfrm>
            <a:off x="8731606" y="4108728"/>
            <a:ext cx="2287829" cy="309433"/>
          </a:xfrm>
          <a:prstGeom prst="rect">
            <a:avLst/>
          </a:prstGeom>
        </p:spPr>
      </p:pic>
      <p:pic>
        <p:nvPicPr>
          <p:cNvPr id="47" name="Image 13" descr="m_AP1-11/k9555521b90.png">    </p:cNvPr>
          <p:cNvPicPr>
            <a:picLocks noChangeAspect="1"/>
          </p:cNvPicPr>
          <p:nvPr/>
        </p:nvPicPr>
        <p:blipFill>
          <a:blip r:embed="rId14"/>
          <a:stretch>
            <a:fillRect/>
          </a:stretch>
        </p:blipFill>
        <p:spPr>
          <a:xfrm>
            <a:off x="8400776" y="4573609"/>
            <a:ext cx="2949489" cy="368686"/>
          </a:xfrm>
          <a:prstGeom prst="rect">
            <a:avLst/>
          </a:prstGeom>
        </p:spPr>
      </p:pic>
      <p:pic>
        <p:nvPicPr>
          <p:cNvPr id="48" name="Image 14" descr="m_AP1-11/kc399370ee0.png">    </p:cNvPr>
          <p:cNvPicPr>
            <a:picLocks noChangeAspect="1"/>
          </p:cNvPicPr>
          <p:nvPr/>
        </p:nvPicPr>
        <p:blipFill>
          <a:blip r:embed="rId15"/>
          <a:stretch>
            <a:fillRect/>
          </a:stretch>
        </p:blipFill>
        <p:spPr>
          <a:xfrm>
            <a:off x="8675644" y="5097743"/>
            <a:ext cx="2399751" cy="3226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1.11.A · LO 1.11.B · LO 1.11.C</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AP1-11/kc9b9baf94d.png">    </p:cNvPr>
          <p:cNvPicPr>
            <a:picLocks noChangeAspect="1"/>
          </p:cNvPicPr>
          <p:nvPr/>
        </p:nvPicPr>
        <p:blipFill>
          <a:blip r:embed="rId3"/>
          <a:stretch>
            <a:fillRect/>
          </a:stretch>
        </p:blipFill>
        <p:spPr>
          <a:xfrm>
            <a:off x="1045159" y="2926080"/>
            <a:ext cx="2435962" cy="757123"/>
          </a:xfrm>
          <a:prstGeom prst="rect">
            <a:avLst/>
          </a:prstGeom>
        </p:spPr>
      </p:pic>
      <p:sp>
        <p:nvSpPr>
          <p:cNvPr id="34"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 write the result as quotient plus remainder over the divisor and name the quotient and the remainder.</a:t>
            </a:r>
            <a:endParaRPr lang="en-US" sz="1150" dirty="0"/>
          </a:p>
        </p:txBody>
      </p:sp>
      <p:sp>
        <p:nvSpPr>
          <p:cNvPr id="35"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6"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7"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8"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9" name="Image 3" descr="m_AP1-11/kcfe71772fe.png">    </p:cNvPr>
          <p:cNvPicPr>
            <a:picLocks noChangeAspect="1"/>
          </p:cNvPicPr>
          <p:nvPr/>
        </p:nvPicPr>
        <p:blipFill>
          <a:blip r:embed="rId4"/>
          <a:stretch>
            <a:fillRect/>
          </a:stretch>
        </p:blipFill>
        <p:spPr>
          <a:xfrm>
            <a:off x="4366260" y="2926080"/>
            <a:ext cx="3383280" cy="564304"/>
          </a:xfrm>
          <a:prstGeom prst="rect">
            <a:avLst/>
          </a:prstGeom>
        </p:spPr>
      </p:pic>
      <p:sp>
        <p:nvSpPr>
          <p:cNvPr id="40"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the expansion uses a row of Pascal's Triangle and you check it with edge 3 cm (volume 27 cubic centimetres).</a:t>
            </a:r>
            <a:endParaRPr lang="en-US" sz="1150" dirty="0"/>
          </a:p>
        </p:txBody>
      </p:sp>
      <p:sp>
        <p:nvSpPr>
          <p:cNvPr id="41"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2"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3"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4"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5" name="Image 4" descr="m_AP1-11/k5ff0b5a9f5.png">    </p:cNvPr>
          <p:cNvPicPr>
            <a:picLocks noChangeAspect="1"/>
          </p:cNvPicPr>
          <p:nvPr/>
        </p:nvPicPr>
        <p:blipFill>
          <a:blip r:embed="rId5"/>
          <a:stretch>
            <a:fillRect/>
          </a:stretch>
        </p:blipFill>
        <p:spPr>
          <a:xfrm>
            <a:off x="8161020" y="2926080"/>
            <a:ext cx="3383280" cy="897724"/>
          </a:xfrm>
          <a:prstGeom prst="rect">
            <a:avLst/>
          </a:prstGeom>
        </p:spPr>
      </p:pic>
      <p:sp>
        <p:nvSpPr>
          <p:cNvPr id="46"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250" dirty="0">
                <a:solidFill>
                  <a:srgbClr val="3F4B49"/>
                </a:solidFill>
                <a:latin typeface="Calibri" pitchFamily="34" charset="0"/>
                <a:ea typeface="Calibri" pitchFamily="34" charset="-122"/>
                <a:cs typeface="Calibri" pitchFamily="34" charset="-120"/>
              </a:rPr>
              <a:t>Done when: your explanation names the common factor and gives the coordinates of the hole.</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1.11.A · LO 1.11.B · LO 1.11.C</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Production: average cost at a workshop</a:t>
            </a:r>
            <a:endParaRPr lang="en-US" sz="30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143000"/>
          </a:xfrm>
          <a:prstGeom prst="rect">
            <a:avLst/>
          </a:prstGeom>
          <a:noFill/>
          <a:ln/>
        </p:spPr>
        <p:txBody>
          <a:bodyPr wrap="square" lIns="0" tIns="0" rIns="0" bIns="0" rtlCol="0" anchor="t"/>
          <a:lstStyle/>
          <a:p>
            <a:pPr indent="0" marL="0">
              <a:buNone/>
            </a:pPr>
            <a:r>
              <a:rPr lang="en-US" sz="1500" dirty="0">
                <a:solidFill>
                  <a:srgbClr val="222E2D"/>
                </a:solidFill>
                <a:latin typeface="Calibri" pitchFamily="34" charset="0"/>
                <a:ea typeface="Calibri" pitchFamily="34" charset="-122"/>
                <a:cs typeface="Calibri" pitchFamily="34" charset="-120"/>
              </a:rPr>
              <a:t>A workshop makes custom phone cases. The model below gives the average cost in dollars per case when a given number of hundreds of cases is made. The numbers are model values for practice, not real costs.</a:t>
            </a:r>
            <a:endParaRPr lang="en-US" sz="1500" dirty="0"/>
          </a:p>
        </p:txBody>
      </p:sp>
      <p:pic>
        <p:nvPicPr>
          <p:cNvPr id="32" name="Image 2" descr="m_AP1-11/kc9c7c2cb84.png">    </p:cNvPr>
          <p:cNvPicPr>
            <a:picLocks noChangeAspect="1"/>
          </p:cNvPicPr>
          <p:nvPr/>
        </p:nvPicPr>
        <p:blipFill>
          <a:blip r:embed="rId3"/>
          <a:stretch>
            <a:fillRect/>
          </a:stretch>
        </p:blipFill>
        <p:spPr>
          <a:xfrm>
            <a:off x="2264054" y="3429000"/>
            <a:ext cx="2238451" cy="605699"/>
          </a:xfrm>
          <a:prstGeom prst="rect">
            <a:avLst/>
          </a:prstGeom>
        </p:spPr>
      </p:pic>
      <p:pic>
        <p:nvPicPr>
          <p:cNvPr id="33" name="Image 3" descr="m_AP1-11/kc66f3fca0c.png">    </p:cNvPr>
          <p:cNvPicPr>
            <a:picLocks noChangeAspect="1"/>
          </p:cNvPicPr>
          <p:nvPr/>
        </p:nvPicPr>
        <p:blipFill>
          <a:blip r:embed="rId4"/>
          <a:stretch>
            <a:fillRect/>
          </a:stretch>
        </p:blipFill>
        <p:spPr>
          <a:xfrm>
            <a:off x="3062874" y="4144427"/>
            <a:ext cx="640812" cy="251643"/>
          </a:xfrm>
          <a:prstGeom prst="rect">
            <a:avLst/>
          </a:prstGeom>
        </p:spPr>
      </p:pic>
      <p:sp>
        <p:nvSpPr>
          <p:cNvPr id="34" name="Text 27"/>
          <p:cNvSpPr txBox="1"/>
          <p:nvPr/>
        </p:nvSpPr>
        <p:spPr>
          <a:xfrm>
            <a:off x="731520" y="4642957"/>
            <a:ext cx="5303520" cy="1574963"/>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Use long division to write the average cost as quotient plus remainder over the divisor.</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State the slant asymptote and say what it tells the workshop about large orders.</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Check your rewritten form by finding the average cost for 800 cases both ways.</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8600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quotient and remainder are both named.</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slant asymptote is written as an equation.</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meaning is given in dollars per case.</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Both values for 800 cases are equal and shown.</a:t>
            </a:r>
            <a:endParaRPr lang="en-US" sz="1550" dirty="0"/>
          </a:p>
        </p:txBody>
      </p:sp>
      <p:sp>
        <p:nvSpPr>
          <p:cNvPr id="38" name="Text 31"/>
          <p:cNvSpPr txBox="1"/>
          <p:nvPr/>
        </p:nvSpPr>
        <p:spPr>
          <a:xfrm>
            <a:off x="6766560" y="5303520"/>
            <a:ext cx="4663440" cy="822960"/>
          </a:xfrm>
          <a:prstGeom prst="rect">
            <a:avLst/>
          </a:prstGeom>
          <a:noFill/>
          <a:ln/>
        </p:spPr>
        <p:txBody>
          <a:bodyPr wrap="square" lIns="0" tIns="0" rIns="0" bIns="0" rtlCol="0" anchor="t"/>
          <a:lstStyle/>
          <a:p>
            <a:pPr indent="0" marL="0">
              <a:buNone/>
            </a:pPr>
            <a:r>
              <a:rPr lang="en-US" sz="1250" i="1" dirty="0">
                <a:solidFill>
                  <a:srgbClr val="F0B323"/>
                </a:solidFill>
                <a:latin typeface="Calibri" pitchFamily="34" charset="0"/>
                <a:ea typeface="Calibri" pitchFamily="34" charset="-122"/>
                <a:cs typeface="Calibri" pitchFamily="34" charset="-120"/>
              </a:rPr>
              <a:t>Hint: divide by x + 2, so use -2 in synthetic division.</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1.11.A · LO 1.11.B · LO 1.11.C</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AP1-11/kfcc8fb3737.png">    </p:cNvPr>
          <p:cNvPicPr>
            <a:picLocks noChangeAspect="1"/>
          </p:cNvPicPr>
          <p:nvPr/>
        </p:nvPicPr>
        <p:blipFill>
          <a:blip r:embed="rId3"/>
          <a:stretch>
            <a:fillRect/>
          </a:stretch>
        </p:blipFill>
        <p:spPr>
          <a:xfrm>
            <a:off x="781446" y="2743200"/>
            <a:ext cx="3009108" cy="389169"/>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AP1-11/kf384cc43d7.png">    </p:cNvPr>
          <p:cNvPicPr>
            <a:picLocks noChangeAspect="1"/>
          </p:cNvPicPr>
          <p:nvPr/>
        </p:nvPicPr>
        <p:blipFill>
          <a:blip r:embed="rId4"/>
          <a:stretch>
            <a:fillRect/>
          </a:stretch>
        </p:blipFill>
        <p:spPr>
          <a:xfrm>
            <a:off x="4999573" y="2743200"/>
            <a:ext cx="2070933" cy="719267"/>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AP1-11/k88e03b72c6.png">    </p:cNvPr>
          <p:cNvPicPr>
            <a:picLocks noChangeAspect="1"/>
          </p:cNvPicPr>
          <p:nvPr/>
        </p:nvPicPr>
        <p:blipFill>
          <a:blip r:embed="rId5"/>
          <a:stretch>
            <a:fillRect/>
          </a:stretch>
        </p:blipFill>
        <p:spPr>
          <a:xfrm>
            <a:off x="8991844" y="2743200"/>
            <a:ext cx="1584472" cy="389169"/>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1.11.A · LO 1.11.B · LO 1.11.C</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Write a rational function in factored form with a hole where x is 2 and a vertical asymptote where x is negative 1.</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Expand it to standard form on the back.</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Swap with a partner: they find the hole, the asymptote and one zero.</a:t>
            </a:r>
            <a:endParaRPr lang="en-US" sz="15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your partner confirms the hole, the asymptote and the zero from the factored form.</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AP1-11/k572ef6da5a.png">    </p:cNvPr>
          <p:cNvPicPr>
            <a:picLocks noChangeAspect="1"/>
          </p:cNvPicPr>
          <p:nvPr/>
        </p:nvPicPr>
        <p:blipFill>
          <a:blip r:embed="rId3"/>
          <a:stretch>
            <a:fillRect/>
          </a:stretch>
        </p:blipFill>
        <p:spPr>
          <a:xfrm>
            <a:off x="8292511" y="3703320"/>
            <a:ext cx="1337219" cy="327721"/>
          </a:xfrm>
          <a:prstGeom prst="rect">
            <a:avLst/>
          </a:prstGeom>
        </p:spPr>
      </p:pic>
      <p:sp>
        <p:nvSpPr>
          <p:cNvPr id="40"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Topic 1.12 Transformations of Functions.</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Factored form shows zeros and holes, standard form shows end behavior, long division reveals the slant asymptote, and Pascal's Triangle expands repeated binomials.</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 Precalculus Topic 1.11 Equivalent Representations of Polynomial and Rational Expressions presentation</dc:title>
  <dc:subject>PptxGenJS Presentation</dc:subject>
  <dc:creator>Mr Malek Thiab</dc:creator>
  <cp:lastModifiedBy>Mr Malek Thiab</cp:lastModifiedBy>
  <cp:revision>1</cp:revision>
  <dcterms:created xsi:type="dcterms:W3CDTF">2026-10-13T04:32:10Z</dcterms:created>
  <dcterms:modified xsi:type="dcterms:W3CDTF">2026-10-13T04:32:10Z</dcterms:modified>
</cp:coreProperties>
</file>