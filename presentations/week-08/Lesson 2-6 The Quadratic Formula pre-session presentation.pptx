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Send this pre-session to students before Lesson 2-6. Four slides: cover, the one idea (video and compressed key idea), one worked example, and a four-question ungraded readiness check. Objectives are quoted from the curriculum map. Vocabulary: Discriminant, quadratic formula. Verbal misconceptions: students think the formula is only for hard equations (it solves every quadratic) or that it is a new topic (it comes from completing the square in Lesson 2-5). Adaptive routing: if fewer than 70 percent open the pre-session, use the Wayground poll to find out and start Targeted Instruction with the two-minute recap on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(Watch and key idea):
Video: How to use the quadratic formula, Khan Academy, https://www.youtube.com/watch?v=i7idZfS8t8w (the link was checked against third-party listings only; please open it once before sending). Key idea: for ax² + bx + c = 0, x = (−b ± √(b² − 4ac)) all over 2a. The discriminant Δ = b² − 4ac is the part under the root: positive gives two real solutions, zero gives one, negative gives two nonreal solutions. Priors: (−7)² = 49; (4 + 2√5)/2 = 2 + √5, because every term of the numerator is divided; √(−36) = 6i. Verbal misconceptions: using b instead of −b; writing (−7)² as −49; dividing only one term of the numerator; saying Δ &lt; 0 means no solution (it means two nonreal solutions). Adaptive routing: if the Wayground items 2 and 6 show more than 30 percent wrong, recap this slide for two minutes before Targeted Instruction.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(Worked example):
Worked solution. 2x² − 7x + 3 = 0: a = 2, b = −7, c = 3. Δ = (−7)² − 4(2)(3) = 49 − 24 = 25. x = (7 ± 5) all over 4, so x = 12 over 4 = 3, or x = 2 over 4 = 1/2. Check x = 3: 18 − 21 + 3 = 0. Common mistake: writing −b as −7 gives (−7 ± 5) over 4, which is −1/2 or −3; check x = −3: 18 + 21 + 3 = 42, not 0. Verbal misconceptions: b is −7, so −b is +7; the denominator is 2a = 4, not 2; Δ = 25 is a perfect square, so the solutions are rational and the quadratic factors as (2x − 1)(x − 3). Adaptive routing: if more than 30 percent give −7 ± 5 over 4 in Wayground item 6, spend the first three minutes on substituting negative numbers inside brackets.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(Readiness check):
Answers. Q1: a = 3, b = −5, c = 1; Δ = 25 − 12 = 13. Q2: √12 = 2√3, so the numerator is 6 + 2√3; dividing every term by 2 gives 3 + √3. Q3: √(−49) = 7i. Q4: negative (no real solutions, so Δ &lt; 0). Verbal misconceptions: Q1 students write −25 − 12 or 25 + 12 = 37; Q2 students answer 3 + √12 or 6 + √6; Q3 students answer −7 or say impossible; Q4 students answer zero. Adaptive routing: if more than 30 percent miss Q1, rehearse negative substitution; Q2, work (4 + √20) over 2; Q3, recall Lesson 2-4; Q4, sketch the three parabola cases with 2, 1 and 0 x-intercepts.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7idZfS8t8w" TargetMode="External"/><Relationship Id="rId4" Type="http://schemas.openxmlformats.org/officeDocument/2006/relationships/hyperlink" Target="https://www.youtube.com/watch?v=i7idZfS8t8w" TargetMode="External"/><Relationship Id="rId5" Type="http://schemas.openxmlformats.org/officeDocument/2006/relationships/hyperlink" Target="https://www.youtube.com/watch?v=i7idZfS8t8w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6" Type="http://schemas.openxmlformats.org/officeDocument/2006/relationships/image" Target="../media/image-2-3.png"/><Relationship Id="rId7" Type="http://schemas.openxmlformats.org/officeDocument/2006/relationships/image" Target="../media/image-2-4.png"/><Relationship Id="rId8" Type="http://schemas.openxmlformats.org/officeDocument/2006/relationships/image" Target="../media/image-2-5.png"/><Relationship Id="rId9" Type="http://schemas.openxmlformats.org/officeDocument/2006/relationships/image" Target="../media/image-2-6.png"/><Relationship Id="rId10" Type="http://schemas.openxmlformats.org/officeDocument/2006/relationships/image" Target="../media/image-2-7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463040"/>
            <a:ext cx="7863840" cy="7863840"/>
          </a:xfrm>
          <a:prstGeom prst="ellipse">
            <a:avLst/>
          </a:prstGeom>
          <a:solidFill>
            <a:srgbClr val="0E4F4C"/>
          </a:solidFill>
          <a:ln w="12700">
            <a:solidFill>
              <a:srgbClr val="0E4F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-1463040"/>
            <a:ext cx="3291840" cy="3291840"/>
          </a:xfrm>
          <a:prstGeom prst="ellipse">
            <a:avLst/>
          </a:prstGeom>
          <a:solidFill>
            <a:srgbClr val="F0B323">
              <a:alpha val="30000"/>
            </a:srgbClr>
          </a:solidFill>
          <a:ln w="12700">
            <a:solidFill>
              <a:srgbClr val="F0B32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80160" y="4023360"/>
            <a:ext cx="3291840" cy="3291840"/>
          </a:xfrm>
          <a:prstGeom prst="ellipse">
            <a:avLst/>
          </a:prstGeom>
          <a:solidFill>
            <a:srgbClr val="17A199">
              <a:alpha val="15000"/>
            </a:srgbClr>
          </a:solidFill>
          <a:ln w="12700">
            <a:solidFill>
              <a:srgbClr val="17A199">
                <a:alpha val="0"/>
              </a:srgbClr>
            </a:solidFill>
            <a:prstDash val="solid"/>
          </a:ln>
        </p:spPr>
      </p:sp>
      <p:pic>
        <p:nvPicPr>
          <p:cNvPr id="5" name="Image 0" descr="../../dep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1481328" cy="457200"/>
          </a:xfrm>
          <a:prstGeom prst="rect">
            <a:avLst/>
          </a:prstGeom>
        </p:spPr>
      </p:pic>
      <p:pic>
        <p:nvPicPr>
          <p:cNvPr id="6" name="Image 1" descr="../../cognia_ba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91440"/>
            <a:ext cx="1188720" cy="891540"/>
          </a:xfrm>
          <a:prstGeom prst="rect">
            <a:avLst/>
          </a:prstGeom>
        </p:spPr>
      </p:pic>
      <p:pic>
        <p:nvPicPr>
          <p:cNvPr id="7" name="Image 2" descr="../../school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164592"/>
            <a:ext cx="566928" cy="566928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64008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10  ·  ALGEBRA II  ·  Week 8</a:t>
            </a:r>
            <a:endParaRPr lang="en-US" sz="1400" dirty="0"/>
          </a:p>
        </p:txBody>
      </p:sp>
      <p:sp>
        <p:nvSpPr>
          <p:cNvPr id="9" name="Text 4"/>
          <p:cNvSpPr txBox="1"/>
          <p:nvPr/>
        </p:nvSpPr>
        <p:spPr>
          <a:xfrm>
            <a:off x="640080" y="17830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Pre-Session</a:t>
            </a:r>
            <a:endParaRPr lang="en-US" sz="5400" dirty="0"/>
          </a:p>
        </p:txBody>
      </p:sp>
      <p:sp>
        <p:nvSpPr>
          <p:cNvPr id="10" name="Shape 5"/>
          <p:cNvSpPr/>
          <p:nvPr/>
        </p:nvSpPr>
        <p:spPr>
          <a:xfrm>
            <a:off x="640080" y="2926080"/>
            <a:ext cx="5760720" cy="822960"/>
          </a:xfrm>
          <a:prstGeom prst="roundRect">
            <a:avLst>
              <a:gd name="adj" fmla="val 16667"/>
            </a:avLst>
          </a:prstGeom>
          <a:solidFill>
            <a:srgbClr val="17A1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68680" y="299008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6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2-6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868680" y="327355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Quadratic Formula</a:t>
            </a:r>
            <a:endParaRPr lang="en-US" sz="22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3977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7A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640080" y="425196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discriminant to identify the number and type of solutions for a quadratic equation.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quadratic equations using the quadratic formula, including those with nonreal solutions.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640080" y="5577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2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Malek Thiab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7680960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task before class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7863840" y="25603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 ·  Study  ·  Check  ·  Submit on the LMS before class</a:t>
            </a:r>
            <a:endParaRPr lang="en-US" sz="1500" dirty="0"/>
          </a:p>
        </p:txBody>
      </p:sp>
      <p:pic>
        <p:nvPicPr>
          <p:cNvPr id="18" name="Image 3" descr="m_PRE-W8-L26/kba8cc8ef2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4136563"/>
            <a:ext cx="2468880" cy="68799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65760" y="64922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FAITH, RIGHTEOUSNESS AND WISDOM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6766560" y="64922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HSN.CN.C.7 · HSA.REI.B.4.A · HSA.REI.B.4.B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17A199">
              <a:alpha val="12000"/>
            </a:srgbClr>
          </a:solidFill>
          <a:ln w="12700">
            <a:solidFill>
              <a:srgbClr val="17A19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-1188720"/>
            <a:ext cx="2926080" cy="2926080"/>
          </a:xfrm>
          <a:prstGeom prst="ellipse">
            <a:avLst/>
          </a:prstGeom>
          <a:solidFill>
            <a:srgbClr val="F0B323">
              <a:alpha val="14000"/>
            </a:srgbClr>
          </a:solidFill>
          <a:ln w="12700">
            <a:solidFill>
              <a:srgbClr val="F0B323">
                <a:alpha val="0"/>
              </a:srgbClr>
            </a:solidFill>
            <a:prstDash val="solid"/>
          </a:ln>
        </p:spPr>
      </p:sp>
      <p:pic>
        <p:nvPicPr>
          <p:cNvPr id="4" name="Image 0" descr="../../dep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1481328" cy="457200"/>
          </a:xfrm>
          <a:prstGeom prst="rect">
            <a:avLst/>
          </a:prstGeom>
        </p:spPr>
      </p:pic>
      <p:pic>
        <p:nvPicPr>
          <p:cNvPr id="5" name="Image 1" descr="../../school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5760" y="64922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HSN.CN.C.7 · HSA.REI.B.4.A · HSA.REI.B.4.B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5257800" y="6492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FAITH, RIGHTEOUSNESS AND WISDOM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8869680" y="64922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Malek Thiab  ·  2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 ·  WATCH  ·  LESSON 2-6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idea</a:t>
            </a:r>
            <a:endParaRPr lang="en-US" sz="3000" dirty="0"/>
          </a:p>
        </p:txBody>
      </p:sp>
      <p:sp>
        <p:nvSpPr>
          <p:cNvPr id="12" name="Shape 7"/>
          <p:cNvSpPr/>
          <p:nvPr/>
        </p:nvSpPr>
        <p:spPr>
          <a:xfrm>
            <a:off x="457200" y="1783080"/>
            <a:ext cx="5852160" cy="2697480"/>
          </a:xfrm>
          <a:prstGeom prst="roundRect">
            <a:avLst>
              <a:gd name="adj" fmla="val 4068"/>
            </a:avLst>
          </a:prstGeom>
          <a:solidFill>
            <a:srgbClr val="0E4F4C"/>
          </a:solidFill>
          <a:ln w="9525">
            <a:solidFill>
              <a:srgbClr val="DD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731520" y="189280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BEFORE CLASS</a:t>
            </a:r>
            <a:endParaRPr lang="en-US" sz="1100" dirty="0"/>
          </a:p>
        </p:txBody>
      </p:sp>
      <p:sp>
        <p:nvSpPr>
          <p:cNvPr id="14" name="Shape 9">
            <a:hlinkClick r:id="rId3" tooltip="Open on YouTube"/>
          </p:cNvPr>
          <p:cNvSpPr/>
          <p:nvPr/>
        </p:nvSpPr>
        <p:spPr>
          <a:xfrm>
            <a:off x="731520" y="2240280"/>
            <a:ext cx="1051560" cy="1051560"/>
          </a:xfrm>
          <a:prstGeom prst="ellipse">
            <a:avLst/>
          </a:prstGeom>
          <a:solidFill>
            <a:srgbClr val="E8762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Shape 10">
            <a:hlinkClick r:id="rId4" tooltip=""/>
          </p:cNvPr>
          <p:cNvSpPr/>
          <p:nvPr/>
        </p:nvSpPr>
        <p:spPr>
          <a:xfrm rot="5400000">
            <a:off x="1097280" y="2560320"/>
            <a:ext cx="411480" cy="411480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2011680" y="22402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use the quadratic formula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2011680" y="2880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 Academy  ·  YouTube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011680" y="3200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F0B323"/>
                </a:solidFill>
                <a:uFill>
                  <a:solidFill>
                    <a:srgbClr val="F0B323"/>
                  </a:solidFill>
                </a:u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https://www.youtube.com/watch?v=i7idZfS8t8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https://www.youtube.com/watch?v=i7idZfS8t8w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731520" y="3566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B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FOR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731520" y="381304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three coefficients are read from the equation, with their signs.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numbers are substituted into the formula and simplified step by step.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part under the square root decides how many real solutions there are.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492240" y="1783080"/>
            <a:ext cx="521208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9525">
            <a:solidFill>
              <a:srgbClr val="DD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6766560" y="18928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675120" y="2194560"/>
            <a:ext cx="4846320" cy="914400"/>
          </a:xfrm>
          <a:prstGeom prst="roundRect">
            <a:avLst>
              <a:gd name="adj" fmla="val 12000"/>
            </a:avLst>
          </a:prstGeom>
          <a:solidFill>
            <a:srgbClr val="0E4F4C"/>
          </a:solidFill>
          <a:ln w="12700">
            <a:solidFill>
              <a:srgbClr val="0E4F4C"/>
            </a:solidFill>
            <a:prstDash val="solid"/>
          </a:ln>
        </p:spPr>
      </p:sp>
      <p:pic>
        <p:nvPicPr>
          <p:cNvPr id="24" name="Image 2" descr="m_PRE-W8-L26/ke73aff476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2996" y="2345985"/>
            <a:ext cx="4450568" cy="611551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675120" y="3218688"/>
            <a:ext cx="4846320" cy="914400"/>
          </a:xfrm>
          <a:prstGeom prst="roundRect">
            <a:avLst>
              <a:gd name="adj" fmla="val 12000"/>
            </a:avLst>
          </a:prstGeom>
          <a:solidFill>
            <a:srgbClr val="0E4F4C"/>
          </a:solidFill>
          <a:ln w="12700">
            <a:solidFill>
              <a:srgbClr val="0E4F4C"/>
            </a:solidFill>
            <a:prstDash val="solid"/>
          </a:ln>
        </p:spPr>
      </p:sp>
      <p:pic>
        <p:nvPicPr>
          <p:cNvPr id="26" name="Image 3" descr="m_PRE-W8-L26/k54eeea3a0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0" y="3408811"/>
            <a:ext cx="4572000" cy="53415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6766560" y="41879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A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 </a:t>
            </a:r>
            <a:pPr indent="0" marL="0">
              <a:buNone/>
            </a:pPr>
            <a:r>
              <a:rPr lang="en-US" sz="1200" dirty="0">
                <a:solidFill>
                  <a:srgbClr val="22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Discriminant  ·  quadratic formula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" y="46177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YOU ALREADY KNOW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57200" y="4892040"/>
            <a:ext cx="3611880" cy="1417320"/>
          </a:xfrm>
          <a:prstGeom prst="roundRect">
            <a:avLst>
              <a:gd name="adj" fmla="val 7742"/>
            </a:avLst>
          </a:prstGeom>
          <a:solidFill>
            <a:srgbClr val="E7F5F4"/>
          </a:solidFill>
          <a:ln w="15875">
            <a:solidFill>
              <a:srgbClr val="D8E6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0" name="Text 23"/>
          <p:cNvSpPr txBox="1"/>
          <p:nvPr/>
        </p:nvSpPr>
        <p:spPr>
          <a:xfrm>
            <a:off x="640080" y="49651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4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Squaring a negative</a:t>
            </a:r>
            <a:endParaRPr lang="en-US" sz="1300" dirty="0"/>
          </a:p>
        </p:txBody>
      </p:sp>
      <p:pic>
        <p:nvPicPr>
          <p:cNvPr id="31" name="Image 4" descr="m_PRE-W8-L26/k9ef951a63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96669" y="5396789"/>
            <a:ext cx="1132942" cy="30723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40080" y="58521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bracket is squared, so the answer is positive.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4274820" y="4892040"/>
            <a:ext cx="3611880" cy="1417320"/>
          </a:xfrm>
          <a:prstGeom prst="roundRect">
            <a:avLst>
              <a:gd name="adj" fmla="val 7742"/>
            </a:avLst>
          </a:prstGeom>
          <a:solidFill>
            <a:srgbClr val="CFEBE8"/>
          </a:solidFill>
          <a:ln w="15875">
            <a:solidFill>
              <a:srgbClr val="D8E6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4" name="Text 26"/>
          <p:cNvSpPr txBox="1"/>
          <p:nvPr/>
        </p:nvSpPr>
        <p:spPr>
          <a:xfrm>
            <a:off x="4457700" y="49651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4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Radical fractions</a:t>
            </a:r>
            <a:endParaRPr lang="en-US" sz="1300" dirty="0"/>
          </a:p>
        </p:txBody>
      </p:sp>
      <p:pic>
        <p:nvPicPr>
          <p:cNvPr id="35" name="Image 5" descr="m_PRE-W8-L26/k3f654dd2d9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0734" y="5321808"/>
            <a:ext cx="1500051" cy="4572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457700" y="58521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every term of the top by the bottom.</a:t>
            </a:r>
            <a:endParaRPr lang="en-US" sz="1050" dirty="0"/>
          </a:p>
        </p:txBody>
      </p:sp>
      <p:sp>
        <p:nvSpPr>
          <p:cNvPr id="37" name="Shape 28"/>
          <p:cNvSpPr/>
          <p:nvPr/>
        </p:nvSpPr>
        <p:spPr>
          <a:xfrm>
            <a:off x="8092440" y="4892040"/>
            <a:ext cx="3611880" cy="1417320"/>
          </a:xfrm>
          <a:prstGeom prst="roundRect">
            <a:avLst>
              <a:gd name="adj" fmla="val 7742"/>
            </a:avLst>
          </a:prstGeom>
          <a:solidFill>
            <a:srgbClr val="E7F5F4"/>
          </a:solidFill>
          <a:ln w="15875">
            <a:solidFill>
              <a:srgbClr val="D8E6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8" name="Text 29"/>
          <p:cNvSpPr txBox="1"/>
          <p:nvPr/>
        </p:nvSpPr>
        <p:spPr>
          <a:xfrm>
            <a:off x="8275320" y="49651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4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Roots of negatives</a:t>
            </a:r>
            <a:endParaRPr lang="en-US" sz="1300" dirty="0"/>
          </a:p>
        </p:txBody>
      </p:sp>
      <p:pic>
        <p:nvPicPr>
          <p:cNvPr id="39" name="Image 6" descr="m_PRE-W8-L26/k32691bddd5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0538" y="5402275"/>
            <a:ext cx="1135685" cy="296266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275320" y="585216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Lesson 2-4: the root of a negative uses the imaginary unit.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754880"/>
            <a:ext cx="3108960" cy="3108960"/>
          </a:xfrm>
          <a:prstGeom prst="ellipse">
            <a:avLst/>
          </a:prstGeom>
          <a:solidFill>
            <a:srgbClr val="17A199">
              <a:alpha val="12000"/>
            </a:srgbClr>
          </a:solidFill>
          <a:ln w="12700">
            <a:solidFill>
              <a:srgbClr val="17A19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-1188720"/>
            <a:ext cx="2926080" cy="2926080"/>
          </a:xfrm>
          <a:prstGeom prst="ellipse">
            <a:avLst/>
          </a:prstGeom>
          <a:solidFill>
            <a:srgbClr val="F0B323">
              <a:alpha val="14000"/>
            </a:srgbClr>
          </a:solidFill>
          <a:ln w="12700">
            <a:solidFill>
              <a:srgbClr val="F0B323">
                <a:alpha val="0"/>
              </a:srgbClr>
            </a:solidFill>
            <a:prstDash val="solid"/>
          </a:ln>
        </p:spPr>
      </p:sp>
      <p:pic>
        <p:nvPicPr>
          <p:cNvPr id="4" name="Image 0" descr="../../dep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1481328" cy="457200"/>
          </a:xfrm>
          <a:prstGeom prst="rect">
            <a:avLst/>
          </a:prstGeom>
        </p:spPr>
      </p:pic>
      <p:pic>
        <p:nvPicPr>
          <p:cNvPr id="5" name="Image 1" descr="../../school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5760" y="64922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HSN.CN.C.7 · HSA.REI.B.4.A · HSA.REI.B.4.B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5257800" y="6492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FAITH, RIGHTEOUSNESS AND WISDOM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8869680" y="64922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Malek Thiab  ·  3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 ·  STUDY  ·  LESSON 2-6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worked example</a:t>
            </a:r>
            <a:endParaRPr lang="en-US" sz="3000" dirty="0"/>
          </a:p>
        </p:txBody>
      </p:sp>
      <p:pic>
        <p:nvPicPr>
          <p:cNvPr id="12" name="Image 2" descr="m_PRE-W8-L26/k48a7877cc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283269"/>
            <a:ext cx="2686141" cy="30467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457200" y="16642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A6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right-hand side, try each step yourself, then check.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457200" y="2103120"/>
            <a:ext cx="11247120" cy="640080"/>
          </a:xfrm>
          <a:prstGeom prst="roundRect">
            <a:avLst>
              <a:gd name="adj" fmla="val 17143"/>
            </a:avLst>
          </a:prstGeom>
          <a:solidFill>
            <a:srgbClr val="E7F5F4"/>
          </a:solidFill>
          <a:ln w="15875">
            <a:solidFill>
              <a:srgbClr val="D8E6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7A1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6400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1325880" y="2103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three coefficients WITH their signs.</a:t>
            </a:r>
            <a:endParaRPr lang="en-US" sz="1300" dirty="0"/>
          </a:p>
        </p:txBody>
      </p:sp>
      <p:pic>
        <p:nvPicPr>
          <p:cNvPr id="18" name="Image 3" descr="m_PRE-W8-L26/k67cb6c387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292858"/>
            <a:ext cx="2422246" cy="260604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457200" y="2807208"/>
            <a:ext cx="112471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5875">
            <a:solidFill>
              <a:srgbClr val="D8E6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3"/>
          <p:cNvSpPr/>
          <p:nvPr/>
        </p:nvSpPr>
        <p:spPr>
          <a:xfrm>
            <a:off x="640080" y="2898648"/>
            <a:ext cx="457200" cy="457200"/>
          </a:xfrm>
          <a:prstGeom prst="ellipse">
            <a:avLst/>
          </a:prstGeom>
          <a:solidFill>
            <a:srgbClr val="17A1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40080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280720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discriminant first.</a:t>
            </a:r>
            <a:endParaRPr lang="en-US" sz="1300" dirty="0"/>
          </a:p>
        </p:txBody>
      </p:sp>
      <p:pic>
        <p:nvPicPr>
          <p:cNvPr id="23" name="Image 4" descr="m_PRE-W8-L26/k7df0d931e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973629"/>
            <a:ext cx="4205326" cy="307238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457200" y="3511296"/>
            <a:ext cx="11247120" cy="640080"/>
          </a:xfrm>
          <a:prstGeom prst="roundRect">
            <a:avLst>
              <a:gd name="adj" fmla="val 17143"/>
            </a:avLst>
          </a:prstGeom>
          <a:solidFill>
            <a:srgbClr val="E7F5F4"/>
          </a:solidFill>
          <a:ln w="15875">
            <a:solidFill>
              <a:srgbClr val="D8E6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640080" y="3602736"/>
            <a:ext cx="457200" cy="457200"/>
          </a:xfrm>
          <a:prstGeom prst="ellipse">
            <a:avLst/>
          </a:prstGeom>
          <a:solidFill>
            <a:srgbClr val="17A1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640080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1325880" y="351129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Substitute. The minus in front of the b turns into a plus.</a:t>
            </a:r>
            <a:endParaRPr lang="en-US" sz="1300" dirty="0"/>
          </a:p>
        </p:txBody>
      </p:sp>
      <p:pic>
        <p:nvPicPr>
          <p:cNvPr id="28" name="Image 5" descr="m_PRE-W8-L26/k36452c10c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575304"/>
            <a:ext cx="2197422" cy="512064"/>
          </a:xfrm>
          <a:prstGeom prst="rect">
            <a:avLst/>
          </a:prstGeom>
        </p:spPr>
      </p:pic>
      <p:sp>
        <p:nvSpPr>
          <p:cNvPr id="29" name="Shape 20"/>
          <p:cNvSpPr/>
          <p:nvPr/>
        </p:nvSpPr>
        <p:spPr>
          <a:xfrm>
            <a:off x="457200" y="4215384"/>
            <a:ext cx="1124712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5875">
            <a:solidFill>
              <a:srgbClr val="D8E6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640080" y="4306824"/>
            <a:ext cx="457200" cy="457200"/>
          </a:xfrm>
          <a:prstGeom prst="ellipse">
            <a:avLst/>
          </a:prstGeom>
          <a:solidFill>
            <a:srgbClr val="17A1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640080" y="4306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23"/>
          <p:cNvSpPr txBox="1"/>
          <p:nvPr/>
        </p:nvSpPr>
        <p:spPr>
          <a:xfrm>
            <a:off x="1325880" y="421538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the two solutions.</a:t>
            </a:r>
            <a:endParaRPr lang="en-US" sz="1300" dirty="0"/>
          </a:p>
        </p:txBody>
      </p:sp>
      <p:pic>
        <p:nvPicPr>
          <p:cNvPr id="33" name="Image 6" descr="m_PRE-W8-L26/kfb55ca0185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4279392"/>
            <a:ext cx="3273941" cy="512064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457200" y="4919472"/>
            <a:ext cx="11247120" cy="640080"/>
          </a:xfrm>
          <a:prstGeom prst="roundRect">
            <a:avLst>
              <a:gd name="adj" fmla="val 17143"/>
            </a:avLst>
          </a:prstGeom>
          <a:solidFill>
            <a:srgbClr val="E7F5F4"/>
          </a:solidFill>
          <a:ln w="15875">
            <a:solidFill>
              <a:srgbClr val="D8E6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640080" y="5010912"/>
            <a:ext cx="457200" cy="457200"/>
          </a:xfrm>
          <a:prstGeom prst="ellipse">
            <a:avLst/>
          </a:prstGeom>
          <a:solidFill>
            <a:srgbClr val="17A1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26"/>
          <p:cNvSpPr txBox="1"/>
          <p:nvPr/>
        </p:nvSpPr>
        <p:spPr>
          <a:xfrm>
            <a:off x="640080" y="5010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27"/>
          <p:cNvSpPr txBox="1"/>
          <p:nvPr/>
        </p:nvSpPr>
        <p:spPr>
          <a:xfrm>
            <a:off x="1325880" y="49194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one solution in the original.</a:t>
            </a:r>
            <a:endParaRPr lang="en-US" sz="1300" dirty="0"/>
          </a:p>
        </p:txBody>
      </p:sp>
      <p:pic>
        <p:nvPicPr>
          <p:cNvPr id="38" name="Image 7" descr="m_PRE-W8-L26/kb8ec644d5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5085893"/>
            <a:ext cx="3429000" cy="307238"/>
          </a:xfrm>
          <a:prstGeom prst="rect">
            <a:avLst/>
          </a:prstGeom>
        </p:spPr>
      </p:pic>
      <p:sp>
        <p:nvSpPr>
          <p:cNvPr id="39" name="Shape 28"/>
          <p:cNvSpPr/>
          <p:nvPr/>
        </p:nvSpPr>
        <p:spPr>
          <a:xfrm>
            <a:off x="457200" y="5696712"/>
            <a:ext cx="11247120" cy="658368"/>
          </a:xfrm>
          <a:prstGeom prst="roundRect">
            <a:avLst>
              <a:gd name="adj" fmla="val 16667"/>
            </a:avLst>
          </a:prstGeom>
          <a:solidFill>
            <a:srgbClr val="0E4F4C"/>
          </a:solidFill>
          <a:ln w="9525">
            <a:solidFill>
              <a:srgbClr val="DDE6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0" name="Text 29"/>
          <p:cNvSpPr txBox="1"/>
          <p:nvPr/>
        </p:nvSpPr>
        <p:spPr>
          <a:xfrm>
            <a:off x="731520" y="569671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B8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mistake most people make: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b instead of its opposite. The numerator then starts with minus seven instead of plus seven, and neither answer passes the check.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4F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572000"/>
            <a:ext cx="3474720" cy="3474720"/>
          </a:xfrm>
          <a:prstGeom prst="ellipse">
            <a:avLst/>
          </a:prstGeom>
          <a:solidFill>
            <a:srgbClr val="17A199">
              <a:alpha val="20000"/>
            </a:srgbClr>
          </a:solidFill>
          <a:ln w="12700">
            <a:solidFill>
              <a:srgbClr val="17A19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-1097280"/>
            <a:ext cx="3291840" cy="3291840"/>
          </a:xfrm>
          <a:prstGeom prst="ellipse">
            <a:avLst/>
          </a:prstGeom>
          <a:solidFill>
            <a:srgbClr val="F0B323">
              <a:alpha val="18000"/>
            </a:srgbClr>
          </a:solidFill>
          <a:ln w="12700">
            <a:solidFill>
              <a:srgbClr val="F0B323">
                <a:alpha val="0"/>
              </a:srgbClr>
            </a:solidFill>
            <a:prstDash val="solid"/>
          </a:ln>
        </p:spPr>
      </p:sp>
      <p:pic>
        <p:nvPicPr>
          <p:cNvPr id="4" name="Image 0" descr="../../dept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01168"/>
            <a:ext cx="1481328" cy="457200"/>
          </a:xfrm>
          <a:prstGeom prst="rect">
            <a:avLst/>
          </a:prstGeom>
        </p:spPr>
      </p:pic>
      <p:pic>
        <p:nvPicPr>
          <p:cNvPr id="5" name="Image 1" descr="../../school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2840" y="164592"/>
            <a:ext cx="566928" cy="56692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365760" y="64922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HSN.CN.C.7 · HSA.REI.B.4.A · HSA.REI.B.4.B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5257800" y="6492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FAITH, RIGHTEOUSNESS AND WISDOM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8869680" y="64922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Malek Thiab  ·  4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3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 ·  CHECK  ·  LESSON 2-6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1143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questions: answer before class</a:t>
            </a:r>
            <a:endParaRPr lang="en-US" sz="3000" dirty="0"/>
          </a:p>
        </p:txBody>
      </p:sp>
      <p:sp>
        <p:nvSpPr>
          <p:cNvPr id="12" name="Text 7"/>
          <p:cNvSpPr txBox="1"/>
          <p:nvPr/>
        </p:nvSpPr>
        <p:spPr>
          <a:xfrm>
            <a:off x="457200" y="169164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graded. It tells me what to teach first, so an honest answer helps you more than a lucky one.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2194560"/>
            <a:ext cx="795528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5875">
            <a:solidFill>
              <a:srgbClr val="3EB8B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40080" y="2304288"/>
            <a:ext cx="457200" cy="457200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4008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1280160" y="2194560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discriminant of this equation.</a:t>
            </a:r>
            <a:endParaRPr lang="en-US" sz="1200" dirty="0"/>
          </a:p>
        </p:txBody>
      </p:sp>
      <p:pic>
        <p:nvPicPr>
          <p:cNvPr id="17" name="Image 2" descr="m_PRE-W8-L26/k29676aa7a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398471"/>
            <a:ext cx="1700784" cy="26883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57200" y="2980944"/>
            <a:ext cx="795528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5875">
            <a:solidFill>
              <a:srgbClr val="3EB8B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40080" y="3090672"/>
            <a:ext cx="457200" cy="457200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64008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1280160" y="2980944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this fraction fully.</a:t>
            </a:r>
            <a:endParaRPr lang="en-US" sz="1200" dirty="0"/>
          </a:p>
        </p:txBody>
      </p:sp>
      <p:pic>
        <p:nvPicPr>
          <p:cNvPr id="22" name="Image 3" descr="m_PRE-W8-L26/k09917d717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054096"/>
            <a:ext cx="830885" cy="530352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57200" y="3767328"/>
            <a:ext cx="795528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5875">
            <a:solidFill>
              <a:srgbClr val="3EB8B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640080" y="3877056"/>
            <a:ext cx="457200" cy="457200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640080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1280160" y="3767328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this using i.</a:t>
            </a:r>
            <a:endParaRPr lang="en-US" sz="1200" dirty="0"/>
          </a:p>
        </p:txBody>
      </p:sp>
      <p:pic>
        <p:nvPicPr>
          <p:cNvPr id="27" name="Image 4" descr="m_PRE-W8-L26/k9da3cc3c96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3957523"/>
            <a:ext cx="647395" cy="296266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4553712"/>
            <a:ext cx="7955280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5875">
            <a:solidFill>
              <a:srgbClr val="3EB8B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E876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64008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3"/>
          <p:cNvSpPr txBox="1"/>
          <p:nvPr/>
        </p:nvSpPr>
        <p:spPr>
          <a:xfrm>
            <a:off x="1280160" y="4553712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parabola never crosses the x-axis. Is this positive, zero or negative?</a:t>
            </a:r>
            <a:endParaRPr lang="en-US" sz="1200" dirty="0"/>
          </a:p>
        </p:txBody>
      </p:sp>
      <p:pic>
        <p:nvPicPr>
          <p:cNvPr id="32" name="Image 5" descr="m_PRE-W8-L26/kbc2dc6f7b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4757623"/>
            <a:ext cx="844906" cy="268834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8641080" y="2194560"/>
            <a:ext cx="3063240" cy="3035808"/>
          </a:xfrm>
          <a:prstGeom prst="roundRect">
            <a:avLst>
              <a:gd name="adj" fmla="val 3012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3EB8B2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8869680" y="2331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SUBMIT</a:t>
            </a:r>
            <a:endParaRPr lang="en-US" sz="1100" dirty="0"/>
          </a:p>
        </p:txBody>
      </p:sp>
      <p:sp>
        <p:nvSpPr>
          <p:cNvPr id="35" name="Text 26"/>
          <p:cNvSpPr txBox="1"/>
          <p:nvPr/>
        </p:nvSpPr>
        <p:spPr>
          <a:xfrm>
            <a:off x="8869680" y="2651760"/>
            <a:ext cx="2651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four answers into the LMS form, one line each.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are stuck, write "not sure yet" and say what confused you. That is a useful answer.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before the bell. It takes three minutes.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457200" y="5486400"/>
            <a:ext cx="11247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3EB8B2"/>
            </a:solidFill>
            <a:prstDash val="solid"/>
          </a:ln>
        </p:spPr>
      </p:sp>
      <p:sp>
        <p:nvSpPr>
          <p:cNvPr id="37" name="Text 28"/>
          <p:cNvSpPr txBox="1"/>
          <p:nvPr/>
        </p:nvSpPr>
        <p:spPr>
          <a:xfrm>
            <a:off x="731520" y="548640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class we start with: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8-question Wayground kick-off (about 4 minutes) on the formula, the discriminant and the four skills above. Then we go straight into the quadratic formula.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2-6 The Quadratic Formula pre-session presentation</dc:title>
  <dc:subject>PptxGenJS Presentation</dc:subject>
  <dc:creator>Mr Malek Thiab</dc:creator>
  <cp:lastModifiedBy>Mr Malek Thiab</cp:lastModifiedBy>
  <cp:revision>1</cp:revision>
  <dcterms:created xsi:type="dcterms:W3CDTF">2026-10-13T04:51:40Z</dcterms:created>
  <dcterms:modified xsi:type="dcterms:W3CDTF">2026-10-13T04:51:40Z</dcterms:modified>
</cp:coreProperties>
</file>