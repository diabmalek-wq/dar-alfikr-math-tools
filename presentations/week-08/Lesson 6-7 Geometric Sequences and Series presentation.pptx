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6-7: Geometric Sequences and Series.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(Identify a geometric sequence; Recursive and explicit formulas; Geometric series, sigma notation and the sum formula; Use the formula to find sums), Practice (Practice, Apply, Investigate), Production (Jeddah greening programme),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common ratio, ending index, geometric sequence, geometric series, Index, sequence of partial sums, sigma notation, starting index, summand, terms.
Standards are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3^4 = 81 first (order of operations), then 5 x 81 = 405. Q2: 2^6 = 64, so (1 - 64)/(1 - 2) = (-63)/(-1) = 63. Q3: arithmetic sequence (Lesson 1-4 recall), common difference d = 4, a_n = 7 + 4(n - 1), so a_10 = 7 + 36 = 43. Verbal misconceptions: Q1 computing (5 x 3)^4 = 50 625 (power applied to the product); Q2 'the 1s cancel' giving 2^6/2 = 32, or a sign slip giving -63; Q3 using 7 + 4 x 10 = 47 (n instead of n - 1). Adaptive routing: if &gt;30% miss Q1, spend 2 minutes on powers before slide 6 (explicit formulas use a_1 times r to a power); if &gt;30% miss Q2, flag it and slow down on slide 7 and slide 8 (the sum formula has exactly this shape); if &gt;30% miss Q3, go to slide 5 and contrast 'add the same number' with 'multiply by the same number' before the first example. If 90% get all three, move quickly through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A geometric sequence multiplies by the same number, the common ratio r, to get from each term to the next. Test it by dividing each term by the term before it. Example A: -27/81 = -1/3, 9/(-27) = -1/3, -3/9 = -1/3, so it is geometric with r = -1/3; the next term is -3 x (-1/3) = 1. A negative ratio makes the signs alternate. Example B: 4/2 = 2 and 8/4 = 2 but 14/8 = 7/4, so it is NOT geometric (one ratio is enough to fail). The graph: a_n = 3 x 2^(n-1) gives the terms 3, 6, 12, 24, 48. A sequence is a function whose domain is n = 1, 2, 3, ... (HSF.IF.A.3), so its graph is separate POINTS, not a curve. The dashed curve y = 3 x 2^(x-1) is the exponential function through those points: a geometric sequence is an exponential function on the integers (HSF.LE.A.2). Verbal misconceptions: subtracting terms to find r (that gives a common difference, so the sequence is arithmetic); dividing the wrong way round (81/(-27) = -3 instead of -1/3); 'the first two ratios match, so it is geometric'; joining the points of a sequence with a solid line. Adaptive routing: if &gt;30% subtract instead of divide, return to Diagnose Q3 (slide 4) and set 7, 11, 15 beside 3, 6, 12; if &gt;30% miss Example A, redo with 64, -32, 16, -8 (r = -1/2). Gate Q1 routes back to this slide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Recursive form says how to get the next term from the one before (start value plus rule); explicit form gives any term directly from n (HSF.BF.A.2: translate between the two). Example A: a_1 = 5 and r = 15/5 = 3. Recursive: a_1 = 5, a_n = 3a_(n-1). Explicit: a_n = 5 x 3^(n-1). a_8 = 5 x 3^7 = 5 x 2187 = 10 935. Check with the recursive rule: 5, 15, 45, 135, 405, 1215, 3645, 10 935 (8th term). Example B (two input-output pairs, HSF.LE.A.2): going from term 2 to term 5 is 3 multiplications, so r^3 = 96/12 = 8 and r = 2. Then a_1 = a_2 / r = 12/2 = 6, so a_n = 6 x 2^(n-1). Check: a_5 = 6 x 16 = 96. Example C: recursive to explicit: a_n = 64 (1/2)^(n-1); a_7 = 64 x (1/2)^6 = 64/64 = 1. Check: 64, 32, 16, 8, 4, 2, 1. Verbal misconceptions: using r^n instead of r^(n-1) (a_8 = 5 x 3^8 = 32 805, off by one factor); writing r^4 = 8 in Example B (counting terms instead of steps: 5 - 2 = 3 steps); computing 5 x 3^7 as 15^7; dividing a_2 by r twice. Adaptive routing: if &gt;30% use r^n, list the first three terms of Example A against the formula on the board; if &gt;30% miss Example B, draw the four positions 2, 3, 4, 5 with x r arrows between them; if Diagnose Q1 was weak, model 5 x 3^7 slowly. Gate Q2 routes back to this slide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A geometric series is the SUM of the terms of a geometric sequence. Sigma notation: the starting index (k = 1) is under the sigma, the ending index (n) is on top, and the summand (a_1 r^(k-1)) is the expression we add for each index value. Example A (derivation, HSA.SSE.B.4): write S_n = a_1 + a_1 r + a_1 r^2 + ... + a_1 r^(n-1). Multiply every term by r: r S_n = a_1 r + a_1 r^2 + ... + a_1 r^n. Subtract the second line from the first: every middle term cancels, leaving S_n - r S_n = a_1 - a_1 r^n. Factor: S_n (1 - r) = a_1 (1 - r^n). Divide by (1 - r), allowed only when r is not 1: S_n = a_1 (1 - r^n)/(1 - r). Example B: k = 1, 2, 3, 4 gives 3 x 1, 3 x 2, 3 x 4, 3 x 8 = 3 + 6 + 12 + 24 = 45. Check with the formula: 3(1 - 16)/(1 - 2) = (-45)/(-1) = 45. Example C: the sequence of partial sums is S_1 = 2, S_2 = 2 + 6 = 8, S_3 = 8 + 18 = 26, S_4 = 26 + 54 = 80; formula with a_1 = 2, r = 3, n = 4: 2(1 - 81)/(1 - 3) = (-160)/(-2) = 80. Verbal misconceptions: 'the series is the list of terms' (a series is a sum); starting the index at k = 0 and getting an extra term; writing the last term as a_1 r^n instead of a_1 r^(n-1); in the subtraction, cancelling the first term a_1 by mistake; dividing by 1 - r when r = 1. Adaptive routing: if &gt;30% cannot follow the subtraction, write the two lines one under the other with the matching terms in the same column and cross them out in colour; if &gt;30% miss Example B, list k = 1 to 4 in a table with the summand value in a second column. Gate Q3 routes back to this slide (slide 7) together with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Always name a_1, r and n first. Example A: a_1 = 5, r = 3, n = 8; 3^8 = 6561; S_8 = 5(1 - 6561)/(1 - 3) = 5(-6560)/(-2) = 5 x 3280 = 16 400. Example B: a_1 = 2, r = -6/2 = -3, n = 6; (-3)^6 = 729 (even power, positive); S_6 = 2(1 - 729)/(1 + 3) = 2(-728)/4 = -364. Check by adding: 2 - 6 + 18 - 54 + 162 - 486 = -364. Example C: a_1 = 3, r = 2, so S_n = 3(1 - 2^n)/(1 - 2) = 3(2^n - 1) = 765; 2^n - 1 = 255, 2^n = 256 = 2^8, n = 8 terms (a common-base equation from Lesson 6-6). Check: the 8th term is 3 x 2^7 = 384 and 3 + 6 + 12 + 24 + 48 + 96 + 192 + 384 = 765. When r = 1 every term is a_1, so S_n = n a_1 (the formula would divide by 0). Verbal misconceptions: using r = 3 instead of r = -3 in Example B (sign error, giving 728); writing (-3)^6 = -729; writing 1 - (-3) = -2 in the denominator; answering a_8 = 10 935 when the question asks for the sum; in Example C setting the last term equal to 765. Adaptive routing: if &gt;30% miss Example B, add the six terms by hand first, then match the formula; if &gt;30% miss Example C, return to slide 7 Example C (partial sums) and build S_n for n = 1 to 4. Gate Q3 routes back to this slide (slide 8). Production Task 2 routes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r = 12/4 = 3; a_6 = 4 x 3^5 = 4 x 243 = 972. Practice 2: r = 40/80 = 1/2, so a_n = 80 (1/2)^(n-1); check: n = 1, 2, 3 give 80, 40, 20. Apply 1: from term 3 to term 6 is 3 steps: r^3 = 486/18 = 27, r = 3; a_1 = a_3 / r^2 = 18/9 = 2. Check: 2, 6, 18, 54, 162, 486. Apply 2: a_1 = 2, r = 3, n = 6: S_6 = 2(1 - 729)/(1 - 3) = 2(-728)/(-2) = 728. Check: 2 + 6 + 18 + 54 + 162 + 486 = 728. Investigate 1: with r = 1 the denominator 1 - r = 0, so the formula divides by zero and is undefined (this is why HSA.SSE.B.4 says 'when the common ratio is not 1'); every term is 5, so S_n = 5n. Investigate 2: a_1 = 1, r = 1/2: S_10 = (1 - (1/2)^10)/(1 - 1/2) = 2(1 - 1/1024) = 1023/512, about 1.998. Partial sums 1, 1.5, 1.75, 1.875, ... get closer and closer to 2 but never reach it, because (1/2)^n gets close to 0. Verbal misconceptions: Practice 1 using a_6 = 4 x 3^6 = 2916; Practice 2 writing r = 2 or r = -40; Apply 1 using r^4 or r = 9; Apply 2 answering 1458 (the 7th term) or forgetting the minus signs cancel; Investigate 2 'the sum grows without limit because we keep adding'. Adaptive routing: if &gt;30% miss Practice 1, route to slide 5 Example A; Practice 2 or Apply 1, slide 6 Examples A and B; Apply 2, slide 8 Example A; Investigate 1, slide 8 rules; Investigate 2, slide 7 Example C.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not real data. Task 1: recursive a_1 = 256, a_n = 1.5 a_(n-1); explicit a_n = 256 (1.5)^(n-1). Month 6: a_6 = 256 x 1.5^5 = 256 x 7.59375 = 1944 trees. Terms: 256, 384, 576, 864, 1296, 1944. Task 2: S_6 = 256(1 - 1.5^6)/(1 - 1.5) = 256(1 - 11.390625)/(-0.5) = 512 x 10.390625 = 5320 trees; check: 256 + 384 + 576 + 864 + 1296 + 1944 = 5320. Cost: 5320 x 25 = 133 000 SAR. Task 3: S_n = 512(1.5^n - 1). S_7 = 512 x 16.0859375 = 8236 (below 10 000); S_8 = 512 x 24.62890625 = 12 610 (above). So the running total first passes 10 000 in month 8. With logarithms (Lesson 6-6): 1.5^n &gt; 10000/512 + 1 = 20.53, n &gt; ln(20.53)/ln(1.5) = 7.45, so n = 8. Verbal misconceptions: using 1.5^6 for the month-6 term (off by one: that is 2916, the 7th term); answering Task 2 with the month-6 term instead of the total; dividing by 1 - 1.5 = 0.5 instead of -0.5 (sign error gives a negative total); rounding n = 7.45 down to 7. Adaptive routing: if &gt;30% cannot start Task 1, go back to slide 6 Example A; if &gt;30% miss Task 2, slide 8 Example A; if &gt;30% miss Task 3, slide 8 Example C and the table of partial sums on slide 7. Early finishers: the model cost of the first 8 months (12 610 x 25 = 315 250 SAR), and why the model cannot continue for years (month 20 alone would need over 560 000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find r first: r = -48/96 = -1/2; next term 24 x (-1/2) = -12. Q2: write the explicit formula first: a_n = 7 x 2^(n-1); a_6 = 7 x 2^5 = 7 x 32 = 224. Check: 7, 14, 28, 56, 112, 224. Q3: a_1 = 4, r = 3, n = 5: S_5 = 4(1 - 243)/(1 - 3) = 4(-242)/(-2) = 484. Check: 4 + 12 + 36 + 108 + 324 = 484. Verbal misconceptions: Q1 giving r = -2 (dividing the wrong way) or next term 12 (dropping the sign); Q2 using 2^6 and giving 448; Q3 giving 972 (the 6th term) or 324 (the last term only), or 4(3^5) = 972. Adaptive routing: Q1 missed, route to slide 5 (block 1); Q2 missed, route to slide 6 (block 2); Q3 missed, route to slide 7 (block 3, the meaning of the sum) and slide 8 (block 4, using the formula).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Worked solutions. Exit 1: a_1 = 3, r = 2, n = 6: S_6 = 3(1 - 64)/(1 - 2) = 3(-63)/(-1) = 189. Check: 3 + 6 + 12 + 24 + 48 + 96 = 189. Exit 2: a_n = 1000 x 0.8^(n-1); a_5 = 1000 x 0.8^4 = 1000 x 0.4096 = 409.6. Check: 1000, 800, 640, 512, 409.6. Create step: a good context is a quantity multiplied by the same factor each step (savings growing by a fixed percent, a bouncing ball reaching 3/4 of its height). Make sure students write r as a factor (1.1 for a 10 percent rise, not 0.1). Verbal misconceptions: Exit 1 answering 96 (the 6th term) or 192 (a_1 r^6); Exit 2 using 0.8^5 = 327.68 (off by one) or subtracting 0.8 each time. Adaptive routing: if &gt;30% miss Exit 1, open the next lesson with a 5-minute retrieval of slide 8 Example A; if &gt;30% miss Exit 2, retrieve slide 6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global style, no context needed): a_1 = 2, r = 3, n = 5. S_5 = 2(3^5 - 1)/(3 - 1) = 2(242)/2 = 242. Check by listing: 2 + 6 + 18 + 54 + 162 = 242. Verbal misconceptions (the traps):  choosing 162 (the 5th term, a partial step) or 486 (2 x 3^5, using r^n); a student-produced-response grid answer is 242. GAT/Qudurat quantitative comparison (A is greater / B is greater / they are equal / cannot be determined): A is the 6th term 1 x 2^5 = 32; B = 1 + 2 + 4 + 8 + 16 = 31 (or 2^5 - 1). A is greater. Trap: assuming they are equal, or taking the 6th term as 2^6 = 64. Structure to notice: for r = 2 the sum of all earlier terms is always one less than the next term. SAAT/Tahsili (multiple choice, four options): from term 3 to term 6 is 3 steps, r^3 = 8, r = 2; a_1 = a_3 / r^2 = 12/4 = 3; S_5 = 3(2^5 - 1)/(2 - 1) = 93. Check: 3 + 6 + 12 + 24 + 48 = 93. Trap: r^4 = 8 or r = 4 (counting terms, not steps), or a_1 = 6 (dividing by r once). Adaptive routing: if &gt;30% miss the SAT item, return to slide 8 Example A; the GAT item, slide 7 Example B; the SAAT item, slide 6 Example B and then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geometric sequence multiplies by a constant ratio; a geometric series adds its terms, and when the ratio is not 1 the sum has a closed formula. Collect the Time to Check responses. Next lesson: 9-1 Parabolas.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slideLayout" Target="../slideLayouts/slideLayout1.xml"/><Relationship Id="rId1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6</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6-7</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Geometric Sequences</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and Series</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Exponential and Logarithmic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6-7/ke0e9058683.png">    </p:cNvPr>
          <p:cNvPicPr>
            <a:picLocks noChangeAspect="1"/>
          </p:cNvPicPr>
          <p:nvPr/>
        </p:nvPicPr>
        <p:blipFill>
          <a:blip r:embed="rId4"/>
          <a:stretch>
            <a:fillRect/>
          </a:stretch>
        </p:blipFill>
        <p:spPr>
          <a:xfrm>
            <a:off x="8952890" y="3017520"/>
            <a:ext cx="2211019" cy="494508"/>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365760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Identify geometric sequences.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recursive and explicit formulas for geometric sequences.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Identify geometric series.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Derive the formula for geometric series.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the formula for geometric series to find sums.</a:t>
            </a:r>
            <a:endParaRPr lang="en-US" sz="1700" dirty="0"/>
          </a:p>
        </p:txBody>
      </p:sp>
      <p:sp>
        <p:nvSpPr>
          <p:cNvPr id="14" name="Shape 9"/>
          <p:cNvSpPr/>
          <p:nvPr/>
        </p:nvSpPr>
        <p:spPr>
          <a:xfrm>
            <a:off x="457200" y="5074920"/>
            <a:ext cx="5760720" cy="1234440"/>
          </a:xfrm>
          <a:prstGeom prst="roundRect">
            <a:avLst>
              <a:gd name="adj" fmla="val 888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731520" y="5166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ESSENTIAL QUESTION</a:t>
            </a:r>
            <a:endParaRPr lang="en-US" sz="1100" dirty="0"/>
          </a:p>
        </p:txBody>
      </p:sp>
      <p:sp>
        <p:nvSpPr>
          <p:cNvPr id="16" name="Text 11"/>
          <p:cNvSpPr txBox="1"/>
          <p:nvPr/>
        </p:nvSpPr>
        <p:spPr>
          <a:xfrm>
            <a:off x="731520" y="5413248"/>
            <a:ext cx="521208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How can we use geometric sequences to model real-world situations?</a:t>
            </a:r>
            <a:endParaRPr lang="en-US" sz="1400" dirty="0"/>
          </a:p>
        </p:txBody>
      </p:sp>
      <p:sp>
        <p:nvSpPr>
          <p:cNvPr id="17" name="Text 12"/>
          <p:cNvSpPr txBox="1"/>
          <p:nvPr/>
        </p:nvSpPr>
        <p:spPr>
          <a:xfrm>
            <a:off x="731520" y="5943600"/>
            <a:ext cx="5212080" cy="274320"/>
          </a:xfrm>
          <a:prstGeom prst="rect">
            <a:avLst/>
          </a:prstGeom>
          <a:noFill/>
          <a:ln/>
        </p:spPr>
        <p:txBody>
          <a:bodyPr wrap="square" lIns="0" tIns="0" rIns="0" bIns="0" rtlCol="0" anchor="t"/>
          <a:lstStyle/>
          <a:p>
            <a:pPr indent="0" marL="0">
              <a:buNone/>
            </a:pPr>
            <a:r>
              <a:rPr lang="en-US" sz="1200" b="1" dirty="0">
                <a:solidFill>
                  <a:srgbClr val="F0B323"/>
                </a:solidFill>
                <a:latin typeface="Calibri" pitchFamily="34" charset="0"/>
                <a:ea typeface="Calibri" pitchFamily="34" charset="-122"/>
                <a:cs typeface="Calibri" pitchFamily="34" charset="-120"/>
              </a:rPr>
              <a:t>MATHEMATICAL PRACTICES   MP.4  ·  MP.7</a:t>
            </a:r>
            <a:endParaRPr lang="en-US" sz="1200" dirty="0"/>
          </a:p>
        </p:txBody>
      </p:sp>
      <p:sp>
        <p:nvSpPr>
          <p:cNvPr id="18" name="Shape 13"/>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9" name="Text 14"/>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20" name="Shape 15"/>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21" name="Text 16"/>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ratio</a:t>
            </a:r>
            <a:endParaRPr lang="en-US" sz="1100" dirty="0"/>
          </a:p>
        </p:txBody>
      </p:sp>
      <p:sp>
        <p:nvSpPr>
          <p:cNvPr id="22" name="Shape 17"/>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23" name="Text 18"/>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ending index</a:t>
            </a:r>
            <a:endParaRPr lang="en-US" sz="1100" dirty="0"/>
          </a:p>
        </p:txBody>
      </p:sp>
      <p:sp>
        <p:nvSpPr>
          <p:cNvPr id="24" name="Shape 19"/>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5" name="Text 20"/>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geometric sequence</a:t>
            </a:r>
            <a:endParaRPr lang="en-US" sz="1100" dirty="0"/>
          </a:p>
        </p:txBody>
      </p:sp>
      <p:sp>
        <p:nvSpPr>
          <p:cNvPr id="26" name="Shape 21"/>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7" name="Text 22"/>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geometric series</a:t>
            </a:r>
            <a:endParaRPr lang="en-US" sz="1100" dirty="0"/>
          </a:p>
        </p:txBody>
      </p:sp>
      <p:sp>
        <p:nvSpPr>
          <p:cNvPr id="28" name="Shape 23"/>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9" name="Text 24"/>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Index</a:t>
            </a:r>
            <a:endParaRPr lang="en-US" sz="1100" dirty="0"/>
          </a:p>
        </p:txBody>
      </p:sp>
      <p:sp>
        <p:nvSpPr>
          <p:cNvPr id="30" name="Shape 25"/>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31" name="Text 26"/>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sequence of partial sums</a:t>
            </a:r>
            <a:endParaRPr lang="en-US" sz="1100" dirty="0"/>
          </a:p>
        </p:txBody>
      </p:sp>
      <p:sp>
        <p:nvSpPr>
          <p:cNvPr id="32" name="Shape 27"/>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33" name="Text 28"/>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sigma notation</a:t>
            </a:r>
            <a:endParaRPr lang="en-US" sz="1100" dirty="0"/>
          </a:p>
        </p:txBody>
      </p:sp>
      <p:sp>
        <p:nvSpPr>
          <p:cNvPr id="34" name="Shape 29"/>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5" name="Text 30"/>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starting index</a:t>
            </a:r>
            <a:endParaRPr lang="en-US" sz="1100" dirty="0"/>
          </a:p>
        </p:txBody>
      </p:sp>
      <p:sp>
        <p:nvSpPr>
          <p:cNvPr id="36" name="Shape 31"/>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7" name="Text 32"/>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summand</a:t>
            </a:r>
            <a:endParaRPr lang="en-US" sz="1100" dirty="0"/>
          </a:p>
        </p:txBody>
      </p:sp>
      <p:sp>
        <p:nvSpPr>
          <p:cNvPr id="38" name="Shape 33"/>
          <p:cNvSpPr/>
          <p:nvPr/>
        </p:nvSpPr>
        <p:spPr>
          <a:xfrm>
            <a:off x="9189720" y="2898648"/>
            <a:ext cx="2468880" cy="265176"/>
          </a:xfrm>
          <a:prstGeom prst="roundRect">
            <a:avLst>
              <a:gd name="adj" fmla="val 48276"/>
            </a:avLst>
          </a:prstGeom>
          <a:solidFill>
            <a:srgbClr val="1F3864"/>
          </a:solidFill>
          <a:ln w="12700">
            <a:solidFill>
              <a:srgbClr val="FFFFFF"/>
            </a:solidFill>
            <a:prstDash val="solid"/>
          </a:ln>
        </p:spPr>
      </p:sp>
      <p:sp>
        <p:nvSpPr>
          <p:cNvPr id="39" name="Text 34"/>
          <p:cNvSpPr txBox="1"/>
          <p:nvPr/>
        </p:nvSpPr>
        <p:spPr>
          <a:xfrm>
            <a:off x="918972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terms</a:t>
            </a:r>
            <a:endParaRPr lang="en-US" sz="1100" dirty="0"/>
          </a:p>
        </p:txBody>
      </p:sp>
      <p:sp>
        <p:nvSpPr>
          <p:cNvPr id="40" name="Shape 35"/>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36"/>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42" name="Text 37"/>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HSA.SSE.B.4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Derive the formula for the sum of a finite geometric series (when the common ratio is not 1), and use the formula to solve problems.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HSF.IF.A.3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Recognize that sequences are functions, sometimes defined recursively, whose domain is a subset of the integers.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HSF.BF.A.2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Write arithmetic and geometric sequences both recursively and with an explicit formula, use them to model situations, and translate between the two forms.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HSF.LE.A.2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Construct linear and exponential functions, including arithmetic and geometric sequences, given a graph, a description of a relationship, or two input-output pairs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7/kf605d7cda3.png">    </p:cNvPr>
          <p:cNvPicPr>
            <a:picLocks noChangeAspect="1"/>
          </p:cNvPicPr>
          <p:nvPr/>
        </p:nvPicPr>
        <p:blipFill>
          <a:blip r:embed="rId3"/>
          <a:stretch>
            <a:fillRect/>
          </a:stretch>
        </p:blipFill>
        <p:spPr>
          <a:xfrm>
            <a:off x="1311250" y="2697480"/>
            <a:ext cx="1949501" cy="332842"/>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7/k1ac47dab96.png">    </p:cNvPr>
          <p:cNvPicPr>
            <a:picLocks noChangeAspect="1"/>
          </p:cNvPicPr>
          <p:nvPr/>
        </p:nvPicPr>
        <p:blipFill>
          <a:blip r:embed="rId4"/>
          <a:stretch>
            <a:fillRect/>
          </a:stretch>
        </p:blipFill>
        <p:spPr>
          <a:xfrm>
            <a:off x="4985309" y="2697480"/>
            <a:ext cx="2099462" cy="757123"/>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7/k820e4daddf.png">    </p:cNvPr>
          <p:cNvPicPr>
            <a:picLocks noChangeAspect="1"/>
          </p:cNvPicPr>
          <p:nvPr/>
        </p:nvPicPr>
        <p:blipFill>
          <a:blip r:embed="rId5"/>
          <a:stretch>
            <a:fillRect/>
          </a:stretch>
        </p:blipFill>
        <p:spPr>
          <a:xfrm>
            <a:off x="8198510" y="2697480"/>
            <a:ext cx="3171139" cy="347472"/>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which operation repeats in the third list.</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Identify a geometric sequence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7/ke60e9de3c0.png">    </p:cNvPr>
          <p:cNvPicPr>
            <a:picLocks noChangeAspect="1"/>
          </p:cNvPicPr>
          <p:nvPr/>
        </p:nvPicPr>
        <p:blipFill>
          <a:blip r:embed="rId3"/>
          <a:stretch>
            <a:fillRect/>
          </a:stretch>
        </p:blipFill>
        <p:spPr>
          <a:xfrm>
            <a:off x="2072030" y="1997050"/>
            <a:ext cx="4356202" cy="669341"/>
          </a:xfrm>
          <a:prstGeom prst="rect">
            <a:avLst/>
          </a:prstGeom>
        </p:spPr>
      </p:pic>
      <p:pic>
        <p:nvPicPr>
          <p:cNvPr id="31" name="Image 3" descr="m_L6-7/k45e3a2bee5.png">    </p:cNvPr>
          <p:cNvPicPr>
            <a:picLocks noChangeAspect="1"/>
          </p:cNvPicPr>
          <p:nvPr/>
        </p:nvPicPr>
        <p:blipFill>
          <a:blip r:embed="rId4"/>
          <a:stretch>
            <a:fillRect/>
          </a:stretch>
        </p:blipFill>
        <p:spPr>
          <a:xfrm>
            <a:off x="7068312" y="2157984"/>
            <a:ext cx="3021178" cy="347472"/>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6-7_sequence.png">    </p:cNvPr>
          <p:cNvPicPr>
            <a:picLocks noChangeAspect="1"/>
          </p:cNvPicPr>
          <p:nvPr/>
        </p:nvPicPr>
        <p:blipFill>
          <a:blip r:embed="rId5"/>
          <a:stretch>
            <a:fillRect/>
          </a:stretch>
        </p:blipFill>
        <p:spPr>
          <a:xfrm>
            <a:off x="594360" y="3304089"/>
            <a:ext cx="3657600" cy="276442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6-7/k709a97ea91.png">    </p:cNvPr>
          <p:cNvPicPr>
            <a:picLocks noChangeAspect="1"/>
          </p:cNvPicPr>
          <p:nvPr/>
        </p:nvPicPr>
        <p:blipFill>
          <a:blip r:embed="rId6"/>
          <a:stretch>
            <a:fillRect/>
          </a:stretch>
        </p:blipFill>
        <p:spPr>
          <a:xfrm>
            <a:off x="4709160" y="3566160"/>
            <a:ext cx="3154680" cy="276982"/>
          </a:xfrm>
          <a:prstGeom prst="rect">
            <a:avLst/>
          </a:prstGeom>
        </p:spPr>
      </p:pic>
      <p:pic>
        <p:nvPicPr>
          <p:cNvPr id="37" name="Image 6" descr="m_L6-7/k56fe2a9f01.png">    </p:cNvPr>
          <p:cNvPicPr>
            <a:picLocks noChangeAspect="1"/>
          </p:cNvPicPr>
          <p:nvPr/>
        </p:nvPicPr>
        <p:blipFill>
          <a:blip r:embed="rId7"/>
          <a:stretch>
            <a:fillRect/>
          </a:stretch>
        </p:blipFill>
        <p:spPr>
          <a:xfrm>
            <a:off x="4775545" y="3998590"/>
            <a:ext cx="3021909" cy="641909"/>
          </a:xfrm>
          <a:prstGeom prst="rect">
            <a:avLst/>
          </a:prstGeom>
        </p:spPr>
      </p:pic>
      <p:pic>
        <p:nvPicPr>
          <p:cNvPr id="38" name="Image 7" descr="m_L6-7/kcb7695aa26.png">    </p:cNvPr>
          <p:cNvPicPr>
            <a:picLocks noChangeAspect="1"/>
          </p:cNvPicPr>
          <p:nvPr/>
        </p:nvPicPr>
        <p:blipFill>
          <a:blip r:embed="rId8"/>
          <a:stretch>
            <a:fillRect/>
          </a:stretch>
        </p:blipFill>
        <p:spPr>
          <a:xfrm>
            <a:off x="5531023" y="4795947"/>
            <a:ext cx="1510955" cy="618866"/>
          </a:xfrm>
          <a:prstGeom prst="rect">
            <a:avLst/>
          </a:prstGeom>
        </p:spPr>
      </p:pic>
      <p:sp>
        <p:nvSpPr>
          <p:cNvPr id="39"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8" descr="m_L6-7/k20577c0255.png">    </p:cNvPr>
          <p:cNvPicPr>
            <a:picLocks noChangeAspect="1"/>
          </p:cNvPicPr>
          <p:nvPr/>
        </p:nvPicPr>
        <p:blipFill>
          <a:blip r:embed="rId9"/>
          <a:stretch>
            <a:fillRect/>
          </a:stretch>
        </p:blipFill>
        <p:spPr>
          <a:xfrm>
            <a:off x="8367967" y="3566160"/>
            <a:ext cx="3152266" cy="328361"/>
          </a:xfrm>
          <a:prstGeom prst="rect">
            <a:avLst/>
          </a:prstGeom>
        </p:spPr>
      </p:pic>
      <p:pic>
        <p:nvPicPr>
          <p:cNvPr id="42" name="Image 9" descr="m_L6-7/kd185b07bb2.png">    </p:cNvPr>
          <p:cNvPicPr>
            <a:picLocks noChangeAspect="1"/>
          </p:cNvPicPr>
          <p:nvPr/>
        </p:nvPicPr>
        <p:blipFill>
          <a:blip r:embed="rId10"/>
          <a:stretch>
            <a:fillRect/>
          </a:stretch>
        </p:blipFill>
        <p:spPr>
          <a:xfrm>
            <a:off x="8494044" y="4049969"/>
            <a:ext cx="2900111" cy="618866"/>
          </a:xfrm>
          <a:prstGeom prst="rect">
            <a:avLst/>
          </a:prstGeom>
        </p:spPr>
      </p:pic>
      <p:pic>
        <p:nvPicPr>
          <p:cNvPr id="43" name="Image 10" descr="m_L6-7/k8e6b91770f.png">    </p:cNvPr>
          <p:cNvPicPr>
            <a:picLocks noChangeAspect="1"/>
          </p:cNvPicPr>
          <p:nvPr/>
        </p:nvPicPr>
        <p:blipFill>
          <a:blip r:embed="rId11"/>
          <a:stretch>
            <a:fillRect/>
          </a:stretch>
        </p:blipFill>
        <p:spPr>
          <a:xfrm>
            <a:off x="8366760" y="4824283"/>
            <a:ext cx="3154680" cy="2426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Recursive and explicit formulas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7/k13018a41ae.png">    </p:cNvPr>
          <p:cNvPicPr>
            <a:picLocks noChangeAspect="1"/>
          </p:cNvPicPr>
          <p:nvPr/>
        </p:nvPicPr>
        <p:blipFill>
          <a:blip r:embed="rId3"/>
          <a:stretch>
            <a:fillRect/>
          </a:stretch>
        </p:blipFill>
        <p:spPr>
          <a:xfrm>
            <a:off x="2187245" y="2157984"/>
            <a:ext cx="4283050" cy="347472"/>
          </a:xfrm>
          <a:prstGeom prst="rect">
            <a:avLst/>
          </a:prstGeom>
        </p:spPr>
      </p:pic>
      <p:pic>
        <p:nvPicPr>
          <p:cNvPr id="31" name="Image 3" descr="m_L6-7/kb0d1905e19.png">    </p:cNvPr>
          <p:cNvPicPr>
            <a:picLocks noChangeAspect="1"/>
          </p:cNvPicPr>
          <p:nvPr/>
        </p:nvPicPr>
        <p:blipFill>
          <a:blip r:embed="rId4"/>
          <a:stretch>
            <a:fillRect/>
          </a:stretch>
        </p:blipFill>
        <p:spPr>
          <a:xfrm>
            <a:off x="7110374" y="2136038"/>
            <a:ext cx="2863901" cy="391363"/>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7/k9b8b69b65d.png">    </p:cNvPr>
          <p:cNvPicPr>
            <a:picLocks noChangeAspect="1"/>
          </p:cNvPicPr>
          <p:nvPr/>
        </p:nvPicPr>
        <p:blipFill>
          <a:blip r:embed="rId5"/>
          <a:stretch>
            <a:fillRect/>
          </a:stretch>
        </p:blipFill>
        <p:spPr>
          <a:xfrm>
            <a:off x="822201" y="3566160"/>
            <a:ext cx="2927598" cy="328361"/>
          </a:xfrm>
          <a:prstGeom prst="rect">
            <a:avLst/>
          </a:prstGeom>
        </p:spPr>
      </p:pic>
      <p:pic>
        <p:nvPicPr>
          <p:cNvPr id="35" name="Image 5" descr="m_L6-7/k33e427e70b.png">    </p:cNvPr>
          <p:cNvPicPr>
            <a:picLocks noChangeAspect="1"/>
          </p:cNvPicPr>
          <p:nvPr/>
        </p:nvPicPr>
        <p:blipFill>
          <a:blip r:embed="rId6"/>
          <a:stretch>
            <a:fillRect/>
          </a:stretch>
        </p:blipFill>
        <p:spPr>
          <a:xfrm>
            <a:off x="1091062" y="4049969"/>
            <a:ext cx="2389876" cy="306141"/>
          </a:xfrm>
          <a:prstGeom prst="rect">
            <a:avLst/>
          </a:prstGeom>
        </p:spPr>
      </p:pic>
      <p:pic>
        <p:nvPicPr>
          <p:cNvPr id="36" name="Image 6" descr="m_L6-7/k1a6467845d.png">    </p:cNvPr>
          <p:cNvPicPr>
            <a:picLocks noChangeAspect="1"/>
          </p:cNvPicPr>
          <p:nvPr/>
        </p:nvPicPr>
        <p:blipFill>
          <a:blip r:embed="rId7"/>
          <a:stretch>
            <a:fillRect/>
          </a:stretch>
        </p:blipFill>
        <p:spPr>
          <a:xfrm>
            <a:off x="1499250" y="4511558"/>
            <a:ext cx="1573500" cy="342351"/>
          </a:xfrm>
          <a:prstGeom prst="rect">
            <a:avLst/>
          </a:prstGeom>
        </p:spPr>
      </p:pic>
      <p:pic>
        <p:nvPicPr>
          <p:cNvPr id="37" name="Image 7" descr="m_L6-7/kebb3e5882e.png">    </p:cNvPr>
          <p:cNvPicPr>
            <a:picLocks noChangeAspect="1"/>
          </p:cNvPicPr>
          <p:nvPr/>
        </p:nvPicPr>
        <p:blipFill>
          <a:blip r:embed="rId8"/>
          <a:stretch>
            <a:fillRect/>
          </a:stretch>
        </p:blipFill>
        <p:spPr>
          <a:xfrm>
            <a:off x="1122335" y="5009358"/>
            <a:ext cx="2327331" cy="342351"/>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7/k521fca4eaf.png">    </p:cNvPr>
          <p:cNvPicPr>
            <a:picLocks noChangeAspect="1"/>
          </p:cNvPicPr>
          <p:nvPr/>
        </p:nvPicPr>
        <p:blipFill>
          <a:blip r:embed="rId9"/>
          <a:stretch>
            <a:fillRect/>
          </a:stretch>
        </p:blipFill>
        <p:spPr>
          <a:xfrm>
            <a:off x="4434840" y="3566160"/>
            <a:ext cx="3291840" cy="313981"/>
          </a:xfrm>
          <a:prstGeom prst="rect">
            <a:avLst/>
          </a:prstGeom>
        </p:spPr>
      </p:pic>
      <p:pic>
        <p:nvPicPr>
          <p:cNvPr id="41" name="Image 9" descr="m_L6-7/k421e4558eb.png">    </p:cNvPr>
          <p:cNvPicPr>
            <a:picLocks noChangeAspect="1"/>
          </p:cNvPicPr>
          <p:nvPr/>
        </p:nvPicPr>
        <p:blipFill>
          <a:blip r:embed="rId10"/>
          <a:stretch>
            <a:fillRect/>
          </a:stretch>
        </p:blipFill>
        <p:spPr>
          <a:xfrm>
            <a:off x="4816693" y="4035589"/>
            <a:ext cx="2528133" cy="618866"/>
          </a:xfrm>
          <a:prstGeom prst="rect">
            <a:avLst/>
          </a:prstGeom>
        </p:spPr>
      </p:pic>
      <p:pic>
        <p:nvPicPr>
          <p:cNvPr id="42" name="Image 10" descr="m_L6-7/k2f6c304f6e.png">    </p:cNvPr>
          <p:cNvPicPr>
            <a:picLocks noChangeAspect="1"/>
          </p:cNvPicPr>
          <p:nvPr/>
        </p:nvPicPr>
        <p:blipFill>
          <a:blip r:embed="rId11"/>
          <a:stretch>
            <a:fillRect/>
          </a:stretch>
        </p:blipFill>
        <p:spPr>
          <a:xfrm>
            <a:off x="5333512" y="4809903"/>
            <a:ext cx="1494495" cy="618866"/>
          </a:xfrm>
          <a:prstGeom prst="rect">
            <a:avLst/>
          </a:prstGeom>
        </p:spPr>
      </p:pic>
      <p:pic>
        <p:nvPicPr>
          <p:cNvPr id="43" name="Image 11" descr="m_L6-7/k26a56f019d.png">    </p:cNvPr>
          <p:cNvPicPr>
            <a:picLocks noChangeAspect="1"/>
          </p:cNvPicPr>
          <p:nvPr/>
        </p:nvPicPr>
        <p:blipFill>
          <a:blip r:embed="rId12"/>
          <a:stretch>
            <a:fillRect/>
          </a:stretch>
        </p:blipFill>
        <p:spPr>
          <a:xfrm>
            <a:off x="5294010" y="5584217"/>
            <a:ext cx="1573500" cy="342351"/>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6-7/k2f021239c3.png">    </p:cNvPr>
          <p:cNvPicPr>
            <a:picLocks noChangeAspect="1"/>
          </p:cNvPicPr>
          <p:nvPr/>
        </p:nvPicPr>
        <p:blipFill>
          <a:blip r:embed="rId13"/>
          <a:stretch>
            <a:fillRect/>
          </a:stretch>
        </p:blipFill>
        <p:spPr>
          <a:xfrm>
            <a:off x="8422090" y="3566160"/>
            <a:ext cx="2906859" cy="767328"/>
          </a:xfrm>
          <a:prstGeom prst="rect">
            <a:avLst/>
          </a:prstGeom>
        </p:spPr>
      </p:pic>
      <p:pic>
        <p:nvPicPr>
          <p:cNvPr id="47" name="Image 13" descr="m_L6-7/kad631cac0c.png">    </p:cNvPr>
          <p:cNvPicPr>
            <a:picLocks noChangeAspect="1"/>
          </p:cNvPicPr>
          <p:nvPr/>
        </p:nvPicPr>
        <p:blipFill>
          <a:blip r:embed="rId14"/>
          <a:stretch>
            <a:fillRect/>
          </a:stretch>
        </p:blipFill>
        <p:spPr>
          <a:xfrm>
            <a:off x="8980140" y="4488936"/>
            <a:ext cx="1790761" cy="444398"/>
          </a:xfrm>
          <a:prstGeom prst="rect">
            <a:avLst/>
          </a:prstGeom>
        </p:spPr>
      </p:pic>
      <p:pic>
        <p:nvPicPr>
          <p:cNvPr id="48" name="Image 14" descr="m_L6-7/kb81d047251.png">    </p:cNvPr>
          <p:cNvPicPr>
            <a:picLocks noChangeAspect="1"/>
          </p:cNvPicPr>
          <p:nvPr/>
        </p:nvPicPr>
        <p:blipFill>
          <a:blip r:embed="rId15"/>
          <a:stretch>
            <a:fillRect/>
          </a:stretch>
        </p:blipFill>
        <p:spPr>
          <a:xfrm>
            <a:off x="8537387" y="5088782"/>
            <a:ext cx="2676266" cy="61886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Geometric series, sigma notation and the sum formula</a:t>
            </a:r>
            <a:endParaRPr lang="en-US" sz="26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7/k6affb0705f.png">    </p:cNvPr>
          <p:cNvPicPr>
            <a:picLocks noChangeAspect="1"/>
          </p:cNvPicPr>
          <p:nvPr/>
        </p:nvPicPr>
        <p:blipFill>
          <a:blip r:embed="rId3"/>
          <a:stretch>
            <a:fillRect/>
          </a:stretch>
        </p:blipFill>
        <p:spPr>
          <a:xfrm>
            <a:off x="3155723" y="1920240"/>
            <a:ext cx="1839926" cy="822960"/>
          </a:xfrm>
          <a:prstGeom prst="rect">
            <a:avLst/>
          </a:prstGeom>
        </p:spPr>
      </p:pic>
      <p:pic>
        <p:nvPicPr>
          <p:cNvPr id="31" name="Image 3" descr="m_L6-7/k4f901275da.png">    </p:cNvPr>
          <p:cNvPicPr>
            <a:picLocks noChangeAspect="1"/>
          </p:cNvPicPr>
          <p:nvPr/>
        </p:nvPicPr>
        <p:blipFill>
          <a:blip r:embed="rId4"/>
          <a:stretch>
            <a:fillRect/>
          </a:stretch>
        </p:blipFill>
        <p:spPr>
          <a:xfrm>
            <a:off x="5635729" y="2159618"/>
            <a:ext cx="3370068" cy="344204"/>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7/k1c18847f0a.png">    </p:cNvPr>
          <p:cNvPicPr>
            <a:picLocks noChangeAspect="1"/>
          </p:cNvPicPr>
          <p:nvPr/>
        </p:nvPicPr>
        <p:blipFill>
          <a:blip r:embed="rId5"/>
          <a:stretch>
            <a:fillRect/>
          </a:stretch>
        </p:blipFill>
        <p:spPr>
          <a:xfrm>
            <a:off x="1122911" y="3566160"/>
            <a:ext cx="2326179" cy="359469"/>
          </a:xfrm>
          <a:prstGeom prst="rect">
            <a:avLst/>
          </a:prstGeom>
        </p:spPr>
      </p:pic>
      <p:pic>
        <p:nvPicPr>
          <p:cNvPr id="35" name="Image 5" descr="m_L6-7/k9521480077.png">    </p:cNvPr>
          <p:cNvPicPr>
            <a:picLocks noChangeAspect="1"/>
          </p:cNvPicPr>
          <p:nvPr/>
        </p:nvPicPr>
        <p:blipFill>
          <a:blip r:embed="rId6"/>
          <a:stretch>
            <a:fillRect/>
          </a:stretch>
        </p:blipFill>
        <p:spPr>
          <a:xfrm>
            <a:off x="640080" y="4081077"/>
            <a:ext cx="3291840" cy="316699"/>
          </a:xfrm>
          <a:prstGeom prst="rect">
            <a:avLst/>
          </a:prstGeom>
        </p:spPr>
      </p:pic>
      <p:pic>
        <p:nvPicPr>
          <p:cNvPr id="36" name="Image 6" descr="m_L6-7/k792130a63f.png">    </p:cNvPr>
          <p:cNvPicPr>
            <a:picLocks noChangeAspect="1"/>
          </p:cNvPicPr>
          <p:nvPr/>
        </p:nvPicPr>
        <p:blipFill>
          <a:blip r:embed="rId7"/>
          <a:stretch>
            <a:fillRect/>
          </a:stretch>
        </p:blipFill>
        <p:spPr>
          <a:xfrm>
            <a:off x="985723" y="4553224"/>
            <a:ext cx="2600554" cy="302849"/>
          </a:xfrm>
          <a:prstGeom prst="rect">
            <a:avLst/>
          </a:prstGeom>
        </p:spPr>
      </p:pic>
      <p:pic>
        <p:nvPicPr>
          <p:cNvPr id="37" name="Image 7" descr="m_L6-7/kaf5cbb3394.png">    </p:cNvPr>
          <p:cNvPicPr>
            <a:picLocks noChangeAspect="1"/>
          </p:cNvPicPr>
          <p:nvPr/>
        </p:nvPicPr>
        <p:blipFill>
          <a:blip r:embed="rId8"/>
          <a:stretch>
            <a:fillRect/>
          </a:stretch>
        </p:blipFill>
        <p:spPr>
          <a:xfrm>
            <a:off x="1267176" y="5011521"/>
            <a:ext cx="2037649" cy="671535"/>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7/kc0ac26e288.png">    </p:cNvPr>
          <p:cNvPicPr>
            <a:picLocks noChangeAspect="1"/>
          </p:cNvPicPr>
          <p:nvPr/>
        </p:nvPicPr>
        <p:blipFill>
          <a:blip r:embed="rId9"/>
          <a:stretch>
            <a:fillRect/>
          </a:stretch>
        </p:blipFill>
        <p:spPr>
          <a:xfrm>
            <a:off x="4665351" y="3566160"/>
            <a:ext cx="2830818" cy="418228"/>
          </a:xfrm>
          <a:prstGeom prst="rect">
            <a:avLst/>
          </a:prstGeom>
        </p:spPr>
      </p:pic>
      <p:pic>
        <p:nvPicPr>
          <p:cNvPr id="41" name="Image 9" descr="m_L6-7/k5f405d1376.png">    </p:cNvPr>
          <p:cNvPicPr>
            <a:picLocks noChangeAspect="1"/>
          </p:cNvPicPr>
          <p:nvPr/>
        </p:nvPicPr>
        <p:blipFill>
          <a:blip r:embed="rId10"/>
          <a:stretch>
            <a:fillRect/>
          </a:stretch>
        </p:blipFill>
        <p:spPr>
          <a:xfrm>
            <a:off x="5149169" y="4139836"/>
            <a:ext cx="1863181" cy="266639"/>
          </a:xfrm>
          <a:prstGeom prst="rect">
            <a:avLst/>
          </a:prstGeom>
        </p:spPr>
      </p:pic>
      <p:pic>
        <p:nvPicPr>
          <p:cNvPr id="42" name="Image 10" descr="m_L6-7/k0eff9c24a6.png">    </p:cNvPr>
          <p:cNvPicPr>
            <a:picLocks noChangeAspect="1"/>
          </p:cNvPicPr>
          <p:nvPr/>
        </p:nvPicPr>
        <p:blipFill>
          <a:blip r:embed="rId11"/>
          <a:stretch>
            <a:fillRect/>
          </a:stretch>
        </p:blipFill>
        <p:spPr>
          <a:xfrm>
            <a:off x="5769681" y="4561923"/>
            <a:ext cx="622158" cy="246888"/>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6-7/k6b0f8b1753.png">    </p:cNvPr>
          <p:cNvPicPr>
            <a:picLocks noChangeAspect="1"/>
          </p:cNvPicPr>
          <p:nvPr/>
        </p:nvPicPr>
        <p:blipFill>
          <a:blip r:embed="rId12"/>
          <a:stretch>
            <a:fillRect/>
          </a:stretch>
        </p:blipFill>
        <p:spPr>
          <a:xfrm>
            <a:off x="8619107" y="3566160"/>
            <a:ext cx="2512826" cy="767328"/>
          </a:xfrm>
          <a:prstGeom prst="rect">
            <a:avLst/>
          </a:prstGeom>
        </p:spPr>
      </p:pic>
      <p:pic>
        <p:nvPicPr>
          <p:cNvPr id="46" name="Image 12" descr="m_L6-7/ke26f0fae15.png">    </p:cNvPr>
          <p:cNvPicPr>
            <a:picLocks noChangeAspect="1"/>
          </p:cNvPicPr>
          <p:nvPr/>
        </p:nvPicPr>
        <p:blipFill>
          <a:blip r:embed="rId13"/>
          <a:stretch>
            <a:fillRect/>
          </a:stretch>
        </p:blipFill>
        <p:spPr>
          <a:xfrm>
            <a:off x="8229600" y="4488936"/>
            <a:ext cx="3291840" cy="252598"/>
          </a:xfrm>
          <a:prstGeom prst="rect">
            <a:avLst/>
          </a:prstGeom>
        </p:spPr>
      </p:pic>
      <p:pic>
        <p:nvPicPr>
          <p:cNvPr id="47" name="Image 13" descr="m_L6-7/ka2016c05ce.png">    </p:cNvPr>
          <p:cNvPicPr>
            <a:picLocks noChangeAspect="1"/>
          </p:cNvPicPr>
          <p:nvPr/>
        </p:nvPicPr>
        <p:blipFill>
          <a:blip r:embed="rId14"/>
          <a:stretch>
            <a:fillRect/>
          </a:stretch>
        </p:blipFill>
        <p:spPr>
          <a:xfrm>
            <a:off x="8229600" y="4896982"/>
            <a:ext cx="3291840" cy="6056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Use the formula to find sums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7/kd52981f5f4.png">    </p:cNvPr>
          <p:cNvPicPr>
            <a:picLocks noChangeAspect="1"/>
          </p:cNvPicPr>
          <p:nvPr/>
        </p:nvPicPr>
        <p:blipFill>
          <a:blip r:embed="rId3"/>
          <a:stretch>
            <a:fillRect/>
          </a:stretch>
        </p:blipFill>
        <p:spPr>
          <a:xfrm>
            <a:off x="2894990" y="1958645"/>
            <a:ext cx="3284525" cy="746150"/>
          </a:xfrm>
          <a:prstGeom prst="rect">
            <a:avLst/>
          </a:prstGeom>
        </p:spPr>
      </p:pic>
      <p:pic>
        <p:nvPicPr>
          <p:cNvPr id="31" name="Image 3" descr="m_L6-7/k960738f58e.png">    </p:cNvPr>
          <p:cNvPicPr>
            <a:picLocks noChangeAspect="1"/>
          </p:cNvPicPr>
          <p:nvPr/>
        </p:nvPicPr>
        <p:blipFill>
          <a:blip r:embed="rId4"/>
          <a:stretch>
            <a:fillRect/>
          </a:stretch>
        </p:blipFill>
        <p:spPr>
          <a:xfrm>
            <a:off x="6819595" y="2167128"/>
            <a:ext cx="2446934" cy="329184"/>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7/k15cc652145.png">    </p:cNvPr>
          <p:cNvPicPr>
            <a:picLocks noChangeAspect="1"/>
          </p:cNvPicPr>
          <p:nvPr/>
        </p:nvPicPr>
        <p:blipFill>
          <a:blip r:embed="rId5"/>
          <a:stretch>
            <a:fillRect/>
          </a:stretch>
        </p:blipFill>
        <p:spPr>
          <a:xfrm>
            <a:off x="870591" y="3566160"/>
            <a:ext cx="2830818" cy="418228"/>
          </a:xfrm>
          <a:prstGeom prst="rect">
            <a:avLst/>
          </a:prstGeom>
        </p:spPr>
      </p:pic>
      <p:pic>
        <p:nvPicPr>
          <p:cNvPr id="35" name="Image 5" descr="m_L6-7/k9c00a2c2f3.png">    </p:cNvPr>
          <p:cNvPicPr>
            <a:picLocks noChangeAspect="1"/>
          </p:cNvPicPr>
          <p:nvPr/>
        </p:nvPicPr>
        <p:blipFill>
          <a:blip r:embed="rId6"/>
          <a:stretch>
            <a:fillRect/>
          </a:stretch>
        </p:blipFill>
        <p:spPr>
          <a:xfrm>
            <a:off x="1033455" y="4139836"/>
            <a:ext cx="2505090" cy="299557"/>
          </a:xfrm>
          <a:prstGeom prst="rect">
            <a:avLst/>
          </a:prstGeom>
        </p:spPr>
      </p:pic>
      <p:pic>
        <p:nvPicPr>
          <p:cNvPr id="36" name="Image 6" descr="m_L6-7/k9491506c8c.png">    </p:cNvPr>
          <p:cNvPicPr>
            <a:picLocks noChangeAspect="1"/>
          </p:cNvPicPr>
          <p:nvPr/>
        </p:nvPicPr>
        <p:blipFill>
          <a:blip r:embed="rId7"/>
          <a:stretch>
            <a:fillRect/>
          </a:stretch>
        </p:blipFill>
        <p:spPr>
          <a:xfrm>
            <a:off x="640080" y="4594842"/>
            <a:ext cx="3291840" cy="668050"/>
          </a:xfrm>
          <a:prstGeom prst="rect">
            <a:avLst/>
          </a:prstGeom>
        </p:spPr>
      </p:pic>
      <p:pic>
        <p:nvPicPr>
          <p:cNvPr id="37" name="Image 7" descr="m_L6-7/k6e9905115f.png">    </p:cNvPr>
          <p:cNvPicPr>
            <a:picLocks noChangeAspect="1"/>
          </p:cNvPicPr>
          <p:nvPr/>
        </p:nvPicPr>
        <p:blipFill>
          <a:blip r:embed="rId8"/>
          <a:stretch>
            <a:fillRect/>
          </a:stretch>
        </p:blipFill>
        <p:spPr>
          <a:xfrm>
            <a:off x="1576608" y="5418340"/>
            <a:ext cx="1418783" cy="296266"/>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7/k5a81688970.png">    </p:cNvPr>
          <p:cNvPicPr>
            <a:picLocks noChangeAspect="1"/>
          </p:cNvPicPr>
          <p:nvPr/>
        </p:nvPicPr>
        <p:blipFill>
          <a:blip r:embed="rId9"/>
          <a:stretch>
            <a:fillRect/>
          </a:stretch>
        </p:blipFill>
        <p:spPr>
          <a:xfrm>
            <a:off x="4521909" y="3566160"/>
            <a:ext cx="3117702" cy="314535"/>
          </a:xfrm>
          <a:prstGeom prst="rect">
            <a:avLst/>
          </a:prstGeom>
        </p:spPr>
      </p:pic>
      <p:pic>
        <p:nvPicPr>
          <p:cNvPr id="41" name="Image 9" descr="m_L6-7/kefccd534e4.png">    </p:cNvPr>
          <p:cNvPicPr>
            <a:picLocks noChangeAspect="1"/>
          </p:cNvPicPr>
          <p:nvPr/>
        </p:nvPicPr>
        <p:blipFill>
          <a:blip r:embed="rId10"/>
          <a:stretch>
            <a:fillRect/>
          </a:stretch>
        </p:blipFill>
        <p:spPr>
          <a:xfrm>
            <a:off x="4721230" y="4036143"/>
            <a:ext cx="2719060" cy="299557"/>
          </a:xfrm>
          <a:prstGeom prst="rect">
            <a:avLst/>
          </a:prstGeom>
        </p:spPr>
      </p:pic>
      <p:pic>
        <p:nvPicPr>
          <p:cNvPr id="42" name="Image 10" descr="m_L6-7/k8d16cd2d38.png">    </p:cNvPr>
          <p:cNvPicPr>
            <a:picLocks noChangeAspect="1"/>
          </p:cNvPicPr>
          <p:nvPr/>
        </p:nvPicPr>
        <p:blipFill>
          <a:blip r:embed="rId11"/>
          <a:stretch>
            <a:fillRect/>
          </a:stretch>
        </p:blipFill>
        <p:spPr>
          <a:xfrm>
            <a:off x="4434840" y="4491149"/>
            <a:ext cx="3291840" cy="656585"/>
          </a:xfrm>
          <a:prstGeom prst="rect">
            <a:avLst/>
          </a:prstGeom>
        </p:spPr>
      </p:pic>
      <p:pic>
        <p:nvPicPr>
          <p:cNvPr id="43" name="Image 11" descr="m_L6-7/k81cada96e6.png">    </p:cNvPr>
          <p:cNvPicPr>
            <a:picLocks noChangeAspect="1"/>
          </p:cNvPicPr>
          <p:nvPr/>
        </p:nvPicPr>
        <p:blipFill>
          <a:blip r:embed="rId12"/>
          <a:stretch>
            <a:fillRect/>
          </a:stretch>
        </p:blipFill>
        <p:spPr>
          <a:xfrm>
            <a:off x="5422392" y="5303182"/>
            <a:ext cx="1316736" cy="296266"/>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6-7/ka56ecfe131.png">    </p:cNvPr>
          <p:cNvPicPr>
            <a:picLocks noChangeAspect="1"/>
          </p:cNvPicPr>
          <p:nvPr/>
        </p:nvPicPr>
        <p:blipFill>
          <a:blip r:embed="rId13"/>
          <a:stretch>
            <a:fillRect/>
          </a:stretch>
        </p:blipFill>
        <p:spPr>
          <a:xfrm>
            <a:off x="8229600" y="3566160"/>
            <a:ext cx="3291840" cy="758079"/>
          </a:xfrm>
          <a:prstGeom prst="rect">
            <a:avLst/>
          </a:prstGeom>
        </p:spPr>
      </p:pic>
      <p:pic>
        <p:nvPicPr>
          <p:cNvPr id="47" name="Image 13" descr="m_L6-7/k8a859abba1.png">    </p:cNvPr>
          <p:cNvPicPr>
            <a:picLocks noChangeAspect="1"/>
          </p:cNvPicPr>
          <p:nvPr/>
        </p:nvPicPr>
        <p:blipFill>
          <a:blip r:embed="rId14"/>
          <a:stretch>
            <a:fillRect/>
          </a:stretch>
        </p:blipFill>
        <p:spPr>
          <a:xfrm>
            <a:off x="8856696" y="4479687"/>
            <a:ext cx="2037649" cy="671535"/>
          </a:xfrm>
          <a:prstGeom prst="rect">
            <a:avLst/>
          </a:prstGeom>
        </p:spPr>
      </p:pic>
      <p:pic>
        <p:nvPicPr>
          <p:cNvPr id="48" name="Image 14" descr="m_L6-7/kda238bbd69.png">    </p:cNvPr>
          <p:cNvPicPr>
            <a:picLocks noChangeAspect="1"/>
          </p:cNvPicPr>
          <p:nvPr/>
        </p:nvPicPr>
        <p:blipFill>
          <a:blip r:embed="rId15"/>
          <a:stretch>
            <a:fillRect/>
          </a:stretch>
        </p:blipFill>
        <p:spPr>
          <a:xfrm>
            <a:off x="8338231" y="5306671"/>
            <a:ext cx="3074579" cy="283098"/>
          </a:xfrm>
          <a:prstGeom prst="rect">
            <a:avLst/>
          </a:prstGeom>
        </p:spPr>
      </p:pic>
      <p:pic>
        <p:nvPicPr>
          <p:cNvPr id="49" name="Image 15" descr="m_L6-7/k207ffb5632.png">    </p:cNvPr>
          <p:cNvPicPr>
            <a:picLocks noChangeAspect="1"/>
          </p:cNvPicPr>
          <p:nvPr/>
        </p:nvPicPr>
        <p:blipFill>
          <a:blip r:embed="rId16"/>
          <a:stretch>
            <a:fillRect/>
          </a:stretch>
        </p:blipFill>
        <p:spPr>
          <a:xfrm>
            <a:off x="9513418" y="5745217"/>
            <a:ext cx="724205" cy="2468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6-7/k6bde9cbb00.png">    </p:cNvPr>
          <p:cNvPicPr>
            <a:picLocks noChangeAspect="1"/>
          </p:cNvPicPr>
          <p:nvPr/>
        </p:nvPicPr>
        <p:blipFill>
          <a:blip r:embed="rId3"/>
          <a:stretch>
            <a:fillRect/>
          </a:stretch>
        </p:blipFill>
        <p:spPr>
          <a:xfrm>
            <a:off x="582473" y="2926080"/>
            <a:ext cx="3361334" cy="347472"/>
          </a:xfrm>
          <a:prstGeom prst="rect">
            <a:avLst/>
          </a:prstGeom>
        </p:spPr>
      </p:pic>
      <p:pic>
        <p:nvPicPr>
          <p:cNvPr id="34" name="Image 3" descr="m_L6-7/kfb93ce6b00.png">    </p:cNvPr>
          <p:cNvPicPr>
            <a:picLocks noChangeAspect="1"/>
          </p:cNvPicPr>
          <p:nvPr/>
        </p:nvPicPr>
        <p:blipFill>
          <a:blip r:embed="rId4"/>
          <a:stretch>
            <a:fillRect/>
          </a:stretch>
        </p:blipFill>
        <p:spPr>
          <a:xfrm>
            <a:off x="593446" y="3547872"/>
            <a:ext cx="3339389" cy="336499"/>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ratio is found by dividing consecutive terms, and each formula reproduces the first three terms when you substitute the term numbers 1, 2 and 3.</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6-7/k1ad18c2294.png">    </p:cNvPr>
          <p:cNvPicPr>
            <a:picLocks noChangeAspect="1"/>
          </p:cNvPicPr>
          <p:nvPr/>
        </p:nvPicPr>
        <p:blipFill>
          <a:blip r:embed="rId5"/>
          <a:stretch>
            <a:fillRect/>
          </a:stretch>
        </p:blipFill>
        <p:spPr>
          <a:xfrm>
            <a:off x="4366260" y="2926080"/>
            <a:ext cx="3383280" cy="304079"/>
          </a:xfrm>
          <a:prstGeom prst="rect">
            <a:avLst/>
          </a:prstGeom>
        </p:spPr>
      </p:pic>
      <p:pic>
        <p:nvPicPr>
          <p:cNvPr id="41" name="Image 5" descr="m_L6-7/k2f0ab10d71.png">    </p:cNvPr>
          <p:cNvPicPr>
            <a:picLocks noChangeAspect="1"/>
          </p:cNvPicPr>
          <p:nvPr/>
        </p:nvPicPr>
        <p:blipFill>
          <a:blip r:embed="rId6"/>
          <a:stretch>
            <a:fillRect/>
          </a:stretch>
        </p:blipFill>
        <p:spPr>
          <a:xfrm>
            <a:off x="4560113" y="3504479"/>
            <a:ext cx="2995574" cy="442570"/>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number of steps between the two given terms is shown, and the sum names the first term, the ratio and the number of terms before the formula is used.</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6-7/k9c48dd0450.png">    </p:cNvPr>
          <p:cNvPicPr>
            <a:picLocks noChangeAspect="1"/>
          </p:cNvPicPr>
          <p:nvPr/>
        </p:nvPicPr>
        <p:blipFill>
          <a:blip r:embed="rId7"/>
          <a:stretch>
            <a:fillRect/>
          </a:stretch>
        </p:blipFill>
        <p:spPr>
          <a:xfrm>
            <a:off x="8161020" y="2926080"/>
            <a:ext cx="3383280" cy="319583"/>
          </a:xfrm>
          <a:prstGeom prst="rect">
            <a:avLst/>
          </a:prstGeom>
        </p:spPr>
      </p:pic>
      <p:pic>
        <p:nvPicPr>
          <p:cNvPr id="48" name="Image 7" descr="m_L6-7/k9ec871a34d.png">    </p:cNvPr>
          <p:cNvPicPr>
            <a:picLocks noChangeAspect="1"/>
          </p:cNvPicPr>
          <p:nvPr/>
        </p:nvPicPr>
        <p:blipFill>
          <a:blip r:embed="rId8"/>
          <a:stretch>
            <a:fillRect/>
          </a:stretch>
        </p:blipFill>
        <p:spPr>
          <a:xfrm>
            <a:off x="8336585" y="3519983"/>
            <a:ext cx="3032150" cy="431597"/>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explain why the sum formula fails when the ratio is 1, and you say what value the partial sums of the second series approach, supported by at least three partial sums.</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Jeddah greening programme</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Vision 2030 sets targets for greening Saudi cities. A model Jeddah neighbourhood programme (model values only, not real data) plants 256 trees in month 1, and each month it plants 1.5 times as many trees as the month before. Each sapling costs a model 25 SAR.</a:t>
            </a:r>
            <a:endParaRPr lang="en-US" sz="1500" dirty="0"/>
          </a:p>
        </p:txBody>
      </p:sp>
      <p:pic>
        <p:nvPicPr>
          <p:cNvPr id="32" name="Image 2" descr="m_L6-7/k77267c6685.png">    </p:cNvPr>
          <p:cNvPicPr>
            <a:picLocks noChangeAspect="1"/>
          </p:cNvPicPr>
          <p:nvPr/>
        </p:nvPicPr>
        <p:blipFill>
          <a:blip r:embed="rId3"/>
          <a:stretch>
            <a:fillRect/>
          </a:stretch>
        </p:blipFill>
        <p:spPr>
          <a:xfrm>
            <a:off x="935614" y="3429000"/>
            <a:ext cx="4895332" cy="304312"/>
          </a:xfrm>
          <a:prstGeom prst="rect">
            <a:avLst/>
          </a:prstGeom>
        </p:spPr>
      </p:pic>
      <p:pic>
        <p:nvPicPr>
          <p:cNvPr id="33" name="Image 3" descr="m_L6-7/k64bb166b02.png">    </p:cNvPr>
          <p:cNvPicPr>
            <a:picLocks noChangeAspect="1"/>
          </p:cNvPicPr>
          <p:nvPr/>
        </p:nvPicPr>
        <p:blipFill>
          <a:blip r:embed="rId4"/>
          <a:stretch>
            <a:fillRect/>
          </a:stretch>
        </p:blipFill>
        <p:spPr>
          <a:xfrm>
            <a:off x="2047524" y="3843040"/>
            <a:ext cx="2671511" cy="277978"/>
          </a:xfrm>
          <a:prstGeom prst="rect">
            <a:avLst/>
          </a:prstGeom>
        </p:spPr>
      </p:pic>
      <p:sp>
        <p:nvSpPr>
          <p:cNvPr id="34" name="Text 27"/>
          <p:cNvSpPr txBox="1"/>
          <p:nvPr/>
        </p:nvSpPr>
        <p:spPr>
          <a:xfrm>
            <a:off x="731520" y="4367906"/>
            <a:ext cx="5303520" cy="1850014"/>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recursive and explicit formulas, and find the number of trees planted in month 6.</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the sum formula to find the total planted in the first 6 months and its cost in SAR.</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first month in which the running total passes 10 000 trees; check with the totals for the month before and that month.</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Both formulas are written, and month 6 gives 1 944 trees.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6-month total is 5 320 trees, checked by adding the six terms.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cost is 133 000 SAR, written with units.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Month 8 is justified: the total is 8 236 after month 7 and 12 610 after month 8.</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name the first term, the ratio and the number of months first; for Task 3 make a table of running totals, or set the sum formula greater than 10 000.</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7/k8866e8d87f.png">    </p:cNvPr>
          <p:cNvPicPr>
            <a:picLocks noChangeAspect="1"/>
          </p:cNvPicPr>
          <p:nvPr/>
        </p:nvPicPr>
        <p:blipFill>
          <a:blip r:embed="rId3"/>
          <a:stretch>
            <a:fillRect/>
          </a:stretch>
        </p:blipFill>
        <p:spPr>
          <a:xfrm>
            <a:off x="685800" y="2743200"/>
            <a:ext cx="3200400" cy="289267"/>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7/k604c72c336.png">    </p:cNvPr>
          <p:cNvPicPr>
            <a:picLocks noChangeAspect="1"/>
          </p:cNvPicPr>
          <p:nvPr/>
        </p:nvPicPr>
        <p:blipFill>
          <a:blip r:embed="rId4"/>
          <a:stretch>
            <a:fillRect/>
          </a:stretch>
        </p:blipFill>
        <p:spPr>
          <a:xfrm>
            <a:off x="4434840" y="2743200"/>
            <a:ext cx="3200400" cy="311686"/>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7/k784a92cd08.png">    </p:cNvPr>
          <p:cNvPicPr>
            <a:picLocks noChangeAspect="1"/>
          </p:cNvPicPr>
          <p:nvPr/>
        </p:nvPicPr>
        <p:blipFill>
          <a:blip r:embed="rId5"/>
          <a:stretch>
            <a:fillRect/>
          </a:stretch>
        </p:blipFill>
        <p:spPr>
          <a:xfrm>
            <a:off x="8361182" y="2743200"/>
            <a:ext cx="2845796" cy="420441"/>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Invent a geometric sequence with a real context: give the first term, the ratio and what the term number counts.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its recursive and explicit formulas and the sum of its first 5 terms.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check their sum by adding the five terms.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sequence has a constant ratio that is not 1, both formulas give the same first three terms, and your partner's addition matches your formula.</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6-7/k31563ef052.png">    </p:cNvPr>
          <p:cNvPicPr>
            <a:picLocks noChangeAspect="1"/>
          </p:cNvPicPr>
          <p:nvPr/>
        </p:nvPicPr>
        <p:blipFill>
          <a:blip r:embed="rId3"/>
          <a:stretch>
            <a:fillRect/>
          </a:stretch>
        </p:blipFill>
        <p:spPr>
          <a:xfrm>
            <a:off x="7465893" y="3703320"/>
            <a:ext cx="2990454" cy="266273"/>
          </a:xfrm>
          <a:prstGeom prst="rect">
            <a:avLst/>
          </a:prstGeom>
        </p:spPr>
      </p:pic>
      <p:pic>
        <p:nvPicPr>
          <p:cNvPr id="40" name="Image 3" descr="m_L6-7/k1a2dffe57d.png">    </p:cNvPr>
          <p:cNvPicPr>
            <a:picLocks noChangeAspect="1"/>
          </p:cNvPicPr>
          <p:nvPr/>
        </p:nvPicPr>
        <p:blipFill>
          <a:blip r:embed="rId4"/>
          <a:stretch>
            <a:fillRect/>
          </a:stretch>
        </p:blipFill>
        <p:spPr>
          <a:xfrm>
            <a:off x="7212787" y="4061033"/>
            <a:ext cx="3496666" cy="283830"/>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9-1 Parabolas.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HSA.SSE.B.4 · HSF.IF.A.3 · HSF.BF.A.2 · HSF.LE.A.2</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6-7/k88d3c90485.png">    </p:cNvPr>
          <p:cNvPicPr>
            <a:picLocks noChangeAspect="1"/>
          </p:cNvPicPr>
          <p:nvPr/>
        </p:nvPicPr>
        <p:blipFill>
          <a:blip r:embed="rId3"/>
          <a:stretch>
            <a:fillRect/>
          </a:stretch>
        </p:blipFill>
        <p:spPr>
          <a:xfrm>
            <a:off x="594360" y="2148840"/>
            <a:ext cx="3337560" cy="412320"/>
          </a:xfrm>
          <a:prstGeom prst="rect">
            <a:avLst/>
          </a:prstGeom>
        </p:spPr>
      </p:pic>
      <p:pic>
        <p:nvPicPr>
          <p:cNvPr id="15" name="Image 3" descr="m_L6-7/kc9b28da577.png">    </p:cNvPr>
          <p:cNvPicPr>
            <a:picLocks noChangeAspect="1"/>
          </p:cNvPicPr>
          <p:nvPr/>
        </p:nvPicPr>
        <p:blipFill>
          <a:blip r:embed="rId4"/>
          <a:stretch>
            <a:fillRect/>
          </a:stretch>
        </p:blipFill>
        <p:spPr>
          <a:xfrm>
            <a:off x="1171346" y="2652600"/>
            <a:ext cx="2183587" cy="608990"/>
          </a:xfrm>
          <a:prstGeom prst="rect">
            <a:avLst/>
          </a:prstGeom>
        </p:spPr>
      </p:pic>
      <p:sp>
        <p:nvSpPr>
          <p:cNvPr id="16" name="Text 9"/>
          <p:cNvSpPr txBox="1"/>
          <p:nvPr/>
        </p:nvSpPr>
        <p:spPr>
          <a:xfrm>
            <a:off x="685800" y="344447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71879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6-7/k0484e31302.png">    </p:cNvPr>
          <p:cNvPicPr>
            <a:picLocks noChangeAspect="1"/>
          </p:cNvPicPr>
          <p:nvPr/>
        </p:nvPicPr>
        <p:blipFill>
          <a:blip r:embed="rId5"/>
          <a:stretch>
            <a:fillRect/>
          </a:stretch>
        </p:blipFill>
        <p:spPr>
          <a:xfrm>
            <a:off x="1097280" y="3718790"/>
            <a:ext cx="1647383" cy="605699"/>
          </a:xfrm>
          <a:prstGeom prst="rect">
            <a:avLst/>
          </a:prstGeom>
        </p:spPr>
      </p:pic>
      <p:sp>
        <p:nvSpPr>
          <p:cNvPr id="19" name="Text 11"/>
          <p:cNvSpPr txBox="1"/>
          <p:nvPr/>
        </p:nvSpPr>
        <p:spPr>
          <a:xfrm>
            <a:off x="685800" y="4521353"/>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6-7/kcb0b63a0b8.png">    </p:cNvPr>
          <p:cNvPicPr>
            <a:picLocks noChangeAspect="1"/>
          </p:cNvPicPr>
          <p:nvPr/>
        </p:nvPicPr>
        <p:blipFill>
          <a:blip r:embed="rId6"/>
          <a:stretch>
            <a:fillRect/>
          </a:stretch>
        </p:blipFill>
        <p:spPr>
          <a:xfrm>
            <a:off x="1097280" y="4521353"/>
            <a:ext cx="945124" cy="286756"/>
          </a:xfrm>
          <a:prstGeom prst="rect">
            <a:avLst/>
          </a:prstGeom>
        </p:spPr>
      </p:pic>
      <p:sp>
        <p:nvSpPr>
          <p:cNvPr id="21" name="Text 12"/>
          <p:cNvSpPr txBox="1"/>
          <p:nvPr/>
        </p:nvSpPr>
        <p:spPr>
          <a:xfrm>
            <a:off x="685800" y="5323917"/>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6-7/kc247d67c55.png">    </p:cNvPr>
          <p:cNvPicPr>
            <a:picLocks noChangeAspect="1"/>
          </p:cNvPicPr>
          <p:nvPr/>
        </p:nvPicPr>
        <p:blipFill>
          <a:blip r:embed="rId7"/>
          <a:stretch>
            <a:fillRect/>
          </a:stretch>
        </p:blipFill>
        <p:spPr>
          <a:xfrm>
            <a:off x="1097280" y="5323917"/>
            <a:ext cx="670072" cy="219456"/>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6-7/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6-7/kb313aa6e9f.png">    </p:cNvPr>
          <p:cNvPicPr>
            <a:picLocks noChangeAspect="1"/>
          </p:cNvPicPr>
          <p:nvPr/>
        </p:nvPicPr>
        <p:blipFill>
          <a:blip r:embed="rId9"/>
          <a:stretch>
            <a:fillRect/>
          </a:stretch>
        </p:blipFill>
        <p:spPr>
          <a:xfrm>
            <a:off x="4631436" y="2500884"/>
            <a:ext cx="2852928" cy="608990"/>
          </a:xfrm>
          <a:prstGeom prst="rect">
            <a:avLst/>
          </a:prstGeom>
        </p:spPr>
      </p:pic>
      <p:sp>
        <p:nvSpPr>
          <p:cNvPr id="28" name="Text 16"/>
          <p:cNvSpPr txBox="1"/>
          <p:nvPr/>
        </p:nvSpPr>
        <p:spPr>
          <a:xfrm>
            <a:off x="4480560" y="3292754"/>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7074"/>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6-7/kea61502d45.png">    </p:cNvPr>
          <p:cNvPicPr>
            <a:picLocks noChangeAspect="1"/>
          </p:cNvPicPr>
          <p:nvPr/>
        </p:nvPicPr>
        <p:blipFill>
          <a:blip r:embed="rId10"/>
          <a:stretch>
            <a:fillRect/>
          </a:stretch>
        </p:blipFill>
        <p:spPr>
          <a:xfrm>
            <a:off x="4892040" y="3567074"/>
            <a:ext cx="1334292" cy="266273"/>
          </a:xfrm>
          <a:prstGeom prst="rect">
            <a:avLst/>
          </a:prstGeom>
        </p:spPr>
      </p:pic>
      <p:sp>
        <p:nvSpPr>
          <p:cNvPr id="31" name="Text 18"/>
          <p:cNvSpPr txBox="1"/>
          <p:nvPr/>
        </p:nvSpPr>
        <p:spPr>
          <a:xfrm>
            <a:off x="4480560" y="442021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6-7/k73edfea37c.png">    </p:cNvPr>
          <p:cNvPicPr>
            <a:picLocks noChangeAspect="1"/>
          </p:cNvPicPr>
          <p:nvPr/>
        </p:nvPicPr>
        <p:blipFill>
          <a:blip r:embed="rId11"/>
          <a:stretch>
            <a:fillRect/>
          </a:stretch>
        </p:blipFill>
        <p:spPr>
          <a:xfrm>
            <a:off x="4892040" y="4420210"/>
            <a:ext cx="2834640" cy="232756"/>
          </a:xfrm>
          <a:prstGeom prst="rect">
            <a:avLst/>
          </a:prstGeom>
        </p:spPr>
      </p:pic>
      <p:sp>
        <p:nvSpPr>
          <p:cNvPr id="33" name="Text 19"/>
          <p:cNvSpPr txBox="1"/>
          <p:nvPr/>
        </p:nvSpPr>
        <p:spPr>
          <a:xfrm>
            <a:off x="4480560" y="5273345"/>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6-7/k5cda34698a.png">    </p:cNvPr>
          <p:cNvPicPr>
            <a:picLocks noChangeAspect="1"/>
          </p:cNvPicPr>
          <p:nvPr/>
        </p:nvPicPr>
        <p:blipFill>
          <a:blip r:embed="rId12"/>
          <a:stretch>
            <a:fillRect/>
          </a:stretch>
        </p:blipFill>
        <p:spPr>
          <a:xfrm>
            <a:off x="4892040" y="5273345"/>
            <a:ext cx="2460833"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6-7/k79863e2936.png">    </p:cNvPr>
          <p:cNvPicPr>
            <a:picLocks noChangeAspect="1"/>
          </p:cNvPicPr>
          <p:nvPr/>
        </p:nvPicPr>
        <p:blipFill>
          <a:blip r:embed="rId13"/>
          <a:stretch>
            <a:fillRect/>
          </a:stretch>
        </p:blipFill>
        <p:spPr>
          <a:xfrm>
            <a:off x="8337042" y="2148840"/>
            <a:ext cx="3031236" cy="285293"/>
          </a:xfrm>
          <a:prstGeom prst="rect">
            <a:avLst/>
          </a:prstGeom>
        </p:spPr>
      </p:pic>
      <p:pic>
        <p:nvPicPr>
          <p:cNvPr id="39" name="Image 13" descr="m_L6-7/k0eceab7f3a.png">    </p:cNvPr>
          <p:cNvPicPr>
            <a:picLocks noChangeAspect="1"/>
          </p:cNvPicPr>
          <p:nvPr/>
        </p:nvPicPr>
        <p:blipFill>
          <a:blip r:embed="rId14"/>
          <a:stretch>
            <a:fillRect/>
          </a:stretch>
        </p:blipFill>
        <p:spPr>
          <a:xfrm>
            <a:off x="9445295" y="2525573"/>
            <a:ext cx="814730" cy="249631"/>
          </a:xfrm>
          <a:prstGeom prst="rect">
            <a:avLst/>
          </a:prstGeom>
        </p:spPr>
      </p:pic>
      <p:sp>
        <p:nvSpPr>
          <p:cNvPr id="40"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1"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2" name="Image 14" descr="m_L6-7/k421e4558eb.png">    </p:cNvPr>
          <p:cNvPicPr>
            <a:picLocks noChangeAspect="1"/>
          </p:cNvPicPr>
          <p:nvPr/>
        </p:nvPicPr>
        <p:blipFill>
          <a:blip r:embed="rId15"/>
          <a:stretch>
            <a:fillRect/>
          </a:stretch>
        </p:blipFill>
        <p:spPr>
          <a:xfrm>
            <a:off x="8686800" y="3566160"/>
            <a:ext cx="2247229" cy="550103"/>
          </a:xfrm>
          <a:prstGeom prst="rect">
            <a:avLst/>
          </a:prstGeom>
        </p:spPr>
      </p:pic>
      <p:sp>
        <p:nvSpPr>
          <p:cNvPr id="43"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4" name="Image 15" descr="m_L6-7/k3357f8a157.png">    </p:cNvPr>
          <p:cNvPicPr>
            <a:picLocks noChangeAspect="1"/>
          </p:cNvPicPr>
          <p:nvPr/>
        </p:nvPicPr>
        <p:blipFill>
          <a:blip r:embed="rId16"/>
          <a:stretch>
            <a:fillRect/>
          </a:stretch>
        </p:blipFill>
        <p:spPr>
          <a:xfrm>
            <a:off x="8686800" y="4419600"/>
            <a:ext cx="1328440" cy="550103"/>
          </a:xfrm>
          <a:prstGeom prst="rect">
            <a:avLst/>
          </a:prstGeom>
        </p:spPr>
      </p:pic>
      <p:sp>
        <p:nvSpPr>
          <p:cNvPr id="45"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6" name="Image 16" descr="m_L6-7/k067144e23a.png">    </p:cNvPr>
          <p:cNvPicPr>
            <a:picLocks noChangeAspect="1"/>
          </p:cNvPicPr>
          <p:nvPr/>
        </p:nvPicPr>
        <p:blipFill>
          <a:blip r:embed="rId17"/>
          <a:stretch>
            <a:fillRect/>
          </a:stretch>
        </p:blipFill>
        <p:spPr>
          <a:xfrm>
            <a:off x="8686800" y="5273040"/>
            <a:ext cx="2194560" cy="3540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geometric sequence multiplies by a constant ratio; a geometric series adds its terms, and when the ratio is not 1 the sum has a closed formula.</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6-7 Geometric Sequences and Series presentation</dc:title>
  <dc:subject>PptxGenJS Presentation</dc:subject>
  <dc:creator>Mr Malek Thiab</dc:creator>
  <cp:lastModifiedBy>Mr Malek Thiab</cp:lastModifiedBy>
  <cp:revision>1</cp:revision>
  <dcterms:created xsi:type="dcterms:W3CDTF">2026-10-13T04:37:32Z</dcterms:created>
  <dcterms:modified xsi:type="dcterms:W3CDTF">2026-10-13T04:37:32Z</dcterms:modified>
</cp:coreProperties>
</file>