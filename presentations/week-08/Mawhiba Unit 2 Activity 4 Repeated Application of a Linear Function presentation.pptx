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One 40-minute session, one activity. Crews of four lead; you facilitate with questions and do not explain results. Timings: Task 1 in 10 minutes (0 to 10), Task 2 in 10 (10 to 20), Task 3 in 10 (20 to 30), Apply 5 (30 to 35), Present and record 5 (35 to 40). Hand out the worksheet at the door and make sure each crew can open a spreadsheet or graph plotter (the Guide wants students to choose their own tools). Source: Unit 2 Activity 4, Student Book p.20 and Teachers' Guide pp.34-36. The printed Student Book lost the fraction in the function; it is f(x) = 0.5x + 3, confirmed by the Guide's own sequences.
Worked solution: none needed here.
Verbal misconceptions: students may say 'this is a new topic'. It is not: it is composite functions (Activity 2) used again and again.
Adaptive routing: if fewer than half the crews have a spreadsheet running by minute 3, put one crew's screen on the board and let the others copy the fill-down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Show the map and let a student read the five stations aloud. Stations 1 to 3 are Tasks 1 to 3 of the worksheet, Station 4 is the nursery model, Station 5 is the Mawhiba record. In slideshow mode the Morph transition animates the circles into the breadcrumb; without Morph the slides fade.
Worked solution: none.
Verbal misconceptions: none expected at this point.
Adaptive routing: if the class has met all of Activities 1 to 3, skip the recap of ff(x) meaning 'apply twice' and go straight to Station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Left card is the Unit 2 learning objectives and right card is the Advanced performance characteristics the Guide lists for this activity, both quoted from the books. Let a student read each aloud. At the end crews say what they did for each.
Worked solution: none.
Verbal misconceptions: 'proof' sounds like something only for geometry. Say that an explanation that works for every start value is the proof here.
Adaptive routing: none at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Form crews of 4 before the session. Roles rotate at every task. The teacher answers only after the crew has used the stuck ladder. The six Mawhiba values (inquiry, risk taking, creativity, perseverance, collaboration, concern for society) are recorded on the last station.
Worked solution: none.
Verbal misconceptions: 'Grapher only draws, Algebraist only calculates'. Roles rotate so everyone does both.
Adaptive routing: if a crew has three students, the Checker also acts as Reporter.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(minutes 0 to 10; checkpoint minute 10). The function is f(x) = 0.5x + 3. Spreadsheet: type the start in A1, type the rule using A1 in A2, fill down. The Guide: 'They will notice that the sequence tends towards the value 6, from below or above. They should also note that when x = 6, f(x) = 6, so that all terms in the sequence are 6.'
Worked solution (exact, checked): start 1: 1, 3.5, 4.75, 5.375, 5.6875, 5.84375, 5.921875, 5.9609375, 5.98046875. Start 2: 2, 4, 5, 5.5, 5.75, 5.875, 5.9375, 5.96875, 5.984375. Start 9: 9, 7.5, 6.75, 6.375, 6.1875, 6.09375, 6.046875, 6.0234375, 6.01171875. Start 6: 6, 6, 6, 6, 6, 6, 6, 6, 6. Every step halves the distance to 6: from 1 the gaps are 5, 2.5, 1.25, 0.625; from 9 the gaps are 3, 1.5, 0.75, 0.375. The terms never reach 6 exactly, but get as close as you like.
Verbal misconceptions: (1) 'ff(1) means f(1) times f(1)' or '2 times f(1)': it means apply f to the answer f(1). (2) 'The sequence goes up because we keep adding 3': from 9 it goes DOWN, the 0.5 shrinks it. (3) 'Different starts give different limits': all give 6.
Adaptive routing: if more than a third of crews cannot produce term 3 for start 1 by minute 4, show the fill-down step for one minute. If a crew finishes by minute 6, send it to Investigate: try start 6, start -10 and start 100 and compare how fast each settles.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(minutes 10 to 20; checkpoint minute 20 for the graph). Task: 'Write down and simplify expressions for the functions f(x), ff(x), fff(x) and ffff(x). Plot their graphs on one set of axes.'
Worked solution: f(x) = 0.5x + 3. ff(x) = 0.5(0.5x + 3) + 3 = 0.25x + 4.5. fff(x) = 0.5(0.25x + 4.5) + 3 = 0.125x + 5.25. ffff(x) = 0.5(0.125x + 5.25) + 3 = 0.0625x + 5.625 (the Guide prints 5.625; its text layer cuts it to '625'). Each line can be written y - 6 = 0.5(x - 6), y - 6 = 0.25(x - 6), y - 6 = 0.125(x - 6), y - 6 = 0.0625(x - 6): all pass through (6, 6) with a gradient that halves each time. The limiting case is the horizontal line y = 6. Why f(x) = x gives the limit: the limit L must satisfy f(L) = L, because applying f to a value that is already the limit changes nothing. 0.5x + 3 = x gives x = 6. On the graph, (6, 6) is where y = f(x) meets y = x.
Verbal misconceptions: (1) ff(x) = (0.5x + 3)(0.5x + 3) or 0.25x + 3: the 3 inside must also be halved (0.5 times 3 is 1.5, plus 3 is 4.5). (2) 'The graphs are parallel': the gradients are 0.5, 0.25, 0.125, 0.0625, so they are not. (3) 'f(x) = x is a graph': it is an equation we solve to find where the two graphs cross.
Adaptive routing: if more than 30 percent of crews write ff(x) = 0.25x + 3, pause and have the Checker substitute x = 2: f(2) = 4, ff(2) = 5, and 0.25(2) + 3 = 3.5 does not match, while 0.25(2) + 4.5 = 5 does. Crews who finish early plot y = x and mark (6,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(self-check, minutes 18 to 20). Reveal after crews have their own graphs; ask them to compare, not copy. The figure shows y = f(x), ff(x), fff(x), ffff(x), the dashed line y = x and (6, 6). The gold dots on the vertical dotted line through 1 are the Task 1 terms: f(1) = 3.5, ff(1) = 4.75, fff(1) = 5.375, ffff(1) = 5.6875. The white dot is the start value 1 on y = x. The Guide: 'Points of intersection with the line x = 1 represent values of the terms in the sequence, first calculated in task 1.'
Worked solution: read upward along x = 1 to each line in turn and compare with the spreadsheet column.
Verbal misconceptions: 'ffff is almost flat so it equals 6': no finite number of steps reaches y = 6; the horizontal line is the limiting case. 'The graphs cross y = x at different places': they all cross it at (6, 6).
Adaptive routing: if a crew's lines do not meet at one point, send them back to the algebra for the line that is off; the Checker tests that line at x = 6, where every one of these functions must give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(minutes 20 to 27). Task: 'Investigate the sequence x, f(x), f²(x), f³(x), ... for other linear functions. Explain any general results that you find.' Each crew member takes two cards; the Guide suggests a group of three or four, each exploring one or two functions, then pooling. The eight cards cover every case.
Worked solution (one sample start each; students may choose others): A: f(x) = 2x + 1, start 1: 1, 3, 7, 15, 31, 63, 127; fixed value -1; moves away from the fixed value, getting faster | B: f(x) = x + 3, start 1: 1, 4, 7, 10, 13, 16, 19; no fixed value (c is not 0); arithmetic sequence, common difference 3 | C: f(x) = 0.25x + 3, start 8: 8, 5, 4.25, 4.0625, 4.015625, 4.00390625, 4.0009765625; fixed value 4; settles on the fixed value | D: f(x) = 0.75x + 2, start 4: 4, 5, 5.75, 6.3125, 6.734375, 7.05078125, 7.2880859375; fixed value 8; settles on the fixed value | E: f(x) = -0.5x + 6, start 2: 2, 5, 3.5, 4.25, 3.875, 4.0625, 3.96875; fixed value 4; settles on the fixed value | F: f(x) = -x + 5, start 1: 1, 4, 1, 4, 1, 4, 1; fixed value 2.5; repeats two values forever | G: f(x) = -2x + 3, start 2: 2, -1, 5, -7, 17, -31, 65; fixed value 1; jumps from side to side, further out each time | H: f(x) = 2x - 4, start 5: 5, 6, 8, 12, 20, 36, 68; fixed value 4; moves away from the fixed value, getting faster. Guide's results for f(x) = mx + c: if m &gt; 1 the sequence increases in a non-linear way; if m = 1 it is an arithmetic sequence with common difference c; if m &lt; 1 it converges to the value given by mx + c = x, that is c divided by (1 - m). What students will find beyond the Guide's three lines: the Guide's 'm &lt; 1' only holds when m is greater than -1. Card F (m = -1) repeats two values; card G (m less than -1) alternates and grows. Also m &gt; 1 only increases if the start is above the fixed value: card H from 3 gives 2, 0, -4, -12 (moves away downward), and from 4 stays at 4. This is a correction to widen the Guide, flagged for you.
Verbal misconceptions: (1) 'Negative gradient means it goes down': it jumps either side of the fixed value. (2) 'No limit means nothing happens': card F cycles, card G explodes. (3) 'Every linear function has a fixed value': card B (m = 1, c not 0) has none.
Adaptive routing: if after 5 minutes crews have only sorted by 'goes up or down', ask which cards settle and which do not, then what is the same about their gradients. If a crew finishes both cards early, hand them the next letter in the alphabet.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(minutes 27 to 30). The Guide suggests exploring the general form of the function rather than generalising from particular cases (this is the Investigate route). It is for crews that already have a pattern from the cards.
Worked solution: f(x) = mx + c. f²(x) = m(mx + c) + c = m²x + (1 + m)c. f³(x) = m(m²x + (1 + m)c) + c = m³x + (1 + m + m²)c. f⁴(x) = m⁴x + (1 + m + m² + m³)c. In general fⁿ(x) = mⁿ x + (1 + m + m² + ... + mⁿ⁻¹)c. If |m| &lt; 1 then mⁿ tends to 0 as n grows, so the terms approach (1 + m + m² + ...)c. The Guide: 'It may be beyond students' current level of knowledge that the bracketed expression is a geometric series... The teacher will need to judge whether it would be appropriate to discuss this series.' Its sum is 1 divided by (1 - m), giving c divided by (1 - m), the same fixed value found from mx + c = x. Check with the function from Task 1 (m = 0.5, c = 3): f²(x) = 0.25x + 4.5, matching Task 2. Equivalent compact form: fⁿ(x) = mⁿ (x - p) + p where p = c divided by (1 - m); for card D (m = 0.75, p = 8) start 4 gives 8 - 4(0.75)ⁿ, so the gap to 8 shrinks by 0.75 each time.
Verbal misconceptions: (1) f²(x) = (mx + c)2 or m²x + c: the second application multiplies c by m again. (2) 'The pattern in c is just c, 2c, 3c': that is only true when m = 1. (3) Students write mⁿ x + c(1 + m + ... ) without noticing the brackets are a sum of n terms.
Adaptive routing: if a crew cannot expand f² after 2 minutes, give the line 'put mx + c in place of x in mx + c'. If a crew finishes, ask what changes if the start value is exactly the fixed value, and prove it with their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(minutes 30 to 35). Model values: the figures (20 percent lost each year, 500 planted, 1000 to start) are illustrative and not real nursery data; the context is inspired by tree-planting under the Saudi Green Initiative. f(n) = 0.8n + 500, where n is the number of saplings now and f(n) the number next year.
Worked solution: from 1000: 1000, 1300, 1540, 1732 after 1, 2 and 3 years (1300 = 0.8 times 1000 + 500; 1540 = 0.8 times 1300 + 500; 1732 = 0.8 times 1540 + 500). Long run: solve 0.8n + 500 = n, so 500 = 0.2n and n = 2500; from below the numbers rise towards 2500, from above they fall: from 4000 the next terms are 3700, 3460, 3268. With 10 percent lost: f(n) = 0.9n + 500, long run 500 divided by 0.1 = 5000; from 1000 the next terms are 1400, 1760, 2084. Predicting 5000 uses the Task 3 result c divided by (1 - m).
Verbal misconceptions: (1) '20 percent lost means multiply by 0.2': 80 percent are kept so the gradient is 0.8. (2) 'The nursery will keep growing because 500 are added every year': the loss grows with the stock until it balances the 500 (0.2 times 2500 = 500). (3) 'A bigger start gives a bigger long-run number': the long-run number does not depend on the start.
Adaptive routing: if crews are slow on question 1, show that each year is one more application of f. If crews finish, ask which loss rate would make the long run 10000 (5 percent: 500 divided by 0.05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(minutes 35 to 40). One crew Reporter shows a result from Task 2 and one from Task 3 or the nursery, 1 minute each. Another crew asks one question; the Checker answers. Everyone then ticks the Mawhiba value they showed and writes one example; students keep the record with their cumulative Mawhiba record.
Worked solution: model answers to listen for: 'the terms close in on 6 because each step halves the distance'; 'the limit solves f(x) = x'; 'when the gradient is between -1 and 1 the terms settle, otherwise they do not'.
Verbal misconceptions: crews may report a table without explaining it. Prompt: 'Why does that happen?'
Adaptive routing: if time is short, cut the second report and keep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Four checks, one per task. Students tick each when they can show evidence. Task 1: three tables and the number 6 reached from both sides. Task 2: simplified functions, the graph and the explanation that f(6) = 6. Task 3: sorted cards and a tested formula. Apply: 2500 and why the start does not matter.
Worked solution: see the notes on the Task 1 to Apply slides.
Verbal misconceptions: a tick without evidence. Ask each student to point to the line in their work that proves it.
Adaptive routing: any crew with an unticked box takes that task home as the first item of next week's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Close with the one idea: keep applying a linear function and the terms head for the value the function maps onto itself, provided the gradient lies between -1 and 1. Next session continues Unit 3.
Worked solution: for f(x) = 0.5x + 3 the limit is 6, from 0.5x + 3 = x.
Verbal misconceptions: 'every sequence settles'. Only gradients strictly between -1 and 1.
Adaptive routing: collect worksheets from crews that did not finish; they continue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MAWHIBA  ·  GRADE 9  ·  WEEK 8</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Unit 2 · Activity 4</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5000" b="1" dirty="0">
                <a:solidFill>
                  <a:srgbClr val="1F3864"/>
                </a:solidFill>
                <a:latin typeface="Cambria" pitchFamily="34" charset="0"/>
                <a:ea typeface="Cambria" pitchFamily="34" charset="-122"/>
                <a:cs typeface="Cambria" pitchFamily="34" charset="-120"/>
              </a:rPr>
              <a:t>Repeated</a:t>
            </a:r>
            <a:endParaRPr lang="en-US" sz="5000" dirty="0"/>
          </a:p>
          <a:p>
            <a:pPr indent="0" marL="0">
              <a:buNone/>
            </a:pPr>
            <a:r>
              <a:rPr lang="en-US" sz="5000" b="1" dirty="0">
                <a:solidFill>
                  <a:srgbClr val="1F3864"/>
                </a:solidFill>
                <a:latin typeface="Cambria" pitchFamily="34" charset="0"/>
                <a:ea typeface="Cambria" pitchFamily="34" charset="-122"/>
                <a:cs typeface="Cambria" pitchFamily="34" charset="-120"/>
              </a:rPr>
              <a:t>Linear Functions</a:t>
            </a:r>
            <a:endParaRPr lang="en-US" sz="5000" dirty="0"/>
          </a:p>
        </p:txBody>
      </p:sp>
      <p:sp>
        <p:nvSpPr>
          <p:cNvPr id="11" name="Text 6"/>
          <p:cNvSpPr txBox="1"/>
          <p:nvPr/>
        </p:nvSpPr>
        <p:spPr>
          <a:xfrm>
            <a:off x="640080" y="4526280"/>
            <a:ext cx="5852160" cy="68580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Sequences generated by repeated application of a linear function</a:t>
            </a:r>
            <a:endParaRPr lang="en-US" sz="1800" dirty="0"/>
          </a:p>
        </p:txBody>
      </p:sp>
      <p:sp>
        <p:nvSpPr>
          <p:cNvPr id="12" name="Text 7"/>
          <p:cNvSpPr txBox="1"/>
          <p:nvPr/>
        </p:nvSpPr>
        <p:spPr>
          <a:xfrm>
            <a:off x="640080" y="534924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w8/fdef_w.png">    </p:cNvPr>
          <p:cNvPicPr>
            <a:picLocks noChangeAspect="1"/>
          </p:cNvPicPr>
          <p:nvPr/>
        </p:nvPicPr>
        <p:blipFill>
          <a:blip r:embed="rId4"/>
          <a:stretch>
            <a:fillRect/>
          </a:stretch>
        </p:blipFill>
        <p:spPr>
          <a:xfrm>
            <a:off x="9021562" y="3017520"/>
            <a:ext cx="2073676" cy="715061"/>
          </a:xfrm>
          <a:prstGeom prst="rect">
            <a:avLst/>
          </a:prstGeom>
        </p:spPr>
      </p:pic>
      <p:sp>
        <p:nvSpPr>
          <p:cNvPr id="14" name="Text 8"/>
          <p:cNvSpPr txBox="1"/>
          <p:nvPr/>
        </p:nvSpPr>
        <p:spPr>
          <a:xfrm>
            <a:off x="7863840" y="4023360"/>
            <a:ext cx="438912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Your crew leads. Your teacher facilitates.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Your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Five stations, 40 minutes, ending with the Mawhiba record. Each one zooms in as you arrive.</a:t>
            </a:r>
            <a:endParaRPr lang="en-US" sz="1800" dirty="0"/>
          </a:p>
        </p:txBody>
      </p:sp>
      <p:sp>
        <p:nvSpPr>
          <p:cNvPr id="8" name="path1"/>
          <p:cNvSpPr/>
          <p:nvPr/>
        </p:nvSpPr>
        <p:spPr>
          <a:xfrm flipV="1">
            <a:off x="1371600" y="3200400"/>
            <a:ext cx="2491740" cy="1097280"/>
          </a:xfrm>
          <a:prstGeom prst="line">
            <a:avLst/>
          </a:prstGeom>
          <a:noFill/>
          <a:ln w="38100">
            <a:solidFill>
              <a:srgbClr val="F0B323"/>
            </a:solidFill>
            <a:prstDash val="dash"/>
          </a:ln>
        </p:spPr>
      </p:sp>
      <p:sp>
        <p:nvSpPr>
          <p:cNvPr id="9" name="path2"/>
          <p:cNvSpPr/>
          <p:nvPr/>
        </p:nvSpPr>
        <p:spPr>
          <a:xfrm>
            <a:off x="3863340" y="3200400"/>
            <a:ext cx="2491740" cy="1097280"/>
          </a:xfrm>
          <a:prstGeom prst="line">
            <a:avLst/>
          </a:prstGeom>
          <a:noFill/>
          <a:ln w="38100">
            <a:solidFill>
              <a:srgbClr val="F0B323"/>
            </a:solidFill>
            <a:prstDash val="dash"/>
          </a:ln>
        </p:spPr>
      </p:sp>
      <p:sp>
        <p:nvSpPr>
          <p:cNvPr id="10" name="path3"/>
          <p:cNvSpPr/>
          <p:nvPr/>
        </p:nvSpPr>
        <p:spPr>
          <a:xfrm flipV="1">
            <a:off x="6355080" y="3200400"/>
            <a:ext cx="2491740" cy="1097280"/>
          </a:xfrm>
          <a:prstGeom prst="line">
            <a:avLst/>
          </a:prstGeom>
          <a:noFill/>
          <a:ln w="38100">
            <a:solidFill>
              <a:srgbClr val="F0B323"/>
            </a:solidFill>
            <a:prstDash val="dash"/>
          </a:ln>
        </p:spPr>
      </p:sp>
      <p:sp>
        <p:nvSpPr>
          <p:cNvPr id="11" name="path4"/>
          <p:cNvSpPr/>
          <p:nvPr/>
        </p:nvSpPr>
        <p:spPr>
          <a:xfrm>
            <a:off x="8846820" y="3200400"/>
            <a:ext cx="249174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4" name="Text 10"/>
          <p:cNvSpPr txBox="1"/>
          <p:nvPr/>
        </p:nvSpPr>
        <p:spPr>
          <a:xfrm>
            <a:off x="365760" y="5070348"/>
            <a:ext cx="2011680" cy="73152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Start at 1</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10 min</a:t>
            </a:r>
            <a:endParaRPr lang="en-US" sz="1600" dirty="0"/>
          </a:p>
        </p:txBody>
      </p:sp>
      <p:sp>
        <p:nvSpPr>
          <p:cNvPr id="15" name="stn2"/>
          <p:cNvSpPr/>
          <p:nvPr/>
        </p:nvSpPr>
        <p:spPr>
          <a:xfrm>
            <a:off x="3200400" y="2537460"/>
            <a:ext cx="1325880" cy="1325880"/>
          </a:xfrm>
          <a:prstGeom prst="ellipse">
            <a:avLst/>
          </a:prstGeom>
          <a:solidFill>
            <a:srgbClr val="17A199"/>
          </a:solidFill>
          <a:ln w="38100">
            <a:solidFill>
              <a:srgbClr val="FFFFFF"/>
            </a:solidFill>
            <a:prstDash val="solid"/>
          </a:ln>
        </p:spPr>
      </p:sp>
      <p:sp>
        <p:nvSpPr>
          <p:cNvPr id="16" name="Text 12"/>
          <p:cNvSpPr txBox="1"/>
          <p:nvPr/>
        </p:nvSpPr>
        <p:spPr>
          <a:xfrm>
            <a:off x="349758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7" name="Text 13"/>
          <p:cNvSpPr txBox="1"/>
          <p:nvPr/>
        </p:nvSpPr>
        <p:spPr>
          <a:xfrm>
            <a:off x="2857500" y="1668780"/>
            <a:ext cx="2011680" cy="73152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Graph it</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10 min</a:t>
            </a:r>
            <a:endParaRPr lang="en-US" sz="1600" dirty="0"/>
          </a:p>
        </p:txBody>
      </p:sp>
      <p:sp>
        <p:nvSpPr>
          <p:cNvPr id="18" name="stn3"/>
          <p:cNvSpPr/>
          <p:nvPr/>
        </p:nvSpPr>
        <p:spPr>
          <a:xfrm>
            <a:off x="5692140" y="3634740"/>
            <a:ext cx="1325880" cy="1325880"/>
          </a:xfrm>
          <a:prstGeom prst="ellipse">
            <a:avLst/>
          </a:prstGeom>
          <a:solidFill>
            <a:srgbClr val="17A199"/>
          </a:solidFill>
          <a:ln w="38100">
            <a:solidFill>
              <a:srgbClr val="FFFFFF"/>
            </a:solidFill>
            <a:prstDash val="solid"/>
          </a:ln>
        </p:spPr>
      </p:sp>
      <p:sp>
        <p:nvSpPr>
          <p:cNvPr id="19" name="Text 15"/>
          <p:cNvSpPr txBox="1"/>
          <p:nvPr/>
        </p:nvSpPr>
        <p:spPr>
          <a:xfrm>
            <a:off x="598932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0" name="Text 16"/>
          <p:cNvSpPr txBox="1"/>
          <p:nvPr/>
        </p:nvSpPr>
        <p:spPr>
          <a:xfrm>
            <a:off x="5349240" y="5070348"/>
            <a:ext cx="2011680" cy="73152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Investigate</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10 min</a:t>
            </a:r>
            <a:endParaRPr lang="en-US" sz="1600" dirty="0"/>
          </a:p>
        </p:txBody>
      </p:sp>
      <p:sp>
        <p:nvSpPr>
          <p:cNvPr id="21" name="stn4"/>
          <p:cNvSpPr/>
          <p:nvPr/>
        </p:nvSpPr>
        <p:spPr>
          <a:xfrm>
            <a:off x="8183880" y="2537460"/>
            <a:ext cx="1325880" cy="1325880"/>
          </a:xfrm>
          <a:prstGeom prst="ellipse">
            <a:avLst/>
          </a:prstGeom>
          <a:solidFill>
            <a:srgbClr val="17A199"/>
          </a:solidFill>
          <a:ln w="38100">
            <a:solidFill>
              <a:srgbClr val="FFFFFF"/>
            </a:solidFill>
            <a:prstDash val="solid"/>
          </a:ln>
        </p:spPr>
      </p:sp>
      <p:sp>
        <p:nvSpPr>
          <p:cNvPr id="22" name="Text 18"/>
          <p:cNvSpPr txBox="1"/>
          <p:nvPr/>
        </p:nvSpPr>
        <p:spPr>
          <a:xfrm>
            <a:off x="848106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3" name="Text 19"/>
          <p:cNvSpPr txBox="1"/>
          <p:nvPr/>
        </p:nvSpPr>
        <p:spPr>
          <a:xfrm>
            <a:off x="7840980" y="1668780"/>
            <a:ext cx="2011680" cy="73152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Apply</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5 min</a:t>
            </a:r>
            <a:endParaRPr lang="en-US" sz="1600" dirty="0"/>
          </a:p>
        </p:txBody>
      </p:sp>
      <p:sp>
        <p:nvSpPr>
          <p:cNvPr id="24" name="stn5"/>
          <p:cNvSpPr/>
          <p:nvPr/>
        </p:nvSpPr>
        <p:spPr>
          <a:xfrm>
            <a:off x="10675620" y="3634740"/>
            <a:ext cx="1325880" cy="1325880"/>
          </a:xfrm>
          <a:prstGeom prst="ellipse">
            <a:avLst/>
          </a:prstGeom>
          <a:solidFill>
            <a:srgbClr val="17A199"/>
          </a:solidFill>
          <a:ln w="38100">
            <a:solidFill>
              <a:srgbClr val="FFFFFF"/>
            </a:solidFill>
            <a:prstDash val="solid"/>
          </a:ln>
        </p:spPr>
      </p:sp>
      <p:sp>
        <p:nvSpPr>
          <p:cNvPr id="25" name="Text 21"/>
          <p:cNvSpPr txBox="1"/>
          <p:nvPr/>
        </p:nvSpPr>
        <p:spPr>
          <a:xfrm>
            <a:off x="1097280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6" name="Text 22"/>
          <p:cNvSpPr txBox="1"/>
          <p:nvPr/>
        </p:nvSpPr>
        <p:spPr>
          <a:xfrm>
            <a:off x="10332720" y="5070348"/>
            <a:ext cx="2011680" cy="73152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Present</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5 min</a:t>
            </a:r>
            <a:endParaRPr lang="en-US" sz="1600" dirty="0"/>
          </a:p>
        </p:txBody>
      </p:sp>
      <p:sp>
        <p:nvSpPr>
          <p:cNvPr id="27" name="Text 23"/>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8  ·  UNIT 2  ·  ACTIVITY 4</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this activity is for</a:t>
            </a:r>
            <a:endParaRPr lang="en-US" sz="3000" dirty="0"/>
          </a:p>
        </p:txBody>
      </p:sp>
      <p:sp>
        <p:nvSpPr>
          <p:cNvPr id="11" name="Shape 6"/>
          <p:cNvSpPr/>
          <p:nvPr/>
        </p:nvSpPr>
        <p:spPr>
          <a:xfrm>
            <a:off x="457200" y="1828800"/>
            <a:ext cx="5577840" cy="4480560"/>
          </a:xfrm>
          <a:prstGeom prst="roundRect">
            <a:avLst>
              <a:gd name="adj" fmla="val 2449"/>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920240"/>
            <a:ext cx="45720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UNIT 2 LEARNING OBJECTIVES</a:t>
            </a:r>
            <a:endParaRPr lang="en-US" sz="1100" dirty="0"/>
          </a:p>
        </p:txBody>
      </p:sp>
      <p:sp>
        <p:nvSpPr>
          <p:cNvPr id="13" name="Text 8"/>
          <p:cNvSpPr txBox="1"/>
          <p:nvPr/>
        </p:nvSpPr>
        <p:spPr>
          <a:xfrm>
            <a:off x="731520" y="2286000"/>
            <a:ext cx="5074920" cy="38404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222E2D"/>
                </a:solidFill>
                <a:latin typeface="Calibri" pitchFamily="34" charset="0"/>
                <a:ea typeface="Calibri" pitchFamily="34" charset="-122"/>
                <a:cs typeface="Calibri" pitchFamily="34" charset="-120"/>
              </a:rPr>
              <a:t>Identify the properties of linear functions and their graphs, including composite and inverse functions</a:t>
            </a:r>
            <a:endParaRPr lang="en-US" sz="1800" dirty="0"/>
          </a:p>
          <a:p>
            <a:pPr marL="342900" indent="-342900">
              <a:spcAft>
                <a:spcPts val="1400"/>
              </a:spcAft>
              <a:buSzPct val="100000"/>
              <a:buChar char="•"/>
            </a:pPr>
            <a:r>
              <a:rPr lang="en-US" sz="1800" dirty="0">
                <a:solidFill>
                  <a:srgbClr val="222E2D"/>
                </a:solidFill>
                <a:latin typeface="Calibri" pitchFamily="34" charset="0"/>
                <a:ea typeface="Calibri" pitchFamily="34" charset="-122"/>
                <a:cs typeface="Calibri" pitchFamily="34" charset="-120"/>
              </a:rPr>
              <a:t>Use geometrical and algebraic reasoning to express generalisations and prove results</a:t>
            </a:r>
            <a:endParaRPr lang="en-US" sz="1800" dirty="0"/>
          </a:p>
        </p:txBody>
      </p:sp>
      <p:sp>
        <p:nvSpPr>
          <p:cNvPr id="14" name="Shape 9"/>
          <p:cNvSpPr/>
          <p:nvPr/>
        </p:nvSpPr>
        <p:spPr>
          <a:xfrm>
            <a:off x="6217920" y="1828800"/>
            <a:ext cx="5486400" cy="4480560"/>
          </a:xfrm>
          <a:prstGeom prst="roundRect">
            <a:avLst>
              <a:gd name="adj" fmla="val 244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492240" y="1920240"/>
            <a:ext cx="5029200" cy="274320"/>
          </a:xfrm>
          <a:prstGeom prst="rect">
            <a:avLst/>
          </a:prstGeom>
          <a:noFill/>
          <a:ln/>
        </p:spPr>
        <p:txBody>
          <a:bodyPr wrap="square" lIns="0" tIns="0" rIns="0" bIns="0" rtlCol="0" anchor="t"/>
          <a:lstStyle/>
          <a:p>
            <a:pPr indent="0" marL="0">
              <a:buNone/>
            </a:pPr>
            <a:r>
              <a:rPr lang="en-US" sz="1200" b="1" spc="200" kern="0" dirty="0">
                <a:solidFill>
                  <a:srgbClr val="F0B323"/>
                </a:solidFill>
                <a:latin typeface="Calibri" pitchFamily="34" charset="0"/>
                <a:ea typeface="Calibri" pitchFamily="34" charset="-122"/>
                <a:cs typeface="Calibri" pitchFamily="34" charset="-120"/>
              </a:rPr>
              <a:t>ADVANCED PERFORMANCE CHARACTERISTICS</a:t>
            </a:r>
            <a:endParaRPr lang="en-US" sz="1200" dirty="0"/>
          </a:p>
        </p:txBody>
      </p:sp>
      <p:sp>
        <p:nvSpPr>
          <p:cNvPr id="16" name="Text 11"/>
          <p:cNvSpPr txBox="1"/>
          <p:nvPr/>
        </p:nvSpPr>
        <p:spPr>
          <a:xfrm>
            <a:off x="6492240" y="2286000"/>
            <a:ext cx="5029200" cy="38404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Reason with algebra and make links with geometrical representations</a:t>
            </a:r>
            <a:endParaRPr lang="en-US" sz="1800" dirty="0"/>
          </a:p>
          <a:p>
            <a:pPr marL="342900" indent="-3429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Appreciate the importance of mathematical explanation and proof</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8  ·  UNIT 2  ·  ACTIVITY 4</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Text 5"/>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How this session works: the Crew model</a:t>
            </a:r>
            <a:endParaRPr lang="en-US" sz="3000" dirty="0"/>
          </a:p>
        </p:txBody>
      </p:sp>
      <p:sp>
        <p:nvSpPr>
          <p:cNvPr id="11" name="Shape 6"/>
          <p:cNvSpPr/>
          <p:nvPr/>
        </p:nvSpPr>
        <p:spPr>
          <a:xfrm>
            <a:off x="457200" y="1828800"/>
            <a:ext cx="3108960" cy="1965960"/>
          </a:xfrm>
          <a:prstGeom prst="roundRect">
            <a:avLst>
              <a:gd name="adj" fmla="val 5581"/>
            </a:avLst>
          </a:prstGeom>
          <a:solidFill>
            <a:srgbClr val="17A199"/>
          </a:solidFill>
          <a:ln w="12700">
            <a:solidFill>
              <a:srgbClr val="FFFFFF"/>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685800" y="2011680"/>
            <a:ext cx="2743200" cy="365760"/>
          </a:xfrm>
          <a:prstGeom prst="rect">
            <a:avLst/>
          </a:prstGeom>
          <a:noFill/>
          <a:ln/>
        </p:spPr>
        <p:txBody>
          <a:bodyPr wrap="square" lIns="0" tIns="0" rIns="0" bIns="0" rtlCol="0" anchor="t"/>
          <a:lstStyle/>
          <a:p>
            <a:pPr indent="0" marL="0">
              <a:buNone/>
            </a:pPr>
            <a:r>
              <a:rPr lang="en-US" sz="2000" b="1" spc="200" kern="0" dirty="0">
                <a:solidFill>
                  <a:srgbClr val="FFFFFF"/>
                </a:solidFill>
                <a:latin typeface="Calibri" pitchFamily="34" charset="0"/>
                <a:ea typeface="Calibri" pitchFamily="34" charset="-122"/>
                <a:cs typeface="Calibri" pitchFamily="34" charset="-120"/>
              </a:rPr>
              <a:t>GRAPHER</a:t>
            </a:r>
            <a:endParaRPr lang="en-US" sz="2000" dirty="0"/>
          </a:p>
        </p:txBody>
      </p:sp>
      <p:sp>
        <p:nvSpPr>
          <p:cNvPr id="13" name="Text 8"/>
          <p:cNvSpPr txBox="1"/>
          <p:nvPr/>
        </p:nvSpPr>
        <p:spPr>
          <a:xfrm>
            <a:off x="685800" y="2560320"/>
            <a:ext cx="2697480" cy="12801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Plots the graphs and checks every point is accurate.</a:t>
            </a:r>
            <a:endParaRPr lang="en-US" sz="1500" dirty="0"/>
          </a:p>
        </p:txBody>
      </p:sp>
      <p:sp>
        <p:nvSpPr>
          <p:cNvPr id="14" name="Shape 9"/>
          <p:cNvSpPr/>
          <p:nvPr/>
        </p:nvSpPr>
        <p:spPr>
          <a:xfrm>
            <a:off x="3703320" y="1828800"/>
            <a:ext cx="3108960" cy="1965960"/>
          </a:xfrm>
          <a:prstGeom prst="roundRect">
            <a:avLst>
              <a:gd name="adj" fmla="val 5581"/>
            </a:avLst>
          </a:prstGeom>
          <a:solidFill>
            <a:srgbClr val="1F3864"/>
          </a:solidFill>
          <a:ln w="12700">
            <a:solidFill>
              <a:srgbClr val="FFFFFF"/>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3931920" y="2011680"/>
            <a:ext cx="2743200" cy="365760"/>
          </a:xfrm>
          <a:prstGeom prst="rect">
            <a:avLst/>
          </a:prstGeom>
          <a:noFill/>
          <a:ln/>
        </p:spPr>
        <p:txBody>
          <a:bodyPr wrap="square" lIns="0" tIns="0" rIns="0" bIns="0" rtlCol="0" anchor="t"/>
          <a:lstStyle/>
          <a:p>
            <a:pPr indent="0" marL="0">
              <a:buNone/>
            </a:pPr>
            <a:r>
              <a:rPr lang="en-US" sz="2000" b="1" spc="200" kern="0" dirty="0">
                <a:solidFill>
                  <a:srgbClr val="FFFFFF"/>
                </a:solidFill>
                <a:latin typeface="Calibri" pitchFamily="34" charset="0"/>
                <a:ea typeface="Calibri" pitchFamily="34" charset="-122"/>
                <a:cs typeface="Calibri" pitchFamily="34" charset="-120"/>
              </a:rPr>
              <a:t>ALGEBRAIST</a:t>
            </a:r>
            <a:endParaRPr lang="en-US" sz="2000" dirty="0"/>
          </a:p>
        </p:txBody>
      </p:sp>
      <p:sp>
        <p:nvSpPr>
          <p:cNvPr id="16" name="Text 11"/>
          <p:cNvSpPr txBox="1"/>
          <p:nvPr/>
        </p:nvSpPr>
        <p:spPr>
          <a:xfrm>
            <a:off x="3931920" y="2560320"/>
            <a:ext cx="2697480" cy="12801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Simplifies the functions and writes the algebra clearly.</a:t>
            </a:r>
            <a:endParaRPr lang="en-US" sz="1500" dirty="0"/>
          </a:p>
        </p:txBody>
      </p:sp>
      <p:sp>
        <p:nvSpPr>
          <p:cNvPr id="17" name="Shape 12"/>
          <p:cNvSpPr/>
          <p:nvPr/>
        </p:nvSpPr>
        <p:spPr>
          <a:xfrm>
            <a:off x="457200" y="3931920"/>
            <a:ext cx="3108960" cy="1965960"/>
          </a:xfrm>
          <a:prstGeom prst="roundRect">
            <a:avLst>
              <a:gd name="adj" fmla="val 5581"/>
            </a:avLst>
          </a:prstGeom>
          <a:solidFill>
            <a:srgbClr val="E8762C"/>
          </a:solidFill>
          <a:ln w="12700">
            <a:solidFill>
              <a:srgbClr val="FFFFFF"/>
            </a:solidFill>
            <a:prstDash val="solid"/>
          </a:ln>
          <a:effectLst>
            <a:outerShdw sx="100000" sy="100000" kx="0" ky="0" algn="bl" rotWithShape="0" blurRad="101600" dist="25400" dir="5400000">
              <a:srgbClr val="000000">
                <a:alpha val="15000"/>
              </a:srgbClr>
            </a:outerShdw>
          </a:effectLst>
        </p:spPr>
      </p:sp>
      <p:sp>
        <p:nvSpPr>
          <p:cNvPr id="18" name="Text 13"/>
          <p:cNvSpPr txBox="1"/>
          <p:nvPr/>
        </p:nvSpPr>
        <p:spPr>
          <a:xfrm>
            <a:off x="685800" y="4114800"/>
            <a:ext cx="2743200" cy="365760"/>
          </a:xfrm>
          <a:prstGeom prst="rect">
            <a:avLst/>
          </a:prstGeom>
          <a:noFill/>
          <a:ln/>
        </p:spPr>
        <p:txBody>
          <a:bodyPr wrap="square" lIns="0" tIns="0" rIns="0" bIns="0" rtlCol="0" anchor="t"/>
          <a:lstStyle/>
          <a:p>
            <a:pPr indent="0" marL="0">
              <a:buNone/>
            </a:pPr>
            <a:r>
              <a:rPr lang="en-US" sz="2000" b="1" spc="200" kern="0" dirty="0">
                <a:solidFill>
                  <a:srgbClr val="FFFFFF"/>
                </a:solidFill>
                <a:latin typeface="Calibri" pitchFamily="34" charset="0"/>
                <a:ea typeface="Calibri" pitchFamily="34" charset="-122"/>
                <a:cs typeface="Calibri" pitchFamily="34" charset="-120"/>
              </a:rPr>
              <a:t>CHECKER</a:t>
            </a:r>
            <a:endParaRPr lang="en-US" sz="2000" dirty="0"/>
          </a:p>
        </p:txBody>
      </p:sp>
      <p:sp>
        <p:nvSpPr>
          <p:cNvPr id="19" name="Text 14"/>
          <p:cNvSpPr txBox="1"/>
          <p:nvPr/>
        </p:nvSpPr>
        <p:spPr>
          <a:xfrm>
            <a:off x="685800" y="4663440"/>
            <a:ext cx="2697480" cy="12801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Tests every idea on a new example and asks: how do we know?</a:t>
            </a:r>
            <a:endParaRPr lang="en-US" sz="1500" dirty="0"/>
          </a:p>
        </p:txBody>
      </p:sp>
      <p:sp>
        <p:nvSpPr>
          <p:cNvPr id="20" name="Shape 15"/>
          <p:cNvSpPr/>
          <p:nvPr/>
        </p:nvSpPr>
        <p:spPr>
          <a:xfrm>
            <a:off x="3703320" y="3931920"/>
            <a:ext cx="3108960" cy="1965960"/>
          </a:xfrm>
          <a:prstGeom prst="roundRect">
            <a:avLst>
              <a:gd name="adj" fmla="val 5581"/>
            </a:avLst>
          </a:prstGeom>
          <a:solidFill>
            <a:srgbClr val="0E4F4C"/>
          </a:solidFill>
          <a:ln w="12700">
            <a:solidFill>
              <a:srgbClr val="FFFFFF"/>
            </a:solidFill>
            <a:prstDash val="solid"/>
          </a:ln>
          <a:effectLst>
            <a:outerShdw sx="100000" sy="100000" kx="0" ky="0" algn="bl" rotWithShape="0" blurRad="101600" dist="25400" dir="5400000">
              <a:srgbClr val="000000">
                <a:alpha val="15000"/>
              </a:srgbClr>
            </a:outerShdw>
          </a:effectLst>
        </p:spPr>
      </p:sp>
      <p:sp>
        <p:nvSpPr>
          <p:cNvPr id="21" name="Text 16"/>
          <p:cNvSpPr txBox="1"/>
          <p:nvPr/>
        </p:nvSpPr>
        <p:spPr>
          <a:xfrm>
            <a:off x="3931920" y="4114800"/>
            <a:ext cx="2743200" cy="365760"/>
          </a:xfrm>
          <a:prstGeom prst="rect">
            <a:avLst/>
          </a:prstGeom>
          <a:noFill/>
          <a:ln/>
        </p:spPr>
        <p:txBody>
          <a:bodyPr wrap="square" lIns="0" tIns="0" rIns="0" bIns="0" rtlCol="0" anchor="t"/>
          <a:lstStyle/>
          <a:p>
            <a:pPr indent="0" marL="0">
              <a:buNone/>
            </a:pPr>
            <a:r>
              <a:rPr lang="en-US" sz="2000" b="1" spc="200" kern="0" dirty="0">
                <a:solidFill>
                  <a:srgbClr val="FFFFFF"/>
                </a:solidFill>
                <a:latin typeface="Calibri" pitchFamily="34" charset="0"/>
                <a:ea typeface="Calibri" pitchFamily="34" charset="-122"/>
                <a:cs typeface="Calibri" pitchFamily="34" charset="-120"/>
              </a:rPr>
              <a:t>REPORTER</a:t>
            </a:r>
            <a:endParaRPr lang="en-US" sz="2000" dirty="0"/>
          </a:p>
        </p:txBody>
      </p:sp>
      <p:sp>
        <p:nvSpPr>
          <p:cNvPr id="22" name="Text 17"/>
          <p:cNvSpPr txBox="1"/>
          <p:nvPr/>
        </p:nvSpPr>
        <p:spPr>
          <a:xfrm>
            <a:off x="3931920" y="4663440"/>
            <a:ext cx="2697480" cy="12801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Records the crew findings and presents them to the class.</a:t>
            </a:r>
            <a:endParaRPr lang="en-US" sz="1500" dirty="0"/>
          </a:p>
        </p:txBody>
      </p:sp>
      <p:sp>
        <p:nvSpPr>
          <p:cNvPr id="23" name="Shape 18"/>
          <p:cNvSpPr/>
          <p:nvPr/>
        </p:nvSpPr>
        <p:spPr>
          <a:xfrm>
            <a:off x="7132320" y="1828800"/>
            <a:ext cx="4572000" cy="1920240"/>
          </a:xfrm>
          <a:prstGeom prst="roundRect">
            <a:avLst>
              <a:gd name="adj" fmla="val 571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4" name="Text 19"/>
          <p:cNvSpPr txBox="1"/>
          <p:nvPr/>
        </p:nvSpPr>
        <p:spPr>
          <a:xfrm>
            <a:off x="73609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STUCK LADDER</a:t>
            </a:r>
            <a:endParaRPr lang="en-US" sz="1100" dirty="0"/>
          </a:p>
        </p:txBody>
      </p:sp>
      <p:sp>
        <p:nvSpPr>
          <p:cNvPr id="25" name="Text 20"/>
          <p:cNvSpPr txBox="1"/>
          <p:nvPr/>
        </p:nvSpPr>
        <p:spPr>
          <a:xfrm>
            <a:off x="7360920" y="2240280"/>
            <a:ext cx="4114800" cy="14630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50" dirty="0">
                <a:solidFill>
                  <a:srgbClr val="222E2D"/>
                </a:solidFill>
                <a:latin typeface="Calibri" pitchFamily="34" charset="0"/>
                <a:ea typeface="Calibri" pitchFamily="34" charset="-122"/>
                <a:cs typeface="Calibri" pitchFamily="34" charset="-120"/>
              </a:rPr>
              <a:t>Re-read the task.</a:t>
            </a:r>
            <a:endParaRPr lang="en-US" sz="1450" dirty="0"/>
          </a:p>
          <a:p>
            <a:pPr marL="342900" indent="-342900">
              <a:spcAft>
                <a:spcPts val="500"/>
              </a:spcAft>
              <a:buSzPct val="100000"/>
              <a:buFont typeface="+mj-lt"/>
              <a:buAutoNum type="arabicPeriod" startAt="1"/>
            </a:pPr>
            <a:r>
              <a:rPr lang="en-US" sz="1450" dirty="0">
                <a:solidFill>
                  <a:srgbClr val="222E2D"/>
                </a:solidFill>
                <a:latin typeface="Calibri" pitchFamily="34" charset="0"/>
                <a:ea typeface="Calibri" pitchFamily="34" charset="-122"/>
                <a:cs typeface="Calibri" pitchFamily="34" charset="-120"/>
              </a:rPr>
              <a:t>Ask your crew.</a:t>
            </a:r>
            <a:endParaRPr lang="en-US" sz="1450" dirty="0"/>
          </a:p>
          <a:p>
            <a:pPr marL="342900" indent="-342900">
              <a:spcAft>
                <a:spcPts val="500"/>
              </a:spcAft>
              <a:buSzPct val="100000"/>
              <a:buFont typeface="+mj-lt"/>
              <a:buAutoNum type="arabicPeriod" startAt="1"/>
            </a:pPr>
            <a:r>
              <a:rPr lang="en-US" sz="1450" dirty="0">
                <a:solidFill>
                  <a:srgbClr val="222E2D"/>
                </a:solidFill>
                <a:latin typeface="Calibri" pitchFamily="34" charset="0"/>
                <a:ea typeface="Calibri" pitchFamily="34" charset="-122"/>
                <a:cs typeface="Calibri" pitchFamily="34" charset="-120"/>
              </a:rPr>
              <a:t>Ask another crew.</a:t>
            </a:r>
            <a:endParaRPr lang="en-US" sz="1450" dirty="0"/>
          </a:p>
          <a:p>
            <a:pPr marL="342900" indent="-342900">
              <a:spcAft>
                <a:spcPts val="500"/>
              </a:spcAft>
              <a:buSzPct val="100000"/>
              <a:buFont typeface="+mj-lt"/>
              <a:buAutoNum type="arabicPeriod" startAt="1"/>
            </a:pPr>
            <a:r>
              <a:rPr lang="en-US" sz="1450" dirty="0">
                <a:solidFill>
                  <a:srgbClr val="222E2D"/>
                </a:solidFill>
                <a:latin typeface="Calibri" pitchFamily="34" charset="0"/>
                <a:ea typeface="Calibri" pitchFamily="34" charset="-122"/>
                <a:cs typeface="Calibri" pitchFamily="34" charset="-120"/>
              </a:rPr>
              <a:t>Ask your teacher last.</a:t>
            </a:r>
            <a:endParaRPr lang="en-US" sz="1450" dirty="0"/>
          </a:p>
        </p:txBody>
      </p:sp>
      <p:sp>
        <p:nvSpPr>
          <p:cNvPr id="26" name="Shape 21"/>
          <p:cNvSpPr/>
          <p:nvPr/>
        </p:nvSpPr>
        <p:spPr>
          <a:xfrm>
            <a:off x="7132320" y="3931920"/>
            <a:ext cx="4572000" cy="2377440"/>
          </a:xfrm>
          <a:prstGeom prst="roundRect">
            <a:avLst>
              <a:gd name="adj" fmla="val 4615"/>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7" name="Text 22"/>
          <p:cNvSpPr txBox="1"/>
          <p:nvPr/>
        </p:nvSpPr>
        <p:spPr>
          <a:xfrm>
            <a:off x="7360920" y="402336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CREW RULES</a:t>
            </a:r>
            <a:endParaRPr lang="en-US" sz="1100" dirty="0"/>
          </a:p>
        </p:txBody>
      </p:sp>
      <p:sp>
        <p:nvSpPr>
          <p:cNvPr id="28" name="Text 23"/>
          <p:cNvSpPr txBox="1"/>
          <p:nvPr/>
        </p:nvSpPr>
        <p:spPr>
          <a:xfrm>
            <a:off x="7360920" y="4343400"/>
            <a:ext cx="416052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22E2D"/>
                </a:solidFill>
                <a:latin typeface="Calibri" pitchFamily="34" charset="0"/>
                <a:ea typeface="Calibri" pitchFamily="34" charset="-122"/>
                <a:cs typeface="Calibri" pitchFamily="34" charset="-120"/>
              </a:rPr>
              <a:t>Everyone draws.</a:t>
            </a:r>
            <a:endParaRPr lang="en-US" sz="1500" dirty="0"/>
          </a:p>
          <a:p>
            <a:pPr marL="342900" indent="-342900">
              <a:spcAft>
                <a:spcPts val="600"/>
              </a:spcAft>
              <a:buSzPct val="100000"/>
              <a:buChar char="•"/>
            </a:pPr>
            <a:r>
              <a:rPr lang="en-US" sz="1500" dirty="0">
                <a:solidFill>
                  <a:srgbClr val="222E2D"/>
                </a:solidFill>
                <a:latin typeface="Calibri" pitchFamily="34" charset="0"/>
                <a:ea typeface="Calibri" pitchFamily="34" charset="-122"/>
                <a:cs typeface="Calibri" pitchFamily="34" charset="-120"/>
              </a:rPr>
              <a:t>Everyone explains.</a:t>
            </a:r>
            <a:endParaRPr lang="en-US" sz="1500" dirty="0"/>
          </a:p>
          <a:p>
            <a:pPr marL="342900" indent="-342900">
              <a:spcAft>
                <a:spcPts val="600"/>
              </a:spcAft>
              <a:buSzPct val="100000"/>
              <a:buChar char="•"/>
            </a:pPr>
            <a:r>
              <a:rPr lang="en-US" sz="1500" dirty="0">
                <a:solidFill>
                  <a:srgbClr val="222E2D"/>
                </a:solidFill>
                <a:latin typeface="Calibri" pitchFamily="34" charset="0"/>
                <a:ea typeface="Calibri" pitchFamily="34" charset="-122"/>
                <a:cs typeface="Calibri" pitchFamily="34" charset="-120"/>
              </a:rPr>
              <a:t>Roles rotate at every task.</a:t>
            </a:r>
            <a:endParaRPr lang="en-US" sz="1500" dirty="0"/>
          </a:p>
          <a:p>
            <a:pPr marL="342900" indent="-342900">
              <a:spcAft>
                <a:spcPts val="600"/>
              </a:spcAft>
              <a:buSzPct val="100000"/>
              <a:buChar char="•"/>
            </a:pPr>
            <a:r>
              <a:rPr lang="en-US" sz="1500" dirty="0">
                <a:solidFill>
                  <a:srgbClr val="222E2D"/>
                </a:solidFill>
                <a:latin typeface="Calibri" pitchFamily="34" charset="0"/>
                <a:ea typeface="Calibri" pitchFamily="34" charset="-122"/>
                <a:cs typeface="Calibri" pitchFamily="34" charset="-120"/>
              </a:rPr>
              <a:t>Crew first, teacher last.</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8  ·  UNIT 2  ·  ACTIVITY 4</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93776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498348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5413248" y="457200"/>
            <a:ext cx="329184" cy="0"/>
          </a:xfrm>
          <a:prstGeom prst="line">
            <a:avLst/>
          </a:prstGeom>
          <a:noFill/>
          <a:ln w="25400">
            <a:solidFill>
              <a:srgbClr val="17A199"/>
            </a:solidFill>
            <a:prstDash val="dash"/>
          </a:ln>
        </p:spPr>
      </p:sp>
      <p:sp>
        <p:nvSpPr>
          <p:cNvPr id="12" name="stn2"/>
          <p:cNvSpPr/>
          <p:nvPr/>
        </p:nvSpPr>
        <p:spPr>
          <a:xfrm>
            <a:off x="574243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569671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6035040" y="457200"/>
            <a:ext cx="420624" cy="0"/>
          </a:xfrm>
          <a:prstGeom prst="line">
            <a:avLst/>
          </a:prstGeom>
          <a:noFill/>
          <a:ln w="25400">
            <a:solidFill>
              <a:srgbClr val="17A199"/>
            </a:solidFill>
            <a:prstDash val="dash"/>
          </a:ln>
        </p:spPr>
      </p:sp>
      <p:sp>
        <p:nvSpPr>
          <p:cNvPr id="15" name="stn3"/>
          <p:cNvSpPr/>
          <p:nvPr/>
        </p:nvSpPr>
        <p:spPr>
          <a:xfrm>
            <a:off x="645566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640994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6748272" y="457200"/>
            <a:ext cx="420624" cy="0"/>
          </a:xfrm>
          <a:prstGeom prst="line">
            <a:avLst/>
          </a:prstGeom>
          <a:noFill/>
          <a:ln w="25400">
            <a:solidFill>
              <a:srgbClr val="17A199"/>
            </a:solidFill>
            <a:prstDash val="dash"/>
          </a:ln>
        </p:spPr>
      </p:sp>
      <p:sp>
        <p:nvSpPr>
          <p:cNvPr id="18" name="stn4"/>
          <p:cNvSpPr/>
          <p:nvPr/>
        </p:nvSpPr>
        <p:spPr>
          <a:xfrm>
            <a:off x="716889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712317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7461504" y="457200"/>
            <a:ext cx="420624" cy="0"/>
          </a:xfrm>
          <a:prstGeom prst="line">
            <a:avLst/>
          </a:prstGeom>
          <a:noFill/>
          <a:ln w="25400">
            <a:solidFill>
              <a:srgbClr val="17A199"/>
            </a:solidFill>
            <a:prstDash val="dash"/>
          </a:ln>
        </p:spPr>
      </p:sp>
      <p:sp>
        <p:nvSpPr>
          <p:cNvPr id="21" name="stn5"/>
          <p:cNvSpPr/>
          <p:nvPr/>
        </p:nvSpPr>
        <p:spPr>
          <a:xfrm>
            <a:off x="788212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783640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Text 19"/>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START AT 1  ·  10 MIN</a:t>
            </a:r>
            <a:endParaRPr lang="en-US" sz="1200" dirty="0"/>
          </a:p>
        </p:txBody>
      </p:sp>
      <p:sp>
        <p:nvSpPr>
          <p:cNvPr id="24" name="Text 20"/>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Task 1: start at 1 and keep applying the function</a:t>
            </a:r>
            <a:endParaRPr lang="en-US" sz="3000" dirty="0"/>
          </a:p>
        </p:txBody>
      </p:sp>
      <p:sp>
        <p:nvSpPr>
          <p:cNvPr id="26" name="Shape 21"/>
          <p:cNvSpPr/>
          <p:nvPr/>
        </p:nvSpPr>
        <p:spPr>
          <a:xfrm>
            <a:off x="457200" y="1783080"/>
            <a:ext cx="6675120" cy="2240280"/>
          </a:xfrm>
          <a:prstGeom prst="roundRect">
            <a:avLst>
              <a:gd name="adj" fmla="val 489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7" name="Text 22"/>
          <p:cNvSpPr txBox="1"/>
          <p:nvPr/>
        </p:nvSpPr>
        <p:spPr>
          <a:xfrm>
            <a:off x="731520" y="1874520"/>
            <a:ext cx="45720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FUNCTION</a:t>
            </a:r>
            <a:endParaRPr lang="en-US" sz="1100" dirty="0"/>
          </a:p>
        </p:txBody>
      </p:sp>
      <p:pic>
        <p:nvPicPr>
          <p:cNvPr id="28" name="Image 2" descr="mw8/fdef.png">    </p:cNvPr>
          <p:cNvPicPr>
            <a:picLocks noChangeAspect="1"/>
          </p:cNvPicPr>
          <p:nvPr/>
        </p:nvPicPr>
        <p:blipFill>
          <a:blip r:embed="rId3"/>
          <a:stretch>
            <a:fillRect/>
          </a:stretch>
        </p:blipFill>
        <p:spPr>
          <a:xfrm>
            <a:off x="976122" y="2240280"/>
            <a:ext cx="2253996" cy="777240"/>
          </a:xfrm>
          <a:prstGeom prst="rect">
            <a:avLst/>
          </a:prstGeom>
        </p:spPr>
      </p:pic>
      <p:pic>
        <p:nvPicPr>
          <p:cNvPr id="29" name="Image 3" descr="mw8/seq1.png">    </p:cNvPr>
          <p:cNvPicPr>
            <a:picLocks noChangeAspect="1"/>
          </p:cNvPicPr>
          <p:nvPr/>
        </p:nvPicPr>
        <p:blipFill>
          <a:blip r:embed="rId4"/>
          <a:stretch>
            <a:fillRect/>
          </a:stretch>
        </p:blipFill>
        <p:spPr>
          <a:xfrm>
            <a:off x="3749040" y="2331720"/>
            <a:ext cx="3291840" cy="336629"/>
          </a:xfrm>
          <a:prstGeom prst="rect">
            <a:avLst/>
          </a:prstGeom>
        </p:spPr>
      </p:pic>
      <p:sp>
        <p:nvSpPr>
          <p:cNvPr id="30" name="Text 23"/>
          <p:cNvSpPr txBox="1"/>
          <p:nvPr/>
        </p:nvSpPr>
        <p:spPr>
          <a:xfrm>
            <a:off x="731520" y="3246120"/>
            <a:ext cx="6217920" cy="640080"/>
          </a:xfrm>
          <a:prstGeom prst="rect">
            <a:avLst/>
          </a:prstGeom>
          <a:noFill/>
          <a:ln/>
        </p:spPr>
        <p:txBody>
          <a:bodyPr wrap="square" lIns="0" tIns="0" rIns="0" bIns="0" rtlCol="0" anchor="t"/>
          <a:lstStyle/>
          <a:p>
            <a:pPr indent="0" marL="0">
              <a:buNone/>
            </a:pPr>
            <a:r>
              <a:rPr lang="en-US" sz="1500" dirty="0">
                <a:solidFill>
                  <a:srgbClr val="3F4B49"/>
                </a:solidFill>
                <a:latin typeface="Calibri" pitchFamily="34" charset="0"/>
                <a:ea typeface="Calibri" pitchFamily="34" charset="-122"/>
                <a:cs typeface="Calibri" pitchFamily="34" charset="-120"/>
              </a:rPr>
              <a:t>Apply the function, then apply it to the answer, and keep going. Each output becomes the next input.</a:t>
            </a:r>
            <a:endParaRPr lang="en-US" sz="1500" dirty="0"/>
          </a:p>
        </p:txBody>
      </p:sp>
      <p:sp>
        <p:nvSpPr>
          <p:cNvPr id="31" name="Shape 24"/>
          <p:cNvSpPr/>
          <p:nvPr/>
        </p:nvSpPr>
        <p:spPr>
          <a:xfrm>
            <a:off x="7315200" y="1783080"/>
            <a:ext cx="4389120" cy="2240280"/>
          </a:xfrm>
          <a:prstGeom prst="roundRect">
            <a:avLst>
              <a:gd name="adj" fmla="val 4898"/>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2" name="Text 25"/>
          <p:cNvSpPr txBox="1"/>
          <p:nvPr/>
        </p:nvSpPr>
        <p:spPr>
          <a:xfrm>
            <a:off x="7589520" y="1874520"/>
            <a:ext cx="3657600" cy="274320"/>
          </a:xfrm>
          <a:prstGeom prst="rect">
            <a:avLst/>
          </a:prstGeom>
          <a:noFill/>
          <a:ln/>
        </p:spPr>
        <p:txBody>
          <a:bodyPr wrap="square" lIns="0" tIns="0" rIns="0" bIns="0" rtlCol="0" anchor="t"/>
          <a:lstStyle/>
          <a:p>
            <a:pPr indent="0" marL="0">
              <a:buNone/>
            </a:pPr>
            <a:r>
              <a:rPr lang="en-US" sz="1200" b="1" spc="200" kern="0" dirty="0">
                <a:solidFill>
                  <a:srgbClr val="F0B323"/>
                </a:solidFill>
                <a:latin typeface="Calibri" pitchFamily="34" charset="0"/>
                <a:ea typeface="Calibri" pitchFamily="34" charset="-122"/>
                <a:cs typeface="Calibri" pitchFamily="34" charset="-120"/>
              </a:rPr>
              <a:t>DO THIS NOW</a:t>
            </a:r>
            <a:endParaRPr lang="en-US" sz="1200" dirty="0"/>
          </a:p>
        </p:txBody>
      </p:sp>
      <p:sp>
        <p:nvSpPr>
          <p:cNvPr id="33" name="Text 26"/>
          <p:cNvSpPr txBox="1"/>
          <p:nvPr/>
        </p:nvSpPr>
        <p:spPr>
          <a:xfrm>
            <a:off x="7589520" y="2240280"/>
            <a:ext cx="3931920" cy="17373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FFFFFF"/>
                </a:solidFill>
                <a:latin typeface="Calibri" pitchFamily="34" charset="0"/>
                <a:ea typeface="Calibri" pitchFamily="34" charset="-122"/>
                <a:cs typeface="Calibri" pitchFamily="34" charset="-120"/>
              </a:rPr>
              <a:t>Open a spreadsheet.</a:t>
            </a:r>
            <a:endParaRPr lang="en-US" sz="1500" dirty="0"/>
          </a:p>
          <a:p>
            <a:pPr marL="342900" indent="-342900">
              <a:spcAft>
                <a:spcPts val="600"/>
              </a:spcAft>
              <a:buSzPct val="100000"/>
              <a:buFont typeface="+mj-lt"/>
              <a:buAutoNum type="arabicPeriod" startAt="1"/>
            </a:pPr>
            <a:r>
              <a:rPr lang="en-US" sz="1500" dirty="0">
                <a:solidFill>
                  <a:srgbClr val="FFFFFF"/>
                </a:solidFill>
                <a:latin typeface="Calibri" pitchFamily="34" charset="0"/>
                <a:ea typeface="Calibri" pitchFamily="34" charset="-122"/>
                <a:cs typeface="Calibri" pitchFamily="34" charset="-120"/>
              </a:rPr>
              <a:t>Type the start value in the first cell.</a:t>
            </a:r>
            <a:endParaRPr lang="en-US" sz="1500" dirty="0"/>
          </a:p>
          <a:p>
            <a:pPr marL="342900" indent="-342900">
              <a:spcAft>
                <a:spcPts val="600"/>
              </a:spcAft>
              <a:buSzPct val="100000"/>
              <a:buFont typeface="+mj-lt"/>
              <a:buAutoNum type="arabicPeriod" startAt="1"/>
            </a:pPr>
            <a:r>
              <a:rPr lang="en-US" sz="1500" dirty="0">
                <a:solidFill>
                  <a:srgbClr val="FFFFFF"/>
                </a:solidFill>
                <a:latin typeface="Calibri" pitchFamily="34" charset="0"/>
                <a:ea typeface="Calibri" pitchFamily="34" charset="-122"/>
                <a:cs typeface="Calibri" pitchFamily="34" charset="-120"/>
              </a:rPr>
              <a:t>In the next cell apply the rule to the cell above. Fill down.</a:t>
            </a:r>
            <a:endParaRPr lang="en-US" sz="1500" dirty="0"/>
          </a:p>
        </p:txBody>
      </p:sp>
      <p:sp>
        <p:nvSpPr>
          <p:cNvPr id="34" name="Shape 27"/>
          <p:cNvSpPr/>
          <p:nvPr/>
        </p:nvSpPr>
        <p:spPr>
          <a:xfrm>
            <a:off x="457200" y="4206240"/>
            <a:ext cx="2697480" cy="1188720"/>
          </a:xfrm>
          <a:prstGeom prst="roundRect">
            <a:avLst>
              <a:gd name="adj" fmla="val 9231"/>
            </a:avLst>
          </a:prstGeom>
          <a:solidFill>
            <a:srgbClr val="FFFFFF"/>
          </a:solidFill>
          <a:ln w="15875">
            <a:solidFill>
              <a:srgbClr val="17A199"/>
            </a:solidFill>
            <a:prstDash val="solid"/>
          </a:ln>
          <a:effectLst>
            <a:outerShdw sx="100000" sy="100000" kx="0" ky="0" algn="bl" rotWithShape="0" blurRad="101600" dist="25400" dir="5400000">
              <a:srgbClr val="000000">
                <a:alpha val="15000"/>
              </a:srgbClr>
            </a:outerShdw>
          </a:effectLst>
        </p:spPr>
      </p:sp>
      <p:sp>
        <p:nvSpPr>
          <p:cNvPr id="35" name="Text 28"/>
          <p:cNvSpPr txBox="1"/>
          <p:nvPr/>
        </p:nvSpPr>
        <p:spPr>
          <a:xfrm>
            <a:off x="640080" y="4279392"/>
            <a:ext cx="22860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EVERYONE</a:t>
            </a:r>
            <a:endParaRPr lang="en-US" sz="1100" dirty="0"/>
          </a:p>
        </p:txBody>
      </p:sp>
      <p:pic>
        <p:nvPicPr>
          <p:cNvPr id="36" name="Image 4" descr="mw8/s1.png">    </p:cNvPr>
          <p:cNvPicPr>
            <a:picLocks noChangeAspect="1"/>
          </p:cNvPicPr>
          <p:nvPr/>
        </p:nvPicPr>
        <p:blipFill>
          <a:blip r:embed="rId5"/>
          <a:stretch>
            <a:fillRect/>
          </a:stretch>
        </p:blipFill>
        <p:spPr>
          <a:xfrm>
            <a:off x="1428933" y="4709160"/>
            <a:ext cx="754014" cy="260604"/>
          </a:xfrm>
          <a:prstGeom prst="rect">
            <a:avLst/>
          </a:prstGeom>
        </p:spPr>
      </p:pic>
      <p:sp>
        <p:nvSpPr>
          <p:cNvPr id="37" name="Shape 29"/>
          <p:cNvSpPr/>
          <p:nvPr/>
        </p:nvSpPr>
        <p:spPr>
          <a:xfrm>
            <a:off x="3291840" y="4206240"/>
            <a:ext cx="2697480" cy="1188720"/>
          </a:xfrm>
          <a:prstGeom prst="roundRect">
            <a:avLst>
              <a:gd name="adj" fmla="val 9231"/>
            </a:avLst>
          </a:prstGeom>
          <a:solidFill>
            <a:srgbClr val="FFFFFF"/>
          </a:solidFill>
          <a:ln w="15875">
            <a:solidFill>
              <a:srgbClr val="1F3864"/>
            </a:solidFill>
            <a:prstDash val="solid"/>
          </a:ln>
          <a:effectLst>
            <a:outerShdw sx="100000" sy="100000" kx="0" ky="0" algn="bl" rotWithShape="0" blurRad="101600" dist="25400" dir="5400000">
              <a:srgbClr val="000000">
                <a:alpha val="15000"/>
              </a:srgbClr>
            </a:outerShdw>
          </a:effectLst>
        </p:spPr>
      </p:sp>
      <p:sp>
        <p:nvSpPr>
          <p:cNvPr id="38" name="Text 30"/>
          <p:cNvSpPr txBox="1"/>
          <p:nvPr/>
        </p:nvSpPr>
        <p:spPr>
          <a:xfrm>
            <a:off x="3474720" y="4279392"/>
            <a:ext cx="22860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PAIR 1</a:t>
            </a:r>
            <a:endParaRPr lang="en-US" sz="1100" dirty="0"/>
          </a:p>
        </p:txBody>
      </p:sp>
      <p:pic>
        <p:nvPicPr>
          <p:cNvPr id="39" name="Image 5" descr="mw8/s2.png">    </p:cNvPr>
          <p:cNvPicPr>
            <a:picLocks noChangeAspect="1"/>
          </p:cNvPicPr>
          <p:nvPr/>
        </p:nvPicPr>
        <p:blipFill>
          <a:blip r:embed="rId6"/>
          <a:stretch>
            <a:fillRect/>
          </a:stretch>
        </p:blipFill>
        <p:spPr>
          <a:xfrm>
            <a:off x="4263573" y="4709160"/>
            <a:ext cx="754014" cy="260604"/>
          </a:xfrm>
          <a:prstGeom prst="rect">
            <a:avLst/>
          </a:prstGeom>
        </p:spPr>
      </p:pic>
      <p:sp>
        <p:nvSpPr>
          <p:cNvPr id="40" name="Shape 31"/>
          <p:cNvSpPr/>
          <p:nvPr/>
        </p:nvSpPr>
        <p:spPr>
          <a:xfrm>
            <a:off x="6126480" y="4206240"/>
            <a:ext cx="2697480" cy="1188720"/>
          </a:xfrm>
          <a:prstGeom prst="roundRect">
            <a:avLst>
              <a:gd name="adj" fmla="val 9231"/>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41" name="Text 32"/>
          <p:cNvSpPr txBox="1"/>
          <p:nvPr/>
        </p:nvSpPr>
        <p:spPr>
          <a:xfrm>
            <a:off x="6309360" y="4279392"/>
            <a:ext cx="22860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PAIR 2</a:t>
            </a:r>
            <a:endParaRPr lang="en-US" sz="1100" dirty="0"/>
          </a:p>
        </p:txBody>
      </p:sp>
      <p:pic>
        <p:nvPicPr>
          <p:cNvPr id="42" name="Image 6" descr="mw8/s9.png">    </p:cNvPr>
          <p:cNvPicPr>
            <a:picLocks noChangeAspect="1"/>
          </p:cNvPicPr>
          <p:nvPr/>
        </p:nvPicPr>
        <p:blipFill>
          <a:blip r:embed="rId7"/>
          <a:stretch>
            <a:fillRect/>
          </a:stretch>
        </p:blipFill>
        <p:spPr>
          <a:xfrm>
            <a:off x="7098213" y="4709160"/>
            <a:ext cx="754014" cy="260604"/>
          </a:xfrm>
          <a:prstGeom prst="rect">
            <a:avLst/>
          </a:prstGeom>
        </p:spPr>
      </p:pic>
      <p:sp>
        <p:nvSpPr>
          <p:cNvPr id="43" name="Shape 33"/>
          <p:cNvSpPr/>
          <p:nvPr/>
        </p:nvSpPr>
        <p:spPr>
          <a:xfrm>
            <a:off x="8961120" y="4206240"/>
            <a:ext cx="2697480" cy="1188720"/>
          </a:xfrm>
          <a:prstGeom prst="roundRect">
            <a:avLst>
              <a:gd name="adj" fmla="val 9231"/>
            </a:avLst>
          </a:prstGeom>
          <a:solidFill>
            <a:srgbClr val="FFFFFF"/>
          </a:solidFill>
          <a:ln w="15875">
            <a:solidFill>
              <a:srgbClr val="0E4F4C"/>
            </a:solidFill>
            <a:prstDash val="solid"/>
          </a:ln>
          <a:effectLst>
            <a:outerShdw sx="100000" sy="100000" kx="0" ky="0" algn="bl" rotWithShape="0" blurRad="101600" dist="25400" dir="5400000">
              <a:srgbClr val="000000">
                <a:alpha val="15000"/>
              </a:srgbClr>
            </a:outerShdw>
          </a:effectLst>
        </p:spPr>
      </p:sp>
      <p:sp>
        <p:nvSpPr>
          <p:cNvPr id="44" name="Text 34"/>
          <p:cNvSpPr txBox="1"/>
          <p:nvPr/>
        </p:nvSpPr>
        <p:spPr>
          <a:xfrm>
            <a:off x="9144000" y="4279392"/>
            <a:ext cx="22860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YOUR CHOICE</a:t>
            </a:r>
            <a:endParaRPr lang="en-US" sz="1100" dirty="0"/>
          </a:p>
        </p:txBody>
      </p:sp>
      <p:pic>
        <p:nvPicPr>
          <p:cNvPr id="45" name="Image 7" descr="mw8/s_own.png">    </p:cNvPr>
          <p:cNvPicPr>
            <a:picLocks noChangeAspect="1"/>
          </p:cNvPicPr>
          <p:nvPr/>
        </p:nvPicPr>
        <p:blipFill>
          <a:blip r:embed="rId8"/>
          <a:stretch>
            <a:fillRect/>
          </a:stretch>
        </p:blipFill>
        <p:spPr>
          <a:xfrm>
            <a:off x="9929378" y="4709160"/>
            <a:ext cx="760964" cy="274503"/>
          </a:xfrm>
          <a:prstGeom prst="rect">
            <a:avLst/>
          </a:prstGeom>
        </p:spPr>
      </p:pic>
      <p:sp>
        <p:nvSpPr>
          <p:cNvPr id="46" name="Shape 35"/>
          <p:cNvSpPr/>
          <p:nvPr/>
        </p:nvSpPr>
        <p:spPr>
          <a:xfrm>
            <a:off x="457200" y="5532120"/>
            <a:ext cx="11247120" cy="777240"/>
          </a:xfrm>
          <a:prstGeom prst="roundRect">
            <a:avLst>
              <a:gd name="adj" fmla="val 1411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7" name="Text 36"/>
          <p:cNvSpPr txBox="1"/>
          <p:nvPr/>
        </p:nvSpPr>
        <p:spPr>
          <a:xfrm>
            <a:off x="731520" y="5596128"/>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48" name="Text 37"/>
          <p:cNvSpPr txBox="1"/>
          <p:nvPr/>
        </p:nvSpPr>
        <p:spPr>
          <a:xfrm>
            <a:off x="731520" y="5852160"/>
            <a:ext cx="10789920" cy="411480"/>
          </a:xfrm>
          <a:prstGeom prst="rect">
            <a:avLst/>
          </a:prstGeom>
          <a:noFill/>
          <a:ln/>
        </p:spPr>
        <p:txBody>
          <a:bodyPr wrap="square" lIns="0" tIns="0" rIns="0" bIns="0" rtlCol="0" anchor="t"/>
          <a:lstStyle/>
          <a:p>
            <a:pPr indent="0" marL="0">
              <a:buNone/>
            </a:pPr>
            <a:r>
              <a:rPr lang="en-US" sz="1500" dirty="0">
                <a:solidFill>
                  <a:srgbClr val="222E2D"/>
                </a:solidFill>
                <a:latin typeface="Calibri" pitchFamily="34" charset="0"/>
                <a:ea typeface="Calibri" pitchFamily="34" charset="-122"/>
                <a:cs typeface="Calibri" pitchFamily="34" charset="-120"/>
              </a:rPr>
              <a:t>You have at least eight terms for each start value, and you can say what the terms are getting close to, and from which side.</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8  ·  UNIT 2  ·  ACTIVITY 4</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502920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498348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5321808" y="457200"/>
            <a:ext cx="329184" cy="0"/>
          </a:xfrm>
          <a:prstGeom prst="line">
            <a:avLst/>
          </a:prstGeom>
          <a:noFill/>
          <a:ln w="25400">
            <a:solidFill>
              <a:srgbClr val="17A199"/>
            </a:solidFill>
            <a:prstDash val="dash"/>
          </a:ln>
        </p:spPr>
      </p:sp>
      <p:sp>
        <p:nvSpPr>
          <p:cNvPr id="12" name="stn2"/>
          <p:cNvSpPr/>
          <p:nvPr/>
        </p:nvSpPr>
        <p:spPr>
          <a:xfrm>
            <a:off x="565099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569671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6126480" y="457200"/>
            <a:ext cx="329184" cy="0"/>
          </a:xfrm>
          <a:prstGeom prst="line">
            <a:avLst/>
          </a:prstGeom>
          <a:noFill/>
          <a:ln w="25400">
            <a:solidFill>
              <a:srgbClr val="17A199"/>
            </a:solidFill>
            <a:prstDash val="dash"/>
          </a:ln>
        </p:spPr>
      </p:sp>
      <p:sp>
        <p:nvSpPr>
          <p:cNvPr id="15" name="stn3"/>
          <p:cNvSpPr/>
          <p:nvPr/>
        </p:nvSpPr>
        <p:spPr>
          <a:xfrm>
            <a:off x="645566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640994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6748272" y="457200"/>
            <a:ext cx="420624" cy="0"/>
          </a:xfrm>
          <a:prstGeom prst="line">
            <a:avLst/>
          </a:prstGeom>
          <a:noFill/>
          <a:ln w="25400">
            <a:solidFill>
              <a:srgbClr val="17A199"/>
            </a:solidFill>
            <a:prstDash val="dash"/>
          </a:ln>
        </p:spPr>
      </p:sp>
      <p:sp>
        <p:nvSpPr>
          <p:cNvPr id="18" name="stn4"/>
          <p:cNvSpPr/>
          <p:nvPr/>
        </p:nvSpPr>
        <p:spPr>
          <a:xfrm>
            <a:off x="716889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712317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7461504" y="457200"/>
            <a:ext cx="420624" cy="0"/>
          </a:xfrm>
          <a:prstGeom prst="line">
            <a:avLst/>
          </a:prstGeom>
          <a:noFill/>
          <a:ln w="25400">
            <a:solidFill>
              <a:srgbClr val="17A199"/>
            </a:solidFill>
            <a:prstDash val="dash"/>
          </a:ln>
        </p:spPr>
      </p:sp>
      <p:sp>
        <p:nvSpPr>
          <p:cNvPr id="21" name="stn5"/>
          <p:cNvSpPr/>
          <p:nvPr/>
        </p:nvSpPr>
        <p:spPr>
          <a:xfrm>
            <a:off x="788212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783640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Text 19"/>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GRAPH IT  ·  10 MIN</a:t>
            </a:r>
            <a:endParaRPr lang="en-US" sz="1200" dirty="0"/>
          </a:p>
        </p:txBody>
      </p:sp>
      <p:sp>
        <p:nvSpPr>
          <p:cNvPr id="24" name="Text 20"/>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Task 2: apply it again, then simplify</a:t>
            </a:r>
            <a:endParaRPr lang="en-US" sz="3000" dirty="0"/>
          </a:p>
        </p:txBody>
      </p:sp>
      <p:sp>
        <p:nvSpPr>
          <p:cNvPr id="26" name="Shape 21"/>
          <p:cNvSpPr/>
          <p:nvPr/>
        </p:nvSpPr>
        <p:spPr>
          <a:xfrm>
            <a:off x="457200" y="1783080"/>
            <a:ext cx="5760720" cy="658368"/>
          </a:xfrm>
          <a:prstGeom prst="roundRect">
            <a:avLst>
              <a:gd name="adj" fmla="val 16667"/>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7" name="Image 2" descr="mw8/lab1.png">    </p:cNvPr>
          <p:cNvPicPr>
            <a:picLocks noChangeAspect="1"/>
          </p:cNvPicPr>
          <p:nvPr/>
        </p:nvPicPr>
        <p:blipFill>
          <a:blip r:embed="rId3"/>
          <a:stretch>
            <a:fillRect/>
          </a:stretch>
        </p:blipFill>
        <p:spPr>
          <a:xfrm>
            <a:off x="685800" y="1920240"/>
            <a:ext cx="729691" cy="285293"/>
          </a:xfrm>
          <a:prstGeom prst="rect">
            <a:avLst/>
          </a:prstGeom>
        </p:spPr>
      </p:pic>
      <p:sp>
        <p:nvSpPr>
          <p:cNvPr id="28" name="Shape 22"/>
          <p:cNvSpPr/>
          <p:nvPr/>
        </p:nvSpPr>
        <p:spPr>
          <a:xfrm>
            <a:off x="2651760" y="2286000"/>
            <a:ext cx="3383280" cy="0"/>
          </a:xfrm>
          <a:prstGeom prst="line">
            <a:avLst/>
          </a:prstGeom>
          <a:noFill/>
          <a:ln w="12700">
            <a:solidFill>
              <a:srgbClr val="9FB2B0"/>
            </a:solidFill>
            <a:prstDash val="dash"/>
          </a:ln>
        </p:spPr>
      </p:sp>
      <p:sp>
        <p:nvSpPr>
          <p:cNvPr id="29" name="Shape 23"/>
          <p:cNvSpPr/>
          <p:nvPr/>
        </p:nvSpPr>
        <p:spPr>
          <a:xfrm>
            <a:off x="457200" y="2532888"/>
            <a:ext cx="5760720" cy="658368"/>
          </a:xfrm>
          <a:prstGeom prst="roundRect">
            <a:avLst>
              <a:gd name="adj" fmla="val 16667"/>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3" descr="mw8/lab2.png">    </p:cNvPr>
          <p:cNvPicPr>
            <a:picLocks noChangeAspect="1"/>
          </p:cNvPicPr>
          <p:nvPr/>
        </p:nvPicPr>
        <p:blipFill>
          <a:blip r:embed="rId4"/>
          <a:stretch>
            <a:fillRect/>
          </a:stretch>
        </p:blipFill>
        <p:spPr>
          <a:xfrm>
            <a:off x="685800" y="2670048"/>
            <a:ext cx="864108" cy="285293"/>
          </a:xfrm>
          <a:prstGeom prst="rect">
            <a:avLst/>
          </a:prstGeom>
        </p:spPr>
      </p:pic>
      <p:sp>
        <p:nvSpPr>
          <p:cNvPr id="31" name="Shape 24"/>
          <p:cNvSpPr/>
          <p:nvPr/>
        </p:nvSpPr>
        <p:spPr>
          <a:xfrm>
            <a:off x="2651760" y="3035808"/>
            <a:ext cx="3383280" cy="0"/>
          </a:xfrm>
          <a:prstGeom prst="line">
            <a:avLst/>
          </a:prstGeom>
          <a:noFill/>
          <a:ln w="12700">
            <a:solidFill>
              <a:srgbClr val="9FB2B0"/>
            </a:solidFill>
            <a:prstDash val="dash"/>
          </a:ln>
        </p:spPr>
      </p:sp>
      <p:sp>
        <p:nvSpPr>
          <p:cNvPr id="32" name="Shape 25"/>
          <p:cNvSpPr/>
          <p:nvPr/>
        </p:nvSpPr>
        <p:spPr>
          <a:xfrm>
            <a:off x="457200" y="3282696"/>
            <a:ext cx="5760720" cy="658368"/>
          </a:xfrm>
          <a:prstGeom prst="roundRect">
            <a:avLst>
              <a:gd name="adj" fmla="val 16667"/>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4" descr="mw8/lab3.png">    </p:cNvPr>
          <p:cNvPicPr>
            <a:picLocks noChangeAspect="1"/>
          </p:cNvPicPr>
          <p:nvPr/>
        </p:nvPicPr>
        <p:blipFill>
          <a:blip r:embed="rId5"/>
          <a:stretch>
            <a:fillRect/>
          </a:stretch>
        </p:blipFill>
        <p:spPr>
          <a:xfrm>
            <a:off x="685800" y="3419856"/>
            <a:ext cx="998525" cy="285293"/>
          </a:xfrm>
          <a:prstGeom prst="rect">
            <a:avLst/>
          </a:prstGeom>
        </p:spPr>
      </p:pic>
      <p:sp>
        <p:nvSpPr>
          <p:cNvPr id="34" name="Shape 26"/>
          <p:cNvSpPr/>
          <p:nvPr/>
        </p:nvSpPr>
        <p:spPr>
          <a:xfrm>
            <a:off x="2651760" y="3785616"/>
            <a:ext cx="3383280" cy="0"/>
          </a:xfrm>
          <a:prstGeom prst="line">
            <a:avLst/>
          </a:prstGeom>
          <a:noFill/>
          <a:ln w="12700">
            <a:solidFill>
              <a:srgbClr val="9FB2B0"/>
            </a:solidFill>
            <a:prstDash val="dash"/>
          </a:ln>
        </p:spPr>
      </p:sp>
      <p:sp>
        <p:nvSpPr>
          <p:cNvPr id="35" name="Shape 27"/>
          <p:cNvSpPr/>
          <p:nvPr/>
        </p:nvSpPr>
        <p:spPr>
          <a:xfrm>
            <a:off x="457200" y="4032504"/>
            <a:ext cx="5760720" cy="658368"/>
          </a:xfrm>
          <a:prstGeom prst="roundRect">
            <a:avLst>
              <a:gd name="adj" fmla="val 16667"/>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6" name="Image 5" descr="mw8/lab4.png">    </p:cNvPr>
          <p:cNvPicPr>
            <a:picLocks noChangeAspect="1"/>
          </p:cNvPicPr>
          <p:nvPr/>
        </p:nvPicPr>
        <p:blipFill>
          <a:blip r:embed="rId6"/>
          <a:stretch>
            <a:fillRect/>
          </a:stretch>
        </p:blipFill>
        <p:spPr>
          <a:xfrm>
            <a:off x="685800" y="4169664"/>
            <a:ext cx="1132942" cy="285293"/>
          </a:xfrm>
          <a:prstGeom prst="rect">
            <a:avLst/>
          </a:prstGeom>
        </p:spPr>
      </p:pic>
      <p:sp>
        <p:nvSpPr>
          <p:cNvPr id="37" name="Shape 28"/>
          <p:cNvSpPr/>
          <p:nvPr/>
        </p:nvSpPr>
        <p:spPr>
          <a:xfrm>
            <a:off x="2651760" y="4535424"/>
            <a:ext cx="3383280" cy="0"/>
          </a:xfrm>
          <a:prstGeom prst="line">
            <a:avLst/>
          </a:prstGeom>
          <a:noFill/>
          <a:ln w="12700">
            <a:solidFill>
              <a:srgbClr val="9FB2B0"/>
            </a:solidFill>
            <a:prstDash val="dash"/>
          </a:ln>
        </p:spPr>
      </p:sp>
      <p:sp>
        <p:nvSpPr>
          <p:cNvPr id="38" name="Shape 29"/>
          <p:cNvSpPr/>
          <p:nvPr/>
        </p:nvSpPr>
        <p:spPr>
          <a:xfrm>
            <a:off x="457200" y="4846320"/>
            <a:ext cx="57607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30"/>
          <p:cNvSpPr txBox="1"/>
          <p:nvPr/>
        </p:nvSpPr>
        <p:spPr>
          <a:xfrm>
            <a:off x="731520" y="4937760"/>
            <a:ext cx="3657600" cy="274320"/>
          </a:xfrm>
          <a:prstGeom prst="rect">
            <a:avLst/>
          </a:prstGeom>
          <a:noFill/>
          <a:ln/>
        </p:spPr>
        <p:txBody>
          <a:bodyPr wrap="square" lIns="0" tIns="0" rIns="0" bIns="0" rtlCol="0" anchor="t"/>
          <a:lstStyle/>
          <a:p>
            <a:pPr indent="0" marL="0">
              <a:buNone/>
            </a:pPr>
            <a:r>
              <a:rPr lang="en-US" sz="1200" b="1" spc="200" kern="0" dirty="0">
                <a:solidFill>
                  <a:srgbClr val="F0B323"/>
                </a:solidFill>
                <a:latin typeface="Calibri" pitchFamily="34" charset="0"/>
                <a:ea typeface="Calibri" pitchFamily="34" charset="-122"/>
                <a:cs typeface="Calibri" pitchFamily="34" charset="-120"/>
              </a:rPr>
              <a:t>THINK ABOUT IT</a:t>
            </a:r>
            <a:endParaRPr lang="en-US" sz="1200" dirty="0"/>
          </a:p>
        </p:txBody>
      </p:sp>
      <p:sp>
        <p:nvSpPr>
          <p:cNvPr id="40" name="Text 31"/>
          <p:cNvSpPr txBox="1"/>
          <p:nvPr/>
        </p:nvSpPr>
        <p:spPr>
          <a:xfrm>
            <a:off x="731520" y="5257800"/>
            <a:ext cx="5303520" cy="6400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Plot all four graphs on one set of axes.</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What do you notice about these functions?</a:t>
            </a:r>
            <a:endParaRPr lang="en-US" sz="1400" dirty="0"/>
          </a:p>
        </p:txBody>
      </p:sp>
      <p:sp>
        <p:nvSpPr>
          <p:cNvPr id="41" name="Text 32"/>
          <p:cNvSpPr txBox="1"/>
          <p:nvPr/>
        </p:nvSpPr>
        <p:spPr>
          <a:xfrm>
            <a:off x="731520" y="5870448"/>
            <a:ext cx="21031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Why does the solution of</a:t>
            </a:r>
            <a:endParaRPr lang="en-US" sz="1400" dirty="0"/>
          </a:p>
        </p:txBody>
      </p:sp>
      <p:pic>
        <p:nvPicPr>
          <p:cNvPr id="42" name="Image 6" descr="mw8/fxeqx_w.png">    </p:cNvPr>
          <p:cNvPicPr>
            <a:picLocks noChangeAspect="1"/>
          </p:cNvPicPr>
          <p:nvPr/>
        </p:nvPicPr>
        <p:blipFill>
          <a:blip r:embed="rId7"/>
          <a:stretch>
            <a:fillRect/>
          </a:stretch>
        </p:blipFill>
        <p:spPr>
          <a:xfrm>
            <a:off x="3152394" y="5916168"/>
            <a:ext cx="918972" cy="285293"/>
          </a:xfrm>
          <a:prstGeom prst="rect">
            <a:avLst/>
          </a:prstGeom>
        </p:spPr>
      </p:pic>
      <p:sp>
        <p:nvSpPr>
          <p:cNvPr id="43" name="Text 33"/>
          <p:cNvSpPr txBox="1"/>
          <p:nvPr/>
        </p:nvSpPr>
        <p:spPr>
          <a:xfrm>
            <a:off x="4160520" y="5870448"/>
            <a:ext cx="20116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give the limit?</a:t>
            </a:r>
            <a:endParaRPr lang="en-US" sz="1400" dirty="0"/>
          </a:p>
        </p:txBody>
      </p:sp>
      <p:sp>
        <p:nvSpPr>
          <p:cNvPr id="44" name="Shape 34"/>
          <p:cNvSpPr/>
          <p:nvPr/>
        </p:nvSpPr>
        <p:spPr>
          <a:xfrm>
            <a:off x="6400800" y="1783080"/>
            <a:ext cx="5303520" cy="4526280"/>
          </a:xfrm>
          <a:prstGeom prst="roundRect">
            <a:avLst>
              <a:gd name="adj" fmla="val 242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5"/>
          <p:cNvSpPr txBox="1"/>
          <p:nvPr/>
        </p:nvSpPr>
        <p:spPr>
          <a:xfrm>
            <a:off x="6675120" y="187452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YOUR GRID</a:t>
            </a:r>
            <a:endParaRPr lang="en-US" sz="1100" dirty="0"/>
          </a:p>
        </p:txBody>
      </p:sp>
      <p:pic>
        <p:nvPicPr>
          <p:cNvPr id="46" name="Image 7" descr="fig/grid10_slide.png">    </p:cNvPr>
          <p:cNvPicPr>
            <a:picLocks noChangeAspect="1"/>
          </p:cNvPicPr>
          <p:nvPr/>
        </p:nvPicPr>
        <p:blipFill>
          <a:blip r:embed="rId8"/>
          <a:stretch>
            <a:fillRect/>
          </a:stretch>
        </p:blipFill>
        <p:spPr>
          <a:xfrm>
            <a:off x="7086600" y="2148840"/>
            <a:ext cx="3931920" cy="3931920"/>
          </a:xfrm>
          <a:prstGeom prst="rect">
            <a:avLst/>
          </a:prstGeom>
        </p:spPr>
      </p:pic>
      <p:sp>
        <p:nvSpPr>
          <p:cNvPr id="47" name="Text 36"/>
          <p:cNvSpPr txBox="1"/>
          <p:nvPr/>
        </p:nvSpPr>
        <p:spPr>
          <a:xfrm>
            <a:off x="6675120" y="5989320"/>
            <a:ext cx="4846320" cy="274320"/>
          </a:xfrm>
          <a:prstGeom prst="rect">
            <a:avLst/>
          </a:prstGeom>
          <a:noFill/>
          <a:ln/>
        </p:spPr>
        <p:txBody>
          <a:bodyPr wrap="square" lIns="0" tIns="0" rIns="0" bIns="0" rtlCol="0" anchor="t"/>
          <a:lstStyle/>
          <a:p>
            <a:pPr indent="0" marL="0">
              <a:buNone/>
            </a:pPr>
            <a:r>
              <a:rPr lang="en-US" sz="1200" dirty="0">
                <a:solidFill>
                  <a:srgbClr val="3F4B49"/>
                </a:solidFill>
                <a:latin typeface="Calibri" pitchFamily="34" charset="0"/>
                <a:ea typeface="Calibri" pitchFamily="34" charset="-122"/>
                <a:cs typeface="Calibri" pitchFamily="34" charset="-120"/>
              </a:rPr>
              <a:t>Use a ruler. Label every line.</a:t>
            </a:r>
            <a:endParaRPr lang="en-US" sz="12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8  ·  UNIT 2  ·  ACTIVITY 4</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502920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498348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5321808" y="457200"/>
            <a:ext cx="329184" cy="0"/>
          </a:xfrm>
          <a:prstGeom prst="line">
            <a:avLst/>
          </a:prstGeom>
          <a:noFill/>
          <a:ln w="25400">
            <a:solidFill>
              <a:srgbClr val="17A199"/>
            </a:solidFill>
            <a:prstDash val="dash"/>
          </a:ln>
        </p:spPr>
      </p:sp>
      <p:sp>
        <p:nvSpPr>
          <p:cNvPr id="12" name="stn2"/>
          <p:cNvSpPr/>
          <p:nvPr/>
        </p:nvSpPr>
        <p:spPr>
          <a:xfrm>
            <a:off x="565099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569671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6126480" y="457200"/>
            <a:ext cx="329184" cy="0"/>
          </a:xfrm>
          <a:prstGeom prst="line">
            <a:avLst/>
          </a:prstGeom>
          <a:noFill/>
          <a:ln w="25400">
            <a:solidFill>
              <a:srgbClr val="17A199"/>
            </a:solidFill>
            <a:prstDash val="dash"/>
          </a:ln>
        </p:spPr>
      </p:sp>
      <p:sp>
        <p:nvSpPr>
          <p:cNvPr id="15" name="stn3"/>
          <p:cNvSpPr/>
          <p:nvPr/>
        </p:nvSpPr>
        <p:spPr>
          <a:xfrm>
            <a:off x="645566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640994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6748272" y="457200"/>
            <a:ext cx="420624" cy="0"/>
          </a:xfrm>
          <a:prstGeom prst="line">
            <a:avLst/>
          </a:prstGeom>
          <a:noFill/>
          <a:ln w="25400">
            <a:solidFill>
              <a:srgbClr val="17A199"/>
            </a:solidFill>
            <a:prstDash val="dash"/>
          </a:ln>
        </p:spPr>
      </p:sp>
      <p:sp>
        <p:nvSpPr>
          <p:cNvPr id="18" name="stn4"/>
          <p:cNvSpPr/>
          <p:nvPr/>
        </p:nvSpPr>
        <p:spPr>
          <a:xfrm>
            <a:off x="716889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712317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7461504" y="457200"/>
            <a:ext cx="420624" cy="0"/>
          </a:xfrm>
          <a:prstGeom prst="line">
            <a:avLst/>
          </a:prstGeom>
          <a:noFill/>
          <a:ln w="25400">
            <a:solidFill>
              <a:srgbClr val="17A199"/>
            </a:solidFill>
            <a:prstDash val="dash"/>
          </a:ln>
        </p:spPr>
      </p:sp>
      <p:sp>
        <p:nvSpPr>
          <p:cNvPr id="21" name="stn5"/>
          <p:cNvSpPr/>
          <p:nvPr/>
        </p:nvSpPr>
        <p:spPr>
          <a:xfrm>
            <a:off x="788212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783640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Text 19"/>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GRAPH IT  ·  10 MIN</a:t>
            </a:r>
            <a:endParaRPr lang="en-US" sz="1200" dirty="0"/>
          </a:p>
        </p:txBody>
      </p:sp>
      <p:sp>
        <p:nvSpPr>
          <p:cNvPr id="24" name="Text 20"/>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Check your picture</a:t>
            </a:r>
            <a:endParaRPr lang="en-US" sz="3000" dirty="0"/>
          </a:p>
        </p:txBody>
      </p:sp>
      <p:sp>
        <p:nvSpPr>
          <p:cNvPr id="26" name="Shape 21"/>
          <p:cNvSpPr/>
          <p:nvPr/>
        </p:nvSpPr>
        <p:spPr>
          <a:xfrm>
            <a:off x="457200" y="1783080"/>
            <a:ext cx="6858000" cy="4526280"/>
          </a:xfrm>
          <a:prstGeom prst="roundRect">
            <a:avLst>
              <a:gd name="adj" fmla="val 242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7" name="Image 2" descr="fig/check_t2.png">    </p:cNvPr>
          <p:cNvPicPr>
            <a:picLocks noChangeAspect="1"/>
          </p:cNvPicPr>
          <p:nvPr/>
        </p:nvPicPr>
        <p:blipFill>
          <a:blip r:embed="rId3"/>
          <a:stretch>
            <a:fillRect/>
          </a:stretch>
        </p:blipFill>
        <p:spPr>
          <a:xfrm>
            <a:off x="868680" y="2011680"/>
            <a:ext cx="6035040" cy="4298462"/>
          </a:xfrm>
          <a:prstGeom prst="rect">
            <a:avLst/>
          </a:prstGeom>
        </p:spPr>
      </p:pic>
      <p:sp>
        <p:nvSpPr>
          <p:cNvPr id="28" name="Shape 22"/>
          <p:cNvSpPr/>
          <p:nvPr/>
        </p:nvSpPr>
        <p:spPr>
          <a:xfrm>
            <a:off x="7498080" y="1783080"/>
            <a:ext cx="4206240" cy="4526280"/>
          </a:xfrm>
          <a:prstGeom prst="roundRect">
            <a:avLst>
              <a:gd name="adj" fmla="val 260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9" name="Text 23"/>
          <p:cNvSpPr txBox="1"/>
          <p:nvPr/>
        </p:nvSpPr>
        <p:spPr>
          <a:xfrm>
            <a:off x="7772400" y="1874520"/>
            <a:ext cx="3840480" cy="274320"/>
          </a:xfrm>
          <a:prstGeom prst="rect">
            <a:avLst/>
          </a:prstGeom>
          <a:noFill/>
          <a:ln/>
        </p:spPr>
        <p:txBody>
          <a:bodyPr wrap="square" lIns="0" tIns="0" rIns="0" bIns="0" rtlCol="0" anchor="t"/>
          <a:lstStyle/>
          <a:p>
            <a:pPr indent="0" marL="0">
              <a:buNone/>
            </a:pPr>
            <a:r>
              <a:rPr lang="en-US" sz="1200" b="1" spc="200" kern="0" dirty="0">
                <a:solidFill>
                  <a:srgbClr val="F0B323"/>
                </a:solidFill>
                <a:latin typeface="Calibri" pitchFamily="34" charset="0"/>
                <a:ea typeface="Calibri" pitchFamily="34" charset="-122"/>
                <a:cs typeface="Calibri" pitchFamily="34" charset="-120"/>
              </a:rPr>
              <a:t>COMPARE WITH YOUR GRAPH</a:t>
            </a:r>
            <a:endParaRPr lang="en-US" sz="1200" dirty="0"/>
          </a:p>
        </p:txBody>
      </p:sp>
      <p:sp>
        <p:nvSpPr>
          <p:cNvPr id="30" name="Text 24"/>
          <p:cNvSpPr txBox="1"/>
          <p:nvPr/>
        </p:nvSpPr>
        <p:spPr>
          <a:xfrm>
            <a:off x="7772400" y="2286000"/>
            <a:ext cx="374904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Do your four lines meet at one point? Which point?</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What happens to the steepness each time the function is applied again?</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gold dots sit on the dotted vertical line. Where have you seen those numbers before?</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Which line is the limiting case?</a:t>
            </a:r>
            <a:endParaRPr lang="en-US" sz="14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8  ·  UNIT 2  ·  ACTIVITY 4</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502920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498348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5321808" y="457200"/>
            <a:ext cx="420624" cy="0"/>
          </a:xfrm>
          <a:prstGeom prst="line">
            <a:avLst/>
          </a:prstGeom>
          <a:noFill/>
          <a:ln w="25400">
            <a:solidFill>
              <a:srgbClr val="17A199"/>
            </a:solidFill>
            <a:prstDash val="dash"/>
          </a:ln>
        </p:spPr>
      </p:sp>
      <p:sp>
        <p:nvSpPr>
          <p:cNvPr id="12" name="stn2"/>
          <p:cNvSpPr/>
          <p:nvPr/>
        </p:nvSpPr>
        <p:spPr>
          <a:xfrm>
            <a:off x="574243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569671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6035040" y="457200"/>
            <a:ext cx="329184" cy="0"/>
          </a:xfrm>
          <a:prstGeom prst="line">
            <a:avLst/>
          </a:prstGeom>
          <a:noFill/>
          <a:ln w="25400">
            <a:solidFill>
              <a:srgbClr val="17A199"/>
            </a:solidFill>
            <a:prstDash val="dash"/>
          </a:ln>
        </p:spPr>
      </p:sp>
      <p:sp>
        <p:nvSpPr>
          <p:cNvPr id="15" name="stn3"/>
          <p:cNvSpPr/>
          <p:nvPr/>
        </p:nvSpPr>
        <p:spPr>
          <a:xfrm>
            <a:off x="636422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640994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6839712" y="457200"/>
            <a:ext cx="329184" cy="0"/>
          </a:xfrm>
          <a:prstGeom prst="line">
            <a:avLst/>
          </a:prstGeom>
          <a:noFill/>
          <a:ln w="25400">
            <a:solidFill>
              <a:srgbClr val="17A199"/>
            </a:solidFill>
            <a:prstDash val="dash"/>
          </a:ln>
        </p:spPr>
      </p:sp>
      <p:sp>
        <p:nvSpPr>
          <p:cNvPr id="18" name="stn4"/>
          <p:cNvSpPr/>
          <p:nvPr/>
        </p:nvSpPr>
        <p:spPr>
          <a:xfrm>
            <a:off x="716889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712317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7461504" y="457200"/>
            <a:ext cx="420624" cy="0"/>
          </a:xfrm>
          <a:prstGeom prst="line">
            <a:avLst/>
          </a:prstGeom>
          <a:noFill/>
          <a:ln w="25400">
            <a:solidFill>
              <a:srgbClr val="17A199"/>
            </a:solidFill>
            <a:prstDash val="dash"/>
          </a:ln>
        </p:spPr>
      </p:sp>
      <p:sp>
        <p:nvSpPr>
          <p:cNvPr id="21" name="stn5"/>
          <p:cNvSpPr/>
          <p:nvPr/>
        </p:nvSpPr>
        <p:spPr>
          <a:xfrm>
            <a:off x="788212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783640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Text 19"/>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INVESTIGATE  ·  10 MIN</a:t>
            </a:r>
            <a:endParaRPr lang="en-US" sz="1200" dirty="0"/>
          </a:p>
        </p:txBody>
      </p:sp>
      <p:sp>
        <p:nvSpPr>
          <p:cNvPr id="24" name="Text 20"/>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Task 3: other linear functions</a:t>
            </a:r>
            <a:endParaRPr lang="en-US" sz="3000" dirty="0"/>
          </a:p>
        </p:txBody>
      </p:sp>
      <p:sp>
        <p:nvSpPr>
          <p:cNvPr id="26" name="Text 21"/>
          <p:cNvSpPr txBox="1"/>
          <p:nvPr/>
        </p:nvSpPr>
        <p:spPr>
          <a:xfrm>
            <a:off x="457200" y="1737360"/>
            <a:ext cx="2377440" cy="365760"/>
          </a:xfrm>
          <a:prstGeom prst="rect">
            <a:avLst/>
          </a:prstGeom>
          <a:noFill/>
          <a:ln/>
        </p:spPr>
        <p:txBody>
          <a:bodyPr wrap="square" lIns="0" tIns="0" rIns="0" bIns="0" rtlCol="0" anchor="ctr"/>
          <a:lstStyle/>
          <a:p>
            <a:pPr indent="0" marL="0">
              <a:buNone/>
            </a:pPr>
            <a:r>
              <a:rPr lang="en-US" sz="1500" dirty="0">
                <a:solidFill>
                  <a:srgbClr val="222E2D"/>
                </a:solidFill>
                <a:latin typeface="Calibri" pitchFamily="34" charset="0"/>
                <a:ea typeface="Calibri" pitchFamily="34" charset="-122"/>
                <a:cs typeface="Calibri" pitchFamily="34" charset="-120"/>
              </a:rPr>
              <a:t>In shorthand we write:</a:t>
            </a:r>
            <a:endParaRPr lang="en-US" sz="1500" dirty="0"/>
          </a:p>
        </p:txBody>
      </p:sp>
      <p:pic>
        <p:nvPicPr>
          <p:cNvPr id="27" name="Image 2" descr="mw8/short.png">    </p:cNvPr>
          <p:cNvPicPr>
            <a:picLocks noChangeAspect="1"/>
          </p:cNvPicPr>
          <p:nvPr/>
        </p:nvPicPr>
        <p:blipFill>
          <a:blip r:embed="rId3"/>
          <a:stretch>
            <a:fillRect/>
          </a:stretch>
        </p:blipFill>
        <p:spPr>
          <a:xfrm>
            <a:off x="3650102" y="1737360"/>
            <a:ext cx="3489716" cy="286756"/>
          </a:xfrm>
          <a:prstGeom prst="rect">
            <a:avLst/>
          </a:prstGeom>
        </p:spPr>
      </p:pic>
      <p:pic>
        <p:nvPicPr>
          <p:cNvPr id="28" name="Image 3" descr="mw8/seq3.png">    </p:cNvPr>
          <p:cNvPicPr>
            <a:picLocks noChangeAspect="1"/>
          </p:cNvPicPr>
          <p:nvPr/>
        </p:nvPicPr>
        <p:blipFill>
          <a:blip r:embed="rId4"/>
          <a:stretch>
            <a:fillRect/>
          </a:stretch>
        </p:blipFill>
        <p:spPr>
          <a:xfrm>
            <a:off x="9102486" y="1737360"/>
            <a:ext cx="2277588" cy="266273"/>
          </a:xfrm>
          <a:prstGeom prst="rect">
            <a:avLst/>
          </a:prstGeom>
        </p:spPr>
      </p:pic>
      <p:sp>
        <p:nvSpPr>
          <p:cNvPr id="29" name="Shape 22"/>
          <p:cNvSpPr/>
          <p:nvPr/>
        </p:nvSpPr>
        <p:spPr>
          <a:xfrm>
            <a:off x="457200" y="2331720"/>
            <a:ext cx="2697480" cy="914400"/>
          </a:xfrm>
          <a:prstGeom prst="roundRect">
            <a:avLst>
              <a:gd name="adj" fmla="val 12000"/>
            </a:avLst>
          </a:prstGeom>
          <a:solidFill>
            <a:srgbClr val="FFFFFF"/>
          </a:solidFill>
          <a:ln w="15875">
            <a:solidFill>
              <a:srgbClr val="17A199"/>
            </a:solidFill>
            <a:prstDash val="solid"/>
          </a:ln>
          <a:effectLst>
            <a:outerShdw sx="100000" sy="100000" kx="0" ky="0" algn="bl" rotWithShape="0" blurRad="101600" dist="25400" dir="5400000">
              <a:srgbClr val="000000">
                <a:alpha val="15000"/>
              </a:srgbClr>
            </a:outerShdw>
          </a:effectLst>
        </p:spPr>
      </p:sp>
      <p:sp>
        <p:nvSpPr>
          <p:cNvPr id="30" name="Text 23"/>
          <p:cNvSpPr txBox="1"/>
          <p:nvPr/>
        </p:nvSpPr>
        <p:spPr>
          <a:xfrm>
            <a:off x="594360" y="2587752"/>
            <a:ext cx="457200" cy="411480"/>
          </a:xfrm>
          <a:prstGeom prst="rect">
            <a:avLst/>
          </a:prstGeom>
          <a:noFill/>
          <a:ln/>
        </p:spPr>
        <p:txBody>
          <a:bodyPr wrap="square" lIns="0" tIns="0" rIns="0" bIns="0" rtlCol="0" anchor="ctr"/>
          <a:lstStyle/>
          <a:p>
            <a:pPr indent="0" marL="0">
              <a:buNone/>
            </a:pPr>
            <a:r>
              <a:rPr lang="en-US" sz="2200" b="1" dirty="0">
                <a:solidFill>
                  <a:srgbClr val="E8762C"/>
                </a:solidFill>
                <a:latin typeface="Cambria" pitchFamily="34" charset="0"/>
                <a:ea typeface="Cambria" pitchFamily="34" charset="-122"/>
                <a:cs typeface="Cambria" pitchFamily="34" charset="-120"/>
              </a:rPr>
              <a:t>A</a:t>
            </a:r>
            <a:endParaRPr lang="en-US" sz="2200" dirty="0"/>
          </a:p>
        </p:txBody>
      </p:sp>
      <p:pic>
        <p:nvPicPr>
          <p:cNvPr id="31" name="Image 4" descr="mw8/cA.png">    </p:cNvPr>
          <p:cNvPicPr>
            <a:picLocks noChangeAspect="1"/>
          </p:cNvPicPr>
          <p:nvPr/>
        </p:nvPicPr>
        <p:blipFill>
          <a:blip r:embed="rId5"/>
          <a:stretch>
            <a:fillRect/>
          </a:stretch>
        </p:blipFill>
        <p:spPr>
          <a:xfrm>
            <a:off x="1554800" y="2606040"/>
            <a:ext cx="1370960" cy="275783"/>
          </a:xfrm>
          <a:prstGeom prst="rect">
            <a:avLst/>
          </a:prstGeom>
        </p:spPr>
      </p:pic>
      <p:sp>
        <p:nvSpPr>
          <p:cNvPr id="32" name="Shape 24"/>
          <p:cNvSpPr/>
          <p:nvPr/>
        </p:nvSpPr>
        <p:spPr>
          <a:xfrm>
            <a:off x="3291840" y="2331720"/>
            <a:ext cx="2697480" cy="914400"/>
          </a:xfrm>
          <a:prstGeom prst="roundRect">
            <a:avLst>
              <a:gd name="adj" fmla="val 12000"/>
            </a:avLst>
          </a:prstGeom>
          <a:solidFill>
            <a:srgbClr val="FFFFFF"/>
          </a:solidFill>
          <a:ln w="15875">
            <a:solidFill>
              <a:srgbClr val="17A199"/>
            </a:solidFill>
            <a:prstDash val="solid"/>
          </a:ln>
          <a:effectLst>
            <a:outerShdw sx="100000" sy="100000" kx="0" ky="0" algn="bl" rotWithShape="0" blurRad="101600" dist="25400" dir="5400000">
              <a:srgbClr val="000000">
                <a:alpha val="15000"/>
              </a:srgbClr>
            </a:outerShdw>
          </a:effectLst>
        </p:spPr>
      </p:sp>
      <p:sp>
        <p:nvSpPr>
          <p:cNvPr id="33" name="Text 25"/>
          <p:cNvSpPr txBox="1"/>
          <p:nvPr/>
        </p:nvSpPr>
        <p:spPr>
          <a:xfrm>
            <a:off x="3429000" y="2587752"/>
            <a:ext cx="457200" cy="411480"/>
          </a:xfrm>
          <a:prstGeom prst="rect">
            <a:avLst/>
          </a:prstGeom>
          <a:noFill/>
          <a:ln/>
        </p:spPr>
        <p:txBody>
          <a:bodyPr wrap="square" lIns="0" tIns="0" rIns="0" bIns="0" rtlCol="0" anchor="ctr"/>
          <a:lstStyle/>
          <a:p>
            <a:pPr indent="0" marL="0">
              <a:buNone/>
            </a:pPr>
            <a:r>
              <a:rPr lang="en-US" sz="2200" b="1" dirty="0">
                <a:solidFill>
                  <a:srgbClr val="E8762C"/>
                </a:solidFill>
                <a:latin typeface="Cambria" pitchFamily="34" charset="0"/>
                <a:ea typeface="Cambria" pitchFamily="34" charset="-122"/>
                <a:cs typeface="Cambria" pitchFamily="34" charset="-120"/>
              </a:rPr>
              <a:t>B</a:t>
            </a:r>
            <a:endParaRPr lang="en-US" sz="2200" dirty="0"/>
          </a:p>
        </p:txBody>
      </p:sp>
      <p:pic>
        <p:nvPicPr>
          <p:cNvPr id="34" name="Image 5" descr="mw8/cB.png">    </p:cNvPr>
          <p:cNvPicPr>
            <a:picLocks noChangeAspect="1"/>
          </p:cNvPicPr>
          <p:nvPr/>
        </p:nvPicPr>
        <p:blipFill>
          <a:blip r:embed="rId6"/>
          <a:stretch>
            <a:fillRect/>
          </a:stretch>
        </p:blipFill>
        <p:spPr>
          <a:xfrm>
            <a:off x="4443801" y="2606040"/>
            <a:ext cx="1262238" cy="275783"/>
          </a:xfrm>
          <a:prstGeom prst="rect">
            <a:avLst/>
          </a:prstGeom>
        </p:spPr>
      </p:pic>
      <p:sp>
        <p:nvSpPr>
          <p:cNvPr id="35" name="Shape 26"/>
          <p:cNvSpPr/>
          <p:nvPr/>
        </p:nvSpPr>
        <p:spPr>
          <a:xfrm>
            <a:off x="6126480" y="2331720"/>
            <a:ext cx="2697480" cy="914400"/>
          </a:xfrm>
          <a:prstGeom prst="roundRect">
            <a:avLst>
              <a:gd name="adj" fmla="val 12000"/>
            </a:avLst>
          </a:prstGeom>
          <a:solidFill>
            <a:srgbClr val="FFFFFF"/>
          </a:solidFill>
          <a:ln w="15875">
            <a:solidFill>
              <a:srgbClr val="17A199"/>
            </a:solidFill>
            <a:prstDash val="solid"/>
          </a:ln>
          <a:effectLst>
            <a:outerShdw sx="100000" sy="100000" kx="0" ky="0" algn="bl" rotWithShape="0" blurRad="101600" dist="25400" dir="5400000">
              <a:srgbClr val="000000">
                <a:alpha val="15000"/>
              </a:srgbClr>
            </a:outerShdw>
          </a:effectLst>
        </p:spPr>
      </p:sp>
      <p:sp>
        <p:nvSpPr>
          <p:cNvPr id="36" name="Text 27"/>
          <p:cNvSpPr txBox="1"/>
          <p:nvPr/>
        </p:nvSpPr>
        <p:spPr>
          <a:xfrm>
            <a:off x="6263640" y="2587752"/>
            <a:ext cx="457200" cy="411480"/>
          </a:xfrm>
          <a:prstGeom prst="rect">
            <a:avLst/>
          </a:prstGeom>
          <a:noFill/>
          <a:ln/>
        </p:spPr>
        <p:txBody>
          <a:bodyPr wrap="square" lIns="0" tIns="0" rIns="0" bIns="0" rtlCol="0" anchor="ctr"/>
          <a:lstStyle/>
          <a:p>
            <a:pPr indent="0" marL="0">
              <a:buNone/>
            </a:pPr>
            <a:r>
              <a:rPr lang="en-US" sz="2200" b="1" dirty="0">
                <a:solidFill>
                  <a:srgbClr val="E8762C"/>
                </a:solidFill>
                <a:latin typeface="Cambria" pitchFamily="34" charset="0"/>
                <a:ea typeface="Cambria" pitchFamily="34" charset="-122"/>
                <a:cs typeface="Cambria" pitchFamily="34" charset="-120"/>
              </a:rPr>
              <a:t>C</a:t>
            </a:r>
            <a:endParaRPr lang="en-US" sz="2200" dirty="0"/>
          </a:p>
        </p:txBody>
      </p:sp>
      <p:pic>
        <p:nvPicPr>
          <p:cNvPr id="37" name="Image 6" descr="mw8/cC.png">    </p:cNvPr>
          <p:cNvPicPr>
            <a:picLocks noChangeAspect="1"/>
          </p:cNvPicPr>
          <p:nvPr/>
        </p:nvPicPr>
        <p:blipFill>
          <a:blip r:embed="rId7"/>
          <a:stretch>
            <a:fillRect/>
          </a:stretch>
        </p:blipFill>
        <p:spPr>
          <a:xfrm>
            <a:off x="7255901" y="2606040"/>
            <a:ext cx="1307318" cy="450799"/>
          </a:xfrm>
          <a:prstGeom prst="rect">
            <a:avLst/>
          </a:prstGeom>
        </p:spPr>
      </p:pic>
      <p:sp>
        <p:nvSpPr>
          <p:cNvPr id="38" name="Shape 28"/>
          <p:cNvSpPr/>
          <p:nvPr/>
        </p:nvSpPr>
        <p:spPr>
          <a:xfrm>
            <a:off x="8961120" y="2331720"/>
            <a:ext cx="2697480" cy="914400"/>
          </a:xfrm>
          <a:prstGeom prst="roundRect">
            <a:avLst>
              <a:gd name="adj" fmla="val 12000"/>
            </a:avLst>
          </a:prstGeom>
          <a:solidFill>
            <a:srgbClr val="FFFFFF"/>
          </a:solidFill>
          <a:ln w="15875">
            <a:solidFill>
              <a:srgbClr val="17A199"/>
            </a:solidFill>
            <a:prstDash val="solid"/>
          </a:ln>
          <a:effectLst>
            <a:outerShdw sx="100000" sy="100000" kx="0" ky="0" algn="bl" rotWithShape="0" blurRad="101600" dist="25400" dir="5400000">
              <a:srgbClr val="000000">
                <a:alpha val="15000"/>
              </a:srgbClr>
            </a:outerShdw>
          </a:effectLst>
        </p:spPr>
      </p:sp>
      <p:sp>
        <p:nvSpPr>
          <p:cNvPr id="39" name="Text 29"/>
          <p:cNvSpPr txBox="1"/>
          <p:nvPr/>
        </p:nvSpPr>
        <p:spPr>
          <a:xfrm>
            <a:off x="9098280" y="2587752"/>
            <a:ext cx="457200" cy="411480"/>
          </a:xfrm>
          <a:prstGeom prst="rect">
            <a:avLst/>
          </a:prstGeom>
          <a:noFill/>
          <a:ln/>
        </p:spPr>
        <p:txBody>
          <a:bodyPr wrap="square" lIns="0" tIns="0" rIns="0" bIns="0" rtlCol="0" anchor="ctr"/>
          <a:lstStyle/>
          <a:p>
            <a:pPr indent="0" marL="0">
              <a:buNone/>
            </a:pPr>
            <a:r>
              <a:rPr lang="en-US" sz="2200" b="1" dirty="0">
                <a:solidFill>
                  <a:srgbClr val="E8762C"/>
                </a:solidFill>
                <a:latin typeface="Cambria" pitchFamily="34" charset="0"/>
                <a:ea typeface="Cambria" pitchFamily="34" charset="-122"/>
                <a:cs typeface="Cambria" pitchFamily="34" charset="-120"/>
              </a:rPr>
              <a:t>D</a:t>
            </a:r>
            <a:endParaRPr lang="en-US" sz="2200" dirty="0"/>
          </a:p>
        </p:txBody>
      </p:sp>
      <p:pic>
        <p:nvPicPr>
          <p:cNvPr id="40" name="Image 7" descr="mw8/cD.png">    </p:cNvPr>
          <p:cNvPicPr>
            <a:picLocks noChangeAspect="1"/>
          </p:cNvPicPr>
          <p:nvPr/>
        </p:nvPicPr>
        <p:blipFill>
          <a:blip r:embed="rId8"/>
          <a:stretch>
            <a:fillRect/>
          </a:stretch>
        </p:blipFill>
        <p:spPr>
          <a:xfrm>
            <a:off x="10037506" y="2606040"/>
            <a:ext cx="1413388" cy="498531"/>
          </a:xfrm>
          <a:prstGeom prst="rect">
            <a:avLst/>
          </a:prstGeom>
        </p:spPr>
      </p:pic>
      <p:sp>
        <p:nvSpPr>
          <p:cNvPr id="41" name="Shape 30"/>
          <p:cNvSpPr/>
          <p:nvPr/>
        </p:nvSpPr>
        <p:spPr>
          <a:xfrm>
            <a:off x="457200" y="3355848"/>
            <a:ext cx="2697480" cy="914400"/>
          </a:xfrm>
          <a:prstGeom prst="roundRect">
            <a:avLst>
              <a:gd name="adj" fmla="val 12000"/>
            </a:avLst>
          </a:prstGeom>
          <a:solidFill>
            <a:srgbClr val="FFFFFF"/>
          </a:solidFill>
          <a:ln w="15875">
            <a:solidFill>
              <a:srgbClr val="1F3864"/>
            </a:solidFill>
            <a:prstDash val="solid"/>
          </a:ln>
          <a:effectLst>
            <a:outerShdw sx="100000" sy="100000" kx="0" ky="0" algn="bl" rotWithShape="0" blurRad="101600" dist="25400" dir="5400000">
              <a:srgbClr val="000000">
                <a:alpha val="15000"/>
              </a:srgbClr>
            </a:outerShdw>
          </a:effectLst>
        </p:spPr>
      </p:sp>
      <p:sp>
        <p:nvSpPr>
          <p:cNvPr id="42" name="Text 31"/>
          <p:cNvSpPr txBox="1"/>
          <p:nvPr/>
        </p:nvSpPr>
        <p:spPr>
          <a:xfrm>
            <a:off x="594360" y="3611880"/>
            <a:ext cx="457200" cy="411480"/>
          </a:xfrm>
          <a:prstGeom prst="rect">
            <a:avLst/>
          </a:prstGeom>
          <a:noFill/>
          <a:ln/>
        </p:spPr>
        <p:txBody>
          <a:bodyPr wrap="square" lIns="0" tIns="0" rIns="0" bIns="0" rtlCol="0" anchor="ctr"/>
          <a:lstStyle/>
          <a:p>
            <a:pPr indent="0" marL="0">
              <a:buNone/>
            </a:pPr>
            <a:r>
              <a:rPr lang="en-US" sz="2200" b="1" dirty="0">
                <a:solidFill>
                  <a:srgbClr val="E8762C"/>
                </a:solidFill>
                <a:latin typeface="Cambria" pitchFamily="34" charset="0"/>
                <a:ea typeface="Cambria" pitchFamily="34" charset="-122"/>
                <a:cs typeface="Cambria" pitchFamily="34" charset="-120"/>
              </a:rPr>
              <a:t>E</a:t>
            </a:r>
            <a:endParaRPr lang="en-US" sz="2200" dirty="0"/>
          </a:p>
        </p:txBody>
      </p:sp>
      <p:pic>
        <p:nvPicPr>
          <p:cNvPr id="43" name="Image 8" descr="mw8/cE.png">    </p:cNvPr>
          <p:cNvPicPr>
            <a:picLocks noChangeAspect="1"/>
          </p:cNvPicPr>
          <p:nvPr/>
        </p:nvPicPr>
        <p:blipFill>
          <a:blip r:embed="rId9"/>
          <a:stretch>
            <a:fillRect/>
          </a:stretch>
        </p:blipFill>
        <p:spPr>
          <a:xfrm>
            <a:off x="1501765" y="3630168"/>
            <a:ext cx="1477030" cy="450799"/>
          </a:xfrm>
          <a:prstGeom prst="rect">
            <a:avLst/>
          </a:prstGeom>
        </p:spPr>
      </p:pic>
      <p:sp>
        <p:nvSpPr>
          <p:cNvPr id="44" name="Shape 32"/>
          <p:cNvSpPr/>
          <p:nvPr/>
        </p:nvSpPr>
        <p:spPr>
          <a:xfrm>
            <a:off x="3291840" y="3355848"/>
            <a:ext cx="2697480" cy="914400"/>
          </a:xfrm>
          <a:prstGeom prst="roundRect">
            <a:avLst>
              <a:gd name="adj" fmla="val 12000"/>
            </a:avLst>
          </a:prstGeom>
          <a:solidFill>
            <a:srgbClr val="FFFFFF"/>
          </a:solidFill>
          <a:ln w="15875">
            <a:solidFill>
              <a:srgbClr val="1F3864"/>
            </a:solidFill>
            <a:prstDash val="solid"/>
          </a:ln>
          <a:effectLst>
            <a:outerShdw sx="100000" sy="100000" kx="0" ky="0" algn="bl" rotWithShape="0" blurRad="101600" dist="25400" dir="5400000">
              <a:srgbClr val="000000">
                <a:alpha val="15000"/>
              </a:srgbClr>
            </a:outerShdw>
          </a:effectLst>
        </p:spPr>
      </p:sp>
      <p:sp>
        <p:nvSpPr>
          <p:cNvPr id="45" name="Text 33"/>
          <p:cNvSpPr txBox="1"/>
          <p:nvPr/>
        </p:nvSpPr>
        <p:spPr>
          <a:xfrm>
            <a:off x="3429000" y="3611880"/>
            <a:ext cx="457200" cy="411480"/>
          </a:xfrm>
          <a:prstGeom prst="rect">
            <a:avLst/>
          </a:prstGeom>
          <a:noFill/>
          <a:ln/>
        </p:spPr>
        <p:txBody>
          <a:bodyPr wrap="square" lIns="0" tIns="0" rIns="0" bIns="0" rtlCol="0" anchor="ctr"/>
          <a:lstStyle/>
          <a:p>
            <a:pPr indent="0" marL="0">
              <a:buNone/>
            </a:pPr>
            <a:r>
              <a:rPr lang="en-US" sz="2200" b="1" dirty="0">
                <a:solidFill>
                  <a:srgbClr val="E8762C"/>
                </a:solidFill>
                <a:latin typeface="Cambria" pitchFamily="34" charset="0"/>
                <a:ea typeface="Cambria" pitchFamily="34" charset="-122"/>
                <a:cs typeface="Cambria" pitchFamily="34" charset="-120"/>
              </a:rPr>
              <a:t>F</a:t>
            </a:r>
            <a:endParaRPr lang="en-US" sz="2200" dirty="0"/>
          </a:p>
        </p:txBody>
      </p:sp>
      <p:pic>
        <p:nvPicPr>
          <p:cNvPr id="46" name="Image 9" descr="mw8/cF.png">    </p:cNvPr>
          <p:cNvPicPr>
            <a:picLocks noChangeAspect="1"/>
          </p:cNvPicPr>
          <p:nvPr/>
        </p:nvPicPr>
        <p:blipFill>
          <a:blip r:embed="rId10"/>
          <a:stretch>
            <a:fillRect/>
          </a:stretch>
        </p:blipFill>
        <p:spPr>
          <a:xfrm>
            <a:off x="4358945" y="3630168"/>
            <a:ext cx="1431950" cy="275783"/>
          </a:xfrm>
          <a:prstGeom prst="rect">
            <a:avLst/>
          </a:prstGeom>
        </p:spPr>
      </p:pic>
      <p:sp>
        <p:nvSpPr>
          <p:cNvPr id="47" name="Shape 34"/>
          <p:cNvSpPr/>
          <p:nvPr/>
        </p:nvSpPr>
        <p:spPr>
          <a:xfrm>
            <a:off x="6126480" y="3355848"/>
            <a:ext cx="2697480" cy="914400"/>
          </a:xfrm>
          <a:prstGeom prst="roundRect">
            <a:avLst>
              <a:gd name="adj" fmla="val 12000"/>
            </a:avLst>
          </a:prstGeom>
          <a:solidFill>
            <a:srgbClr val="FFFFFF"/>
          </a:solidFill>
          <a:ln w="15875">
            <a:solidFill>
              <a:srgbClr val="1F3864"/>
            </a:solidFill>
            <a:prstDash val="solid"/>
          </a:ln>
          <a:effectLst>
            <a:outerShdw sx="100000" sy="100000" kx="0" ky="0" algn="bl" rotWithShape="0" blurRad="101600" dist="25400" dir="5400000">
              <a:srgbClr val="000000">
                <a:alpha val="15000"/>
              </a:srgbClr>
            </a:outerShdw>
          </a:effectLst>
        </p:spPr>
      </p:sp>
      <p:sp>
        <p:nvSpPr>
          <p:cNvPr id="48" name="Text 35"/>
          <p:cNvSpPr txBox="1"/>
          <p:nvPr/>
        </p:nvSpPr>
        <p:spPr>
          <a:xfrm>
            <a:off x="6263640" y="3611880"/>
            <a:ext cx="457200" cy="411480"/>
          </a:xfrm>
          <a:prstGeom prst="rect">
            <a:avLst/>
          </a:prstGeom>
          <a:noFill/>
          <a:ln/>
        </p:spPr>
        <p:txBody>
          <a:bodyPr wrap="square" lIns="0" tIns="0" rIns="0" bIns="0" rtlCol="0" anchor="ctr"/>
          <a:lstStyle/>
          <a:p>
            <a:pPr indent="0" marL="0">
              <a:buNone/>
            </a:pPr>
            <a:r>
              <a:rPr lang="en-US" sz="2200" b="1" dirty="0">
                <a:solidFill>
                  <a:srgbClr val="E8762C"/>
                </a:solidFill>
                <a:latin typeface="Cambria" pitchFamily="34" charset="0"/>
                <a:ea typeface="Cambria" pitchFamily="34" charset="-122"/>
                <a:cs typeface="Cambria" pitchFamily="34" charset="-120"/>
              </a:rPr>
              <a:t>G</a:t>
            </a:r>
            <a:endParaRPr lang="en-US" sz="2200" dirty="0"/>
          </a:p>
        </p:txBody>
      </p:sp>
      <p:pic>
        <p:nvPicPr>
          <p:cNvPr id="49" name="Image 10" descr="mw8/cG.png">    </p:cNvPr>
          <p:cNvPicPr>
            <a:picLocks noChangeAspect="1"/>
          </p:cNvPicPr>
          <p:nvPr/>
        </p:nvPicPr>
        <p:blipFill>
          <a:blip r:embed="rId11"/>
          <a:stretch>
            <a:fillRect/>
          </a:stretch>
        </p:blipFill>
        <p:spPr>
          <a:xfrm>
            <a:off x="7139224" y="3630168"/>
            <a:ext cx="1540673" cy="275783"/>
          </a:xfrm>
          <a:prstGeom prst="rect">
            <a:avLst/>
          </a:prstGeom>
        </p:spPr>
      </p:pic>
      <p:sp>
        <p:nvSpPr>
          <p:cNvPr id="50" name="Shape 36"/>
          <p:cNvSpPr/>
          <p:nvPr/>
        </p:nvSpPr>
        <p:spPr>
          <a:xfrm>
            <a:off x="8961120" y="3355848"/>
            <a:ext cx="2697480" cy="914400"/>
          </a:xfrm>
          <a:prstGeom prst="roundRect">
            <a:avLst>
              <a:gd name="adj" fmla="val 12000"/>
            </a:avLst>
          </a:prstGeom>
          <a:solidFill>
            <a:srgbClr val="FFFFFF"/>
          </a:solidFill>
          <a:ln w="15875">
            <a:solidFill>
              <a:srgbClr val="1F3864"/>
            </a:solidFill>
            <a:prstDash val="solid"/>
          </a:ln>
          <a:effectLst>
            <a:outerShdw sx="100000" sy="100000" kx="0" ky="0" algn="bl" rotWithShape="0" blurRad="101600" dist="25400" dir="5400000">
              <a:srgbClr val="000000">
                <a:alpha val="15000"/>
              </a:srgbClr>
            </a:outerShdw>
          </a:effectLst>
        </p:spPr>
      </p:sp>
      <p:sp>
        <p:nvSpPr>
          <p:cNvPr id="51" name="Text 37"/>
          <p:cNvSpPr txBox="1"/>
          <p:nvPr/>
        </p:nvSpPr>
        <p:spPr>
          <a:xfrm>
            <a:off x="9098280" y="3611880"/>
            <a:ext cx="457200" cy="411480"/>
          </a:xfrm>
          <a:prstGeom prst="rect">
            <a:avLst/>
          </a:prstGeom>
          <a:noFill/>
          <a:ln/>
        </p:spPr>
        <p:txBody>
          <a:bodyPr wrap="square" lIns="0" tIns="0" rIns="0" bIns="0" rtlCol="0" anchor="ctr"/>
          <a:lstStyle/>
          <a:p>
            <a:pPr indent="0" marL="0">
              <a:buNone/>
            </a:pPr>
            <a:r>
              <a:rPr lang="en-US" sz="2200" b="1" dirty="0">
                <a:solidFill>
                  <a:srgbClr val="E8762C"/>
                </a:solidFill>
                <a:latin typeface="Cambria" pitchFamily="34" charset="0"/>
                <a:ea typeface="Cambria" pitchFamily="34" charset="-122"/>
                <a:cs typeface="Cambria" pitchFamily="34" charset="-120"/>
              </a:rPr>
              <a:t>H</a:t>
            </a:r>
            <a:endParaRPr lang="en-US" sz="2200" dirty="0"/>
          </a:p>
        </p:txBody>
      </p:sp>
      <p:pic>
        <p:nvPicPr>
          <p:cNvPr id="52" name="Image 11" descr="mw8/cH.png">    </p:cNvPr>
          <p:cNvPicPr>
            <a:picLocks noChangeAspect="1"/>
          </p:cNvPicPr>
          <p:nvPr/>
        </p:nvPicPr>
        <p:blipFill>
          <a:blip r:embed="rId12"/>
          <a:stretch>
            <a:fillRect/>
          </a:stretch>
        </p:blipFill>
        <p:spPr>
          <a:xfrm>
            <a:off x="10057394" y="3630168"/>
            <a:ext cx="1373612" cy="275783"/>
          </a:xfrm>
          <a:prstGeom prst="rect">
            <a:avLst/>
          </a:prstGeom>
        </p:spPr>
      </p:pic>
      <p:sp>
        <p:nvSpPr>
          <p:cNvPr id="53" name="Shape 38"/>
          <p:cNvSpPr/>
          <p:nvPr/>
        </p:nvSpPr>
        <p:spPr>
          <a:xfrm>
            <a:off x="457200" y="4526280"/>
            <a:ext cx="5532120" cy="1783080"/>
          </a:xfrm>
          <a:prstGeom prst="roundRect">
            <a:avLst>
              <a:gd name="adj" fmla="val 615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54" name="Text 39"/>
          <p:cNvSpPr txBox="1"/>
          <p:nvPr/>
        </p:nvSpPr>
        <p:spPr>
          <a:xfrm>
            <a:off x="731520" y="4617720"/>
            <a:ext cx="3657600" cy="274320"/>
          </a:xfrm>
          <a:prstGeom prst="rect">
            <a:avLst/>
          </a:prstGeom>
          <a:noFill/>
          <a:ln/>
        </p:spPr>
        <p:txBody>
          <a:bodyPr wrap="square" lIns="0" tIns="0" rIns="0" bIns="0" rtlCol="0" anchor="t"/>
          <a:lstStyle/>
          <a:p>
            <a:pPr indent="0" marL="0">
              <a:buNone/>
            </a:pPr>
            <a:r>
              <a:rPr lang="en-US" sz="1200" b="1" spc="200" kern="0" dirty="0">
                <a:solidFill>
                  <a:srgbClr val="F0B323"/>
                </a:solidFill>
                <a:latin typeface="Calibri" pitchFamily="34" charset="0"/>
                <a:ea typeface="Calibri" pitchFamily="34" charset="-122"/>
                <a:cs typeface="Calibri" pitchFamily="34" charset="-120"/>
              </a:rPr>
              <a:t>FOR EACH CARD</a:t>
            </a:r>
            <a:endParaRPr lang="en-US" sz="1200" dirty="0"/>
          </a:p>
        </p:txBody>
      </p:sp>
      <p:sp>
        <p:nvSpPr>
          <p:cNvPr id="55" name="Text 40"/>
          <p:cNvSpPr txBox="1"/>
          <p:nvPr/>
        </p:nvSpPr>
        <p:spPr>
          <a:xfrm>
            <a:off x="731520" y="4937760"/>
            <a:ext cx="502920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Find the value that the function maps onto itself, if there is one.</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Choose a start value and list at least six terms.</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Describe what the terms do.</a:t>
            </a:r>
            <a:endParaRPr lang="en-US" sz="1400" dirty="0"/>
          </a:p>
        </p:txBody>
      </p:sp>
      <p:sp>
        <p:nvSpPr>
          <p:cNvPr id="56" name="Shape 41"/>
          <p:cNvSpPr/>
          <p:nvPr/>
        </p:nvSpPr>
        <p:spPr>
          <a:xfrm>
            <a:off x="6172200" y="4526280"/>
            <a:ext cx="5532120" cy="1783080"/>
          </a:xfrm>
          <a:prstGeom prst="roundRect">
            <a:avLst>
              <a:gd name="adj" fmla="val 615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57" name="Text 42"/>
          <p:cNvSpPr txBox="1"/>
          <p:nvPr/>
        </p:nvSpPr>
        <p:spPr>
          <a:xfrm>
            <a:off x="6446520" y="461772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WHAT DO YOU NOTICE?</a:t>
            </a:r>
            <a:endParaRPr lang="en-US" sz="1100" dirty="0"/>
          </a:p>
        </p:txBody>
      </p:sp>
      <p:sp>
        <p:nvSpPr>
          <p:cNvPr id="58" name="Text 43"/>
          <p:cNvSpPr txBox="1"/>
          <p:nvPr/>
        </p:nvSpPr>
        <p:spPr>
          <a:xfrm>
            <a:off x="6446520" y="4937760"/>
            <a:ext cx="5029200" cy="132588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Each crew member takes two cards. Sort all eight into families. What decides the family: the gradient, the intercept, or both? Explain any general results you find.</a:t>
            </a:r>
            <a:endParaRPr lang="en-US" sz="14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8  ·  UNIT 2  ·  ACTIVITY 4</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502920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498348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5321808" y="457200"/>
            <a:ext cx="420624" cy="0"/>
          </a:xfrm>
          <a:prstGeom prst="line">
            <a:avLst/>
          </a:prstGeom>
          <a:noFill/>
          <a:ln w="25400">
            <a:solidFill>
              <a:srgbClr val="17A199"/>
            </a:solidFill>
            <a:prstDash val="dash"/>
          </a:ln>
        </p:spPr>
      </p:sp>
      <p:sp>
        <p:nvSpPr>
          <p:cNvPr id="12" name="stn2"/>
          <p:cNvSpPr/>
          <p:nvPr/>
        </p:nvSpPr>
        <p:spPr>
          <a:xfrm>
            <a:off x="574243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569671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6035040" y="457200"/>
            <a:ext cx="329184" cy="0"/>
          </a:xfrm>
          <a:prstGeom prst="line">
            <a:avLst/>
          </a:prstGeom>
          <a:noFill/>
          <a:ln w="25400">
            <a:solidFill>
              <a:srgbClr val="17A199"/>
            </a:solidFill>
            <a:prstDash val="dash"/>
          </a:ln>
        </p:spPr>
      </p:sp>
      <p:sp>
        <p:nvSpPr>
          <p:cNvPr id="15" name="stn3"/>
          <p:cNvSpPr/>
          <p:nvPr/>
        </p:nvSpPr>
        <p:spPr>
          <a:xfrm>
            <a:off x="636422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640994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6839712" y="457200"/>
            <a:ext cx="329184" cy="0"/>
          </a:xfrm>
          <a:prstGeom prst="line">
            <a:avLst/>
          </a:prstGeom>
          <a:noFill/>
          <a:ln w="25400">
            <a:solidFill>
              <a:srgbClr val="17A199"/>
            </a:solidFill>
            <a:prstDash val="dash"/>
          </a:ln>
        </p:spPr>
      </p:sp>
      <p:sp>
        <p:nvSpPr>
          <p:cNvPr id="18" name="stn4"/>
          <p:cNvSpPr/>
          <p:nvPr/>
        </p:nvSpPr>
        <p:spPr>
          <a:xfrm>
            <a:off x="716889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712317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7461504" y="457200"/>
            <a:ext cx="420624" cy="0"/>
          </a:xfrm>
          <a:prstGeom prst="line">
            <a:avLst/>
          </a:prstGeom>
          <a:noFill/>
          <a:ln w="25400">
            <a:solidFill>
              <a:srgbClr val="17A199"/>
            </a:solidFill>
            <a:prstDash val="dash"/>
          </a:ln>
        </p:spPr>
      </p:sp>
      <p:sp>
        <p:nvSpPr>
          <p:cNvPr id="21" name="stn5"/>
          <p:cNvSpPr/>
          <p:nvPr/>
        </p:nvSpPr>
        <p:spPr>
          <a:xfrm>
            <a:off x="788212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783640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Text 19"/>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INVESTIGATE  ·  10 MIN</a:t>
            </a:r>
            <a:endParaRPr lang="en-US" sz="1200" dirty="0"/>
          </a:p>
        </p:txBody>
      </p:sp>
      <p:sp>
        <p:nvSpPr>
          <p:cNvPr id="24" name="Text 20"/>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Task 3: explain with algebra</a:t>
            </a:r>
            <a:endParaRPr lang="en-US" sz="3000" dirty="0"/>
          </a:p>
        </p:txBody>
      </p:sp>
      <p:sp>
        <p:nvSpPr>
          <p:cNvPr id="26" name="Text 21"/>
          <p:cNvSpPr txBox="1"/>
          <p:nvPr/>
        </p:nvSpPr>
        <p:spPr>
          <a:xfrm>
            <a:off x="457200" y="1737360"/>
            <a:ext cx="3200400" cy="457200"/>
          </a:xfrm>
          <a:prstGeom prst="rect">
            <a:avLst/>
          </a:prstGeom>
          <a:noFill/>
          <a:ln/>
        </p:spPr>
        <p:txBody>
          <a:bodyPr wrap="square" lIns="0" tIns="0" rIns="0" bIns="0" rtlCol="0" anchor="ctr"/>
          <a:lstStyle/>
          <a:p>
            <a:pPr indent="0" marL="0">
              <a:buNone/>
            </a:pPr>
            <a:r>
              <a:rPr lang="en-US" sz="1600" dirty="0">
                <a:solidFill>
                  <a:srgbClr val="222E2D"/>
                </a:solidFill>
                <a:latin typeface="Calibri" pitchFamily="34" charset="0"/>
                <a:ea typeface="Calibri" pitchFamily="34" charset="-122"/>
                <a:cs typeface="Calibri" pitchFamily="34" charset="-120"/>
              </a:rPr>
              <a:t>Take a general linear function</a:t>
            </a:r>
            <a:endParaRPr lang="en-US" sz="1600" dirty="0"/>
          </a:p>
        </p:txBody>
      </p:sp>
      <p:pic>
        <p:nvPicPr>
          <p:cNvPr id="27" name="Image 2" descr="mw8/gen.png">    </p:cNvPr>
          <p:cNvPicPr>
            <a:picLocks noChangeAspect="1"/>
          </p:cNvPicPr>
          <p:nvPr/>
        </p:nvPicPr>
        <p:blipFill>
          <a:blip r:embed="rId3"/>
          <a:stretch>
            <a:fillRect/>
          </a:stretch>
        </p:blipFill>
        <p:spPr>
          <a:xfrm>
            <a:off x="4279666" y="1737360"/>
            <a:ext cx="1681947" cy="323332"/>
          </a:xfrm>
          <a:prstGeom prst="rect">
            <a:avLst/>
          </a:prstGeom>
        </p:spPr>
      </p:pic>
      <p:sp>
        <p:nvSpPr>
          <p:cNvPr id="28" name="Shape 22"/>
          <p:cNvSpPr/>
          <p:nvPr/>
        </p:nvSpPr>
        <p:spPr>
          <a:xfrm>
            <a:off x="457200" y="2377440"/>
            <a:ext cx="6766560" cy="749808"/>
          </a:xfrm>
          <a:prstGeom prst="roundRect">
            <a:avLst>
              <a:gd name="adj" fmla="val 14634"/>
            </a:avLst>
          </a:prstGeom>
          <a:solidFill>
            <a:srgbClr val="FFFFFF"/>
          </a:solidFill>
          <a:ln w="15875">
            <a:solidFill>
              <a:srgbClr val="17A199"/>
            </a:solidFill>
            <a:prstDash val="solid"/>
          </a:ln>
          <a:effectLst>
            <a:outerShdw sx="100000" sy="100000" kx="0" ky="0" algn="bl" rotWithShape="0" blurRad="101600" dist="25400" dir="5400000">
              <a:srgbClr val="000000">
                <a:alpha val="15000"/>
              </a:srgbClr>
            </a:outerShdw>
          </a:effectLst>
        </p:spPr>
      </p:sp>
      <p:pic>
        <p:nvPicPr>
          <p:cNvPr id="29" name="Image 3" descr="mw8/lab_f2.png">    </p:cNvPr>
          <p:cNvPicPr>
            <a:picLocks noChangeAspect="1"/>
          </p:cNvPicPr>
          <p:nvPr/>
        </p:nvPicPr>
        <p:blipFill>
          <a:blip r:embed="rId4"/>
          <a:stretch>
            <a:fillRect/>
          </a:stretch>
        </p:blipFill>
        <p:spPr>
          <a:xfrm>
            <a:off x="731520" y="2542032"/>
            <a:ext cx="820217" cy="307238"/>
          </a:xfrm>
          <a:prstGeom prst="rect">
            <a:avLst/>
          </a:prstGeom>
        </p:spPr>
      </p:pic>
      <p:sp>
        <p:nvSpPr>
          <p:cNvPr id="30" name="Shape 23"/>
          <p:cNvSpPr/>
          <p:nvPr/>
        </p:nvSpPr>
        <p:spPr>
          <a:xfrm>
            <a:off x="2743200" y="2971800"/>
            <a:ext cx="4206240" cy="0"/>
          </a:xfrm>
          <a:prstGeom prst="line">
            <a:avLst/>
          </a:prstGeom>
          <a:noFill/>
          <a:ln w="12700">
            <a:solidFill>
              <a:srgbClr val="9FB2B0"/>
            </a:solidFill>
            <a:prstDash val="dash"/>
          </a:ln>
        </p:spPr>
      </p:sp>
      <p:sp>
        <p:nvSpPr>
          <p:cNvPr id="31" name="Shape 24"/>
          <p:cNvSpPr/>
          <p:nvPr/>
        </p:nvSpPr>
        <p:spPr>
          <a:xfrm>
            <a:off x="457200" y="3246120"/>
            <a:ext cx="6766560" cy="749808"/>
          </a:xfrm>
          <a:prstGeom prst="roundRect">
            <a:avLst>
              <a:gd name="adj" fmla="val 14634"/>
            </a:avLst>
          </a:prstGeom>
          <a:solidFill>
            <a:srgbClr val="FFFFFF"/>
          </a:solidFill>
          <a:ln w="15875">
            <a:solidFill>
              <a:srgbClr val="17A199"/>
            </a:solidFill>
            <a:prstDash val="solid"/>
          </a:ln>
          <a:effectLst>
            <a:outerShdw sx="100000" sy="100000" kx="0" ky="0" algn="bl" rotWithShape="0" blurRad="101600" dist="25400" dir="5400000">
              <a:srgbClr val="000000">
                <a:alpha val="15000"/>
              </a:srgbClr>
            </a:outerShdw>
          </a:effectLst>
        </p:spPr>
      </p:sp>
      <p:pic>
        <p:nvPicPr>
          <p:cNvPr id="32" name="Image 4" descr="mw8/lab_f3.png">    </p:cNvPr>
          <p:cNvPicPr>
            <a:picLocks noChangeAspect="1"/>
          </p:cNvPicPr>
          <p:nvPr/>
        </p:nvPicPr>
        <p:blipFill>
          <a:blip r:embed="rId5"/>
          <a:stretch>
            <a:fillRect/>
          </a:stretch>
        </p:blipFill>
        <p:spPr>
          <a:xfrm>
            <a:off x="731520" y="3410712"/>
            <a:ext cx="820217" cy="307238"/>
          </a:xfrm>
          <a:prstGeom prst="rect">
            <a:avLst/>
          </a:prstGeom>
        </p:spPr>
      </p:pic>
      <p:sp>
        <p:nvSpPr>
          <p:cNvPr id="33" name="Shape 25"/>
          <p:cNvSpPr/>
          <p:nvPr/>
        </p:nvSpPr>
        <p:spPr>
          <a:xfrm>
            <a:off x="2743200" y="3840480"/>
            <a:ext cx="4206240" cy="0"/>
          </a:xfrm>
          <a:prstGeom prst="line">
            <a:avLst/>
          </a:prstGeom>
          <a:noFill/>
          <a:ln w="12700">
            <a:solidFill>
              <a:srgbClr val="9FB2B0"/>
            </a:solidFill>
            <a:prstDash val="dash"/>
          </a:ln>
        </p:spPr>
      </p:sp>
      <p:sp>
        <p:nvSpPr>
          <p:cNvPr id="34" name="Shape 26"/>
          <p:cNvSpPr/>
          <p:nvPr/>
        </p:nvSpPr>
        <p:spPr>
          <a:xfrm>
            <a:off x="457200" y="4114800"/>
            <a:ext cx="6766560" cy="749808"/>
          </a:xfrm>
          <a:prstGeom prst="roundRect">
            <a:avLst>
              <a:gd name="adj" fmla="val 14634"/>
            </a:avLst>
          </a:prstGeom>
          <a:solidFill>
            <a:srgbClr val="FFFFFF"/>
          </a:solidFill>
          <a:ln w="15875">
            <a:solidFill>
              <a:srgbClr val="17A199"/>
            </a:solidFill>
            <a:prstDash val="solid"/>
          </a:ln>
          <a:effectLst>
            <a:outerShdw sx="100000" sy="100000" kx="0" ky="0" algn="bl" rotWithShape="0" blurRad="101600" dist="25400" dir="5400000">
              <a:srgbClr val="000000">
                <a:alpha val="15000"/>
              </a:srgbClr>
            </a:outerShdw>
          </a:effectLst>
        </p:spPr>
      </p:sp>
      <p:pic>
        <p:nvPicPr>
          <p:cNvPr id="35" name="Image 5" descr="mw8/lab_f4.png">    </p:cNvPr>
          <p:cNvPicPr>
            <a:picLocks noChangeAspect="1"/>
          </p:cNvPicPr>
          <p:nvPr/>
        </p:nvPicPr>
        <p:blipFill>
          <a:blip r:embed="rId6"/>
          <a:stretch>
            <a:fillRect/>
          </a:stretch>
        </p:blipFill>
        <p:spPr>
          <a:xfrm>
            <a:off x="731520" y="4279392"/>
            <a:ext cx="820217" cy="307238"/>
          </a:xfrm>
          <a:prstGeom prst="rect">
            <a:avLst/>
          </a:prstGeom>
        </p:spPr>
      </p:pic>
      <p:sp>
        <p:nvSpPr>
          <p:cNvPr id="36" name="Shape 27"/>
          <p:cNvSpPr/>
          <p:nvPr/>
        </p:nvSpPr>
        <p:spPr>
          <a:xfrm>
            <a:off x="2743200" y="4709160"/>
            <a:ext cx="4206240" cy="0"/>
          </a:xfrm>
          <a:prstGeom prst="line">
            <a:avLst/>
          </a:prstGeom>
          <a:noFill/>
          <a:ln w="12700">
            <a:solidFill>
              <a:srgbClr val="9FB2B0"/>
            </a:solidFill>
            <a:prstDash val="dash"/>
          </a:ln>
        </p:spPr>
      </p:sp>
      <p:sp>
        <p:nvSpPr>
          <p:cNvPr id="37" name="Shape 28"/>
          <p:cNvSpPr/>
          <p:nvPr/>
        </p:nvSpPr>
        <p:spPr>
          <a:xfrm>
            <a:off x="457200" y="4983480"/>
            <a:ext cx="6766560" cy="749808"/>
          </a:xfrm>
          <a:prstGeom prst="roundRect">
            <a:avLst>
              <a:gd name="adj" fmla="val 14634"/>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pic>
        <p:nvPicPr>
          <p:cNvPr id="38" name="Image 6" descr="mw8/lab_fn.png">    </p:cNvPr>
          <p:cNvPicPr>
            <a:picLocks noChangeAspect="1"/>
          </p:cNvPicPr>
          <p:nvPr/>
        </p:nvPicPr>
        <p:blipFill>
          <a:blip r:embed="rId7"/>
          <a:stretch>
            <a:fillRect/>
          </a:stretch>
        </p:blipFill>
        <p:spPr>
          <a:xfrm>
            <a:off x="731520" y="5148072"/>
            <a:ext cx="836676" cy="285293"/>
          </a:xfrm>
          <a:prstGeom prst="rect">
            <a:avLst/>
          </a:prstGeom>
        </p:spPr>
      </p:pic>
      <p:sp>
        <p:nvSpPr>
          <p:cNvPr id="39" name="Shape 29"/>
          <p:cNvSpPr/>
          <p:nvPr/>
        </p:nvSpPr>
        <p:spPr>
          <a:xfrm>
            <a:off x="2743200" y="5577840"/>
            <a:ext cx="4206240" cy="0"/>
          </a:xfrm>
          <a:prstGeom prst="line">
            <a:avLst/>
          </a:prstGeom>
          <a:noFill/>
          <a:ln w="12700">
            <a:solidFill>
              <a:srgbClr val="9FB2B0"/>
            </a:solidFill>
            <a:prstDash val="dash"/>
          </a:ln>
        </p:spPr>
      </p:sp>
      <p:sp>
        <p:nvSpPr>
          <p:cNvPr id="40" name="Shape 30"/>
          <p:cNvSpPr/>
          <p:nvPr/>
        </p:nvSpPr>
        <p:spPr>
          <a:xfrm>
            <a:off x="7406640" y="2377440"/>
            <a:ext cx="4297680" cy="2286000"/>
          </a:xfrm>
          <a:prstGeom prst="roundRect">
            <a:avLst>
              <a:gd name="adj" fmla="val 48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1" name="Text 31"/>
          <p:cNvSpPr txBox="1"/>
          <p:nvPr/>
        </p:nvSpPr>
        <p:spPr>
          <a:xfrm>
            <a:off x="7680960" y="2468880"/>
            <a:ext cx="3657600" cy="274320"/>
          </a:xfrm>
          <a:prstGeom prst="rect">
            <a:avLst/>
          </a:prstGeom>
          <a:noFill/>
          <a:ln/>
        </p:spPr>
        <p:txBody>
          <a:bodyPr wrap="square" lIns="0" tIns="0" rIns="0" bIns="0" rtlCol="0" anchor="t"/>
          <a:lstStyle/>
          <a:p>
            <a:pPr indent="0" marL="0">
              <a:buNone/>
            </a:pPr>
            <a:r>
              <a:rPr lang="en-US" sz="1200" b="1" spc="200" kern="0" dirty="0">
                <a:solidFill>
                  <a:srgbClr val="F0B323"/>
                </a:solidFill>
                <a:latin typeface="Calibri" pitchFamily="34" charset="0"/>
                <a:ea typeface="Calibri" pitchFamily="34" charset="-122"/>
                <a:cs typeface="Calibri" pitchFamily="34" charset="-120"/>
              </a:rPr>
              <a:t>TRY THIS</a:t>
            </a:r>
            <a:endParaRPr lang="en-US" sz="1200" dirty="0"/>
          </a:p>
        </p:txBody>
      </p:sp>
      <p:sp>
        <p:nvSpPr>
          <p:cNvPr id="42" name="Text 32"/>
          <p:cNvSpPr txBox="1"/>
          <p:nvPr/>
        </p:nvSpPr>
        <p:spPr>
          <a:xfrm>
            <a:off x="7680960" y="2788920"/>
            <a:ext cx="384048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Apply the rule to its own output and expand.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Look for the pattern in the power of the gradient and in the constant term.</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Test your formula on two of your cards.</a:t>
            </a:r>
            <a:endParaRPr lang="en-US" sz="1400" dirty="0"/>
          </a:p>
        </p:txBody>
      </p:sp>
      <p:sp>
        <p:nvSpPr>
          <p:cNvPr id="43" name="Shape 33"/>
          <p:cNvSpPr/>
          <p:nvPr/>
        </p:nvSpPr>
        <p:spPr>
          <a:xfrm>
            <a:off x="7406640" y="4846320"/>
            <a:ext cx="4297680" cy="1463040"/>
          </a:xfrm>
          <a:prstGeom prst="roundRect">
            <a:avLst>
              <a:gd name="adj" fmla="val 75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4" name="Text 34"/>
          <p:cNvSpPr txBox="1"/>
          <p:nvPr/>
        </p:nvSpPr>
        <p:spPr>
          <a:xfrm>
            <a:off x="7680960" y="493776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EXPLAIN</a:t>
            </a:r>
            <a:endParaRPr lang="en-US" sz="1100" dirty="0"/>
          </a:p>
        </p:txBody>
      </p:sp>
      <p:sp>
        <p:nvSpPr>
          <p:cNvPr id="45" name="Text 35"/>
          <p:cNvSpPr txBox="1"/>
          <p:nvPr/>
        </p:nvSpPr>
        <p:spPr>
          <a:xfrm>
            <a:off x="7680960" y="5257800"/>
            <a:ext cx="3840480" cy="100584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Use your formula to explain what happens to the terms when the gradient is large, small or negative.</a:t>
            </a:r>
            <a:endParaRPr lang="en-US" sz="1400" dirty="0"/>
          </a:p>
        </p:txBody>
      </p:sp>
      <p:sp>
        <p:nvSpPr>
          <p:cNvPr id="46" name="Text 36"/>
          <p:cNvSpPr txBox="1"/>
          <p:nvPr/>
        </p:nvSpPr>
        <p:spPr>
          <a:xfrm>
            <a:off x="457200" y="5943600"/>
            <a:ext cx="6766560" cy="365760"/>
          </a:xfrm>
          <a:prstGeom prst="rect">
            <a:avLst/>
          </a:prstGeom>
          <a:noFill/>
          <a:ln/>
        </p:spPr>
        <p:txBody>
          <a:bodyPr wrap="square" lIns="0" tIns="0" rIns="0" bIns="0" rtlCol="0" anchor="t"/>
          <a:lstStyle/>
          <a:p>
            <a:pPr indent="0" marL="0">
              <a:buNone/>
            </a:pPr>
            <a:r>
              <a:rPr lang="en-US" sz="1400" b="1" dirty="0">
                <a:solidFill>
                  <a:srgbClr val="1F3864"/>
                </a:solidFill>
                <a:latin typeface="Calibri" pitchFamily="34" charset="0"/>
                <a:ea typeface="Calibri" pitchFamily="34" charset="-122"/>
                <a:cs typeface="Calibri" pitchFamily="34" charset="-120"/>
              </a:rPr>
              <a:t>Done by minute 30.</a:t>
            </a:r>
            <a:endParaRPr lang="en-US" sz="14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8  ·  UNIT 2  ·  ACTIVITY 4</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502920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498348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5321808" y="457200"/>
            <a:ext cx="420624" cy="0"/>
          </a:xfrm>
          <a:prstGeom prst="line">
            <a:avLst/>
          </a:prstGeom>
          <a:noFill/>
          <a:ln w="25400">
            <a:solidFill>
              <a:srgbClr val="17A199"/>
            </a:solidFill>
            <a:prstDash val="dash"/>
          </a:ln>
        </p:spPr>
      </p:sp>
      <p:sp>
        <p:nvSpPr>
          <p:cNvPr id="12" name="stn2"/>
          <p:cNvSpPr/>
          <p:nvPr/>
        </p:nvSpPr>
        <p:spPr>
          <a:xfrm>
            <a:off x="574243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569671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6035040" y="457200"/>
            <a:ext cx="420624" cy="0"/>
          </a:xfrm>
          <a:prstGeom prst="line">
            <a:avLst/>
          </a:prstGeom>
          <a:noFill/>
          <a:ln w="25400">
            <a:solidFill>
              <a:srgbClr val="17A199"/>
            </a:solidFill>
            <a:prstDash val="dash"/>
          </a:ln>
        </p:spPr>
      </p:sp>
      <p:sp>
        <p:nvSpPr>
          <p:cNvPr id="15" name="stn3"/>
          <p:cNvSpPr/>
          <p:nvPr/>
        </p:nvSpPr>
        <p:spPr>
          <a:xfrm>
            <a:off x="645566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640994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6748272" y="457200"/>
            <a:ext cx="329184" cy="0"/>
          </a:xfrm>
          <a:prstGeom prst="line">
            <a:avLst/>
          </a:prstGeom>
          <a:noFill/>
          <a:ln w="25400">
            <a:solidFill>
              <a:srgbClr val="17A199"/>
            </a:solidFill>
            <a:prstDash val="dash"/>
          </a:ln>
        </p:spPr>
      </p:sp>
      <p:sp>
        <p:nvSpPr>
          <p:cNvPr id="18" name="stn4"/>
          <p:cNvSpPr/>
          <p:nvPr/>
        </p:nvSpPr>
        <p:spPr>
          <a:xfrm>
            <a:off x="707745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712317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7552944" y="457200"/>
            <a:ext cx="329184" cy="0"/>
          </a:xfrm>
          <a:prstGeom prst="line">
            <a:avLst/>
          </a:prstGeom>
          <a:noFill/>
          <a:ln w="25400">
            <a:solidFill>
              <a:srgbClr val="17A199"/>
            </a:solidFill>
            <a:prstDash val="dash"/>
          </a:ln>
        </p:spPr>
      </p:sp>
      <p:sp>
        <p:nvSpPr>
          <p:cNvPr id="21" name="stn5"/>
          <p:cNvSpPr/>
          <p:nvPr/>
        </p:nvSpPr>
        <p:spPr>
          <a:xfrm>
            <a:off x="788212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783640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Text 19"/>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APPLY  ·  5 MIN</a:t>
            </a:r>
            <a:endParaRPr lang="en-US" sz="1200" dirty="0"/>
          </a:p>
        </p:txBody>
      </p:sp>
      <p:sp>
        <p:nvSpPr>
          <p:cNvPr id="24" name="Text 20"/>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Apply: a Jeddah tree nursery</a:t>
            </a:r>
            <a:endParaRPr lang="en-US" sz="3000" dirty="0"/>
          </a:p>
        </p:txBody>
      </p:sp>
      <p:sp>
        <p:nvSpPr>
          <p:cNvPr id="26" name="Shape 21"/>
          <p:cNvSpPr/>
          <p:nvPr/>
        </p:nvSpPr>
        <p:spPr>
          <a:xfrm>
            <a:off x="457200" y="1783080"/>
            <a:ext cx="6675120" cy="4526280"/>
          </a:xfrm>
          <a:prstGeom prst="roundRect">
            <a:avLst>
              <a:gd name="adj" fmla="val 242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7" name="Text 22"/>
          <p:cNvSpPr txBox="1"/>
          <p:nvPr/>
        </p:nvSpPr>
        <p:spPr>
          <a:xfrm>
            <a:off x="731520" y="1874520"/>
            <a:ext cx="45720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MODEL VALUES</a:t>
            </a:r>
            <a:endParaRPr lang="en-US" sz="1100" dirty="0"/>
          </a:p>
        </p:txBody>
      </p:sp>
      <p:sp>
        <p:nvSpPr>
          <p:cNvPr id="28" name="Text 23"/>
          <p:cNvSpPr txBox="1"/>
          <p:nvPr/>
        </p:nvSpPr>
        <p:spPr>
          <a:xfrm>
            <a:off x="731520" y="2194560"/>
            <a:ext cx="6126480" cy="1005840"/>
          </a:xfrm>
          <a:prstGeom prst="rect">
            <a:avLst/>
          </a:prstGeom>
          <a:noFill/>
          <a:ln/>
        </p:spPr>
        <p:txBody>
          <a:bodyPr wrap="square" lIns="0" tIns="0" rIns="0" bIns="0" rtlCol="0" anchor="t"/>
          <a:lstStyle/>
          <a:p>
            <a:pPr indent="0" marL="0">
              <a:buNone/>
            </a:pPr>
            <a:r>
              <a:rPr lang="en-US" sz="1500" dirty="0">
                <a:solidFill>
                  <a:srgbClr val="222E2D"/>
                </a:solidFill>
                <a:latin typeface="Calibri" pitchFamily="34" charset="0"/>
                <a:ea typeface="Calibri" pitchFamily="34" charset="-122"/>
                <a:cs typeface="Calibri" pitchFamily="34" charset="-120"/>
              </a:rPr>
              <a:t>A Jeddah nursery grows saplings for tree-planting projects in the spirit of the Saudi Green Initiative. Each year 20% of its saplings are lost and 500 new ones are planted.</a:t>
            </a:r>
            <a:endParaRPr lang="en-US" sz="1500" dirty="0"/>
          </a:p>
        </p:txBody>
      </p:sp>
      <p:pic>
        <p:nvPicPr>
          <p:cNvPr id="29" name="Image 2" descr="mw8/nur_def.png">    </p:cNvPr>
          <p:cNvPicPr>
            <a:picLocks noChangeAspect="1"/>
          </p:cNvPicPr>
          <p:nvPr/>
        </p:nvPicPr>
        <p:blipFill>
          <a:blip r:embed="rId3"/>
          <a:stretch>
            <a:fillRect/>
          </a:stretch>
        </p:blipFill>
        <p:spPr>
          <a:xfrm>
            <a:off x="1887687" y="3246120"/>
            <a:ext cx="3814145" cy="228234"/>
          </a:xfrm>
          <a:prstGeom prst="rect">
            <a:avLst/>
          </a:prstGeom>
        </p:spPr>
      </p:pic>
      <p:pic>
        <p:nvPicPr>
          <p:cNvPr id="30" name="Image 3" descr="mw8/nur_f.png">    </p:cNvPr>
          <p:cNvPicPr>
            <a:picLocks noChangeAspect="1"/>
          </p:cNvPicPr>
          <p:nvPr/>
        </p:nvPicPr>
        <p:blipFill>
          <a:blip r:embed="rId4"/>
          <a:stretch>
            <a:fillRect/>
          </a:stretch>
        </p:blipFill>
        <p:spPr>
          <a:xfrm>
            <a:off x="1525219" y="3611880"/>
            <a:ext cx="2435962" cy="380390"/>
          </a:xfrm>
          <a:prstGeom prst="rect">
            <a:avLst/>
          </a:prstGeom>
        </p:spPr>
      </p:pic>
      <p:sp>
        <p:nvSpPr>
          <p:cNvPr id="31" name="Text 24"/>
          <p:cNvSpPr txBox="1"/>
          <p:nvPr/>
        </p:nvSpPr>
        <p:spPr>
          <a:xfrm>
            <a:off x="731520" y="4297680"/>
            <a:ext cx="6126480" cy="19202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It starts with 1000 saplings. How many after 1, 2 and 3 years?</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In the long run, how many saplings will it hold? Use your Task 2 idea.</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What if only 10% were lost each year? Predict first, then check.</a:t>
            </a:r>
            <a:endParaRPr lang="en-US" sz="1500" dirty="0"/>
          </a:p>
        </p:txBody>
      </p:sp>
      <p:sp>
        <p:nvSpPr>
          <p:cNvPr id="32" name="Shape 25"/>
          <p:cNvSpPr/>
          <p:nvPr/>
        </p:nvSpPr>
        <p:spPr>
          <a:xfrm>
            <a:off x="7315200" y="1783080"/>
            <a:ext cx="4389120" cy="4526280"/>
          </a:xfrm>
          <a:prstGeom prst="roundRect">
            <a:avLst>
              <a:gd name="adj" fmla="val 2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7589520" y="1874520"/>
            <a:ext cx="3657600" cy="274320"/>
          </a:xfrm>
          <a:prstGeom prst="rect">
            <a:avLst/>
          </a:prstGeom>
          <a:noFill/>
          <a:ln/>
        </p:spPr>
        <p:txBody>
          <a:bodyPr wrap="square" lIns="0" tIns="0" rIns="0" bIns="0" rtlCol="0" anchor="t"/>
          <a:lstStyle/>
          <a:p>
            <a:pPr indent="0" marL="0">
              <a:buNone/>
            </a:pPr>
            <a:r>
              <a:rPr lang="en-US" sz="1200" b="1" spc="200" kern="0" dirty="0">
                <a:solidFill>
                  <a:srgbClr val="F0B323"/>
                </a:solidFill>
                <a:latin typeface="Calibri" pitchFamily="34" charset="0"/>
                <a:ea typeface="Calibri" pitchFamily="34" charset="-122"/>
                <a:cs typeface="Calibri" pitchFamily="34" charset="-120"/>
              </a:rPr>
              <a:t>THINK</a:t>
            </a:r>
            <a:endParaRPr lang="en-US" sz="1200" dirty="0"/>
          </a:p>
        </p:txBody>
      </p:sp>
      <p:sp>
        <p:nvSpPr>
          <p:cNvPr id="34" name="Text 27"/>
          <p:cNvSpPr txBox="1"/>
          <p:nvPr/>
        </p:nvSpPr>
        <p:spPr>
          <a:xfrm>
            <a:off x="7589520" y="2240280"/>
            <a:ext cx="3931920" cy="39319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What does the fraction kept each year tell you about the gradient?</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Does the long-run number change if it starts above or below it?</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These numbers are illustrative model values, not real nursery data.</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8  ·  UNIT 2  ·  ACTIVITY 4</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502920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498348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5321808" y="457200"/>
            <a:ext cx="420624" cy="0"/>
          </a:xfrm>
          <a:prstGeom prst="line">
            <a:avLst/>
          </a:prstGeom>
          <a:noFill/>
          <a:ln w="25400">
            <a:solidFill>
              <a:srgbClr val="17A199"/>
            </a:solidFill>
            <a:prstDash val="dash"/>
          </a:ln>
        </p:spPr>
      </p:sp>
      <p:sp>
        <p:nvSpPr>
          <p:cNvPr id="12" name="stn2"/>
          <p:cNvSpPr/>
          <p:nvPr/>
        </p:nvSpPr>
        <p:spPr>
          <a:xfrm>
            <a:off x="574243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569671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6035040" y="457200"/>
            <a:ext cx="420624" cy="0"/>
          </a:xfrm>
          <a:prstGeom prst="line">
            <a:avLst/>
          </a:prstGeom>
          <a:noFill/>
          <a:ln w="25400">
            <a:solidFill>
              <a:srgbClr val="17A199"/>
            </a:solidFill>
            <a:prstDash val="dash"/>
          </a:ln>
        </p:spPr>
      </p:sp>
      <p:sp>
        <p:nvSpPr>
          <p:cNvPr id="15" name="stn3"/>
          <p:cNvSpPr/>
          <p:nvPr/>
        </p:nvSpPr>
        <p:spPr>
          <a:xfrm>
            <a:off x="645566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640994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6748272" y="457200"/>
            <a:ext cx="420624" cy="0"/>
          </a:xfrm>
          <a:prstGeom prst="line">
            <a:avLst/>
          </a:prstGeom>
          <a:noFill/>
          <a:ln w="25400">
            <a:solidFill>
              <a:srgbClr val="17A199"/>
            </a:solidFill>
            <a:prstDash val="dash"/>
          </a:ln>
        </p:spPr>
      </p:sp>
      <p:sp>
        <p:nvSpPr>
          <p:cNvPr id="18" name="stn4"/>
          <p:cNvSpPr/>
          <p:nvPr/>
        </p:nvSpPr>
        <p:spPr>
          <a:xfrm>
            <a:off x="716889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712317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7461504" y="457200"/>
            <a:ext cx="329184" cy="0"/>
          </a:xfrm>
          <a:prstGeom prst="line">
            <a:avLst/>
          </a:prstGeom>
          <a:noFill/>
          <a:ln w="25400">
            <a:solidFill>
              <a:srgbClr val="17A199"/>
            </a:solidFill>
            <a:prstDash val="dash"/>
          </a:ln>
        </p:spPr>
      </p:sp>
      <p:sp>
        <p:nvSpPr>
          <p:cNvPr id="21" name="stn5"/>
          <p:cNvSpPr/>
          <p:nvPr/>
        </p:nvSpPr>
        <p:spPr>
          <a:xfrm>
            <a:off x="779068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783640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19"/>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PRESENT  ·  5 MIN</a:t>
            </a:r>
            <a:endParaRPr lang="en-US" sz="1200" dirty="0"/>
          </a:p>
        </p:txBody>
      </p:sp>
      <p:sp>
        <p:nvSpPr>
          <p:cNvPr id="24" name="Text 20"/>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Present and record</a:t>
            </a:r>
            <a:endParaRPr lang="en-US" sz="3000" dirty="0"/>
          </a:p>
        </p:txBody>
      </p:sp>
      <p:sp>
        <p:nvSpPr>
          <p:cNvPr id="26" name="Shape 21"/>
          <p:cNvSpPr/>
          <p:nvPr/>
        </p:nvSpPr>
        <p:spPr>
          <a:xfrm>
            <a:off x="457200" y="1783080"/>
            <a:ext cx="5303520" cy="4526280"/>
          </a:xfrm>
          <a:prstGeom prst="roundRect">
            <a:avLst>
              <a:gd name="adj" fmla="val 242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7" name="Text 22"/>
          <p:cNvSpPr txBox="1"/>
          <p:nvPr/>
        </p:nvSpPr>
        <p:spPr>
          <a:xfrm>
            <a:off x="731520" y="1874520"/>
            <a:ext cx="45720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CREW REPORT  ·  1 MINUTE</a:t>
            </a:r>
            <a:endParaRPr lang="en-US" sz="1100" dirty="0"/>
          </a:p>
        </p:txBody>
      </p:sp>
      <p:sp>
        <p:nvSpPr>
          <p:cNvPr id="28" name="Text 23"/>
          <p:cNvSpPr txBox="1"/>
          <p:nvPr/>
        </p:nvSpPr>
        <p:spPr>
          <a:xfrm>
            <a:off x="731520" y="2240280"/>
            <a:ext cx="4754880" cy="2926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E2D"/>
                </a:solidFill>
                <a:latin typeface="Calibri" pitchFamily="34" charset="0"/>
                <a:ea typeface="Calibri" pitchFamily="34" charset="-122"/>
                <a:cs typeface="Calibri" pitchFamily="34" charset="-120"/>
              </a:rPr>
              <a:t>Two Reporters each show one result: one from Task 2 and one from Task 3 or the nursery.</a:t>
            </a:r>
            <a:endParaRPr lang="en-US" sz="1500" dirty="0"/>
          </a:p>
          <a:p>
            <a:pPr marL="342900" indent="-342900">
              <a:spcAft>
                <a:spcPts val="800"/>
              </a:spcAft>
              <a:buSzPct val="100000"/>
              <a:buChar char="•"/>
            </a:pPr>
            <a:r>
              <a:rPr lang="en-US" sz="1500" dirty="0">
                <a:solidFill>
                  <a:srgbClr val="222E2D"/>
                </a:solidFill>
                <a:latin typeface="Calibri" pitchFamily="34" charset="0"/>
                <a:ea typeface="Calibri" pitchFamily="34" charset="-122"/>
                <a:cs typeface="Calibri" pitchFamily="34" charset="-120"/>
              </a:rPr>
              <a:t>Give the evidence: your table, your graph or your algebra.</a:t>
            </a:r>
            <a:endParaRPr lang="en-US" sz="1500" dirty="0"/>
          </a:p>
          <a:p>
            <a:pPr marL="342900" indent="-342900">
              <a:spcAft>
                <a:spcPts val="800"/>
              </a:spcAft>
              <a:buSzPct val="100000"/>
              <a:buChar char="•"/>
            </a:pPr>
            <a:r>
              <a:rPr lang="en-US" sz="1500" dirty="0">
                <a:solidFill>
                  <a:srgbClr val="222E2D"/>
                </a:solidFill>
                <a:latin typeface="Calibri" pitchFamily="34" charset="0"/>
                <a:ea typeface="Calibri" pitchFamily="34" charset="-122"/>
                <a:cs typeface="Calibri" pitchFamily="34" charset="-120"/>
              </a:rPr>
              <a:t>Another crew asks one question. The Checker answers.</a:t>
            </a:r>
            <a:endParaRPr lang="en-US" sz="1500" dirty="0"/>
          </a:p>
        </p:txBody>
      </p:sp>
      <p:sp>
        <p:nvSpPr>
          <p:cNvPr id="29" name="Text 24"/>
          <p:cNvSpPr txBox="1"/>
          <p:nvPr/>
        </p:nvSpPr>
        <p:spPr>
          <a:xfrm>
            <a:off x="731520" y="5303520"/>
            <a:ext cx="4754880" cy="731520"/>
          </a:xfrm>
          <a:prstGeom prst="rect">
            <a:avLst/>
          </a:prstGeom>
          <a:noFill/>
          <a:ln/>
        </p:spPr>
        <p:txBody>
          <a:bodyPr wrap="square" lIns="0" tIns="0" rIns="0" bIns="0" rtlCol="0" anchor="t"/>
          <a:lstStyle/>
          <a:p>
            <a:pPr indent="0" marL="0">
              <a:buNone/>
            </a:pPr>
            <a:r>
              <a:rPr lang="en-US" sz="1400" b="1" dirty="0">
                <a:solidFill>
                  <a:srgbClr val="1F3864"/>
                </a:solidFill>
                <a:latin typeface="Calibri" pitchFamily="34" charset="0"/>
                <a:ea typeface="Calibri" pitchFamily="34" charset="-122"/>
                <a:cs typeface="Calibri" pitchFamily="34" charset="-120"/>
              </a:rPr>
              <a:t>Everyone in the crew can answer for the whole crew.</a:t>
            </a:r>
            <a:endParaRPr lang="en-US" sz="1400" dirty="0"/>
          </a:p>
        </p:txBody>
      </p:sp>
      <p:sp>
        <p:nvSpPr>
          <p:cNvPr id="30" name="Shape 25"/>
          <p:cNvSpPr/>
          <p:nvPr/>
        </p:nvSpPr>
        <p:spPr>
          <a:xfrm>
            <a:off x="5943600" y="1783080"/>
            <a:ext cx="5760720" cy="4526280"/>
          </a:xfrm>
          <a:prstGeom prst="roundRect">
            <a:avLst>
              <a:gd name="adj" fmla="val 242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1" name="Text 26"/>
          <p:cNvSpPr txBox="1"/>
          <p:nvPr/>
        </p:nvSpPr>
        <p:spPr>
          <a:xfrm>
            <a:off x="6217920" y="1874520"/>
            <a:ext cx="4572000" cy="274320"/>
          </a:xfrm>
          <a:prstGeom prst="rect">
            <a:avLst/>
          </a:prstGeom>
          <a:noFill/>
          <a:ln/>
        </p:spPr>
        <p:txBody>
          <a:bodyPr wrap="square" lIns="0" tIns="0" rIns="0" bIns="0" rtlCol="0" anchor="t"/>
          <a:lstStyle/>
          <a:p>
            <a:pPr indent="0" marL="0">
              <a:buNone/>
            </a:pPr>
            <a:r>
              <a:rPr lang="en-US" sz="1200" b="1" spc="200" kern="0" dirty="0">
                <a:solidFill>
                  <a:srgbClr val="F0B323"/>
                </a:solidFill>
                <a:latin typeface="Calibri" pitchFamily="34" charset="0"/>
                <a:ea typeface="Calibri" pitchFamily="34" charset="-122"/>
                <a:cs typeface="Calibri" pitchFamily="34" charset="-120"/>
              </a:rPr>
              <a:t>MY MAWHIBA RECORD</a:t>
            </a:r>
            <a:endParaRPr lang="en-US" sz="1200" dirty="0"/>
          </a:p>
        </p:txBody>
      </p:sp>
      <p:sp>
        <p:nvSpPr>
          <p:cNvPr id="32" name="Text 27"/>
          <p:cNvSpPr txBox="1"/>
          <p:nvPr/>
        </p:nvSpPr>
        <p:spPr>
          <a:xfrm>
            <a:off x="6217920" y="2194560"/>
            <a:ext cx="521208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Tick the value you showed today and write one example.</a:t>
            </a:r>
            <a:endParaRPr lang="en-US" sz="1400" dirty="0"/>
          </a:p>
        </p:txBody>
      </p:sp>
      <p:sp>
        <p:nvSpPr>
          <p:cNvPr id="33" name="Shape 28"/>
          <p:cNvSpPr/>
          <p:nvPr/>
        </p:nvSpPr>
        <p:spPr>
          <a:xfrm>
            <a:off x="6217920" y="2743200"/>
            <a:ext cx="2560320" cy="1005840"/>
          </a:xfrm>
          <a:prstGeom prst="roundRect">
            <a:avLst>
              <a:gd name="adj" fmla="val 10909"/>
            </a:avLst>
          </a:prstGeom>
          <a:solidFill>
            <a:srgbClr val="FFFFFF"/>
          </a:solidFill>
          <a:ln w="19050">
            <a:solidFill>
              <a:srgbClr val="F0B323"/>
            </a:solidFill>
            <a:prstDash val="solid"/>
          </a:ln>
        </p:spPr>
      </p:sp>
      <p:sp>
        <p:nvSpPr>
          <p:cNvPr id="34" name="Shape 29"/>
          <p:cNvSpPr/>
          <p:nvPr/>
        </p:nvSpPr>
        <p:spPr>
          <a:xfrm>
            <a:off x="6355080" y="2880360"/>
            <a:ext cx="274320" cy="274320"/>
          </a:xfrm>
          <a:prstGeom prst="rect">
            <a:avLst/>
          </a:prstGeom>
          <a:solidFill>
            <a:srgbClr val="FFFFFF"/>
          </a:solidFill>
          <a:ln w="19050">
            <a:solidFill>
              <a:srgbClr val="1F3864"/>
            </a:solidFill>
            <a:prstDash val="solid"/>
          </a:ln>
        </p:spPr>
      </p:sp>
      <p:sp>
        <p:nvSpPr>
          <p:cNvPr id="35" name="Text 30"/>
          <p:cNvSpPr txBox="1"/>
          <p:nvPr/>
        </p:nvSpPr>
        <p:spPr>
          <a:xfrm>
            <a:off x="6720840" y="2834640"/>
            <a:ext cx="2011680" cy="365760"/>
          </a:xfrm>
          <a:prstGeom prst="rect">
            <a:avLst/>
          </a:prstGeom>
          <a:noFill/>
          <a:ln/>
        </p:spPr>
        <p:txBody>
          <a:bodyPr wrap="square" lIns="0" tIns="0" rIns="0" bIns="0" rtlCol="0" anchor="ctr"/>
          <a:lstStyle/>
          <a:p>
            <a:pPr indent="0" marL="0">
              <a:buNone/>
            </a:pPr>
            <a:r>
              <a:rPr lang="en-US" sz="1400" b="1" dirty="0">
                <a:solidFill>
                  <a:srgbClr val="1F3864"/>
                </a:solidFill>
                <a:latin typeface="Calibri" pitchFamily="34" charset="0"/>
                <a:ea typeface="Calibri" pitchFamily="34" charset="-122"/>
                <a:cs typeface="Calibri" pitchFamily="34" charset="-120"/>
              </a:rPr>
              <a:t>Inquiry</a:t>
            </a:r>
            <a:endParaRPr lang="en-US" sz="1400" dirty="0"/>
          </a:p>
        </p:txBody>
      </p:sp>
      <p:sp>
        <p:nvSpPr>
          <p:cNvPr id="36" name="Text 31"/>
          <p:cNvSpPr txBox="1"/>
          <p:nvPr/>
        </p:nvSpPr>
        <p:spPr>
          <a:xfrm>
            <a:off x="6400800" y="3337560"/>
            <a:ext cx="2286000" cy="274320"/>
          </a:xfrm>
          <a:prstGeom prst="rect">
            <a:avLst/>
          </a:prstGeom>
          <a:noFill/>
          <a:ln/>
        </p:spPr>
        <p:txBody>
          <a:bodyPr wrap="square" lIns="0" tIns="0" rIns="0" bIns="0" rtlCol="0" anchor="t"/>
          <a:lstStyle/>
          <a:p>
            <a:pPr indent="0" marL="0">
              <a:buNone/>
            </a:pPr>
            <a:r>
              <a:rPr lang="en-US" sz="1100" dirty="0">
                <a:solidFill>
                  <a:srgbClr val="6B7977"/>
                </a:solidFill>
                <a:latin typeface="Calibri" pitchFamily="34" charset="0"/>
                <a:ea typeface="Calibri" pitchFamily="34" charset="-122"/>
                <a:cs typeface="Calibri" pitchFamily="34" charset="-120"/>
              </a:rPr>
              <a:t>example: ...........</a:t>
            </a:r>
            <a:endParaRPr lang="en-US" sz="1100" dirty="0"/>
          </a:p>
        </p:txBody>
      </p:sp>
      <p:sp>
        <p:nvSpPr>
          <p:cNvPr id="37" name="Shape 32"/>
          <p:cNvSpPr/>
          <p:nvPr/>
        </p:nvSpPr>
        <p:spPr>
          <a:xfrm>
            <a:off x="8915400" y="2743200"/>
            <a:ext cx="2560320" cy="1005840"/>
          </a:xfrm>
          <a:prstGeom prst="roundRect">
            <a:avLst>
              <a:gd name="adj" fmla="val 10909"/>
            </a:avLst>
          </a:prstGeom>
          <a:solidFill>
            <a:srgbClr val="FFFFFF"/>
          </a:solidFill>
          <a:ln w="19050">
            <a:solidFill>
              <a:srgbClr val="F0B323"/>
            </a:solidFill>
            <a:prstDash val="solid"/>
          </a:ln>
        </p:spPr>
      </p:sp>
      <p:sp>
        <p:nvSpPr>
          <p:cNvPr id="38" name="Shape 33"/>
          <p:cNvSpPr/>
          <p:nvPr/>
        </p:nvSpPr>
        <p:spPr>
          <a:xfrm>
            <a:off x="9052560" y="2880360"/>
            <a:ext cx="274320" cy="274320"/>
          </a:xfrm>
          <a:prstGeom prst="rect">
            <a:avLst/>
          </a:prstGeom>
          <a:solidFill>
            <a:srgbClr val="FFFFFF"/>
          </a:solidFill>
          <a:ln w="19050">
            <a:solidFill>
              <a:srgbClr val="1F3864"/>
            </a:solidFill>
            <a:prstDash val="solid"/>
          </a:ln>
        </p:spPr>
      </p:sp>
      <p:sp>
        <p:nvSpPr>
          <p:cNvPr id="39" name="Text 34"/>
          <p:cNvSpPr txBox="1"/>
          <p:nvPr/>
        </p:nvSpPr>
        <p:spPr>
          <a:xfrm>
            <a:off x="9418320" y="2834640"/>
            <a:ext cx="2011680" cy="365760"/>
          </a:xfrm>
          <a:prstGeom prst="rect">
            <a:avLst/>
          </a:prstGeom>
          <a:noFill/>
          <a:ln/>
        </p:spPr>
        <p:txBody>
          <a:bodyPr wrap="square" lIns="0" tIns="0" rIns="0" bIns="0" rtlCol="0" anchor="ctr"/>
          <a:lstStyle/>
          <a:p>
            <a:pPr indent="0" marL="0">
              <a:buNone/>
            </a:pPr>
            <a:r>
              <a:rPr lang="en-US" sz="1400" b="1" dirty="0">
                <a:solidFill>
                  <a:srgbClr val="1F3864"/>
                </a:solidFill>
                <a:latin typeface="Calibri" pitchFamily="34" charset="0"/>
                <a:ea typeface="Calibri" pitchFamily="34" charset="-122"/>
                <a:cs typeface="Calibri" pitchFamily="34" charset="-120"/>
              </a:rPr>
              <a:t>Risk taking</a:t>
            </a:r>
            <a:endParaRPr lang="en-US" sz="1400" dirty="0"/>
          </a:p>
        </p:txBody>
      </p:sp>
      <p:sp>
        <p:nvSpPr>
          <p:cNvPr id="40" name="Text 35"/>
          <p:cNvSpPr txBox="1"/>
          <p:nvPr/>
        </p:nvSpPr>
        <p:spPr>
          <a:xfrm>
            <a:off x="9098280" y="3337560"/>
            <a:ext cx="2286000" cy="274320"/>
          </a:xfrm>
          <a:prstGeom prst="rect">
            <a:avLst/>
          </a:prstGeom>
          <a:noFill/>
          <a:ln/>
        </p:spPr>
        <p:txBody>
          <a:bodyPr wrap="square" lIns="0" tIns="0" rIns="0" bIns="0" rtlCol="0" anchor="t"/>
          <a:lstStyle/>
          <a:p>
            <a:pPr indent="0" marL="0">
              <a:buNone/>
            </a:pPr>
            <a:r>
              <a:rPr lang="en-US" sz="1100" dirty="0">
                <a:solidFill>
                  <a:srgbClr val="6B7977"/>
                </a:solidFill>
                <a:latin typeface="Calibri" pitchFamily="34" charset="0"/>
                <a:ea typeface="Calibri" pitchFamily="34" charset="-122"/>
                <a:cs typeface="Calibri" pitchFamily="34" charset="-120"/>
              </a:rPr>
              <a:t>example: ...........</a:t>
            </a:r>
            <a:endParaRPr lang="en-US" sz="1100" dirty="0"/>
          </a:p>
        </p:txBody>
      </p:sp>
      <p:sp>
        <p:nvSpPr>
          <p:cNvPr id="41" name="Shape 36"/>
          <p:cNvSpPr/>
          <p:nvPr/>
        </p:nvSpPr>
        <p:spPr>
          <a:xfrm>
            <a:off x="6217920" y="3886200"/>
            <a:ext cx="2560320" cy="1005840"/>
          </a:xfrm>
          <a:prstGeom prst="roundRect">
            <a:avLst>
              <a:gd name="adj" fmla="val 10909"/>
            </a:avLst>
          </a:prstGeom>
          <a:solidFill>
            <a:srgbClr val="FFFFFF"/>
          </a:solidFill>
          <a:ln w="19050">
            <a:solidFill>
              <a:srgbClr val="F0B323"/>
            </a:solidFill>
            <a:prstDash val="solid"/>
          </a:ln>
        </p:spPr>
      </p:sp>
      <p:sp>
        <p:nvSpPr>
          <p:cNvPr id="42" name="Shape 37"/>
          <p:cNvSpPr/>
          <p:nvPr/>
        </p:nvSpPr>
        <p:spPr>
          <a:xfrm>
            <a:off x="6355080" y="4023360"/>
            <a:ext cx="274320" cy="274320"/>
          </a:xfrm>
          <a:prstGeom prst="rect">
            <a:avLst/>
          </a:prstGeom>
          <a:solidFill>
            <a:srgbClr val="FFFFFF"/>
          </a:solidFill>
          <a:ln w="19050">
            <a:solidFill>
              <a:srgbClr val="1F3864"/>
            </a:solidFill>
            <a:prstDash val="solid"/>
          </a:ln>
        </p:spPr>
      </p:sp>
      <p:sp>
        <p:nvSpPr>
          <p:cNvPr id="43" name="Text 38"/>
          <p:cNvSpPr txBox="1"/>
          <p:nvPr/>
        </p:nvSpPr>
        <p:spPr>
          <a:xfrm>
            <a:off x="6720840" y="3977640"/>
            <a:ext cx="2011680" cy="365760"/>
          </a:xfrm>
          <a:prstGeom prst="rect">
            <a:avLst/>
          </a:prstGeom>
          <a:noFill/>
          <a:ln/>
        </p:spPr>
        <p:txBody>
          <a:bodyPr wrap="square" lIns="0" tIns="0" rIns="0" bIns="0" rtlCol="0" anchor="ctr"/>
          <a:lstStyle/>
          <a:p>
            <a:pPr indent="0" marL="0">
              <a:buNone/>
            </a:pPr>
            <a:r>
              <a:rPr lang="en-US" sz="1400" b="1" dirty="0">
                <a:solidFill>
                  <a:srgbClr val="1F3864"/>
                </a:solidFill>
                <a:latin typeface="Calibri" pitchFamily="34" charset="0"/>
                <a:ea typeface="Calibri" pitchFamily="34" charset="-122"/>
                <a:cs typeface="Calibri" pitchFamily="34" charset="-120"/>
              </a:rPr>
              <a:t>Creativity</a:t>
            </a:r>
            <a:endParaRPr lang="en-US" sz="1400" dirty="0"/>
          </a:p>
        </p:txBody>
      </p:sp>
      <p:sp>
        <p:nvSpPr>
          <p:cNvPr id="44" name="Text 39"/>
          <p:cNvSpPr txBox="1"/>
          <p:nvPr/>
        </p:nvSpPr>
        <p:spPr>
          <a:xfrm>
            <a:off x="6400800" y="4480560"/>
            <a:ext cx="2286000" cy="274320"/>
          </a:xfrm>
          <a:prstGeom prst="rect">
            <a:avLst/>
          </a:prstGeom>
          <a:noFill/>
          <a:ln/>
        </p:spPr>
        <p:txBody>
          <a:bodyPr wrap="square" lIns="0" tIns="0" rIns="0" bIns="0" rtlCol="0" anchor="t"/>
          <a:lstStyle/>
          <a:p>
            <a:pPr indent="0" marL="0">
              <a:buNone/>
            </a:pPr>
            <a:r>
              <a:rPr lang="en-US" sz="1100" dirty="0">
                <a:solidFill>
                  <a:srgbClr val="6B7977"/>
                </a:solidFill>
                <a:latin typeface="Calibri" pitchFamily="34" charset="0"/>
                <a:ea typeface="Calibri" pitchFamily="34" charset="-122"/>
                <a:cs typeface="Calibri" pitchFamily="34" charset="-120"/>
              </a:rPr>
              <a:t>example: ...........</a:t>
            </a:r>
            <a:endParaRPr lang="en-US" sz="1100" dirty="0"/>
          </a:p>
        </p:txBody>
      </p:sp>
      <p:sp>
        <p:nvSpPr>
          <p:cNvPr id="45" name="Shape 40"/>
          <p:cNvSpPr/>
          <p:nvPr/>
        </p:nvSpPr>
        <p:spPr>
          <a:xfrm>
            <a:off x="8915400" y="3886200"/>
            <a:ext cx="2560320" cy="1005840"/>
          </a:xfrm>
          <a:prstGeom prst="roundRect">
            <a:avLst>
              <a:gd name="adj" fmla="val 10909"/>
            </a:avLst>
          </a:prstGeom>
          <a:solidFill>
            <a:srgbClr val="FFFFFF"/>
          </a:solidFill>
          <a:ln w="19050">
            <a:solidFill>
              <a:srgbClr val="F0B323"/>
            </a:solidFill>
            <a:prstDash val="solid"/>
          </a:ln>
        </p:spPr>
      </p:sp>
      <p:sp>
        <p:nvSpPr>
          <p:cNvPr id="46" name="Shape 41"/>
          <p:cNvSpPr/>
          <p:nvPr/>
        </p:nvSpPr>
        <p:spPr>
          <a:xfrm>
            <a:off x="9052560" y="4023360"/>
            <a:ext cx="274320" cy="274320"/>
          </a:xfrm>
          <a:prstGeom prst="rect">
            <a:avLst/>
          </a:prstGeom>
          <a:solidFill>
            <a:srgbClr val="FFFFFF"/>
          </a:solidFill>
          <a:ln w="19050">
            <a:solidFill>
              <a:srgbClr val="1F3864"/>
            </a:solidFill>
            <a:prstDash val="solid"/>
          </a:ln>
        </p:spPr>
      </p:sp>
      <p:sp>
        <p:nvSpPr>
          <p:cNvPr id="47" name="Text 42"/>
          <p:cNvSpPr txBox="1"/>
          <p:nvPr/>
        </p:nvSpPr>
        <p:spPr>
          <a:xfrm>
            <a:off x="9418320" y="3977640"/>
            <a:ext cx="2011680" cy="365760"/>
          </a:xfrm>
          <a:prstGeom prst="rect">
            <a:avLst/>
          </a:prstGeom>
          <a:noFill/>
          <a:ln/>
        </p:spPr>
        <p:txBody>
          <a:bodyPr wrap="square" lIns="0" tIns="0" rIns="0" bIns="0" rtlCol="0" anchor="ctr"/>
          <a:lstStyle/>
          <a:p>
            <a:pPr indent="0" marL="0">
              <a:buNone/>
            </a:pPr>
            <a:r>
              <a:rPr lang="en-US" sz="1400" b="1" dirty="0">
                <a:solidFill>
                  <a:srgbClr val="1F3864"/>
                </a:solidFill>
                <a:latin typeface="Calibri" pitchFamily="34" charset="0"/>
                <a:ea typeface="Calibri" pitchFamily="34" charset="-122"/>
                <a:cs typeface="Calibri" pitchFamily="34" charset="-120"/>
              </a:rPr>
              <a:t>Perseverance</a:t>
            </a:r>
            <a:endParaRPr lang="en-US" sz="1400" dirty="0"/>
          </a:p>
        </p:txBody>
      </p:sp>
      <p:sp>
        <p:nvSpPr>
          <p:cNvPr id="48" name="Text 43"/>
          <p:cNvSpPr txBox="1"/>
          <p:nvPr/>
        </p:nvSpPr>
        <p:spPr>
          <a:xfrm>
            <a:off x="9098280" y="4480560"/>
            <a:ext cx="2286000" cy="274320"/>
          </a:xfrm>
          <a:prstGeom prst="rect">
            <a:avLst/>
          </a:prstGeom>
          <a:noFill/>
          <a:ln/>
        </p:spPr>
        <p:txBody>
          <a:bodyPr wrap="square" lIns="0" tIns="0" rIns="0" bIns="0" rtlCol="0" anchor="t"/>
          <a:lstStyle/>
          <a:p>
            <a:pPr indent="0" marL="0">
              <a:buNone/>
            </a:pPr>
            <a:r>
              <a:rPr lang="en-US" sz="1100" dirty="0">
                <a:solidFill>
                  <a:srgbClr val="6B7977"/>
                </a:solidFill>
                <a:latin typeface="Calibri" pitchFamily="34" charset="0"/>
                <a:ea typeface="Calibri" pitchFamily="34" charset="-122"/>
                <a:cs typeface="Calibri" pitchFamily="34" charset="-120"/>
              </a:rPr>
              <a:t>example: ...........</a:t>
            </a:r>
            <a:endParaRPr lang="en-US" sz="1100" dirty="0"/>
          </a:p>
        </p:txBody>
      </p:sp>
      <p:sp>
        <p:nvSpPr>
          <p:cNvPr id="49" name="Shape 44"/>
          <p:cNvSpPr/>
          <p:nvPr/>
        </p:nvSpPr>
        <p:spPr>
          <a:xfrm>
            <a:off x="6217920" y="5029200"/>
            <a:ext cx="2560320" cy="1005840"/>
          </a:xfrm>
          <a:prstGeom prst="roundRect">
            <a:avLst>
              <a:gd name="adj" fmla="val 10909"/>
            </a:avLst>
          </a:prstGeom>
          <a:solidFill>
            <a:srgbClr val="FFFFFF"/>
          </a:solidFill>
          <a:ln w="19050">
            <a:solidFill>
              <a:srgbClr val="F0B323"/>
            </a:solidFill>
            <a:prstDash val="solid"/>
          </a:ln>
        </p:spPr>
      </p:sp>
      <p:sp>
        <p:nvSpPr>
          <p:cNvPr id="50" name="Shape 45"/>
          <p:cNvSpPr/>
          <p:nvPr/>
        </p:nvSpPr>
        <p:spPr>
          <a:xfrm>
            <a:off x="6355080" y="5166360"/>
            <a:ext cx="274320" cy="274320"/>
          </a:xfrm>
          <a:prstGeom prst="rect">
            <a:avLst/>
          </a:prstGeom>
          <a:solidFill>
            <a:srgbClr val="FFFFFF"/>
          </a:solidFill>
          <a:ln w="19050">
            <a:solidFill>
              <a:srgbClr val="1F3864"/>
            </a:solidFill>
            <a:prstDash val="solid"/>
          </a:ln>
        </p:spPr>
      </p:sp>
      <p:sp>
        <p:nvSpPr>
          <p:cNvPr id="51" name="Text 46"/>
          <p:cNvSpPr txBox="1"/>
          <p:nvPr/>
        </p:nvSpPr>
        <p:spPr>
          <a:xfrm>
            <a:off x="6720840" y="5120640"/>
            <a:ext cx="2011680" cy="365760"/>
          </a:xfrm>
          <a:prstGeom prst="rect">
            <a:avLst/>
          </a:prstGeom>
          <a:noFill/>
          <a:ln/>
        </p:spPr>
        <p:txBody>
          <a:bodyPr wrap="square" lIns="0" tIns="0" rIns="0" bIns="0" rtlCol="0" anchor="ctr"/>
          <a:lstStyle/>
          <a:p>
            <a:pPr indent="0" marL="0">
              <a:buNone/>
            </a:pPr>
            <a:r>
              <a:rPr lang="en-US" sz="1400" b="1" dirty="0">
                <a:solidFill>
                  <a:srgbClr val="1F3864"/>
                </a:solidFill>
                <a:latin typeface="Calibri" pitchFamily="34" charset="0"/>
                <a:ea typeface="Calibri" pitchFamily="34" charset="-122"/>
                <a:cs typeface="Calibri" pitchFamily="34" charset="-120"/>
              </a:rPr>
              <a:t>Collaboration</a:t>
            </a:r>
            <a:endParaRPr lang="en-US" sz="1400" dirty="0"/>
          </a:p>
        </p:txBody>
      </p:sp>
      <p:sp>
        <p:nvSpPr>
          <p:cNvPr id="52" name="Text 47"/>
          <p:cNvSpPr txBox="1"/>
          <p:nvPr/>
        </p:nvSpPr>
        <p:spPr>
          <a:xfrm>
            <a:off x="6400800" y="5623560"/>
            <a:ext cx="2286000" cy="274320"/>
          </a:xfrm>
          <a:prstGeom prst="rect">
            <a:avLst/>
          </a:prstGeom>
          <a:noFill/>
          <a:ln/>
        </p:spPr>
        <p:txBody>
          <a:bodyPr wrap="square" lIns="0" tIns="0" rIns="0" bIns="0" rtlCol="0" anchor="t"/>
          <a:lstStyle/>
          <a:p>
            <a:pPr indent="0" marL="0">
              <a:buNone/>
            </a:pPr>
            <a:r>
              <a:rPr lang="en-US" sz="1100" dirty="0">
                <a:solidFill>
                  <a:srgbClr val="6B7977"/>
                </a:solidFill>
                <a:latin typeface="Calibri" pitchFamily="34" charset="0"/>
                <a:ea typeface="Calibri" pitchFamily="34" charset="-122"/>
                <a:cs typeface="Calibri" pitchFamily="34" charset="-120"/>
              </a:rPr>
              <a:t>example: ...........</a:t>
            </a:r>
            <a:endParaRPr lang="en-US" sz="1100" dirty="0"/>
          </a:p>
        </p:txBody>
      </p:sp>
      <p:sp>
        <p:nvSpPr>
          <p:cNvPr id="53" name="Shape 48"/>
          <p:cNvSpPr/>
          <p:nvPr/>
        </p:nvSpPr>
        <p:spPr>
          <a:xfrm>
            <a:off x="8915400" y="5029200"/>
            <a:ext cx="2560320" cy="1005840"/>
          </a:xfrm>
          <a:prstGeom prst="roundRect">
            <a:avLst>
              <a:gd name="adj" fmla="val 10909"/>
            </a:avLst>
          </a:prstGeom>
          <a:solidFill>
            <a:srgbClr val="FFFFFF"/>
          </a:solidFill>
          <a:ln w="19050">
            <a:solidFill>
              <a:srgbClr val="F0B323"/>
            </a:solidFill>
            <a:prstDash val="solid"/>
          </a:ln>
        </p:spPr>
      </p:sp>
      <p:sp>
        <p:nvSpPr>
          <p:cNvPr id="54" name="Shape 49"/>
          <p:cNvSpPr/>
          <p:nvPr/>
        </p:nvSpPr>
        <p:spPr>
          <a:xfrm>
            <a:off x="9052560" y="5166360"/>
            <a:ext cx="274320" cy="274320"/>
          </a:xfrm>
          <a:prstGeom prst="rect">
            <a:avLst/>
          </a:prstGeom>
          <a:solidFill>
            <a:srgbClr val="FFFFFF"/>
          </a:solidFill>
          <a:ln w="19050">
            <a:solidFill>
              <a:srgbClr val="1F3864"/>
            </a:solidFill>
            <a:prstDash val="solid"/>
          </a:ln>
        </p:spPr>
      </p:sp>
      <p:sp>
        <p:nvSpPr>
          <p:cNvPr id="55" name="Text 50"/>
          <p:cNvSpPr txBox="1"/>
          <p:nvPr/>
        </p:nvSpPr>
        <p:spPr>
          <a:xfrm>
            <a:off x="9418320" y="5120640"/>
            <a:ext cx="2011680" cy="365760"/>
          </a:xfrm>
          <a:prstGeom prst="rect">
            <a:avLst/>
          </a:prstGeom>
          <a:noFill/>
          <a:ln/>
        </p:spPr>
        <p:txBody>
          <a:bodyPr wrap="square" lIns="0" tIns="0" rIns="0" bIns="0" rtlCol="0" anchor="ctr"/>
          <a:lstStyle/>
          <a:p>
            <a:pPr indent="0" marL="0">
              <a:buNone/>
            </a:pPr>
            <a:r>
              <a:rPr lang="en-US" sz="1400" b="1" dirty="0">
                <a:solidFill>
                  <a:srgbClr val="1F3864"/>
                </a:solidFill>
                <a:latin typeface="Calibri" pitchFamily="34" charset="0"/>
                <a:ea typeface="Calibri" pitchFamily="34" charset="-122"/>
                <a:cs typeface="Calibri" pitchFamily="34" charset="-120"/>
              </a:rPr>
              <a:t>Concern for society</a:t>
            </a:r>
            <a:endParaRPr lang="en-US" sz="1400" dirty="0"/>
          </a:p>
        </p:txBody>
      </p:sp>
      <p:sp>
        <p:nvSpPr>
          <p:cNvPr id="56" name="Text 51"/>
          <p:cNvSpPr txBox="1"/>
          <p:nvPr/>
        </p:nvSpPr>
        <p:spPr>
          <a:xfrm>
            <a:off x="9098280" y="5623560"/>
            <a:ext cx="2286000" cy="274320"/>
          </a:xfrm>
          <a:prstGeom prst="rect">
            <a:avLst/>
          </a:prstGeom>
          <a:noFill/>
          <a:ln/>
        </p:spPr>
        <p:txBody>
          <a:bodyPr wrap="square" lIns="0" tIns="0" rIns="0" bIns="0" rtlCol="0" anchor="t"/>
          <a:lstStyle/>
          <a:p>
            <a:pPr indent="0" marL="0">
              <a:buNone/>
            </a:pPr>
            <a:r>
              <a:rPr lang="en-US" sz="1100" dirty="0">
                <a:solidFill>
                  <a:srgbClr val="6B7977"/>
                </a:solidFill>
                <a:latin typeface="Calibri" pitchFamily="34" charset="0"/>
                <a:ea typeface="Calibri" pitchFamily="34" charset="-122"/>
                <a:cs typeface="Calibri" pitchFamily="34" charset="-120"/>
              </a:rPr>
              <a:t>example: ...........</a:t>
            </a:r>
            <a:endParaRPr lang="en-US" sz="11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92240"/>
            <a:ext cx="4754880" cy="228600"/>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MAWHIBA GRADE 9  ·  WEEK 8  ·  UNIT 2  ·  ACTIVITY 4</a:t>
            </a:r>
            <a:endParaRPr lang="en-US" sz="850" dirty="0"/>
          </a:p>
        </p:txBody>
      </p:sp>
      <p:sp>
        <p:nvSpPr>
          <p:cNvPr id="7" name="Text 3"/>
          <p:cNvSpPr txBox="1"/>
          <p:nvPr/>
        </p:nvSpPr>
        <p:spPr>
          <a:xfrm>
            <a:off x="5120640" y="6492240"/>
            <a:ext cx="3474720" cy="228600"/>
          </a:xfrm>
          <a:prstGeom prst="rect">
            <a:avLst/>
          </a:prstGeom>
          <a:noFill/>
          <a:ln/>
        </p:spPr>
        <p:txBody>
          <a:bodyPr wrap="square" lIns="0" tIns="0" rIns="0" bIns="0" rtlCol="0" anchor="t"/>
          <a:lstStyle/>
          <a:p>
            <a:pPr algn="ct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
        <p:nvSpPr>
          <p:cNvPr id="8" name="Text 4"/>
          <p:cNvSpPr txBox="1"/>
          <p:nvPr/>
        </p:nvSpPr>
        <p:spPr>
          <a:xfrm>
            <a:off x="8778240" y="6492240"/>
            <a:ext cx="306324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12</a:t>
            </a:r>
            <a:endParaRPr lang="en-US" sz="1000" dirty="0"/>
          </a:p>
        </p:txBody>
      </p:sp>
      <p:sp>
        <p:nvSpPr>
          <p:cNvPr id="9" name="stn1"/>
          <p:cNvSpPr/>
          <p:nvPr/>
        </p:nvSpPr>
        <p:spPr>
          <a:xfrm>
            <a:off x="502920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498348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5321808" y="457200"/>
            <a:ext cx="420624" cy="0"/>
          </a:xfrm>
          <a:prstGeom prst="line">
            <a:avLst/>
          </a:prstGeom>
          <a:noFill/>
          <a:ln w="25400">
            <a:solidFill>
              <a:srgbClr val="17A199"/>
            </a:solidFill>
            <a:prstDash val="dash"/>
          </a:ln>
        </p:spPr>
      </p:sp>
      <p:sp>
        <p:nvSpPr>
          <p:cNvPr id="12" name="stn2"/>
          <p:cNvSpPr/>
          <p:nvPr/>
        </p:nvSpPr>
        <p:spPr>
          <a:xfrm>
            <a:off x="574243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569671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6035040" y="457200"/>
            <a:ext cx="420624" cy="0"/>
          </a:xfrm>
          <a:prstGeom prst="line">
            <a:avLst/>
          </a:prstGeom>
          <a:noFill/>
          <a:ln w="25400">
            <a:solidFill>
              <a:srgbClr val="17A199"/>
            </a:solidFill>
            <a:prstDash val="dash"/>
          </a:ln>
        </p:spPr>
      </p:sp>
      <p:sp>
        <p:nvSpPr>
          <p:cNvPr id="15" name="stn3"/>
          <p:cNvSpPr/>
          <p:nvPr/>
        </p:nvSpPr>
        <p:spPr>
          <a:xfrm>
            <a:off x="645566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640994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6748272" y="457200"/>
            <a:ext cx="420624" cy="0"/>
          </a:xfrm>
          <a:prstGeom prst="line">
            <a:avLst/>
          </a:prstGeom>
          <a:noFill/>
          <a:ln w="25400">
            <a:solidFill>
              <a:srgbClr val="17A199"/>
            </a:solidFill>
            <a:prstDash val="dash"/>
          </a:ln>
        </p:spPr>
      </p:sp>
      <p:sp>
        <p:nvSpPr>
          <p:cNvPr id="18" name="stn4"/>
          <p:cNvSpPr/>
          <p:nvPr/>
        </p:nvSpPr>
        <p:spPr>
          <a:xfrm>
            <a:off x="716889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712317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7461504" y="457200"/>
            <a:ext cx="329184" cy="0"/>
          </a:xfrm>
          <a:prstGeom prst="line">
            <a:avLst/>
          </a:prstGeom>
          <a:noFill/>
          <a:ln w="25400">
            <a:solidFill>
              <a:srgbClr val="17A199"/>
            </a:solidFill>
            <a:prstDash val="dash"/>
          </a:ln>
        </p:spPr>
      </p:sp>
      <p:sp>
        <p:nvSpPr>
          <p:cNvPr id="21" name="stn5"/>
          <p:cNvSpPr/>
          <p:nvPr/>
        </p:nvSpPr>
        <p:spPr>
          <a:xfrm>
            <a:off x="779068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783640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19"/>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PRESENT  ·  5 MIN</a:t>
            </a:r>
            <a:endParaRPr lang="en-US" sz="1200" dirty="0"/>
          </a:p>
        </p:txBody>
      </p:sp>
      <p:sp>
        <p:nvSpPr>
          <p:cNvPr id="24" name="Text 20"/>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Done when: check your own work</a:t>
            </a:r>
            <a:endParaRPr lang="en-US" sz="3000" dirty="0"/>
          </a:p>
        </p:txBody>
      </p:sp>
      <p:sp>
        <p:nvSpPr>
          <p:cNvPr id="26" name="Shape 21"/>
          <p:cNvSpPr/>
          <p:nvPr/>
        </p:nvSpPr>
        <p:spPr>
          <a:xfrm>
            <a:off x="457200" y="1828800"/>
            <a:ext cx="5486400" cy="2011680"/>
          </a:xfrm>
          <a:prstGeom prst="roundRect">
            <a:avLst>
              <a:gd name="adj" fmla="val 5455"/>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7" name="Shape 22"/>
          <p:cNvSpPr/>
          <p:nvPr/>
        </p:nvSpPr>
        <p:spPr>
          <a:xfrm>
            <a:off x="685800" y="2057400"/>
            <a:ext cx="1371600" cy="457200"/>
          </a:xfrm>
          <a:prstGeom prst="roundRect">
            <a:avLst>
              <a:gd name="adj" fmla="val 50000"/>
            </a:avLst>
          </a:prstGeom>
          <a:solidFill>
            <a:srgbClr val="17A199"/>
          </a:solidFill>
          <a:ln w="12700">
            <a:solidFill>
              <a:srgbClr val="FFFFFF"/>
            </a:solidFill>
            <a:prstDash val="solid"/>
          </a:ln>
        </p:spPr>
      </p:sp>
      <p:sp>
        <p:nvSpPr>
          <p:cNvPr id="28" name="Text 23"/>
          <p:cNvSpPr txBox="1"/>
          <p:nvPr/>
        </p:nvSpPr>
        <p:spPr>
          <a:xfrm>
            <a:off x="685800" y="2057400"/>
            <a:ext cx="13716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TASK 1</a:t>
            </a:r>
            <a:endParaRPr lang="en-US" sz="1300" dirty="0"/>
          </a:p>
        </p:txBody>
      </p:sp>
      <p:sp>
        <p:nvSpPr>
          <p:cNvPr id="29" name="Text 24"/>
          <p:cNvSpPr txBox="1"/>
          <p:nvPr/>
        </p:nvSpPr>
        <p:spPr>
          <a:xfrm>
            <a:off x="685800" y="2697480"/>
            <a:ext cx="4937760" cy="1005840"/>
          </a:xfrm>
          <a:prstGeom prst="rect">
            <a:avLst/>
          </a:prstGeom>
          <a:noFill/>
          <a:ln/>
        </p:spPr>
        <p:txBody>
          <a:bodyPr wrap="square" lIns="0" tIns="0" rIns="0" bIns="0" rtlCol="0" anchor="t"/>
          <a:lstStyle/>
          <a:p>
            <a:pPr indent="0" marL="0">
              <a:buNone/>
            </a:pPr>
            <a:r>
              <a:rPr lang="en-US" sz="1700" dirty="0">
                <a:solidFill>
                  <a:srgbClr val="222E2D"/>
                </a:solidFill>
                <a:latin typeface="Calibri" pitchFamily="34" charset="0"/>
                <a:ea typeface="Calibri" pitchFamily="34" charset="-122"/>
                <a:cs typeface="Calibri" pitchFamily="34" charset="-120"/>
              </a:rPr>
              <a:t>Three start values are tabulated, and you can say what the terms get close to and from which side.</a:t>
            </a:r>
            <a:endParaRPr lang="en-US" sz="1700" dirty="0"/>
          </a:p>
        </p:txBody>
      </p:sp>
      <p:sp>
        <p:nvSpPr>
          <p:cNvPr id="30" name="Shape 25"/>
          <p:cNvSpPr/>
          <p:nvPr/>
        </p:nvSpPr>
        <p:spPr>
          <a:xfrm>
            <a:off x="5303520" y="2103120"/>
            <a:ext cx="365760" cy="365760"/>
          </a:xfrm>
          <a:prstGeom prst="rect">
            <a:avLst/>
          </a:prstGeom>
          <a:solidFill>
            <a:srgbClr val="FFFFFF"/>
          </a:solidFill>
          <a:ln w="25400">
            <a:solidFill>
              <a:srgbClr val="17A199"/>
            </a:solidFill>
            <a:prstDash val="solid"/>
          </a:ln>
        </p:spPr>
      </p:sp>
      <p:sp>
        <p:nvSpPr>
          <p:cNvPr id="31" name="Shape 26"/>
          <p:cNvSpPr/>
          <p:nvPr/>
        </p:nvSpPr>
        <p:spPr>
          <a:xfrm>
            <a:off x="6126480" y="1828800"/>
            <a:ext cx="5486400" cy="2011680"/>
          </a:xfrm>
          <a:prstGeom prst="roundRect">
            <a:avLst>
              <a:gd name="adj" fmla="val 5455"/>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2" name="Shape 27"/>
          <p:cNvSpPr/>
          <p:nvPr/>
        </p:nvSpPr>
        <p:spPr>
          <a:xfrm>
            <a:off x="6355080" y="2057400"/>
            <a:ext cx="1371600" cy="457200"/>
          </a:xfrm>
          <a:prstGeom prst="roundRect">
            <a:avLst>
              <a:gd name="adj" fmla="val 50000"/>
            </a:avLst>
          </a:prstGeom>
          <a:solidFill>
            <a:srgbClr val="1F3864"/>
          </a:solidFill>
          <a:ln w="12700">
            <a:solidFill>
              <a:srgbClr val="FFFFFF"/>
            </a:solidFill>
            <a:prstDash val="solid"/>
          </a:ln>
        </p:spPr>
      </p:sp>
      <p:sp>
        <p:nvSpPr>
          <p:cNvPr id="33" name="Text 28"/>
          <p:cNvSpPr txBox="1"/>
          <p:nvPr/>
        </p:nvSpPr>
        <p:spPr>
          <a:xfrm>
            <a:off x="6355080" y="2057400"/>
            <a:ext cx="13716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TASK 2</a:t>
            </a:r>
            <a:endParaRPr lang="en-US" sz="1300" dirty="0"/>
          </a:p>
        </p:txBody>
      </p:sp>
      <p:sp>
        <p:nvSpPr>
          <p:cNvPr id="34" name="Text 29"/>
          <p:cNvSpPr txBox="1"/>
          <p:nvPr/>
        </p:nvSpPr>
        <p:spPr>
          <a:xfrm>
            <a:off x="6355080" y="2697480"/>
            <a:ext cx="4937760" cy="1005840"/>
          </a:xfrm>
          <a:prstGeom prst="rect">
            <a:avLst/>
          </a:prstGeom>
          <a:noFill/>
          <a:ln/>
        </p:spPr>
        <p:txBody>
          <a:bodyPr wrap="square" lIns="0" tIns="0" rIns="0" bIns="0" rtlCol="0" anchor="t"/>
          <a:lstStyle/>
          <a:p>
            <a:pPr indent="0" marL="0">
              <a:buNone/>
            </a:pPr>
            <a:r>
              <a:rPr lang="en-US" sz="1700" dirty="0">
                <a:solidFill>
                  <a:srgbClr val="222E2D"/>
                </a:solidFill>
                <a:latin typeface="Calibri" pitchFamily="34" charset="0"/>
                <a:ea typeface="Calibri" pitchFamily="34" charset="-122"/>
                <a:cs typeface="Calibri" pitchFamily="34" charset="-120"/>
              </a:rPr>
              <a:t>You can explain, using your graphs, why the value that the function maps onto itself is the limiting value.</a:t>
            </a:r>
            <a:endParaRPr lang="en-US" sz="1700" dirty="0"/>
          </a:p>
        </p:txBody>
      </p:sp>
      <p:sp>
        <p:nvSpPr>
          <p:cNvPr id="35" name="Shape 30"/>
          <p:cNvSpPr/>
          <p:nvPr/>
        </p:nvSpPr>
        <p:spPr>
          <a:xfrm>
            <a:off x="10972800" y="2103120"/>
            <a:ext cx="365760" cy="365760"/>
          </a:xfrm>
          <a:prstGeom prst="rect">
            <a:avLst/>
          </a:prstGeom>
          <a:solidFill>
            <a:srgbClr val="FFFFFF"/>
          </a:solidFill>
          <a:ln w="25400">
            <a:solidFill>
              <a:srgbClr val="1F3864"/>
            </a:solidFill>
            <a:prstDash val="solid"/>
          </a:ln>
        </p:spPr>
      </p:sp>
      <p:sp>
        <p:nvSpPr>
          <p:cNvPr id="36" name="Shape 31"/>
          <p:cNvSpPr/>
          <p:nvPr/>
        </p:nvSpPr>
        <p:spPr>
          <a:xfrm>
            <a:off x="457200" y="4023360"/>
            <a:ext cx="5486400" cy="2011680"/>
          </a:xfrm>
          <a:prstGeom prst="roundRect">
            <a:avLst>
              <a:gd name="adj" fmla="val 5455"/>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7" name="Shape 32"/>
          <p:cNvSpPr/>
          <p:nvPr/>
        </p:nvSpPr>
        <p:spPr>
          <a:xfrm>
            <a:off x="685800" y="4251960"/>
            <a:ext cx="1371600" cy="457200"/>
          </a:xfrm>
          <a:prstGeom prst="roundRect">
            <a:avLst>
              <a:gd name="adj" fmla="val 50000"/>
            </a:avLst>
          </a:prstGeom>
          <a:solidFill>
            <a:srgbClr val="E8762C"/>
          </a:solidFill>
          <a:ln w="12700">
            <a:solidFill>
              <a:srgbClr val="FFFFFF"/>
            </a:solidFill>
            <a:prstDash val="solid"/>
          </a:ln>
        </p:spPr>
      </p:sp>
      <p:sp>
        <p:nvSpPr>
          <p:cNvPr id="38" name="Text 33"/>
          <p:cNvSpPr txBox="1"/>
          <p:nvPr/>
        </p:nvSpPr>
        <p:spPr>
          <a:xfrm>
            <a:off x="685800" y="4251960"/>
            <a:ext cx="13716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TASK 3</a:t>
            </a:r>
            <a:endParaRPr lang="en-US" sz="1300" dirty="0"/>
          </a:p>
        </p:txBody>
      </p:sp>
      <p:sp>
        <p:nvSpPr>
          <p:cNvPr id="39" name="Text 34"/>
          <p:cNvSpPr txBox="1"/>
          <p:nvPr/>
        </p:nvSpPr>
        <p:spPr>
          <a:xfrm>
            <a:off x="685800" y="4892040"/>
            <a:ext cx="4937760" cy="1005840"/>
          </a:xfrm>
          <a:prstGeom prst="rect">
            <a:avLst/>
          </a:prstGeom>
          <a:noFill/>
          <a:ln/>
        </p:spPr>
        <p:txBody>
          <a:bodyPr wrap="square" lIns="0" tIns="0" rIns="0" bIns="0" rtlCol="0" anchor="t"/>
          <a:lstStyle/>
          <a:p>
            <a:pPr indent="0" marL="0">
              <a:buNone/>
            </a:pPr>
            <a:r>
              <a:rPr lang="en-US" sz="1700" dirty="0">
                <a:solidFill>
                  <a:srgbClr val="222E2D"/>
                </a:solidFill>
                <a:latin typeface="Calibri" pitchFamily="34" charset="0"/>
                <a:ea typeface="Calibri" pitchFamily="34" charset="-122"/>
                <a:cs typeface="Calibri" pitchFamily="34" charset="-120"/>
              </a:rPr>
              <a:t>You can describe the different behaviours you found, with evidence from at least two cards, and test a formula.</a:t>
            </a:r>
            <a:endParaRPr lang="en-US" sz="1700" dirty="0"/>
          </a:p>
        </p:txBody>
      </p:sp>
      <p:sp>
        <p:nvSpPr>
          <p:cNvPr id="40" name="Shape 35"/>
          <p:cNvSpPr/>
          <p:nvPr/>
        </p:nvSpPr>
        <p:spPr>
          <a:xfrm>
            <a:off x="5303520" y="4297680"/>
            <a:ext cx="365760" cy="365760"/>
          </a:xfrm>
          <a:prstGeom prst="rect">
            <a:avLst/>
          </a:prstGeom>
          <a:solidFill>
            <a:srgbClr val="FFFFFF"/>
          </a:solidFill>
          <a:ln w="25400">
            <a:solidFill>
              <a:srgbClr val="E8762C"/>
            </a:solidFill>
            <a:prstDash val="solid"/>
          </a:ln>
        </p:spPr>
      </p:sp>
      <p:sp>
        <p:nvSpPr>
          <p:cNvPr id="41" name="Shape 36"/>
          <p:cNvSpPr/>
          <p:nvPr/>
        </p:nvSpPr>
        <p:spPr>
          <a:xfrm>
            <a:off x="6126480" y="4023360"/>
            <a:ext cx="5486400" cy="2011680"/>
          </a:xfrm>
          <a:prstGeom prst="roundRect">
            <a:avLst>
              <a:gd name="adj" fmla="val 5455"/>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Shape 37"/>
          <p:cNvSpPr/>
          <p:nvPr/>
        </p:nvSpPr>
        <p:spPr>
          <a:xfrm>
            <a:off x="6355080" y="4251960"/>
            <a:ext cx="1371600" cy="457200"/>
          </a:xfrm>
          <a:prstGeom prst="roundRect">
            <a:avLst>
              <a:gd name="adj" fmla="val 50000"/>
            </a:avLst>
          </a:prstGeom>
          <a:solidFill>
            <a:srgbClr val="0E4F4C"/>
          </a:solidFill>
          <a:ln w="12700">
            <a:solidFill>
              <a:srgbClr val="FFFFFF"/>
            </a:solidFill>
            <a:prstDash val="solid"/>
          </a:ln>
        </p:spPr>
      </p:sp>
      <p:sp>
        <p:nvSpPr>
          <p:cNvPr id="43" name="Text 38"/>
          <p:cNvSpPr txBox="1"/>
          <p:nvPr/>
        </p:nvSpPr>
        <p:spPr>
          <a:xfrm>
            <a:off x="6355080" y="4251960"/>
            <a:ext cx="13716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APPLY</a:t>
            </a:r>
            <a:endParaRPr lang="en-US" sz="1300" dirty="0"/>
          </a:p>
        </p:txBody>
      </p:sp>
      <p:sp>
        <p:nvSpPr>
          <p:cNvPr id="44" name="Text 39"/>
          <p:cNvSpPr txBox="1"/>
          <p:nvPr/>
        </p:nvSpPr>
        <p:spPr>
          <a:xfrm>
            <a:off x="6355080" y="4892040"/>
            <a:ext cx="4937760" cy="1005840"/>
          </a:xfrm>
          <a:prstGeom prst="rect">
            <a:avLst/>
          </a:prstGeom>
          <a:noFill/>
          <a:ln/>
        </p:spPr>
        <p:txBody>
          <a:bodyPr wrap="square" lIns="0" tIns="0" rIns="0" bIns="0" rtlCol="0" anchor="t"/>
          <a:lstStyle/>
          <a:p>
            <a:pPr indent="0" marL="0">
              <a:buNone/>
            </a:pPr>
            <a:r>
              <a:rPr lang="en-US" sz="1700" dirty="0">
                <a:solidFill>
                  <a:srgbClr val="222E2D"/>
                </a:solidFill>
                <a:latin typeface="Calibri" pitchFamily="34" charset="0"/>
                <a:ea typeface="Calibri" pitchFamily="34" charset="-122"/>
                <a:cs typeface="Calibri" pitchFamily="34" charset="-120"/>
              </a:rPr>
              <a:t>You can find the long-run number in the nursery model and say why it does not depend on the start.</a:t>
            </a:r>
            <a:endParaRPr lang="en-US" sz="1700" dirty="0"/>
          </a:p>
        </p:txBody>
      </p:sp>
      <p:sp>
        <p:nvSpPr>
          <p:cNvPr id="45" name="Shape 40"/>
          <p:cNvSpPr/>
          <p:nvPr/>
        </p:nvSpPr>
        <p:spPr>
          <a:xfrm>
            <a:off x="10972800" y="4297680"/>
            <a:ext cx="365760" cy="365760"/>
          </a:xfrm>
          <a:prstGeom prst="rect">
            <a:avLst/>
          </a:prstGeom>
          <a:solidFill>
            <a:srgbClr val="FFFFFF"/>
          </a:solidFill>
          <a:ln w="25400">
            <a:solidFill>
              <a:srgbClr val="0E4F4C"/>
            </a:solidFill>
            <a:prstDash val="solid"/>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4F4C"/>
        </a:solidFill>
      </p:bgPr>
    </p:bg>
    <p:spTree>
      <p:nvGrpSpPr>
        <p:cNvPr id="1" name=""/>
        <p:cNvGrpSpPr/>
        <p:nvPr/>
      </p:nvGrpSpPr>
      <p:grpSpPr>
        <a:xfrm>
          <a:off x="0" y="0"/>
          <a:ext cx="0" cy="0"/>
          <a:chOff x="0" y="0"/>
          <a:chExt cx="0" cy="0"/>
        </a:xfrm>
      </p:grpSpPr>
      <p:pic>
        <p:nvPicPr>
          <p:cNvPr id="2"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3"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4"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5" name="Text 1"/>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6" name="path1"/>
          <p:cNvSpPr/>
          <p:nvPr/>
        </p:nvSpPr>
        <p:spPr>
          <a:xfrm flipV="1">
            <a:off x="1371600" y="3200400"/>
            <a:ext cx="2491740" cy="1097280"/>
          </a:xfrm>
          <a:prstGeom prst="line">
            <a:avLst/>
          </a:prstGeom>
          <a:noFill/>
          <a:ln w="38100">
            <a:solidFill>
              <a:srgbClr val="F0B323"/>
            </a:solidFill>
            <a:prstDash val="dash"/>
          </a:ln>
        </p:spPr>
      </p:sp>
      <p:sp>
        <p:nvSpPr>
          <p:cNvPr id="7" name="path2"/>
          <p:cNvSpPr/>
          <p:nvPr/>
        </p:nvSpPr>
        <p:spPr>
          <a:xfrm>
            <a:off x="3863340" y="3200400"/>
            <a:ext cx="2491740" cy="1097280"/>
          </a:xfrm>
          <a:prstGeom prst="line">
            <a:avLst/>
          </a:prstGeom>
          <a:noFill/>
          <a:ln w="38100">
            <a:solidFill>
              <a:srgbClr val="F0B323"/>
            </a:solidFill>
            <a:prstDash val="dash"/>
          </a:ln>
        </p:spPr>
      </p:sp>
      <p:sp>
        <p:nvSpPr>
          <p:cNvPr id="8" name="path3"/>
          <p:cNvSpPr/>
          <p:nvPr/>
        </p:nvSpPr>
        <p:spPr>
          <a:xfrm flipV="1">
            <a:off x="6355080" y="3200400"/>
            <a:ext cx="2491740" cy="1097280"/>
          </a:xfrm>
          <a:prstGeom prst="line">
            <a:avLst/>
          </a:prstGeom>
          <a:noFill/>
          <a:ln w="38100">
            <a:solidFill>
              <a:srgbClr val="F0B323"/>
            </a:solidFill>
            <a:prstDash val="dash"/>
          </a:ln>
        </p:spPr>
      </p:sp>
      <p:sp>
        <p:nvSpPr>
          <p:cNvPr id="9" name="path4"/>
          <p:cNvSpPr/>
          <p:nvPr/>
        </p:nvSpPr>
        <p:spPr>
          <a:xfrm>
            <a:off x="8846820" y="3200400"/>
            <a:ext cx="2491740" cy="1097280"/>
          </a:xfrm>
          <a:prstGeom prst="line">
            <a:avLst/>
          </a:prstGeom>
          <a:noFill/>
          <a:ln w="38100">
            <a:solidFill>
              <a:srgbClr val="F0B323"/>
            </a:solidFill>
            <a:prstDash val="dash"/>
          </a:ln>
        </p:spPr>
      </p:sp>
      <p:sp>
        <p:nvSpPr>
          <p:cNvPr id="10"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1" name="Text 7"/>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2" name="Text 8"/>
          <p:cNvSpPr txBox="1"/>
          <p:nvPr/>
        </p:nvSpPr>
        <p:spPr>
          <a:xfrm>
            <a:off x="365760" y="5070348"/>
            <a:ext cx="2011680" cy="54864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Start at 1</a:t>
            </a:r>
            <a:endParaRPr lang="en-US" sz="1500" dirty="0"/>
          </a:p>
        </p:txBody>
      </p:sp>
      <p:sp>
        <p:nvSpPr>
          <p:cNvPr id="13" name="stn2"/>
          <p:cNvSpPr/>
          <p:nvPr/>
        </p:nvSpPr>
        <p:spPr>
          <a:xfrm>
            <a:off x="3200400" y="2537460"/>
            <a:ext cx="1325880" cy="1325880"/>
          </a:xfrm>
          <a:prstGeom prst="ellipse">
            <a:avLst/>
          </a:prstGeom>
          <a:solidFill>
            <a:srgbClr val="F0B323"/>
          </a:solidFill>
          <a:ln w="38100">
            <a:solidFill>
              <a:srgbClr val="FFFFFF"/>
            </a:solidFill>
            <a:prstDash val="solid"/>
          </a:ln>
        </p:spPr>
      </p:sp>
      <p:sp>
        <p:nvSpPr>
          <p:cNvPr id="14" name="Text 10"/>
          <p:cNvSpPr txBox="1"/>
          <p:nvPr/>
        </p:nvSpPr>
        <p:spPr>
          <a:xfrm>
            <a:off x="349758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5" name="Text 11"/>
          <p:cNvSpPr txBox="1"/>
          <p:nvPr/>
        </p:nvSpPr>
        <p:spPr>
          <a:xfrm>
            <a:off x="2857500" y="1897380"/>
            <a:ext cx="2011680" cy="548640"/>
          </a:xfrm>
          <a:prstGeom prst="rect">
            <a:avLst/>
          </a:prstGeom>
          <a:noFill/>
          <a:ln/>
        </p:spPr>
        <p:txBody>
          <a:bodyPr wrap="square" lIns="0" tIns="0" rIns="0" bIns="0" rtlCol="0" anchor="b"/>
          <a:lstStyle/>
          <a:p>
            <a:pPr algn="ctr" indent="0" marL="0">
              <a:buNone/>
            </a:pPr>
            <a:r>
              <a:rPr lang="en-US" sz="1500" b="1" dirty="0">
                <a:solidFill>
                  <a:srgbClr val="FFFFFF"/>
                </a:solidFill>
                <a:latin typeface="Calibri" pitchFamily="34" charset="0"/>
                <a:ea typeface="Calibri" pitchFamily="34" charset="-122"/>
                <a:cs typeface="Calibri" pitchFamily="34" charset="-120"/>
              </a:rPr>
              <a:t>Graph it</a:t>
            </a:r>
            <a:endParaRPr lang="en-US" sz="1500" dirty="0"/>
          </a:p>
        </p:txBody>
      </p:sp>
      <p:sp>
        <p:nvSpPr>
          <p:cNvPr id="16" name="stn3"/>
          <p:cNvSpPr/>
          <p:nvPr/>
        </p:nvSpPr>
        <p:spPr>
          <a:xfrm>
            <a:off x="5692140" y="3634740"/>
            <a:ext cx="1325880" cy="1325880"/>
          </a:xfrm>
          <a:prstGeom prst="ellipse">
            <a:avLst/>
          </a:prstGeom>
          <a:solidFill>
            <a:srgbClr val="F0B323"/>
          </a:solidFill>
          <a:ln w="38100">
            <a:solidFill>
              <a:srgbClr val="FFFFFF"/>
            </a:solidFill>
            <a:prstDash val="solid"/>
          </a:ln>
        </p:spPr>
      </p:sp>
      <p:sp>
        <p:nvSpPr>
          <p:cNvPr id="17" name="Text 13"/>
          <p:cNvSpPr txBox="1"/>
          <p:nvPr/>
        </p:nvSpPr>
        <p:spPr>
          <a:xfrm>
            <a:off x="598932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8" name="Text 14"/>
          <p:cNvSpPr txBox="1"/>
          <p:nvPr/>
        </p:nvSpPr>
        <p:spPr>
          <a:xfrm>
            <a:off x="5349240" y="5070348"/>
            <a:ext cx="2011680" cy="54864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Investigate</a:t>
            </a:r>
            <a:endParaRPr lang="en-US" sz="1500" dirty="0"/>
          </a:p>
        </p:txBody>
      </p:sp>
      <p:sp>
        <p:nvSpPr>
          <p:cNvPr id="19" name="stn4"/>
          <p:cNvSpPr/>
          <p:nvPr/>
        </p:nvSpPr>
        <p:spPr>
          <a:xfrm>
            <a:off x="8183880" y="2537460"/>
            <a:ext cx="1325880" cy="1325880"/>
          </a:xfrm>
          <a:prstGeom prst="ellipse">
            <a:avLst/>
          </a:prstGeom>
          <a:solidFill>
            <a:srgbClr val="F0B323"/>
          </a:solidFill>
          <a:ln w="38100">
            <a:solidFill>
              <a:srgbClr val="FFFFFF"/>
            </a:solidFill>
            <a:prstDash val="solid"/>
          </a:ln>
        </p:spPr>
      </p:sp>
      <p:sp>
        <p:nvSpPr>
          <p:cNvPr id="20" name="Text 16"/>
          <p:cNvSpPr txBox="1"/>
          <p:nvPr/>
        </p:nvSpPr>
        <p:spPr>
          <a:xfrm>
            <a:off x="848106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1" name="Text 17"/>
          <p:cNvSpPr txBox="1"/>
          <p:nvPr/>
        </p:nvSpPr>
        <p:spPr>
          <a:xfrm>
            <a:off x="7840980" y="1897380"/>
            <a:ext cx="2011680" cy="548640"/>
          </a:xfrm>
          <a:prstGeom prst="rect">
            <a:avLst/>
          </a:prstGeom>
          <a:noFill/>
          <a:ln/>
        </p:spPr>
        <p:txBody>
          <a:bodyPr wrap="square" lIns="0" tIns="0" rIns="0" bIns="0" rtlCol="0" anchor="b"/>
          <a:lstStyle/>
          <a:p>
            <a:pPr algn="ctr" indent="0" marL="0">
              <a:buNone/>
            </a:pPr>
            <a:r>
              <a:rPr lang="en-US" sz="1500" b="1" dirty="0">
                <a:solidFill>
                  <a:srgbClr val="FFFFFF"/>
                </a:solidFill>
                <a:latin typeface="Calibri" pitchFamily="34" charset="0"/>
                <a:ea typeface="Calibri" pitchFamily="34" charset="-122"/>
                <a:cs typeface="Calibri" pitchFamily="34" charset="-120"/>
              </a:rPr>
              <a:t>Apply</a:t>
            </a:r>
            <a:endParaRPr lang="en-US" sz="1500" dirty="0"/>
          </a:p>
        </p:txBody>
      </p:sp>
      <p:sp>
        <p:nvSpPr>
          <p:cNvPr id="22" name="stn5"/>
          <p:cNvSpPr/>
          <p:nvPr/>
        </p:nvSpPr>
        <p:spPr>
          <a:xfrm>
            <a:off x="10675620" y="3634740"/>
            <a:ext cx="1325880" cy="1325880"/>
          </a:xfrm>
          <a:prstGeom prst="ellipse">
            <a:avLst/>
          </a:prstGeom>
          <a:solidFill>
            <a:srgbClr val="F0B323"/>
          </a:solidFill>
          <a:ln w="38100">
            <a:solidFill>
              <a:srgbClr val="FFFFFF"/>
            </a:solidFill>
            <a:prstDash val="solid"/>
          </a:ln>
        </p:spPr>
      </p:sp>
      <p:sp>
        <p:nvSpPr>
          <p:cNvPr id="23" name="Text 19"/>
          <p:cNvSpPr txBox="1"/>
          <p:nvPr/>
        </p:nvSpPr>
        <p:spPr>
          <a:xfrm>
            <a:off x="1097280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4" name="Text 20"/>
          <p:cNvSpPr txBox="1"/>
          <p:nvPr/>
        </p:nvSpPr>
        <p:spPr>
          <a:xfrm>
            <a:off x="10332720" y="5070348"/>
            <a:ext cx="2011680" cy="54864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Present</a:t>
            </a:r>
            <a:endParaRPr lang="en-US" sz="1500" dirty="0"/>
          </a:p>
        </p:txBody>
      </p:sp>
      <p:sp>
        <p:nvSpPr>
          <p:cNvPr id="25" name="Text 21"/>
          <p:cNvSpPr txBox="1"/>
          <p:nvPr/>
        </p:nvSpPr>
        <p:spPr>
          <a:xfrm>
            <a:off x="548640" y="5806440"/>
            <a:ext cx="11064240" cy="411480"/>
          </a:xfrm>
          <a:prstGeom prst="rect">
            <a:avLst/>
          </a:prstGeom>
          <a:noFill/>
          <a:ln/>
        </p:spPr>
        <p:txBody>
          <a:bodyPr wrap="square" lIns="0" tIns="0" rIns="0" bIns="0" rtlCol="0" anchor="t"/>
          <a:lstStyle/>
          <a:p>
            <a:pPr algn="ctr" indent="0" marL="0">
              <a:buNone/>
            </a:pPr>
            <a:r>
              <a:rPr lang="en-US" sz="1900" b="1" dirty="0">
                <a:solidFill>
                  <a:srgbClr val="F0B323"/>
                </a:solidFill>
                <a:latin typeface="Calibri" pitchFamily="34" charset="0"/>
                <a:ea typeface="Calibri" pitchFamily="34" charset="-122"/>
                <a:cs typeface="Calibri" pitchFamily="34" charset="-120"/>
              </a:rPr>
              <a:t>You found it yourselves: keep applying the function and the terms settle where it maps a number onto itself.</a:t>
            </a:r>
            <a:endParaRPr lang="en-US" sz="1900" dirty="0"/>
          </a:p>
        </p:txBody>
      </p:sp>
      <p:sp>
        <p:nvSpPr>
          <p:cNvPr id="26" name="Text 22"/>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Mawhiba Unit 2 Activity 4 Repeated Application of a Linear Function presentation</dc:title>
  <dc:subject>PptxGenJS Presentation</dc:subject>
  <dc:creator>Mr Malek Thiab</dc:creator>
  <cp:lastModifiedBy>Mr Malek Thiab</cp:lastModifiedBy>
  <cp:revision>1</cp:revision>
  <dcterms:created xsi:type="dcterms:W3CDTF">2026-10-13T04:35:21Z</dcterms:created>
  <dcterms:modified xsi:type="dcterms:W3CDTF">2026-10-13T04:35:21Z</dcterms:modified>
</cp:coreProperties>
</file>