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Send this pre-session before Lesson 6-7. Four slides: cover, the one idea with a video, one worked example, a four-question readiness check. Verbal misconceptions: students think the video replaces the examples; remind them the check is ungraded. Adaptive routing: collect the LMS answers before class and open Diagnose on the least secure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Video: What Are Geometric Sequences and Series? by The Organic Chemistry Tutor, https://www.youtube.com/watch?v=zRKZ0-kOUZM. Title and channel were confirmed through third-party mirrors; the YouTube page itself could not be opened from the build machine, so open the link once before sending. The one idea: a geometric sequence multiplies by the same common ratio r; the nth term is a one times r to the power n minus one; the sum of the first n terms is a one times (one minus r to the power n) over (one minus r), for r not equal to one. Three priors: (1) 5 times 3 to the power 4 is 5 times 81 = 405, power first. (2) r = 12 / 6 = 2, divide a term by the one before. (3) the sigma sum of k from 1 to 4 is 1+2+3+4 = 10. Verbal misconceptions: (5 times 3) to the power 4 = 50 625; subtracting terms to find r; treating sigma as one term. Adaptive routing: if most students cannot say what r is in words, open Diagnose by contrasting 7, 11, 15 with 3, 6,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Worked solution. Step 1: first term 6, ratio 12 / 6 = 2 (check 24 / 12 = 2). Step 2: explicit formula, a sub n = 6 times 2 to the power n minus 1. Step 3: a sub 6 = 6 times 2 to the power 5 = 6 times 32 = 192; check by doubling: 6, 12, 24, 48, 96, 192. Step 4: S sub 6 = 6 (1 - 64) / (1 - 2) = 6 (-63) / (-1) = 378; check by adding 6 + 12 + 24 + 48 + 96 + 192 = 378. Verbal misconceptions: using the term number as the power gives 6 times 2 to the power 6 = 384, which is the 7th term; adding 6 each time gives 36; answering 192 when the sum is asked. Adaptive routing: if most students miss the power, list the first six terms beside the formula in Diagnose; if they confuse a term with a sum, show 192 against 378.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Answers. Q1: r = 40 / 80 = 1/2 (divide, do not subtract). Q2: 3 to the power 4 = 81 first, then 2 times 81 = 162. Q3: 2 + 4 + 6 + 8 = 20. Q4: a geometric sequence multiplies by the same number each step (a common ratio); an arithmetic sequence adds the same number (a common difference). Verbal misconceptions: Q1 answering -40; Q2 answering 6 to the power 4 = 1296; Q3 answering 2 times 10 = 20 is fine but 2k read as k squared is not. Adaptive routing: if more than 30 percent miss Q1, start Diagnose with 7, 11, 15 against 3, 6, 12; if more than 30 percent miss Q2, spend two minutes on powers; if most miss Q3, write out k = 1 to 4 in 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youtube.com/watch?v=zRKZ0-kOUZM" TargetMode="External"/><Relationship Id="rId5" Type="http://schemas.openxmlformats.org/officeDocument/2006/relationships/hyperlink" Target="https://www.youtube.com/watch?v=zRKZ0-kOUZM" TargetMode="External"/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6" Type="http://schemas.openxmlformats.org/officeDocument/2006/relationships/image" Target="../media/image-2-4.png"/><Relationship Id="rId7" Type="http://schemas.openxmlformats.org/officeDocument/2006/relationships/image" Target="../media/image-2-5.png"/><Relationship Id="rId8" Type="http://schemas.openxmlformats.org/officeDocument/2006/relationships/image" Target="../media/image-2-6.png"/><Relationship Id="rId9" Type="http://schemas.openxmlformats.org/officeDocument/2006/relationships/image" Target="../media/image-2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thematics Departmen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1554480" cy="478780"/>
          </a:xfrm>
          <a:prstGeom prst="rect">
            <a:avLst/>
          </a:prstGeom>
        </p:spPr>
      </p:pic>
      <p:pic>
        <p:nvPicPr>
          <p:cNvPr id="3" name="Image 1" descr="Dar Alfikr Schools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847" y="292608"/>
            <a:ext cx="658368" cy="65836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6492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HSA.SSE.B.4  ·  HSF.IF.A.3  ·  HSF.BF.A.2  ·  HSF.LE.A.2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4480560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8488375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Page 1 of 4</a:t>
            </a:r>
            <a:endParaRPr lang="en-US" sz="900" dirty="0"/>
          </a:p>
        </p:txBody>
      </p:sp>
      <p:pic>
        <p:nvPicPr>
          <p:cNvPr id="7" name="Image 2" descr="Cognia bad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182880"/>
            <a:ext cx="1005840" cy="95554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778240" y="-2103120"/>
            <a:ext cx="5669280" cy="5669280"/>
          </a:xfrm>
          <a:prstGeom prst="ellipse">
            <a:avLst/>
          </a:prstGeom>
          <a:solidFill>
            <a:srgbClr val="1E8F89">
              <a:alpha val="38000"/>
            </a:srgbClr>
          </a:solidFill>
          <a:ln/>
        </p:spPr>
      </p:sp>
      <p:sp>
        <p:nvSpPr>
          <p:cNvPr id="9" name="Shape 4"/>
          <p:cNvSpPr/>
          <p:nvPr/>
        </p:nvSpPr>
        <p:spPr>
          <a:xfrm>
            <a:off x="-1920240" y="4480560"/>
            <a:ext cx="4754880" cy="4754880"/>
          </a:xfrm>
          <a:prstGeom prst="ellipse">
            <a:avLst/>
          </a:prstGeom>
          <a:solidFill>
            <a:srgbClr val="8A1B17">
              <a:alpha val="24000"/>
            </a:srgbClr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411480" y="201168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3E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LESSON · HOME TASK · 10 MINUTES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411480" y="2340864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Sequences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Series</a:t>
            </a:r>
            <a:endParaRPr lang="en-US" sz="3800" dirty="0"/>
          </a:p>
        </p:txBody>
      </p:sp>
      <p:sp>
        <p:nvSpPr>
          <p:cNvPr id="12" name="Text 7"/>
          <p:cNvSpPr txBox="1"/>
          <p:nvPr/>
        </p:nvSpPr>
        <p:spPr>
          <a:xfrm>
            <a:off x="411480" y="374904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the same number each step, then add the results with one formula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411480" y="4352544"/>
            <a:ext cx="11365992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5800" y="4352544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are doing this: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the lesson with an 8-question Wayground check. This page tells you exactly what it will ask, so you can walk in ready instead of guessing.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11480" y="5504688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67512" y="550468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</a:t>
            </a:r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Grade 11   |   Lesson 6-7   |   Week 8 · Semester 1, 2026–27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thematics Departmen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1554480" cy="478780"/>
          </a:xfrm>
          <a:prstGeom prst="rect">
            <a:avLst/>
          </a:prstGeom>
        </p:spPr>
      </p:pic>
      <p:pic>
        <p:nvPicPr>
          <p:cNvPr id="3" name="Image 1" descr="Dar Alfikr Schools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847" y="292608"/>
            <a:ext cx="658368" cy="65836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6492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HSA.SSE.B.4  ·  HSF.IF.A.3  ·  HSF.BF.A.2  ·  HSF.LE.A.2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4480560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8488375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Page 2 of 4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86868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FIRST · VIDEO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1170432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the Same Number, Every Step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75564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 sequence has a common ratio; a geometric series adds its terms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19456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E4F4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E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VIDEO  ·  YOUTUBE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6334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Geometric Sequences and Series?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The Organic Chemistry Tutor</a:t>
            </a:r>
            <a:endParaRPr lang="en-US" sz="1150" dirty="0"/>
          </a:p>
        </p:txBody>
      </p:sp>
      <p:sp>
        <p:nvSpPr>
          <p:cNvPr id="14" name="Shape 10">
            <a:hlinkClick r:id="rId4" tooltip=""/>
          </p:cNvPr>
          <p:cNvSpPr/>
          <p:nvPr/>
        </p:nvSpPr>
        <p:spPr>
          <a:xfrm>
            <a:off x="685800" y="3547872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5800" y="3547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Open on YouTub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https://www.youtube.com/watch?v=zRKZ0-kOUZM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078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parts on the common ratio, the nth term and the sum of a finite series.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46320" y="2194560"/>
            <a:ext cx="6931152" cy="2286000"/>
          </a:xfrm>
          <a:prstGeom prst="roundRect">
            <a:avLst>
              <a:gd name="adj" fmla="val 4000"/>
            </a:avLst>
          </a:prstGeom>
          <a:solidFill>
            <a:srgbClr val="E7F5F4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20640" y="2359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4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12064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geometric sequence every term is the one before it times the same common ratio. That gives a direct formula for any term, and when the ratio is not 1 the sum of the first terms has a closed formula too.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120640" y="3401568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</p:spPr>
      </p:sp>
      <p:pic>
        <p:nvPicPr>
          <p:cNvPr id="21" name="Image 2" descr="a n equals a 1 r to the n minus 1; S n equals a 1 times 1 minus r to the n, over 1 minus 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0344" y="3494471"/>
            <a:ext cx="2181393" cy="72859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11480" y="4681728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E7F5F4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9224" y="4791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 rules</a:t>
            </a:r>
            <a:endParaRPr lang="en-US" sz="1300" dirty="0"/>
          </a:p>
        </p:txBody>
      </p:sp>
      <p:pic>
        <p:nvPicPr>
          <p:cNvPr id="24" name="Image 3" descr="pk_p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919" y="5268498"/>
            <a:ext cx="1707002" cy="216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9224" y="5687568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power first, then multiply.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79392" y="4681728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CFEBE8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17136" y="4791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ratio</a:t>
            </a:r>
            <a:endParaRPr lang="en-US" sz="1300" dirty="0"/>
          </a:p>
        </p:txBody>
      </p:sp>
      <p:pic>
        <p:nvPicPr>
          <p:cNvPr id="28" name="Image 4" descr="pk_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514" y="5138928"/>
            <a:ext cx="1471635" cy="47548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517136" y="5687568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 term by the term before it.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47304" y="4681728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E7F5F4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385048" y="4791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Sigma notation</a:t>
            </a:r>
            <a:endParaRPr lang="en-US" sz="1300" dirty="0"/>
          </a:p>
        </p:txBody>
      </p:sp>
      <p:pic>
        <p:nvPicPr>
          <p:cNvPr id="32" name="Image 5" descr="pk_si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2677" y="5125212"/>
            <a:ext cx="1761134" cy="5029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85048" y="5687568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summand for each index value, from the starting index to the ending index.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thematics Departmen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1554480" cy="478780"/>
          </a:xfrm>
          <a:prstGeom prst="rect">
            <a:avLst/>
          </a:prstGeom>
        </p:spPr>
      </p:pic>
      <p:pic>
        <p:nvPicPr>
          <p:cNvPr id="3" name="Image 1" descr="Dar Alfikr Schools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847" y="292608"/>
            <a:ext cx="658368" cy="65836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6492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HSA.SSE.B.4  ·  HSF.IF.A.3  ·  HSF.BF.A.2  ·  HSF.LE.A.2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4480560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8488375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Page 3 of 4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86868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THIS · ONE EXAMPLE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1170432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Example, Every Step Shown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75564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6, 12, 24, and so on: find the 6th term and the sum of the first 6 terms. Cover the right-hand column, try it, then check.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212848"/>
            <a:ext cx="11365992" cy="786384"/>
          </a:xfrm>
          <a:prstGeom prst="roundRect">
            <a:avLst>
              <a:gd name="adj" fmla="val 9302"/>
            </a:avLst>
          </a:prstGeom>
          <a:solidFill>
            <a:srgbClr val="E7F5F4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936" y="2404872"/>
            <a:ext cx="402336" cy="402336"/>
          </a:xfrm>
          <a:prstGeom prst="ellipse">
            <a:avLst/>
          </a:prstGeom>
          <a:solidFill>
            <a:srgbClr val="1E8F8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30936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13" name="Image 2" descr="w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373965"/>
            <a:ext cx="3187324" cy="4641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09360" y="2212848"/>
            <a:ext cx="5303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first term, then divide a term by the one before it to find the common ratio.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11480" y="3108960"/>
            <a:ext cx="113659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0936" y="3300984"/>
            <a:ext cx="402336" cy="402336"/>
          </a:xfrm>
          <a:prstGeom prst="ellipse">
            <a:avLst/>
          </a:prstGeom>
          <a:solidFill>
            <a:srgbClr val="1E8F89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30936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8" name="Image 3" descr="w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349996"/>
            <a:ext cx="1398666" cy="304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9360" y="3108960"/>
            <a:ext cx="5303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explicit formula: the power is the term number minus 1, because the first term has not been multiplied yet.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11480" y="4005072"/>
            <a:ext cx="11365992" cy="786384"/>
          </a:xfrm>
          <a:prstGeom prst="roundRect">
            <a:avLst>
              <a:gd name="adj" fmla="val 9302"/>
            </a:avLst>
          </a:prstGeom>
          <a:solidFill>
            <a:srgbClr val="E7F5F4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0936" y="4197096"/>
            <a:ext cx="402336" cy="402336"/>
          </a:xfrm>
          <a:prstGeom prst="ellipse">
            <a:avLst/>
          </a:prstGeom>
          <a:solidFill>
            <a:srgbClr val="1E8F89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30936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4" descr="w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4246108"/>
            <a:ext cx="2642250" cy="304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309360" y="4005072"/>
            <a:ext cx="5303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term number 6, so the power is 5. Check: 6, 12, 24, 48, 96, 192.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11480" y="4901184"/>
            <a:ext cx="113659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E6E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30936" y="5093208"/>
            <a:ext cx="402336" cy="402336"/>
          </a:xfrm>
          <a:prstGeom prst="ellipse">
            <a:avLst/>
          </a:prstGeom>
          <a:solidFill>
            <a:srgbClr val="1E8F89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30936" y="5093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5" descr="w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5029383"/>
            <a:ext cx="2995574" cy="52998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309360" y="4901184"/>
            <a:ext cx="5303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the first 6 terms with the sum formula. Here the power is the number of terms, 6. Check by adding: 378.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11480" y="5888736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0E4F4C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685800" y="5888736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 most people make: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term number as the power. For the 6th term that gives 384, which is really the 7th term: the power is one less than the term number.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thematics Departmen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1554480" cy="478780"/>
          </a:xfrm>
          <a:prstGeom prst="rect">
            <a:avLst/>
          </a:prstGeom>
        </p:spPr>
      </p:pic>
      <p:pic>
        <p:nvPicPr>
          <p:cNvPr id="3" name="Image 1" descr="Dar Alfikr Schools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847" y="292608"/>
            <a:ext cx="658368" cy="65836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6492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HSA.SSE.B.4  ·  HSF.IF.A.3  ·  HSF.BF.A.2  ·  HSF.LE.A.2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4480560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8488375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Page 4 of 4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86868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 · 3 MINUTES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11480" y="1170432"/>
            <a:ext cx="9326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Questions: Answer Before Class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17556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graded. It tells me what to teach first. An honest answer helps you more than a lucky one.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2249424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2648" y="2377440"/>
            <a:ext cx="402336" cy="402336"/>
          </a:xfrm>
          <a:prstGeom prst="ellipse">
            <a:avLst/>
          </a:prstGeom>
          <a:solidFill>
            <a:srgbClr val="8A1B1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2648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13" name="Image 2" descr="c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2474366"/>
            <a:ext cx="1810512" cy="20848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11480" y="3035808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2648" y="3163824"/>
            <a:ext cx="402336" cy="402336"/>
          </a:xfrm>
          <a:prstGeom prst="ellipse">
            <a:avLst/>
          </a:prstGeom>
          <a:solidFill>
            <a:srgbClr val="8A1B17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12648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3" descr="c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3265140"/>
            <a:ext cx="1169700" cy="199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11480" y="3822192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12648" y="3950208"/>
            <a:ext cx="402336" cy="402336"/>
          </a:xfrm>
          <a:prstGeom prst="ellipse">
            <a:avLst/>
          </a:prstGeom>
          <a:solidFill>
            <a:srgbClr val="8A1B17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12648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4" descr="c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3849624"/>
            <a:ext cx="2135307" cy="60350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11480" y="4608576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12648" y="4736592"/>
            <a:ext cx="402336" cy="402336"/>
          </a:xfrm>
          <a:prstGeom prst="ellipse">
            <a:avLst/>
          </a:prstGeom>
          <a:solidFill>
            <a:srgbClr val="8A1B17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12648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1197864" y="460857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how can you tell a geometric sequence from an arithmetic one?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595360" y="2249424"/>
            <a:ext cx="3182112" cy="3145536"/>
          </a:xfrm>
          <a:prstGeom prst="roundRect">
            <a:avLst>
              <a:gd name="adj" fmla="val 290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851392" y="2414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8851392" y="274320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four answers into the LMS form, one line each.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stuck on one, write “not sure yet” and say what confused you. That is a useful answer.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before the bell. It takes three minutes.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11480" y="5541264"/>
            <a:ext cx="11365992" cy="603504"/>
          </a:xfrm>
          <a:prstGeom prst="roundRect">
            <a:avLst>
              <a:gd name="adj" fmla="val 1212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85800" y="554126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we start with: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8-question Wayground kick-off on exactly these ideas: exponent rules, the common ratio from terms and from a graph, sigma notation and the sum formula. Then we write formulas for geometric sequences.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Pre-Session Task: Lesson 6-7 Geometric Sequences and Series (Grade 11)</dc:title>
  <dc:subject>PptxGenJS Presentation</dc:subject>
  <dc:creator>Dar Alfikr Schools — Mathematics Department</dc:creator>
  <cp:lastModifiedBy>Dar Alfikr Schools — Mathematics Department</cp:lastModifiedBy>
  <cp:revision>1</cp:revision>
  <dcterms:created xsi:type="dcterms:W3CDTF">2026-10-13T04:50:01Z</dcterms:created>
  <dcterms:modified xsi:type="dcterms:W3CDTF">2026-10-13T04:50:01Z</dcterms:modified>
</cp:coreProperties>
</file>