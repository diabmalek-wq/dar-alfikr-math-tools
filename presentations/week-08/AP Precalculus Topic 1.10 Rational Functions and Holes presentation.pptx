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to Topic 1.10: Rational Functions and Holes.
Timing: 60 minutes (Diagnose 6, Targeted Instruction 18, Practice 12, Production 12, Mastery Gate 6, Smart Production 6). For a 40-minute class scale every station by two thirds.
The journey map on the next slide shows the six stations; in slideshow mode the Morph transition zooms the station circles into the breadcrumb at the top of every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whole map. Walk it left to right: Diagnose (what we already know), Targeted Instruction (Spot the common factor; Compare the multiplicities; Find the hole with a limit), Practice (Practice, Apply, Investigate), Production (climb rate of a survey drone), Mastery Gate (three questions to pass), Smart Production (create, then Time to Check).
In slideshow mode the Morph transition animates these circles shrinking into the breadcrumb on later slides; without Morph the slides fade.
Ask the class which station they think will be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Read the objectives aloud one at a time and have students say which one they feel least sure about.
Vocabulary used today: rational function, hole, real zero, multiplicity, numerator, denominator, output values, limit, vertical asymptote.
Standards are listed on this slide.
The essential question and mathematical practices are not shown because they are not in the project documents; add them from the curriculum map if you want them displayed.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(Diagnose, 6 min, no calculator):
Speaker notes (Diagnose, 6 min, no calculator).
Solutions: Q1 x^2 - 5x + 6 = (x - 2)(x - 3), because -2 and -3 multiply to 6 and add to -5. Q2 (x - 4)(x + 4)/(x - 4) = x + 4 for x not equal to 4. Q3 (1 + 2)/(1 - 3) = 3/(-2) = -3/2.
Verbal misconceptions: 'the pair only needs the right product' (check the sum); 'cancel the x^2 and the 16'; 'a negative denominator makes the fraction undefined'.
Adaptive routing: if more than 30% miss Q1 or Q2, route to slide 5 (spot the common factor). If more than 30% miss Q3, route to slide 7 (the limit gives the y-value).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1 of 3):
Speaker notes (Targeted Instruction, block 1 of 3, LO 1.10.A). LO 1.10.A: 'Determine holes in graphs of rational functions.' Suggested skills focus 3.C: 'Support conclusions or choices with a logical rationale or appropriate data.'
Worked solutions: Example A: x^2 - 4 = (x - 2)(x + 2) and x^2 - 2x = x(x - 2). The factor x - 2 is in both, so there is a hole at x = 2; the reduced function (x + 2)/x has value 4/2 = 2 there, so the hole is (2, 2). The factor x stays in the denominator: vertical asymptote x = 0. The zero is x = -2. Example B: x^2 - 2x - 3 = (x - 3)(x + 1) and x^2 - x - 6 = (x - 3)(x + 2). Hole at x = 3; reduced value (3 + 1)/(3 + 2) = 4/5, so the hole is (3, 4/5). The factor x + 2 remains: vertical asymptote x = -2. The zero is x = -1.
Verbal misconceptions: 'every zero of the denominator is a vertical asymptote'; 'a factor that cancels leaves no trace on the graph'; 'the hole is on the x-axis because the numerator is zero there' (the numerator of the reduced function is what matters).
Adaptive routing: if more than 30% miss Gate Q1, return to this slide and redo Example A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2 of 3):
Speaker notes (Targeted Instruction, block 2 of 3, LO 1.10.A). EK 1.10.A.1: 'If the multiplicity of a real zero in the numerator is greater than or equal to its multiplicity in the denominator, then the graph of the rational function has a hole at the corresponding input value.' The second rule on the slide (less than gives a vertical asymptote) is the contrast case, not a quotation from the CED.
Worked solutions: Example A: at x = 1 the numerator has multiplicity 2 and the denominator multiplicity 1; 2 &gt;= 1, so there is a hole at x = 1. After cancelling one factor, (x - 1)(x + 2)/(x + 3) is still zero at x = 1, so the hole is the point (1, 0). The factor x + 3 gives the vertical asymptote x = -3, and the remaining zero is x = -2. Example B: at x = -1 the numerator has multiplicity 1 and the denominator multiplicity 2; 1 &lt; 2, so no hole. After cancelling, 1/((x + 1)(x - 4)) is undefined at x = -1: vertical asymptote x = -1. The factor x - 4 gives a second asymptote x = 4.
Verbal misconceptions: 'a hole always has y-value not zero'; 'cancelling the factor once always removes the zero or the asymptote completely'; 'the factor in the numerator cancels so there is a hole' (compare the powers first).
Adaptive routing: if more than 30% miss Gate Q2, return to this slide and redo Example B with the multiplicity count written under each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3 of 3):
Speaker notes (Targeted Instruction, block 3 of 3, LO 1.10.A). EK 1.10.A.2: 'If the graph of a rational function r has a hole at x = c, then the location of the hole can be determined by examining the output values corresponding to input values sufficiently close to c. If input values sufficiently close to c correspond to output values arbitrarily close to L, then the hole is located at the point with coordinates (c, L). The corresponding mathematical notation is lim as x approaches c of r(x) = L. It should be noted that the limit from the left, the limit from the right and the limit as x approaches c are all equal to L.' (The fetched CED text had garbled symbols in this statement, such as 'x c =' for x = c; the wording above is reconstructed, so check it against the CED PDF.)
Worked solutions: Example A: x^2 + x - 2 = (x + 2)(x - 1) and x^2 - 4x + 3 = (x - 3)(x - 1). The common factor x - 1 gives a hole at x = 1. The reduced function is (x + 2)/(x - 3), so the limit as x approaches 1 is (1 + 2)/(1 - 3) = -3/2: the hole is (1, -3/2). The graph on the slide shows the open circle, the vertical asymptote x = 3, the horizontal asymptote y = 1 and the zero x = -2. Example B: g(2.99) = 2.99 + 3 = 5.99 and g(3.01) = 6.01; the outputs approach 6 from both sides, so the limit is 6 and the hole is (3, 6).
Verbal misconceptions: 'the limit does not exist because g(3) is undefined' (the limit only needs nearby outputs); 'the hole is at the y-value of the horizontal asymptote'; 'only the left side needs to approach L'.
Adaptive routing: if more than 30% miss Gate Q3, return to this slide and redo Example B with a table of five inputs on each side of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(Practice, 12 min; tierless differentiation: students choose the starting column and may move across):
Speaker notes (Practice, 12 min; tierless: students choose the starting column and may move across).
Answers: Practice: x^2 - x - 12 = (x - 4)(x + 3) and x^2 - 16 = (x - 4)(x + 4). Hole at x = 4 with value (4 + 3)/(4 + 4) = 7/8, so the hole is (4, 7/8); vertical asymptote x = -4. Apply: w(x) = (x - 5)(x + 5)/(x - 5) = x + 5, hole at (5, 10); the length x - 5 must be positive, so x &gt; 5 and the hole is outside the domain of the context. Investigate: one answer is r(x) = 15(x - 2)/((x - 2)(x + 1)); the limit at 2 is 15/3 = 5 and x = -1 stays in the denominator. Other answers work too: any numerator (x - 2)k(x) with k(2) = 15 and k(-1) not zero.
Verbal misconceptions: 'the hole is at the y-value 0'; 'a hole only exists if the context allows the input'.
Adaptive routing: finished students move to Apply then Investigate; stuck students return to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(Production, 12 min):
Speaker notes (Production, 12 min).
Solutions: h(2) = 4 + 4 = 8, so h(t) - h(2) = t^2 + 2t - 8 = (t - 2)(t + 4). A(t) = t + 4 for t not equal to 2: hole at (2, 6). Table: A(1.9) = 5.9, A(1.99) = 5.99, A(2.01) = 6.01, A(2.1) = 6.1. The outputs approach 6 from both sides: limit as t approaches 2 of A(t) = 6. Meaning: the drone is climbing at 6 metres per second at t = 2 seconds (the average rate over shorter and shorter intervals approaches 6), even though A(2) itself is undefined.
Verbal misconceptions: students say 'A(2) does not exist so the drone has no climb rate at 2 seconds'; students stop the table after one side.
Adaptive routing: if students cannot start, send them to slide 7 Example B and the hint.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(Mastery Gate, 6 min, no calculator):
Speaker notes (Mastery Gate, 6 min, no calculator).
Answers: Q1 (x - 1)(x + 1)/((x + 1)(x + 2)): hole at x = -1, value (-1 - 1)/(-1 + 2) = -2, so the hole is (-1, -2); vertical asymptote x = -2. Q2 numerator multiplicity 2 &lt; denominator multiplicity 3, so vertical asymptote at x = 2 (and another at x = -1), no hole. Q3 (x - 4)(x + 4)/(x - 4) = x + 4 near 4, so the limit is 8.
Verbal misconceptions: Q1 'hole at x = -2 because it is the other factor'; Q2 'the factor cancels so it is a hole'; Q3 'the limit does not exist because the denominator is zero'.
Adaptive routing: Q1 missed, route to slide 5 Example A; Q2 missed, route to slide 6 Example B; Q3 missed, route to slide 7 Example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(Smart Production, 6 min):
Speaker notes (Smart Production, 6 min).
Create example: (x - 3)(x + 1)/(x - 3) has a hole at x = 3 with value 3 + 1 = 4, so the hole is (3, 4) and the zero is x = -1. Exit answer: x^2 + x - 2 = (x + 2)(x - 1), so the quotient is x - 1 and the limit is -2 - 1 = -3.
Verbal misconceptions: students keep the cancelled factor in the zero list; ask: is x = 3 an input of the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Every station is checked off. Recap in one sentence: A shared factor with numerator multiplicity at least the denominator multiplicity gives a hole, and the limit of the reduced function at that input is the y-value of the hole. Collect the Time to Check responses. Next lesson: Topic 1.11 Equivalent Representations of Polynomial and Rational Expressions.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1.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slideLayout" Target="../slideLayouts/slideLayout1.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slideLayout" Target="../slideLayouts/slideLayout1.xml"/><Relationship Id="rId1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6583680" y="1463040"/>
            <a:ext cx="7863840" cy="7863840"/>
          </a:xfrm>
          <a:prstGeom prst="ellipse">
            <a:avLst/>
          </a:prstGeom>
          <a:solidFill>
            <a:srgbClr val="0E4F4C"/>
          </a:solidFill>
          <a:ln w="12700">
            <a:solidFill>
              <a:srgbClr val="0E4F4C"/>
            </a:solidFill>
            <a:prstDash val="solid"/>
          </a:ln>
        </p:spPr>
      </p:sp>
      <p:sp>
        <p:nvSpPr>
          <p:cNvPr id="3" name="Shape 1"/>
          <p:cNvSpPr/>
          <p:nvPr/>
        </p:nvSpPr>
        <p:spPr>
          <a:xfrm>
            <a:off x="8595360" y="-1463040"/>
            <a:ext cx="3291840" cy="3291840"/>
          </a:xfrm>
          <a:prstGeom prst="ellipse">
            <a:avLst/>
          </a:prstGeom>
          <a:solidFill>
            <a:srgbClr val="F0B323">
              <a:alpha val="30000"/>
            </a:srgbClr>
          </a:solidFill>
          <a:ln w="12700">
            <a:solidFill>
              <a:srgbClr val="F0B323">
                <a:alpha val="0"/>
              </a:srgbClr>
            </a:solidFill>
            <a:prstDash val="solid"/>
          </a:ln>
        </p:spPr>
      </p:sp>
      <p:sp>
        <p:nvSpPr>
          <p:cNvPr id="4" name="Shape 2"/>
          <p:cNvSpPr/>
          <p:nvPr/>
        </p:nvSpPr>
        <p:spPr>
          <a:xfrm>
            <a:off x="-1280160" y="4023360"/>
            <a:ext cx="3291840" cy="3291840"/>
          </a:xfrm>
          <a:prstGeom prst="ellipse">
            <a:avLst/>
          </a:prstGeom>
          <a:solidFill>
            <a:srgbClr val="17A199">
              <a:alpha val="15000"/>
            </a:srgbClr>
          </a:solidFill>
          <a:ln w="12700">
            <a:solidFill>
              <a:srgbClr val="17A199">
                <a:alpha val="0"/>
              </a:srgbClr>
            </a:solidFill>
            <a:prstDash val="solid"/>
          </a:ln>
        </p:spPr>
      </p:sp>
      <p:pic>
        <p:nvPicPr>
          <p:cNvPr id="5"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6" name="Image 1" descr="../cognia_badge.png">    </p:cNvPr>
          <p:cNvPicPr>
            <a:picLocks noChangeAspect="1"/>
          </p:cNvPicPr>
          <p:nvPr/>
        </p:nvPicPr>
        <p:blipFill>
          <a:blip r:embed="rId2"/>
          <a:stretch>
            <a:fillRect/>
          </a:stretch>
        </p:blipFill>
        <p:spPr>
          <a:xfrm>
            <a:off x="4663440" y="91440"/>
            <a:ext cx="1188720" cy="891540"/>
          </a:xfrm>
          <a:prstGeom prst="rect">
            <a:avLst/>
          </a:prstGeom>
        </p:spPr>
      </p:pic>
      <p:pic>
        <p:nvPicPr>
          <p:cNvPr id="7" name="Image 2" descr="../school_logo.png">    </p:cNvPr>
          <p:cNvPicPr>
            <a:picLocks noChangeAspect="1"/>
          </p:cNvPicPr>
          <p:nvPr/>
        </p:nvPicPr>
        <p:blipFill>
          <a:blip r:embed="rId3"/>
          <a:stretch>
            <a:fillRect/>
          </a:stretch>
        </p:blipFill>
        <p:spPr>
          <a:xfrm>
            <a:off x="11292840" y="164592"/>
            <a:ext cx="566928" cy="566928"/>
          </a:xfrm>
          <a:prstGeom prst="rect">
            <a:avLst/>
          </a:prstGeom>
        </p:spPr>
      </p:pic>
      <p:sp>
        <p:nvSpPr>
          <p:cNvPr id="8" name="Text 3"/>
          <p:cNvSpPr txBox="1"/>
          <p:nvPr/>
        </p:nvSpPr>
        <p:spPr>
          <a:xfrm>
            <a:off x="640080" y="1828800"/>
            <a:ext cx="6400800" cy="274320"/>
          </a:xfrm>
          <a:prstGeom prst="rect">
            <a:avLst/>
          </a:prstGeom>
          <a:noFill/>
          <a:ln/>
        </p:spPr>
        <p:txBody>
          <a:bodyPr wrap="square" lIns="0" tIns="0" rIns="0" bIns="0" rtlCol="0" anchor="t"/>
          <a:lstStyle/>
          <a:p>
            <a:pPr indent="0" marL="0">
              <a:buNone/>
            </a:pPr>
            <a:r>
              <a:rPr lang="en-US" sz="1400" b="1" spc="300" kern="0" dirty="0">
                <a:solidFill>
                  <a:srgbClr val="E8762C"/>
                </a:solidFill>
                <a:latin typeface="Calibri" pitchFamily="34" charset="0"/>
                <a:ea typeface="Calibri" pitchFamily="34" charset="-122"/>
                <a:cs typeface="Calibri" pitchFamily="34" charset="-120"/>
              </a:rPr>
              <a:t>GRADE 9-10  ·  AP PRECALCULUS  ·  UNIT 1</a:t>
            </a:r>
            <a:endParaRPr lang="en-US" sz="1400" dirty="0"/>
          </a:p>
        </p:txBody>
      </p:sp>
      <p:sp>
        <p:nvSpPr>
          <p:cNvPr id="9" name="Text 4"/>
          <p:cNvSpPr txBox="1"/>
          <p:nvPr/>
        </p:nvSpPr>
        <p:spPr>
          <a:xfrm>
            <a:off x="640080" y="2194560"/>
            <a:ext cx="5943600" cy="548640"/>
          </a:xfrm>
          <a:prstGeom prst="rect">
            <a:avLst/>
          </a:prstGeom>
          <a:noFill/>
          <a:ln/>
        </p:spPr>
        <p:txBody>
          <a:bodyPr wrap="square" lIns="0" tIns="0" rIns="0" bIns="0" rtlCol="0" anchor="t"/>
          <a:lstStyle/>
          <a:p>
            <a:pPr indent="0" marL="0">
              <a:buNone/>
            </a:pPr>
            <a:r>
              <a:rPr lang="en-US" sz="2600" b="1" dirty="0">
                <a:solidFill>
                  <a:srgbClr val="17A199"/>
                </a:solidFill>
                <a:latin typeface="Cambria" pitchFamily="34" charset="0"/>
                <a:ea typeface="Cambria" pitchFamily="34" charset="-122"/>
                <a:cs typeface="Cambria" pitchFamily="34" charset="-120"/>
              </a:rPr>
              <a:t>Topic 1.10</a:t>
            </a:r>
            <a:endParaRPr lang="en-US" sz="2600" dirty="0"/>
          </a:p>
        </p:txBody>
      </p:sp>
      <p:sp>
        <p:nvSpPr>
          <p:cNvPr id="10" name="Text 5"/>
          <p:cNvSpPr txBox="1"/>
          <p:nvPr/>
        </p:nvSpPr>
        <p:spPr>
          <a:xfrm>
            <a:off x="640080" y="2743200"/>
            <a:ext cx="6035040" cy="1737360"/>
          </a:xfrm>
          <a:prstGeom prst="rect">
            <a:avLst/>
          </a:prstGeom>
          <a:noFill/>
          <a:ln/>
        </p:spPr>
        <p:txBody>
          <a:bodyPr wrap="square" lIns="0" tIns="0" rIns="0" bIns="0" rtlCol="0" anchor="t"/>
          <a:lstStyle/>
          <a:p>
            <a:pPr indent="0" marL="0">
              <a:buNone/>
            </a:pPr>
            <a:r>
              <a:rPr lang="en-US" sz="3800" b="1" dirty="0">
                <a:solidFill>
                  <a:srgbClr val="1F3864"/>
                </a:solidFill>
                <a:latin typeface="Cambria" pitchFamily="34" charset="0"/>
                <a:ea typeface="Cambria" pitchFamily="34" charset="-122"/>
                <a:cs typeface="Cambria" pitchFamily="34" charset="-120"/>
              </a:rPr>
              <a:t>Rational Functions</a:t>
            </a:r>
            <a:endParaRPr lang="en-US" sz="3800" dirty="0"/>
          </a:p>
          <a:p>
            <a:pPr indent="0" marL="0">
              <a:buNone/>
            </a:pPr>
            <a:r>
              <a:rPr lang="en-US" sz="3800" b="1" dirty="0">
                <a:solidFill>
                  <a:srgbClr val="1F3864"/>
                </a:solidFill>
                <a:latin typeface="Cambria" pitchFamily="34" charset="0"/>
                <a:ea typeface="Cambria" pitchFamily="34" charset="-122"/>
                <a:cs typeface="Cambria" pitchFamily="34" charset="-120"/>
              </a:rPr>
              <a:t>and Holes</a:t>
            </a:r>
            <a:endParaRPr lang="en-US" sz="3800" dirty="0"/>
          </a:p>
        </p:txBody>
      </p:sp>
      <p:sp>
        <p:nvSpPr>
          <p:cNvPr id="11" name="Text 6"/>
          <p:cNvSpPr txBox="1"/>
          <p:nvPr/>
        </p:nvSpPr>
        <p:spPr>
          <a:xfrm>
            <a:off x="640080" y="4572000"/>
            <a:ext cx="6035040" cy="365760"/>
          </a:xfrm>
          <a:prstGeom prst="rect">
            <a:avLst/>
          </a:prstGeom>
          <a:noFill/>
          <a:ln/>
        </p:spPr>
        <p:txBody>
          <a:bodyPr wrap="square" lIns="0" tIns="0" rIns="0" bIns="0" rtlCol="0" anchor="t"/>
          <a:lstStyle/>
          <a:p>
            <a:pPr indent="0" marL="0">
              <a:buNone/>
            </a:pPr>
            <a:r>
              <a:rPr lang="en-US" sz="1800" dirty="0">
                <a:solidFill>
                  <a:srgbClr val="222E2D"/>
                </a:solidFill>
                <a:latin typeface="Calibri" pitchFamily="34" charset="0"/>
                <a:ea typeface="Calibri" pitchFamily="34" charset="-122"/>
                <a:cs typeface="Calibri" pitchFamily="34" charset="-120"/>
              </a:rPr>
              <a:t>Polynomial and Rational Functions</a:t>
            </a:r>
            <a:endParaRPr lang="en-US" sz="1800" dirty="0"/>
          </a:p>
        </p:txBody>
      </p:sp>
      <p:sp>
        <p:nvSpPr>
          <p:cNvPr id="12" name="Text 7"/>
          <p:cNvSpPr txBox="1"/>
          <p:nvPr/>
        </p:nvSpPr>
        <p:spPr>
          <a:xfrm>
            <a:off x="640080" y="5074920"/>
            <a:ext cx="4572000" cy="365760"/>
          </a:xfrm>
          <a:prstGeom prst="rect">
            <a:avLst/>
          </a:prstGeom>
          <a:noFill/>
          <a:ln/>
        </p:spPr>
        <p:txBody>
          <a:bodyPr wrap="square" lIns="0" tIns="0" rIns="0" bIns="0" rtlCol="0" anchor="t"/>
          <a:lstStyle/>
          <a:p>
            <a:pPr indent="0" marL="0">
              <a:buNone/>
            </a:pPr>
            <a:r>
              <a:rPr lang="en-US" sz="1800" b="1" dirty="0">
                <a:solidFill>
                  <a:srgbClr val="222E2D"/>
                </a:solidFill>
                <a:latin typeface="Calibri" pitchFamily="34" charset="0"/>
                <a:ea typeface="Calibri" pitchFamily="34" charset="-122"/>
                <a:cs typeface="Calibri" pitchFamily="34" charset="-120"/>
              </a:rPr>
              <a:t>Mr Malek Thiab</a:t>
            </a:r>
            <a:endParaRPr lang="en-US" sz="1800" dirty="0"/>
          </a:p>
        </p:txBody>
      </p:sp>
      <p:pic>
        <p:nvPicPr>
          <p:cNvPr id="13" name="Image 3" descr="m_AP1-10/ka9632a2c70.png">    </p:cNvPr>
          <p:cNvPicPr>
            <a:picLocks noChangeAspect="1"/>
          </p:cNvPicPr>
          <p:nvPr/>
        </p:nvPicPr>
        <p:blipFill>
          <a:blip r:embed="rId4"/>
          <a:stretch>
            <a:fillRect/>
          </a:stretch>
        </p:blipFill>
        <p:spPr>
          <a:xfrm>
            <a:off x="8952890" y="3017520"/>
            <a:ext cx="2211019" cy="675193"/>
          </a:xfrm>
          <a:prstGeom prst="rect">
            <a:avLst/>
          </a:prstGeom>
        </p:spPr>
      </p:pic>
      <p:sp>
        <p:nvSpPr>
          <p:cNvPr id="14" name="Text 8"/>
          <p:cNvSpPr txBox="1"/>
          <p:nvPr/>
        </p:nvSpPr>
        <p:spPr>
          <a:xfrm>
            <a:off x="8138160" y="4160520"/>
            <a:ext cx="3840480" cy="365760"/>
          </a:xfrm>
          <a:prstGeom prst="rect">
            <a:avLst/>
          </a:prstGeom>
          <a:noFill/>
          <a:ln/>
        </p:spPr>
        <p:txBody>
          <a:bodyPr wrap="square" lIns="0" tIns="0" rIns="0" bIns="0" rtlCol="0" anchor="t"/>
          <a:lstStyle/>
          <a:p>
            <a:pPr algn="ctr" indent="0" marL="0">
              <a:buNone/>
            </a:pPr>
            <a:r>
              <a:rPr lang="en-US" sz="1600" dirty="0">
                <a:solidFill>
                  <a:srgbClr val="FFFFFF"/>
                </a:solidFill>
                <a:latin typeface="Calibri" pitchFamily="34" charset="0"/>
                <a:ea typeface="Calibri" pitchFamily="34" charset="-122"/>
                <a:cs typeface="Calibri" pitchFamily="34" charset="-120"/>
              </a:rPr>
              <a:t>Journey of 6 stations, 60 minutes</a:t>
            </a:r>
            <a:endParaRPr lang="en-US" sz="1600" dirty="0"/>
          </a:p>
        </p:txBody>
      </p:sp>
      <p:sp>
        <p:nvSpPr>
          <p:cNvPr id="15" name="Text 9"/>
          <p:cNvSpPr txBox="1"/>
          <p:nvPr/>
        </p:nvSpPr>
        <p:spPr>
          <a:xfrm>
            <a:off x="365760" y="6492240"/>
            <a:ext cx="5943600" cy="228600"/>
          </a:xfrm>
          <a:prstGeom prst="rect">
            <a:avLst/>
          </a:prstGeom>
          <a:noFill/>
          <a:ln/>
        </p:spPr>
        <p:txBody>
          <a:bodyPr wrap="square" lIns="0" tIns="0" rIns="0" bIns="0" rtlCol="0" anchor="t"/>
          <a:lstStyle/>
          <a:p>
            <a:pP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Today's journey</a:t>
            </a:r>
            <a:endParaRPr lang="en-US" sz="4000" dirty="0"/>
          </a:p>
        </p:txBody>
      </p:sp>
      <p:sp>
        <p:nvSpPr>
          <p:cNvPr id="7" name="Text 3"/>
          <p:cNvSpPr txBox="1"/>
          <p:nvPr/>
        </p:nvSpPr>
        <p:spPr>
          <a:xfrm>
            <a:off x="548640" y="1554480"/>
            <a:ext cx="10972800" cy="365760"/>
          </a:xfrm>
          <a:prstGeom prst="rect">
            <a:avLst/>
          </a:prstGeom>
          <a:noFill/>
          <a:ln/>
        </p:spPr>
        <p:txBody>
          <a:bodyPr wrap="square" lIns="0" tIns="0" rIns="0" bIns="0" rtlCol="0" anchor="t"/>
          <a:lstStyle/>
          <a:p>
            <a:pPr indent="0" marL="0">
              <a:buNone/>
            </a:pPr>
            <a:r>
              <a:rPr lang="en-US" sz="1800" dirty="0">
                <a:solidFill>
                  <a:srgbClr val="BFD8D5"/>
                </a:solidFill>
                <a:latin typeface="Calibri" pitchFamily="34" charset="0"/>
                <a:ea typeface="Calibri" pitchFamily="34" charset="-122"/>
                <a:cs typeface="Calibri" pitchFamily="34" charset="-120"/>
              </a:rPr>
              <a:t>Six stations. Each one zooms in as we arrive.</a:t>
            </a:r>
            <a:endParaRPr lang="en-US" sz="1800" dirty="0"/>
          </a:p>
        </p:txBody>
      </p:sp>
      <p:sp>
        <p:nvSpPr>
          <p:cNvPr id="8" name="path1"/>
          <p:cNvSpPr/>
          <p:nvPr/>
        </p:nvSpPr>
        <p:spPr>
          <a:xfrm flipV="1">
            <a:off x="1371600" y="3200400"/>
            <a:ext cx="1965960" cy="1097280"/>
          </a:xfrm>
          <a:prstGeom prst="line">
            <a:avLst/>
          </a:prstGeom>
          <a:noFill/>
          <a:ln w="38100">
            <a:solidFill>
              <a:srgbClr val="F0B323"/>
            </a:solidFill>
            <a:prstDash val="dash"/>
          </a:ln>
        </p:spPr>
      </p:sp>
      <p:sp>
        <p:nvSpPr>
          <p:cNvPr id="9" name="path2"/>
          <p:cNvSpPr/>
          <p:nvPr/>
        </p:nvSpPr>
        <p:spPr>
          <a:xfrm>
            <a:off x="3337560" y="3200400"/>
            <a:ext cx="1965960" cy="1097280"/>
          </a:xfrm>
          <a:prstGeom prst="line">
            <a:avLst/>
          </a:prstGeom>
          <a:noFill/>
          <a:ln w="38100">
            <a:solidFill>
              <a:srgbClr val="F0B323"/>
            </a:solidFill>
            <a:prstDash val="dash"/>
          </a:ln>
        </p:spPr>
      </p:sp>
      <p:sp>
        <p:nvSpPr>
          <p:cNvPr id="10" name="path3"/>
          <p:cNvSpPr/>
          <p:nvPr/>
        </p:nvSpPr>
        <p:spPr>
          <a:xfrm flipV="1">
            <a:off x="5303520" y="3200400"/>
            <a:ext cx="1965960" cy="1097280"/>
          </a:xfrm>
          <a:prstGeom prst="line">
            <a:avLst/>
          </a:prstGeom>
          <a:noFill/>
          <a:ln w="38100">
            <a:solidFill>
              <a:srgbClr val="F0B323"/>
            </a:solidFill>
            <a:prstDash val="dash"/>
          </a:ln>
        </p:spPr>
      </p:sp>
      <p:sp>
        <p:nvSpPr>
          <p:cNvPr id="11" name="path4"/>
          <p:cNvSpPr/>
          <p:nvPr/>
        </p:nvSpPr>
        <p:spPr>
          <a:xfrm>
            <a:off x="7269480" y="3200400"/>
            <a:ext cx="1965960" cy="1097280"/>
          </a:xfrm>
          <a:prstGeom prst="line">
            <a:avLst/>
          </a:prstGeom>
          <a:noFill/>
          <a:ln w="38100">
            <a:solidFill>
              <a:srgbClr val="F0B323"/>
            </a:solidFill>
            <a:prstDash val="dash"/>
          </a:ln>
        </p:spPr>
      </p:sp>
      <p:sp>
        <p:nvSpPr>
          <p:cNvPr id="12" name="path5"/>
          <p:cNvSpPr/>
          <p:nvPr/>
        </p:nvSpPr>
        <p:spPr>
          <a:xfrm flipV="1">
            <a:off x="9235440" y="3200400"/>
            <a:ext cx="1737360" cy="1097280"/>
          </a:xfrm>
          <a:prstGeom prst="line">
            <a:avLst/>
          </a:prstGeom>
          <a:noFill/>
          <a:ln w="38100">
            <a:solidFill>
              <a:srgbClr val="F0B323"/>
            </a:solidFill>
            <a:prstDash val="dash"/>
          </a:ln>
        </p:spPr>
      </p:sp>
      <p:sp>
        <p:nvSpPr>
          <p:cNvPr id="13" name="stn1"/>
          <p:cNvSpPr/>
          <p:nvPr/>
        </p:nvSpPr>
        <p:spPr>
          <a:xfrm>
            <a:off x="708660" y="3634740"/>
            <a:ext cx="1325880" cy="1325880"/>
          </a:xfrm>
          <a:prstGeom prst="ellipse">
            <a:avLst/>
          </a:prstGeom>
          <a:solidFill>
            <a:srgbClr val="E8762C"/>
          </a:solidFill>
          <a:ln w="38100">
            <a:solidFill>
              <a:srgbClr val="FFFFFF"/>
            </a:solidFill>
            <a:prstDash val="solid"/>
          </a:ln>
        </p:spPr>
      </p:sp>
      <p:sp>
        <p:nvSpPr>
          <p:cNvPr id="14" name="Text 10"/>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5" name="Text 11"/>
          <p:cNvSpPr txBox="1"/>
          <p:nvPr/>
        </p:nvSpPr>
        <p:spPr>
          <a:xfrm>
            <a:off x="41148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Diagnose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16" name="stn2"/>
          <p:cNvSpPr/>
          <p:nvPr/>
        </p:nvSpPr>
        <p:spPr>
          <a:xfrm>
            <a:off x="2674620" y="2537460"/>
            <a:ext cx="1325880" cy="1325880"/>
          </a:xfrm>
          <a:prstGeom prst="ellipse">
            <a:avLst/>
          </a:prstGeom>
          <a:solidFill>
            <a:srgbClr val="17A199"/>
          </a:solidFill>
          <a:ln w="38100">
            <a:solidFill>
              <a:srgbClr val="FFFFFF"/>
            </a:solidFill>
            <a:prstDash val="solid"/>
          </a:ln>
        </p:spPr>
      </p:sp>
      <p:sp>
        <p:nvSpPr>
          <p:cNvPr id="17" name="Text 13"/>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8" name="Text 14"/>
          <p:cNvSpPr txBox="1"/>
          <p:nvPr/>
        </p:nvSpPr>
        <p:spPr>
          <a:xfrm>
            <a:off x="237744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Targeted Instruction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18 min</a:t>
            </a:r>
            <a:endParaRPr lang="en-US" sz="1700" dirty="0"/>
          </a:p>
        </p:txBody>
      </p:sp>
      <p:sp>
        <p:nvSpPr>
          <p:cNvPr id="19" name="stn3"/>
          <p:cNvSpPr/>
          <p:nvPr/>
        </p:nvSpPr>
        <p:spPr>
          <a:xfrm>
            <a:off x="4640580" y="3634740"/>
            <a:ext cx="1325880" cy="1325880"/>
          </a:xfrm>
          <a:prstGeom prst="ellipse">
            <a:avLst/>
          </a:prstGeom>
          <a:solidFill>
            <a:srgbClr val="17A199"/>
          </a:solidFill>
          <a:ln w="38100">
            <a:solidFill>
              <a:srgbClr val="FFFFFF"/>
            </a:solidFill>
            <a:prstDash val="solid"/>
          </a:ln>
        </p:spPr>
      </p:sp>
      <p:sp>
        <p:nvSpPr>
          <p:cNvPr id="20" name="Text 16"/>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1" name="Text 17"/>
          <p:cNvSpPr txBox="1"/>
          <p:nvPr/>
        </p:nvSpPr>
        <p:spPr>
          <a:xfrm>
            <a:off x="434340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Practice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2" name="stn4"/>
          <p:cNvSpPr/>
          <p:nvPr/>
        </p:nvSpPr>
        <p:spPr>
          <a:xfrm>
            <a:off x="6606540" y="2537460"/>
            <a:ext cx="1325880" cy="1325880"/>
          </a:xfrm>
          <a:prstGeom prst="ellipse">
            <a:avLst/>
          </a:prstGeom>
          <a:solidFill>
            <a:srgbClr val="17A199"/>
          </a:solidFill>
          <a:ln w="38100">
            <a:solidFill>
              <a:srgbClr val="FFFFFF"/>
            </a:solidFill>
            <a:prstDash val="solid"/>
          </a:ln>
        </p:spPr>
      </p:sp>
      <p:sp>
        <p:nvSpPr>
          <p:cNvPr id="23" name="Text 19"/>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24" name="Text 20"/>
          <p:cNvSpPr txBox="1"/>
          <p:nvPr/>
        </p:nvSpPr>
        <p:spPr>
          <a:xfrm>
            <a:off x="630936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5" name="stn5"/>
          <p:cNvSpPr/>
          <p:nvPr/>
        </p:nvSpPr>
        <p:spPr>
          <a:xfrm>
            <a:off x="8572500" y="3634740"/>
            <a:ext cx="1325880" cy="1325880"/>
          </a:xfrm>
          <a:prstGeom prst="ellipse">
            <a:avLst/>
          </a:prstGeom>
          <a:solidFill>
            <a:srgbClr val="17A199"/>
          </a:solidFill>
          <a:ln w="38100">
            <a:solidFill>
              <a:srgbClr val="FFFFFF"/>
            </a:solidFill>
            <a:prstDash val="solid"/>
          </a:ln>
        </p:spPr>
      </p:sp>
      <p:sp>
        <p:nvSpPr>
          <p:cNvPr id="26" name="Text 22"/>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27" name="Text 23"/>
          <p:cNvSpPr txBox="1"/>
          <p:nvPr/>
        </p:nvSpPr>
        <p:spPr>
          <a:xfrm>
            <a:off x="827532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Mastery Gate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28" name="stn6"/>
          <p:cNvSpPr/>
          <p:nvPr/>
        </p:nvSpPr>
        <p:spPr>
          <a:xfrm>
            <a:off x="10309860" y="2537460"/>
            <a:ext cx="1325880" cy="1325880"/>
          </a:xfrm>
          <a:prstGeom prst="ellipse">
            <a:avLst/>
          </a:prstGeom>
          <a:solidFill>
            <a:srgbClr val="17A199"/>
          </a:solidFill>
          <a:ln w="38100">
            <a:solidFill>
              <a:srgbClr val="FFFFFF"/>
            </a:solidFill>
            <a:prstDash val="solid"/>
          </a:ln>
        </p:spPr>
      </p:sp>
      <p:sp>
        <p:nvSpPr>
          <p:cNvPr id="29" name="Text 25"/>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30" name="Text 26"/>
          <p:cNvSpPr txBox="1"/>
          <p:nvPr/>
        </p:nvSpPr>
        <p:spPr>
          <a:xfrm>
            <a:off x="1001268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Smart 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1.10.A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3</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What we are learning</a:t>
            </a:r>
            <a:endParaRPr lang="en-US" sz="3000" dirty="0"/>
          </a:p>
        </p:txBody>
      </p:sp>
      <p:sp>
        <p:nvSpPr>
          <p:cNvPr id="11" name="Shape 6"/>
          <p:cNvSpPr/>
          <p:nvPr/>
        </p:nvSpPr>
        <p:spPr>
          <a:xfrm>
            <a:off x="457200" y="1280160"/>
            <a:ext cx="5760720" cy="5029200"/>
          </a:xfrm>
          <a:prstGeom prst="roundRect">
            <a:avLst>
              <a:gd name="adj" fmla="val 2182"/>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7315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OBJECTIVES</a:t>
            </a:r>
            <a:endParaRPr lang="en-US" sz="1100" dirty="0"/>
          </a:p>
        </p:txBody>
      </p:sp>
      <p:sp>
        <p:nvSpPr>
          <p:cNvPr id="13" name="Text 8"/>
          <p:cNvSpPr txBox="1"/>
          <p:nvPr/>
        </p:nvSpPr>
        <p:spPr>
          <a:xfrm>
            <a:off x="731520" y="1691640"/>
            <a:ext cx="5303520" cy="448056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Determine holes in graphs of rational functions.</a:t>
            </a:r>
            <a:endParaRPr lang="en-US" sz="1700" dirty="0"/>
          </a:p>
        </p:txBody>
      </p:sp>
      <p:sp>
        <p:nvSpPr>
          <p:cNvPr id="14" name="Shape 9"/>
          <p:cNvSpPr/>
          <p:nvPr/>
        </p:nvSpPr>
        <p:spPr>
          <a:xfrm>
            <a:off x="6400800" y="1280160"/>
            <a:ext cx="5303520" cy="2148840"/>
          </a:xfrm>
          <a:prstGeom prst="roundRect">
            <a:avLst>
              <a:gd name="adj" fmla="val 5106"/>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5" name="Text 10"/>
          <p:cNvSpPr txBox="1"/>
          <p:nvPr/>
        </p:nvSpPr>
        <p:spPr>
          <a:xfrm>
            <a:off x="66751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VOCABULARY</a:t>
            </a:r>
            <a:endParaRPr lang="en-US" sz="1100" dirty="0"/>
          </a:p>
        </p:txBody>
      </p:sp>
      <p:sp>
        <p:nvSpPr>
          <p:cNvPr id="16" name="Shape 11"/>
          <p:cNvSpPr/>
          <p:nvPr/>
        </p:nvSpPr>
        <p:spPr>
          <a:xfrm>
            <a:off x="6629400" y="1691640"/>
            <a:ext cx="2468880" cy="265176"/>
          </a:xfrm>
          <a:prstGeom prst="roundRect">
            <a:avLst>
              <a:gd name="adj" fmla="val 48276"/>
            </a:avLst>
          </a:prstGeom>
          <a:solidFill>
            <a:srgbClr val="17A199"/>
          </a:solidFill>
          <a:ln w="12700">
            <a:solidFill>
              <a:srgbClr val="FFFFFF"/>
            </a:solidFill>
            <a:prstDash val="solid"/>
          </a:ln>
        </p:spPr>
      </p:sp>
      <p:sp>
        <p:nvSpPr>
          <p:cNvPr id="17" name="Text 12"/>
          <p:cNvSpPr txBox="1"/>
          <p:nvPr/>
        </p:nvSpPr>
        <p:spPr>
          <a:xfrm>
            <a:off x="662940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rational function</a:t>
            </a:r>
            <a:endParaRPr lang="en-US" sz="1100" dirty="0"/>
          </a:p>
        </p:txBody>
      </p:sp>
      <p:sp>
        <p:nvSpPr>
          <p:cNvPr id="18" name="Shape 13"/>
          <p:cNvSpPr/>
          <p:nvPr/>
        </p:nvSpPr>
        <p:spPr>
          <a:xfrm>
            <a:off x="9189720" y="1691640"/>
            <a:ext cx="2468880" cy="265176"/>
          </a:xfrm>
          <a:prstGeom prst="roundRect">
            <a:avLst>
              <a:gd name="adj" fmla="val 48276"/>
            </a:avLst>
          </a:prstGeom>
          <a:solidFill>
            <a:srgbClr val="17A199"/>
          </a:solidFill>
          <a:ln w="12700">
            <a:solidFill>
              <a:srgbClr val="FFFFFF"/>
            </a:solidFill>
            <a:prstDash val="solid"/>
          </a:ln>
        </p:spPr>
      </p:sp>
      <p:sp>
        <p:nvSpPr>
          <p:cNvPr id="19" name="Text 14"/>
          <p:cNvSpPr txBox="1"/>
          <p:nvPr/>
        </p:nvSpPr>
        <p:spPr>
          <a:xfrm>
            <a:off x="918972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hole</a:t>
            </a:r>
            <a:endParaRPr lang="en-US" sz="1100" dirty="0"/>
          </a:p>
        </p:txBody>
      </p:sp>
      <p:sp>
        <p:nvSpPr>
          <p:cNvPr id="20" name="Shape 15"/>
          <p:cNvSpPr/>
          <p:nvPr/>
        </p:nvSpPr>
        <p:spPr>
          <a:xfrm>
            <a:off x="6629400" y="1993392"/>
            <a:ext cx="2468880" cy="265176"/>
          </a:xfrm>
          <a:prstGeom prst="roundRect">
            <a:avLst>
              <a:gd name="adj" fmla="val 48276"/>
            </a:avLst>
          </a:prstGeom>
          <a:solidFill>
            <a:srgbClr val="1F3864"/>
          </a:solidFill>
          <a:ln w="12700">
            <a:solidFill>
              <a:srgbClr val="FFFFFF"/>
            </a:solidFill>
            <a:prstDash val="solid"/>
          </a:ln>
        </p:spPr>
      </p:sp>
      <p:sp>
        <p:nvSpPr>
          <p:cNvPr id="21" name="Text 16"/>
          <p:cNvSpPr txBox="1"/>
          <p:nvPr/>
        </p:nvSpPr>
        <p:spPr>
          <a:xfrm>
            <a:off x="662940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real zero</a:t>
            </a:r>
            <a:endParaRPr lang="en-US" sz="1100" dirty="0"/>
          </a:p>
        </p:txBody>
      </p:sp>
      <p:sp>
        <p:nvSpPr>
          <p:cNvPr id="22" name="Shape 17"/>
          <p:cNvSpPr/>
          <p:nvPr/>
        </p:nvSpPr>
        <p:spPr>
          <a:xfrm>
            <a:off x="9189720" y="1993392"/>
            <a:ext cx="2468880" cy="265176"/>
          </a:xfrm>
          <a:prstGeom prst="roundRect">
            <a:avLst>
              <a:gd name="adj" fmla="val 48276"/>
            </a:avLst>
          </a:prstGeom>
          <a:solidFill>
            <a:srgbClr val="1F3864"/>
          </a:solidFill>
          <a:ln w="12700">
            <a:solidFill>
              <a:srgbClr val="FFFFFF"/>
            </a:solidFill>
            <a:prstDash val="solid"/>
          </a:ln>
        </p:spPr>
      </p:sp>
      <p:sp>
        <p:nvSpPr>
          <p:cNvPr id="23" name="Text 18"/>
          <p:cNvSpPr txBox="1"/>
          <p:nvPr/>
        </p:nvSpPr>
        <p:spPr>
          <a:xfrm>
            <a:off x="918972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multiplicity</a:t>
            </a:r>
            <a:endParaRPr lang="en-US" sz="1100" dirty="0"/>
          </a:p>
        </p:txBody>
      </p:sp>
      <p:sp>
        <p:nvSpPr>
          <p:cNvPr id="24" name="Shape 19"/>
          <p:cNvSpPr/>
          <p:nvPr/>
        </p:nvSpPr>
        <p:spPr>
          <a:xfrm>
            <a:off x="6629400" y="2295144"/>
            <a:ext cx="2468880" cy="265176"/>
          </a:xfrm>
          <a:prstGeom prst="roundRect">
            <a:avLst>
              <a:gd name="adj" fmla="val 48276"/>
            </a:avLst>
          </a:prstGeom>
          <a:solidFill>
            <a:srgbClr val="E8762C"/>
          </a:solidFill>
          <a:ln w="12700">
            <a:solidFill>
              <a:srgbClr val="FFFFFF"/>
            </a:solidFill>
            <a:prstDash val="solid"/>
          </a:ln>
        </p:spPr>
      </p:sp>
      <p:sp>
        <p:nvSpPr>
          <p:cNvPr id="25" name="Text 20"/>
          <p:cNvSpPr txBox="1"/>
          <p:nvPr/>
        </p:nvSpPr>
        <p:spPr>
          <a:xfrm>
            <a:off x="6629400" y="2295144"/>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numerator</a:t>
            </a:r>
            <a:endParaRPr lang="en-US" sz="1100" dirty="0"/>
          </a:p>
        </p:txBody>
      </p:sp>
      <p:sp>
        <p:nvSpPr>
          <p:cNvPr id="26" name="Shape 21"/>
          <p:cNvSpPr/>
          <p:nvPr/>
        </p:nvSpPr>
        <p:spPr>
          <a:xfrm>
            <a:off x="9189720" y="2295144"/>
            <a:ext cx="2468880" cy="265176"/>
          </a:xfrm>
          <a:prstGeom prst="roundRect">
            <a:avLst>
              <a:gd name="adj" fmla="val 48276"/>
            </a:avLst>
          </a:prstGeom>
          <a:solidFill>
            <a:srgbClr val="E8762C"/>
          </a:solidFill>
          <a:ln w="12700">
            <a:solidFill>
              <a:srgbClr val="FFFFFF"/>
            </a:solidFill>
            <a:prstDash val="solid"/>
          </a:ln>
        </p:spPr>
      </p:sp>
      <p:sp>
        <p:nvSpPr>
          <p:cNvPr id="27" name="Text 22"/>
          <p:cNvSpPr txBox="1"/>
          <p:nvPr/>
        </p:nvSpPr>
        <p:spPr>
          <a:xfrm>
            <a:off x="9189720" y="2295144"/>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denominator</a:t>
            </a:r>
            <a:endParaRPr lang="en-US" sz="1100" dirty="0"/>
          </a:p>
        </p:txBody>
      </p:sp>
      <p:sp>
        <p:nvSpPr>
          <p:cNvPr id="28" name="Shape 23"/>
          <p:cNvSpPr/>
          <p:nvPr/>
        </p:nvSpPr>
        <p:spPr>
          <a:xfrm>
            <a:off x="6629400" y="2596896"/>
            <a:ext cx="2468880" cy="265176"/>
          </a:xfrm>
          <a:prstGeom prst="roundRect">
            <a:avLst>
              <a:gd name="adj" fmla="val 48276"/>
            </a:avLst>
          </a:prstGeom>
          <a:solidFill>
            <a:srgbClr val="17A199"/>
          </a:solidFill>
          <a:ln w="12700">
            <a:solidFill>
              <a:srgbClr val="FFFFFF"/>
            </a:solidFill>
            <a:prstDash val="solid"/>
          </a:ln>
        </p:spPr>
      </p:sp>
      <p:sp>
        <p:nvSpPr>
          <p:cNvPr id="29" name="Text 24"/>
          <p:cNvSpPr txBox="1"/>
          <p:nvPr/>
        </p:nvSpPr>
        <p:spPr>
          <a:xfrm>
            <a:off x="6629400" y="2596896"/>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output values</a:t>
            </a:r>
            <a:endParaRPr lang="en-US" sz="1100" dirty="0"/>
          </a:p>
        </p:txBody>
      </p:sp>
      <p:sp>
        <p:nvSpPr>
          <p:cNvPr id="30" name="Shape 25"/>
          <p:cNvSpPr/>
          <p:nvPr/>
        </p:nvSpPr>
        <p:spPr>
          <a:xfrm>
            <a:off x="9189720" y="2596896"/>
            <a:ext cx="2468880" cy="265176"/>
          </a:xfrm>
          <a:prstGeom prst="roundRect">
            <a:avLst>
              <a:gd name="adj" fmla="val 48276"/>
            </a:avLst>
          </a:prstGeom>
          <a:solidFill>
            <a:srgbClr val="17A199"/>
          </a:solidFill>
          <a:ln w="12700">
            <a:solidFill>
              <a:srgbClr val="FFFFFF"/>
            </a:solidFill>
            <a:prstDash val="solid"/>
          </a:ln>
        </p:spPr>
      </p:sp>
      <p:sp>
        <p:nvSpPr>
          <p:cNvPr id="31" name="Text 26"/>
          <p:cNvSpPr txBox="1"/>
          <p:nvPr/>
        </p:nvSpPr>
        <p:spPr>
          <a:xfrm>
            <a:off x="9189720" y="2596896"/>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limit</a:t>
            </a:r>
            <a:endParaRPr lang="en-US" sz="1100" dirty="0"/>
          </a:p>
        </p:txBody>
      </p:sp>
      <p:sp>
        <p:nvSpPr>
          <p:cNvPr id="32" name="Shape 27"/>
          <p:cNvSpPr/>
          <p:nvPr/>
        </p:nvSpPr>
        <p:spPr>
          <a:xfrm>
            <a:off x="6629400" y="2898648"/>
            <a:ext cx="2468880" cy="265176"/>
          </a:xfrm>
          <a:prstGeom prst="roundRect">
            <a:avLst>
              <a:gd name="adj" fmla="val 48276"/>
            </a:avLst>
          </a:prstGeom>
          <a:solidFill>
            <a:srgbClr val="1F3864"/>
          </a:solidFill>
          <a:ln w="12700">
            <a:solidFill>
              <a:srgbClr val="FFFFFF"/>
            </a:solidFill>
            <a:prstDash val="solid"/>
          </a:ln>
        </p:spPr>
      </p:sp>
      <p:sp>
        <p:nvSpPr>
          <p:cNvPr id="33" name="Text 28"/>
          <p:cNvSpPr txBox="1"/>
          <p:nvPr/>
        </p:nvSpPr>
        <p:spPr>
          <a:xfrm>
            <a:off x="6629400" y="2898648"/>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vertical asymptote</a:t>
            </a:r>
            <a:endParaRPr lang="en-US" sz="1100" dirty="0"/>
          </a:p>
        </p:txBody>
      </p:sp>
      <p:sp>
        <p:nvSpPr>
          <p:cNvPr id="34" name="Shape 29"/>
          <p:cNvSpPr/>
          <p:nvPr/>
        </p:nvSpPr>
        <p:spPr>
          <a:xfrm>
            <a:off x="6400800" y="3566160"/>
            <a:ext cx="5303520" cy="2743200"/>
          </a:xfrm>
          <a:prstGeom prst="roundRect">
            <a:avLst>
              <a:gd name="adj" fmla="val 4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Text 30"/>
          <p:cNvSpPr txBox="1"/>
          <p:nvPr/>
        </p:nvSpPr>
        <p:spPr>
          <a:xfrm>
            <a:off x="6675120" y="3639312"/>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STANDARDS</a:t>
            </a:r>
            <a:endParaRPr lang="en-US" sz="1100" dirty="0"/>
          </a:p>
        </p:txBody>
      </p:sp>
      <p:sp>
        <p:nvSpPr>
          <p:cNvPr id="36" name="Text 31"/>
          <p:cNvSpPr txBox="1"/>
          <p:nvPr/>
        </p:nvSpPr>
        <p:spPr>
          <a:xfrm>
            <a:off x="6675120" y="3931920"/>
            <a:ext cx="4846320" cy="2286000"/>
          </a:xfrm>
          <a:prstGeom prst="rect">
            <a:avLst/>
          </a:prstGeom>
          <a:noFill/>
          <a:ln/>
        </p:spPr>
        <p:txBody>
          <a:bodyPr wrap="square" lIns="0" tIns="0" rIns="0" bIns="0" rtlCol="0" anchor="t"/>
          <a:lstStyle/>
          <a:p>
            <a:pPr indent="0" marL="0">
              <a:buNone/>
            </a:pPr>
            <a:r>
              <a:rPr lang="en-US" sz="1050" b="1" dirty="0">
                <a:solidFill>
                  <a:srgbClr val="222E2D"/>
                </a:solidFill>
                <a:latin typeface="Calibri" pitchFamily="34" charset="0"/>
                <a:ea typeface="Calibri" pitchFamily="34" charset="-122"/>
                <a:cs typeface="Calibri" pitchFamily="34" charset="-120"/>
              </a:rPr>
              <a:t>LO 1.10.A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Determine holes in graphs of rational functions.</a:t>
            </a:r>
            <a:endParaRPr lang="en-US" sz="10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1.10.A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4</a:t>
            </a:r>
            <a:endParaRPr lang="en-US" sz="1000" dirty="0"/>
          </a:p>
        </p:txBody>
      </p:sp>
      <p:sp>
        <p:nvSpPr>
          <p:cNvPr id="9" name="stn1"/>
          <p:cNvSpPr/>
          <p:nvPr/>
        </p:nvSpPr>
        <p:spPr>
          <a:xfrm>
            <a:off x="3931920" y="228600"/>
            <a:ext cx="457200" cy="457200"/>
          </a:xfrm>
          <a:prstGeom prst="ellipse">
            <a:avLst/>
          </a:prstGeom>
          <a:solidFill>
            <a:srgbClr val="E8762C"/>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path1"/>
          <p:cNvSpPr/>
          <p:nvPr/>
        </p:nvSpPr>
        <p:spPr>
          <a:xfrm>
            <a:off x="4407408" y="457200"/>
            <a:ext cx="32918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1  ·  DIAGNOSE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Start here: three quick checks</a:t>
            </a:r>
            <a:endParaRPr lang="en-US" sz="3000" dirty="0"/>
          </a:p>
        </p:txBody>
      </p:sp>
      <p:sp>
        <p:nvSpPr>
          <p:cNvPr id="29" name="Shape 24"/>
          <p:cNvSpPr/>
          <p:nvPr/>
        </p:nvSpPr>
        <p:spPr>
          <a:xfrm>
            <a:off x="45720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17A199"/>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AP1-10/kf3468ae3e3.png">    </p:cNvPr>
          <p:cNvPicPr>
            <a:picLocks noChangeAspect="1"/>
          </p:cNvPicPr>
          <p:nvPr/>
        </p:nvPicPr>
        <p:blipFill>
          <a:blip r:embed="rId3"/>
          <a:stretch>
            <a:fillRect/>
          </a:stretch>
        </p:blipFill>
        <p:spPr>
          <a:xfrm>
            <a:off x="1036930" y="2697480"/>
            <a:ext cx="2498141" cy="358445"/>
          </a:xfrm>
          <a:prstGeom prst="rect">
            <a:avLst/>
          </a:prstGeom>
        </p:spPr>
      </p:pic>
      <p:sp>
        <p:nvSpPr>
          <p:cNvPr id="33" name="Shape 27"/>
          <p:cNvSpPr/>
          <p:nvPr/>
        </p:nvSpPr>
        <p:spPr>
          <a:xfrm>
            <a:off x="420624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17A199"/>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AP1-10/k0e86e35e82.png">    </p:cNvPr>
          <p:cNvPicPr>
            <a:picLocks noChangeAspect="1"/>
          </p:cNvPicPr>
          <p:nvPr/>
        </p:nvPicPr>
        <p:blipFill>
          <a:blip r:embed="rId4"/>
          <a:stretch>
            <a:fillRect/>
          </a:stretch>
        </p:blipFill>
        <p:spPr>
          <a:xfrm>
            <a:off x="4901184" y="2697480"/>
            <a:ext cx="2267712" cy="757123"/>
          </a:xfrm>
          <a:prstGeom prst="rect">
            <a:avLst/>
          </a:prstGeom>
        </p:spPr>
      </p:pic>
      <p:sp>
        <p:nvSpPr>
          <p:cNvPr id="37" name="Shape 30"/>
          <p:cNvSpPr/>
          <p:nvPr/>
        </p:nvSpPr>
        <p:spPr>
          <a:xfrm>
            <a:off x="795528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17A199"/>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AP1-10/kcbf341bda3.png">    </p:cNvPr>
          <p:cNvPicPr>
            <a:picLocks noChangeAspect="1"/>
          </p:cNvPicPr>
          <p:nvPr/>
        </p:nvPicPr>
        <p:blipFill>
          <a:blip r:embed="rId5"/>
          <a:stretch>
            <a:fillRect/>
          </a:stretch>
        </p:blipFill>
        <p:spPr>
          <a:xfrm>
            <a:off x="8163763" y="2697480"/>
            <a:ext cx="3240634" cy="713232"/>
          </a:xfrm>
          <a:prstGeom prst="rect">
            <a:avLst/>
          </a:prstGeom>
        </p:spPr>
      </p:pic>
      <p:sp>
        <p:nvSpPr>
          <p:cNvPr id="41" name="Shape 33"/>
          <p:cNvSpPr/>
          <p:nvPr/>
        </p:nvSpPr>
        <p:spPr>
          <a:xfrm>
            <a:off x="457200" y="4434840"/>
            <a:ext cx="11247120" cy="1463040"/>
          </a:xfrm>
          <a:prstGeom prst="roundRect">
            <a:avLst>
              <a:gd name="adj" fmla="val 75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57200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Done when</a:t>
            </a:r>
            <a:endParaRPr lang="en-US" sz="1400" dirty="0"/>
          </a:p>
        </p:txBody>
      </p:sp>
      <p:sp>
        <p:nvSpPr>
          <p:cNvPr id="43" name="Text 35"/>
          <p:cNvSpPr txBox="1"/>
          <p:nvPr/>
        </p:nvSpPr>
        <p:spPr>
          <a:xfrm>
            <a:off x="777240" y="4937760"/>
            <a:ext cx="10607040" cy="8229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All three answers are written without a calculator, and you can say which factor you divided out in Q2.</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1.10.A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5</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Spot the common factor</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AP1-10/kfb5c66c335.png">    </p:cNvPr>
          <p:cNvPicPr>
            <a:picLocks noChangeAspect="1"/>
          </p:cNvPicPr>
          <p:nvPr/>
        </p:nvPicPr>
        <p:blipFill>
          <a:blip r:embed="rId3"/>
          <a:stretch>
            <a:fillRect/>
          </a:stretch>
        </p:blipFill>
        <p:spPr>
          <a:xfrm>
            <a:off x="2172614" y="2141525"/>
            <a:ext cx="2768803" cy="380390"/>
          </a:xfrm>
          <a:prstGeom prst="rect">
            <a:avLst/>
          </a:prstGeom>
        </p:spPr>
      </p:pic>
      <p:pic>
        <p:nvPicPr>
          <p:cNvPr id="31" name="Image 3" descr="m_AP1-10/k18cb49229f.png">    </p:cNvPr>
          <p:cNvPicPr>
            <a:picLocks noChangeAspect="1"/>
          </p:cNvPicPr>
          <p:nvPr/>
        </p:nvPicPr>
        <p:blipFill>
          <a:blip r:embed="rId4"/>
          <a:stretch>
            <a:fillRect/>
          </a:stretch>
        </p:blipFill>
        <p:spPr>
          <a:xfrm>
            <a:off x="5581498" y="2187245"/>
            <a:ext cx="4407408" cy="288950"/>
          </a:xfrm>
          <a:prstGeom prst="rect">
            <a:avLst/>
          </a:prstGeom>
        </p:spPr>
      </p:pic>
      <p:sp>
        <p:nvSpPr>
          <p:cNvPr id="32" name="Shape 25"/>
          <p:cNvSpPr/>
          <p:nvPr/>
        </p:nvSpPr>
        <p:spPr>
          <a:xfrm>
            <a:off x="457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AP1-10/kf24812d1c8.png">    </p:cNvPr>
          <p:cNvPicPr>
            <a:picLocks noChangeAspect="1"/>
          </p:cNvPicPr>
          <p:nvPr/>
        </p:nvPicPr>
        <p:blipFill>
          <a:blip r:embed="rId5"/>
          <a:stretch>
            <a:fillRect/>
          </a:stretch>
        </p:blipFill>
        <p:spPr>
          <a:xfrm>
            <a:off x="2250274" y="3566160"/>
            <a:ext cx="1945971" cy="715481"/>
          </a:xfrm>
          <a:prstGeom prst="rect">
            <a:avLst/>
          </a:prstGeom>
        </p:spPr>
      </p:pic>
      <p:pic>
        <p:nvPicPr>
          <p:cNvPr id="35" name="Image 5" descr="m_AP1-10/ka3d24a2143.png">    </p:cNvPr>
          <p:cNvPicPr>
            <a:picLocks noChangeAspect="1"/>
          </p:cNvPicPr>
          <p:nvPr/>
        </p:nvPicPr>
        <p:blipFill>
          <a:blip r:embed="rId6"/>
          <a:stretch>
            <a:fillRect/>
          </a:stretch>
        </p:blipFill>
        <p:spPr>
          <a:xfrm>
            <a:off x="1911462" y="4437089"/>
            <a:ext cx="2623596" cy="714329"/>
          </a:xfrm>
          <a:prstGeom prst="rect">
            <a:avLst/>
          </a:prstGeom>
        </p:spPr>
      </p:pic>
      <p:pic>
        <p:nvPicPr>
          <p:cNvPr id="36" name="Image 6" descr="m_AP1-10/kb66815016d.png">    </p:cNvPr>
          <p:cNvPicPr>
            <a:picLocks noChangeAspect="1"/>
          </p:cNvPicPr>
          <p:nvPr/>
        </p:nvPicPr>
        <p:blipFill>
          <a:blip r:embed="rId7"/>
          <a:stretch>
            <a:fillRect/>
          </a:stretch>
        </p:blipFill>
        <p:spPr>
          <a:xfrm>
            <a:off x="1761683" y="5306867"/>
            <a:ext cx="2923154" cy="312725"/>
          </a:xfrm>
          <a:prstGeom prst="rect">
            <a:avLst/>
          </a:prstGeom>
        </p:spPr>
      </p:pic>
      <p:pic>
        <p:nvPicPr>
          <p:cNvPr id="37" name="Image 7" descr="m_AP1-10/k3175755118.png">    </p:cNvPr>
          <p:cNvPicPr>
            <a:picLocks noChangeAspect="1"/>
          </p:cNvPicPr>
          <p:nvPr/>
        </p:nvPicPr>
        <p:blipFill>
          <a:blip r:embed="rId8"/>
          <a:stretch>
            <a:fillRect/>
          </a:stretch>
        </p:blipFill>
        <p:spPr>
          <a:xfrm>
            <a:off x="1791310" y="5775040"/>
            <a:ext cx="2863901" cy="342351"/>
          </a:xfrm>
          <a:prstGeom prst="rect">
            <a:avLst/>
          </a:prstGeom>
        </p:spPr>
      </p:pic>
      <p:sp>
        <p:nvSpPr>
          <p:cNvPr id="38" name="Shape 27"/>
          <p:cNvSpPr/>
          <p:nvPr/>
        </p:nvSpPr>
        <p:spPr>
          <a:xfrm>
            <a:off x="6172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9" name="Text 28"/>
          <p:cNvSpPr txBox="1"/>
          <p:nvPr/>
        </p:nvSpPr>
        <p:spPr>
          <a:xfrm>
            <a:off x="6400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0" name="Image 8" descr="m_AP1-10/kbbb298bdce.png">    </p:cNvPr>
          <p:cNvPicPr>
            <a:picLocks noChangeAspect="1"/>
          </p:cNvPicPr>
          <p:nvPr/>
        </p:nvPicPr>
        <p:blipFill>
          <a:blip r:embed="rId9"/>
          <a:stretch>
            <a:fillRect/>
          </a:stretch>
        </p:blipFill>
        <p:spPr>
          <a:xfrm>
            <a:off x="7856934" y="3566160"/>
            <a:ext cx="2162651" cy="634991"/>
          </a:xfrm>
          <a:prstGeom prst="rect">
            <a:avLst/>
          </a:prstGeom>
        </p:spPr>
      </p:pic>
      <p:pic>
        <p:nvPicPr>
          <p:cNvPr id="41" name="Image 9" descr="m_AP1-10/ke5eb9ff2ee.png">    </p:cNvPr>
          <p:cNvPicPr>
            <a:picLocks noChangeAspect="1"/>
          </p:cNvPicPr>
          <p:nvPr/>
        </p:nvPicPr>
        <p:blipFill>
          <a:blip r:embed="rId10"/>
          <a:stretch>
            <a:fillRect/>
          </a:stretch>
        </p:blipFill>
        <p:spPr>
          <a:xfrm>
            <a:off x="7774036" y="4339112"/>
            <a:ext cx="2328447" cy="633969"/>
          </a:xfrm>
          <a:prstGeom prst="rect">
            <a:avLst/>
          </a:prstGeom>
        </p:spPr>
      </p:pic>
      <p:pic>
        <p:nvPicPr>
          <p:cNvPr id="42" name="Image 10" descr="m_AP1-10/kc051b1487e.png">    </p:cNvPr>
          <p:cNvPicPr>
            <a:picLocks noChangeAspect="1"/>
          </p:cNvPicPr>
          <p:nvPr/>
        </p:nvPicPr>
        <p:blipFill>
          <a:blip r:embed="rId11"/>
          <a:stretch>
            <a:fillRect/>
          </a:stretch>
        </p:blipFill>
        <p:spPr>
          <a:xfrm>
            <a:off x="7546158" y="5111041"/>
            <a:ext cx="2784204" cy="277544"/>
          </a:xfrm>
          <a:prstGeom prst="rect">
            <a:avLst/>
          </a:prstGeom>
        </p:spPr>
      </p:pic>
      <p:pic>
        <p:nvPicPr>
          <p:cNvPr id="43" name="Image 11" descr="m_AP1-10/kf29251c7cc.png">    </p:cNvPr>
          <p:cNvPicPr>
            <a:picLocks noChangeAspect="1"/>
          </p:cNvPicPr>
          <p:nvPr/>
        </p:nvPicPr>
        <p:blipFill>
          <a:blip r:embed="rId12"/>
          <a:stretch>
            <a:fillRect/>
          </a:stretch>
        </p:blipFill>
        <p:spPr>
          <a:xfrm>
            <a:off x="7516943" y="5526545"/>
            <a:ext cx="2842634" cy="64565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1.10.A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6</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Compare the multiplicities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AP1-10/k6e1474371f.png">    </p:cNvPr>
          <p:cNvPicPr>
            <a:picLocks noChangeAspect="1"/>
          </p:cNvPicPr>
          <p:nvPr/>
        </p:nvPicPr>
        <p:blipFill>
          <a:blip r:embed="rId3"/>
          <a:stretch>
            <a:fillRect/>
          </a:stretch>
        </p:blipFill>
        <p:spPr>
          <a:xfrm>
            <a:off x="1885493" y="2165299"/>
            <a:ext cx="3935578" cy="332842"/>
          </a:xfrm>
          <a:prstGeom prst="rect">
            <a:avLst/>
          </a:prstGeom>
        </p:spPr>
      </p:pic>
      <p:pic>
        <p:nvPicPr>
          <p:cNvPr id="31" name="Image 3" descr="m_AP1-10/kffc46ba841.png">    </p:cNvPr>
          <p:cNvPicPr>
            <a:picLocks noChangeAspect="1"/>
          </p:cNvPicPr>
          <p:nvPr/>
        </p:nvPicPr>
        <p:blipFill>
          <a:blip r:embed="rId4"/>
          <a:stretch>
            <a:fillRect/>
          </a:stretch>
        </p:blipFill>
        <p:spPr>
          <a:xfrm>
            <a:off x="6461150" y="2167128"/>
            <a:ext cx="3814877" cy="329184"/>
          </a:xfrm>
          <a:prstGeom prst="rect">
            <a:avLst/>
          </a:prstGeom>
        </p:spPr>
      </p:pic>
      <p:sp>
        <p:nvSpPr>
          <p:cNvPr id="32" name="Shape 25"/>
          <p:cNvSpPr/>
          <p:nvPr/>
        </p:nvSpPr>
        <p:spPr>
          <a:xfrm>
            <a:off x="457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AP1-10/kb980f8e742.png">    </p:cNvPr>
          <p:cNvPicPr>
            <a:picLocks noChangeAspect="1"/>
          </p:cNvPicPr>
          <p:nvPr/>
        </p:nvPicPr>
        <p:blipFill>
          <a:blip r:embed="rId5"/>
          <a:stretch>
            <a:fillRect/>
          </a:stretch>
        </p:blipFill>
        <p:spPr>
          <a:xfrm>
            <a:off x="1788841" y="3566160"/>
            <a:ext cx="2868839" cy="763871"/>
          </a:xfrm>
          <a:prstGeom prst="rect">
            <a:avLst/>
          </a:prstGeom>
        </p:spPr>
      </p:pic>
      <p:pic>
        <p:nvPicPr>
          <p:cNvPr id="35" name="Image 5" descr="m_AP1-10/ka0fa3c6b61.png">    </p:cNvPr>
          <p:cNvPicPr>
            <a:picLocks noChangeAspect="1"/>
          </p:cNvPicPr>
          <p:nvPr/>
        </p:nvPicPr>
        <p:blipFill>
          <a:blip r:embed="rId6"/>
          <a:stretch>
            <a:fillRect/>
          </a:stretch>
        </p:blipFill>
        <p:spPr>
          <a:xfrm>
            <a:off x="1931213" y="4485479"/>
            <a:ext cx="2584094" cy="286390"/>
          </a:xfrm>
          <a:prstGeom prst="rect">
            <a:avLst/>
          </a:prstGeom>
        </p:spPr>
      </p:pic>
      <p:pic>
        <p:nvPicPr>
          <p:cNvPr id="36" name="Image 6" descr="m_AP1-10/k2713cda9cd.png">    </p:cNvPr>
          <p:cNvPicPr>
            <a:picLocks noChangeAspect="1"/>
          </p:cNvPicPr>
          <p:nvPr/>
        </p:nvPicPr>
        <p:blipFill>
          <a:blip r:embed="rId7"/>
          <a:stretch>
            <a:fillRect/>
          </a:stretch>
        </p:blipFill>
        <p:spPr>
          <a:xfrm>
            <a:off x="1654698" y="4927318"/>
            <a:ext cx="3137124" cy="312725"/>
          </a:xfrm>
          <a:prstGeom prst="rect">
            <a:avLst/>
          </a:prstGeom>
        </p:spPr>
      </p:pic>
      <p:pic>
        <p:nvPicPr>
          <p:cNvPr id="37" name="Image 7" descr="m_AP1-10/k32408fa361.png">    </p:cNvPr>
          <p:cNvPicPr>
            <a:picLocks noChangeAspect="1"/>
          </p:cNvPicPr>
          <p:nvPr/>
        </p:nvPicPr>
        <p:blipFill>
          <a:blip r:embed="rId8"/>
          <a:stretch>
            <a:fillRect/>
          </a:stretch>
        </p:blipFill>
        <p:spPr>
          <a:xfrm>
            <a:off x="1169152" y="5395490"/>
            <a:ext cx="4108216" cy="668244"/>
          </a:xfrm>
          <a:prstGeom prst="rect">
            <a:avLst/>
          </a:prstGeom>
        </p:spPr>
      </p:pic>
      <p:sp>
        <p:nvSpPr>
          <p:cNvPr id="38" name="Shape 27"/>
          <p:cNvSpPr/>
          <p:nvPr/>
        </p:nvSpPr>
        <p:spPr>
          <a:xfrm>
            <a:off x="6172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9" name="Text 28"/>
          <p:cNvSpPr txBox="1"/>
          <p:nvPr/>
        </p:nvSpPr>
        <p:spPr>
          <a:xfrm>
            <a:off x="6400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0" name="Image 8" descr="m_AP1-10/k7af5df6d24.png">    </p:cNvPr>
          <p:cNvPicPr>
            <a:picLocks noChangeAspect="1"/>
          </p:cNvPicPr>
          <p:nvPr/>
        </p:nvPicPr>
        <p:blipFill>
          <a:blip r:embed="rId9"/>
          <a:stretch>
            <a:fillRect/>
          </a:stretch>
        </p:blipFill>
        <p:spPr>
          <a:xfrm>
            <a:off x="7503841" y="3566160"/>
            <a:ext cx="2868839" cy="722394"/>
          </a:xfrm>
          <a:prstGeom prst="rect">
            <a:avLst/>
          </a:prstGeom>
        </p:spPr>
      </p:pic>
      <p:pic>
        <p:nvPicPr>
          <p:cNvPr id="41" name="Image 9" descr="m_AP1-10/kbc73ddb6d9.png">    </p:cNvPr>
          <p:cNvPicPr>
            <a:picLocks noChangeAspect="1"/>
          </p:cNvPicPr>
          <p:nvPr/>
        </p:nvPicPr>
        <p:blipFill>
          <a:blip r:embed="rId10"/>
          <a:stretch>
            <a:fillRect/>
          </a:stretch>
        </p:blipFill>
        <p:spPr>
          <a:xfrm>
            <a:off x="7647859" y="4444002"/>
            <a:ext cx="2580803" cy="286390"/>
          </a:xfrm>
          <a:prstGeom prst="rect">
            <a:avLst/>
          </a:prstGeom>
        </p:spPr>
      </p:pic>
      <p:pic>
        <p:nvPicPr>
          <p:cNvPr id="42" name="Image 10" descr="m_AP1-10/kda693ea684.png">    </p:cNvPr>
          <p:cNvPicPr>
            <a:picLocks noChangeAspect="1"/>
          </p:cNvPicPr>
          <p:nvPr/>
        </p:nvPicPr>
        <p:blipFill>
          <a:blip r:embed="rId11"/>
          <a:stretch>
            <a:fillRect/>
          </a:stretch>
        </p:blipFill>
        <p:spPr>
          <a:xfrm>
            <a:off x="7111289" y="4885840"/>
            <a:ext cx="3653942" cy="312725"/>
          </a:xfrm>
          <a:prstGeom prst="rect">
            <a:avLst/>
          </a:prstGeom>
        </p:spPr>
      </p:pic>
      <p:pic>
        <p:nvPicPr>
          <p:cNvPr id="43" name="Image 11" descr="m_AP1-10/k76a738e077.png">    </p:cNvPr>
          <p:cNvPicPr>
            <a:picLocks noChangeAspect="1"/>
          </p:cNvPicPr>
          <p:nvPr/>
        </p:nvPicPr>
        <p:blipFill>
          <a:blip r:embed="rId12"/>
          <a:stretch>
            <a:fillRect/>
          </a:stretch>
        </p:blipFill>
        <p:spPr>
          <a:xfrm>
            <a:off x="7396033" y="5354013"/>
            <a:ext cx="3084454" cy="68799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1.10.A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7</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Find the hole with a limit</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AP1-10/ka9632a2c70.png">    </p:cNvPr>
          <p:cNvPicPr>
            <a:picLocks noChangeAspect="1"/>
          </p:cNvPicPr>
          <p:nvPr/>
        </p:nvPicPr>
        <p:blipFill>
          <a:blip r:embed="rId3"/>
          <a:stretch>
            <a:fillRect/>
          </a:stretch>
        </p:blipFill>
        <p:spPr>
          <a:xfrm>
            <a:off x="4028846" y="2072030"/>
            <a:ext cx="1700784" cy="519379"/>
          </a:xfrm>
          <a:prstGeom prst="rect">
            <a:avLst/>
          </a:prstGeom>
        </p:spPr>
      </p:pic>
      <p:pic>
        <p:nvPicPr>
          <p:cNvPr id="31" name="Image 3" descr="m_AP1-10/k85256e16be.png">    </p:cNvPr>
          <p:cNvPicPr>
            <a:picLocks noChangeAspect="1"/>
          </p:cNvPicPr>
          <p:nvPr/>
        </p:nvPicPr>
        <p:blipFill>
          <a:blip r:embed="rId4"/>
          <a:stretch>
            <a:fillRect/>
          </a:stretch>
        </p:blipFill>
        <p:spPr>
          <a:xfrm>
            <a:off x="6369710" y="2141525"/>
            <a:ext cx="1762963" cy="380390"/>
          </a:xfrm>
          <a:prstGeom prst="rect">
            <a:avLst/>
          </a:prstGeom>
        </p:spPr>
      </p:pic>
      <p:sp>
        <p:nvSpPr>
          <p:cNvPr id="32" name="Shape 25"/>
          <p:cNvSpPr/>
          <p:nvPr/>
        </p:nvSpPr>
        <p:spPr>
          <a:xfrm>
            <a:off x="457200" y="3108960"/>
            <a:ext cx="39319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4" descr="figs/AP1-10_hole.png">    </p:cNvPr>
          <p:cNvPicPr>
            <a:picLocks noChangeAspect="1"/>
          </p:cNvPicPr>
          <p:nvPr/>
        </p:nvPicPr>
        <p:blipFill>
          <a:blip r:embed="rId5"/>
          <a:stretch>
            <a:fillRect/>
          </a:stretch>
        </p:blipFill>
        <p:spPr>
          <a:xfrm>
            <a:off x="594360" y="3303549"/>
            <a:ext cx="3657600" cy="2765502"/>
          </a:xfrm>
          <a:prstGeom prst="rect">
            <a:avLst/>
          </a:prstGeom>
        </p:spPr>
      </p:pic>
      <p:sp>
        <p:nvSpPr>
          <p:cNvPr id="34" name="Shape 26"/>
          <p:cNvSpPr/>
          <p:nvPr/>
        </p:nvSpPr>
        <p:spPr>
          <a:xfrm>
            <a:off x="45262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Text 27"/>
          <p:cNvSpPr txBox="1"/>
          <p:nvPr/>
        </p:nvSpPr>
        <p:spPr>
          <a:xfrm>
            <a:off x="47548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6" name="Image 5" descr="m_AP1-10/ke22417c7e2.png">    </p:cNvPr>
          <p:cNvPicPr>
            <a:picLocks noChangeAspect="1"/>
          </p:cNvPicPr>
          <p:nvPr/>
        </p:nvPicPr>
        <p:blipFill>
          <a:blip r:embed="rId6"/>
          <a:stretch>
            <a:fillRect/>
          </a:stretch>
        </p:blipFill>
        <p:spPr>
          <a:xfrm>
            <a:off x="5315556" y="3566160"/>
            <a:ext cx="1941888" cy="570981"/>
          </a:xfrm>
          <a:prstGeom prst="rect">
            <a:avLst/>
          </a:prstGeom>
        </p:spPr>
      </p:pic>
      <p:pic>
        <p:nvPicPr>
          <p:cNvPr id="37" name="Image 6" descr="m_AP1-10/kfe98bd7466.png">    </p:cNvPr>
          <p:cNvPicPr>
            <a:picLocks noChangeAspect="1"/>
          </p:cNvPicPr>
          <p:nvPr/>
        </p:nvPicPr>
        <p:blipFill>
          <a:blip r:embed="rId7"/>
          <a:stretch>
            <a:fillRect/>
          </a:stretch>
        </p:blipFill>
        <p:spPr>
          <a:xfrm>
            <a:off x="5237009" y="4261194"/>
            <a:ext cx="2098983" cy="570062"/>
          </a:xfrm>
          <a:prstGeom prst="rect">
            <a:avLst/>
          </a:prstGeom>
        </p:spPr>
      </p:pic>
      <p:pic>
        <p:nvPicPr>
          <p:cNvPr id="38" name="Image 7" descr="m_AP1-10/ka4e0db67e3.png">    </p:cNvPr>
          <p:cNvPicPr>
            <a:picLocks noChangeAspect="1"/>
          </p:cNvPicPr>
          <p:nvPr/>
        </p:nvPicPr>
        <p:blipFill>
          <a:blip r:embed="rId8"/>
          <a:stretch>
            <a:fillRect/>
          </a:stretch>
        </p:blipFill>
        <p:spPr>
          <a:xfrm>
            <a:off x="5176587" y="4955310"/>
            <a:ext cx="2219825" cy="512267"/>
          </a:xfrm>
          <a:prstGeom prst="rect">
            <a:avLst/>
          </a:prstGeom>
        </p:spPr>
      </p:pic>
      <p:pic>
        <p:nvPicPr>
          <p:cNvPr id="39" name="Image 8" descr="m_AP1-10/k9fbf56e173.png">    </p:cNvPr>
          <p:cNvPicPr>
            <a:picLocks noChangeAspect="1"/>
          </p:cNvPicPr>
          <p:nvPr/>
        </p:nvPicPr>
        <p:blipFill>
          <a:blip r:embed="rId9"/>
          <a:stretch>
            <a:fillRect/>
          </a:stretch>
        </p:blipFill>
        <p:spPr>
          <a:xfrm>
            <a:off x="5462932" y="5591630"/>
            <a:ext cx="1647137" cy="580570"/>
          </a:xfrm>
          <a:prstGeom prst="rect">
            <a:avLst/>
          </a:prstGeom>
        </p:spPr>
      </p:pic>
      <p:sp>
        <p:nvSpPr>
          <p:cNvPr id="40" name="Shape 28"/>
          <p:cNvSpPr/>
          <p:nvPr/>
        </p:nvSpPr>
        <p:spPr>
          <a:xfrm>
            <a:off x="81838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1" name="Text 29"/>
          <p:cNvSpPr txBox="1"/>
          <p:nvPr/>
        </p:nvSpPr>
        <p:spPr>
          <a:xfrm>
            <a:off x="84124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2" name="Image 9" descr="m_AP1-10/kb4f479645e.png">    </p:cNvPr>
          <p:cNvPicPr>
            <a:picLocks noChangeAspect="1"/>
          </p:cNvPicPr>
          <p:nvPr/>
        </p:nvPicPr>
        <p:blipFill>
          <a:blip r:embed="rId10"/>
          <a:stretch>
            <a:fillRect/>
          </a:stretch>
        </p:blipFill>
        <p:spPr>
          <a:xfrm>
            <a:off x="9045428" y="3566160"/>
            <a:ext cx="1797345" cy="715481"/>
          </a:xfrm>
          <a:prstGeom prst="rect">
            <a:avLst/>
          </a:prstGeom>
        </p:spPr>
      </p:pic>
      <p:pic>
        <p:nvPicPr>
          <p:cNvPr id="43" name="Image 10" descr="m_AP1-10/kb6260a5634.png">    </p:cNvPr>
          <p:cNvPicPr>
            <a:picLocks noChangeAspect="1"/>
          </p:cNvPicPr>
          <p:nvPr/>
        </p:nvPicPr>
        <p:blipFill>
          <a:blip r:embed="rId11"/>
          <a:stretch>
            <a:fillRect/>
          </a:stretch>
        </p:blipFill>
        <p:spPr>
          <a:xfrm>
            <a:off x="8366760" y="4437089"/>
            <a:ext cx="3154680" cy="300446"/>
          </a:xfrm>
          <a:prstGeom prst="rect">
            <a:avLst/>
          </a:prstGeom>
        </p:spPr>
      </p:pic>
      <p:pic>
        <p:nvPicPr>
          <p:cNvPr id="44" name="Image 11" descr="m_AP1-10/kd9695a1207.png">    </p:cNvPr>
          <p:cNvPicPr>
            <a:picLocks noChangeAspect="1"/>
          </p:cNvPicPr>
          <p:nvPr/>
        </p:nvPicPr>
        <p:blipFill>
          <a:blip r:embed="rId12"/>
          <a:stretch>
            <a:fillRect/>
          </a:stretch>
        </p:blipFill>
        <p:spPr>
          <a:xfrm>
            <a:off x="8398581" y="4892983"/>
            <a:ext cx="3091038" cy="487192"/>
          </a:xfrm>
          <a:prstGeom prst="rect">
            <a:avLst/>
          </a:prstGeom>
        </p:spPr>
      </p:pic>
      <p:pic>
        <p:nvPicPr>
          <p:cNvPr id="45" name="Image 12" descr="m_AP1-10/k50b8f64301.png">    </p:cNvPr>
          <p:cNvPicPr>
            <a:picLocks noChangeAspect="1"/>
          </p:cNvPicPr>
          <p:nvPr/>
        </p:nvPicPr>
        <p:blipFill>
          <a:blip r:embed="rId13"/>
          <a:stretch>
            <a:fillRect/>
          </a:stretch>
        </p:blipFill>
        <p:spPr>
          <a:xfrm>
            <a:off x="9165580" y="5535623"/>
            <a:ext cx="1557040" cy="34235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1.10.A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8</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329184" cy="0"/>
          </a:xfrm>
          <a:prstGeom prst="line">
            <a:avLst/>
          </a:prstGeom>
          <a:noFill/>
          <a:ln w="25400">
            <a:solidFill>
              <a:srgbClr val="17A199"/>
            </a:solidFill>
            <a:prstDash val="dash"/>
          </a:ln>
        </p:spPr>
      </p:sp>
      <p:sp>
        <p:nvSpPr>
          <p:cNvPr id="15" name="stn3"/>
          <p:cNvSpPr/>
          <p:nvPr/>
        </p:nvSpPr>
        <p:spPr>
          <a:xfrm>
            <a:off x="5358384" y="228600"/>
            <a:ext cx="457200" cy="457200"/>
          </a:xfrm>
          <a:prstGeom prst="ellipse">
            <a:avLst/>
          </a:prstGeom>
          <a:solidFill>
            <a:srgbClr val="E8762C"/>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path3"/>
          <p:cNvSpPr/>
          <p:nvPr/>
        </p:nvSpPr>
        <p:spPr>
          <a:xfrm>
            <a:off x="5833872" y="457200"/>
            <a:ext cx="32918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3  ·  PRACTICE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Give it a go: Practice, Apply, Investigate</a:t>
            </a:r>
            <a:endParaRPr lang="en-US" sz="3000" dirty="0"/>
          </a:p>
        </p:txBody>
      </p:sp>
      <p:sp>
        <p:nvSpPr>
          <p:cNvPr id="29" name="Shape 24"/>
          <p:cNvSpPr/>
          <p:nvPr/>
        </p:nvSpPr>
        <p:spPr>
          <a:xfrm>
            <a:off x="457200" y="1828800"/>
            <a:ext cx="3611880" cy="777240"/>
          </a:xfrm>
          <a:prstGeom prst="roundRect">
            <a:avLst>
              <a:gd name="adj" fmla="val 14118"/>
            </a:avLst>
          </a:prstGeom>
          <a:solidFill>
            <a:srgbClr val="17A199"/>
          </a:solidFill>
          <a:ln w="12700">
            <a:solidFill>
              <a:srgbClr val="FFFFFF"/>
            </a:solidFill>
            <a:prstDash val="solid"/>
          </a:ln>
        </p:spPr>
      </p:sp>
      <p:sp>
        <p:nvSpPr>
          <p:cNvPr id="30" name="Text 25"/>
          <p:cNvSpPr txBox="1"/>
          <p:nvPr/>
        </p:nvSpPr>
        <p:spPr>
          <a:xfrm>
            <a:off x="68580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PRACTICE</a:t>
            </a:r>
            <a:endParaRPr lang="en-US" sz="2000" dirty="0"/>
          </a:p>
        </p:txBody>
      </p:sp>
      <p:sp>
        <p:nvSpPr>
          <p:cNvPr id="31" name="Text 26"/>
          <p:cNvSpPr txBox="1"/>
          <p:nvPr/>
        </p:nvSpPr>
        <p:spPr>
          <a:xfrm>
            <a:off x="68580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Secure the method</a:t>
            </a:r>
            <a:endParaRPr lang="en-US" sz="1300" dirty="0"/>
          </a:p>
        </p:txBody>
      </p:sp>
      <p:sp>
        <p:nvSpPr>
          <p:cNvPr id="32" name="Shape 27"/>
          <p:cNvSpPr/>
          <p:nvPr/>
        </p:nvSpPr>
        <p:spPr>
          <a:xfrm>
            <a:off x="45720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2" descr="m_AP1-10/k9e1423b148.png">    </p:cNvPr>
          <p:cNvPicPr>
            <a:picLocks noChangeAspect="1"/>
          </p:cNvPicPr>
          <p:nvPr/>
        </p:nvPicPr>
        <p:blipFill>
          <a:blip r:embed="rId3"/>
          <a:stretch>
            <a:fillRect/>
          </a:stretch>
        </p:blipFill>
        <p:spPr>
          <a:xfrm>
            <a:off x="973836" y="2926080"/>
            <a:ext cx="2578608" cy="757123"/>
          </a:xfrm>
          <a:prstGeom prst="rect">
            <a:avLst/>
          </a:prstGeom>
        </p:spPr>
      </p:pic>
      <p:sp>
        <p:nvSpPr>
          <p:cNvPr id="34" name="Text 28"/>
          <p:cNvSpPr txBox="1"/>
          <p:nvPr/>
        </p:nvSpPr>
        <p:spPr>
          <a:xfrm>
            <a:off x="68580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you factor both parts, give the coordinates of the hole and write the vertical asymptote.</a:t>
            </a:r>
            <a:endParaRPr lang="en-US" sz="1150" dirty="0"/>
          </a:p>
        </p:txBody>
      </p:sp>
      <p:sp>
        <p:nvSpPr>
          <p:cNvPr id="35" name="Shape 29"/>
          <p:cNvSpPr/>
          <p:nvPr/>
        </p:nvSpPr>
        <p:spPr>
          <a:xfrm>
            <a:off x="4251960" y="1828800"/>
            <a:ext cx="3611880" cy="777240"/>
          </a:xfrm>
          <a:prstGeom prst="roundRect">
            <a:avLst>
              <a:gd name="adj" fmla="val 14118"/>
            </a:avLst>
          </a:prstGeom>
          <a:solidFill>
            <a:srgbClr val="E8762C"/>
          </a:solidFill>
          <a:ln w="12700">
            <a:solidFill>
              <a:srgbClr val="FFFFFF"/>
            </a:solidFill>
            <a:prstDash val="solid"/>
          </a:ln>
        </p:spPr>
      </p:sp>
      <p:sp>
        <p:nvSpPr>
          <p:cNvPr id="36" name="Text 30"/>
          <p:cNvSpPr txBox="1"/>
          <p:nvPr/>
        </p:nvSpPr>
        <p:spPr>
          <a:xfrm>
            <a:off x="448056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APPLY</a:t>
            </a:r>
            <a:endParaRPr lang="en-US" sz="2000" dirty="0"/>
          </a:p>
        </p:txBody>
      </p:sp>
      <p:sp>
        <p:nvSpPr>
          <p:cNvPr id="37" name="Text 31"/>
          <p:cNvSpPr txBox="1"/>
          <p:nvPr/>
        </p:nvSpPr>
        <p:spPr>
          <a:xfrm>
            <a:off x="448056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it in context</a:t>
            </a:r>
            <a:endParaRPr lang="en-US" sz="1300" dirty="0"/>
          </a:p>
        </p:txBody>
      </p:sp>
      <p:sp>
        <p:nvSpPr>
          <p:cNvPr id="38" name="Shape 32"/>
          <p:cNvSpPr/>
          <p:nvPr/>
        </p:nvSpPr>
        <p:spPr>
          <a:xfrm>
            <a:off x="425196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9" name="Image 3" descr="m_AP1-10/k44ce62697d.png">    </p:cNvPr>
          <p:cNvPicPr>
            <a:picLocks noChangeAspect="1"/>
          </p:cNvPicPr>
          <p:nvPr/>
        </p:nvPicPr>
        <p:blipFill>
          <a:blip r:embed="rId4"/>
          <a:stretch>
            <a:fillRect/>
          </a:stretch>
        </p:blipFill>
        <p:spPr>
          <a:xfrm>
            <a:off x="4366260" y="2926080"/>
            <a:ext cx="3383280" cy="270469"/>
          </a:xfrm>
          <a:prstGeom prst="rect">
            <a:avLst/>
          </a:prstGeom>
        </p:spPr>
      </p:pic>
      <p:pic>
        <p:nvPicPr>
          <p:cNvPr id="40" name="Image 4" descr="m_AP1-10/kcda107a055.png">    </p:cNvPr>
          <p:cNvPicPr>
            <a:picLocks noChangeAspect="1"/>
          </p:cNvPicPr>
          <p:nvPr/>
        </p:nvPicPr>
        <p:blipFill>
          <a:blip r:embed="rId5"/>
          <a:stretch>
            <a:fillRect/>
          </a:stretch>
        </p:blipFill>
        <p:spPr>
          <a:xfrm>
            <a:off x="4366260" y="3470869"/>
            <a:ext cx="3383280" cy="645474"/>
          </a:xfrm>
          <a:prstGeom prst="rect">
            <a:avLst/>
          </a:prstGeom>
        </p:spPr>
      </p:pic>
      <p:sp>
        <p:nvSpPr>
          <p:cNvPr id="41" name="Text 33"/>
          <p:cNvSpPr txBox="1"/>
          <p:nvPr/>
        </p:nvSpPr>
        <p:spPr>
          <a:xfrm>
            <a:off x="448056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you give the hole as a point and say why the context never reaches it (the length must be positive).</a:t>
            </a:r>
            <a:endParaRPr lang="en-US" sz="1150" dirty="0"/>
          </a:p>
        </p:txBody>
      </p:sp>
      <p:sp>
        <p:nvSpPr>
          <p:cNvPr id="42" name="Shape 34"/>
          <p:cNvSpPr/>
          <p:nvPr/>
        </p:nvSpPr>
        <p:spPr>
          <a:xfrm>
            <a:off x="8046720" y="1828800"/>
            <a:ext cx="3611880" cy="777240"/>
          </a:xfrm>
          <a:prstGeom prst="roundRect">
            <a:avLst>
              <a:gd name="adj" fmla="val 14118"/>
            </a:avLst>
          </a:prstGeom>
          <a:solidFill>
            <a:srgbClr val="1F3864"/>
          </a:solidFill>
          <a:ln w="12700">
            <a:solidFill>
              <a:srgbClr val="FFFFFF"/>
            </a:solidFill>
            <a:prstDash val="solid"/>
          </a:ln>
        </p:spPr>
      </p:sp>
      <p:sp>
        <p:nvSpPr>
          <p:cNvPr id="43" name="Text 35"/>
          <p:cNvSpPr txBox="1"/>
          <p:nvPr/>
        </p:nvSpPr>
        <p:spPr>
          <a:xfrm>
            <a:off x="827532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INVESTIGATE</a:t>
            </a:r>
            <a:endParaRPr lang="en-US" sz="2000" dirty="0"/>
          </a:p>
        </p:txBody>
      </p:sp>
      <p:sp>
        <p:nvSpPr>
          <p:cNvPr id="44" name="Text 36"/>
          <p:cNvSpPr txBox="1"/>
          <p:nvPr/>
        </p:nvSpPr>
        <p:spPr>
          <a:xfrm>
            <a:off x="827532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Find out why</a:t>
            </a:r>
            <a:endParaRPr lang="en-US" sz="1300" dirty="0"/>
          </a:p>
        </p:txBody>
      </p:sp>
      <p:sp>
        <p:nvSpPr>
          <p:cNvPr id="45" name="Shape 37"/>
          <p:cNvSpPr/>
          <p:nvPr/>
        </p:nvSpPr>
        <p:spPr>
          <a:xfrm>
            <a:off x="804672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6" name="Image 5" descr="m_AP1-10/k4b9d5ea49d.png">    </p:cNvPr>
          <p:cNvPicPr>
            <a:picLocks noChangeAspect="1"/>
          </p:cNvPicPr>
          <p:nvPr/>
        </p:nvPicPr>
        <p:blipFill>
          <a:blip r:embed="rId6"/>
          <a:stretch>
            <a:fillRect/>
          </a:stretch>
        </p:blipFill>
        <p:spPr>
          <a:xfrm>
            <a:off x="8958377" y="2926080"/>
            <a:ext cx="1788566" cy="380390"/>
          </a:xfrm>
          <a:prstGeom prst="rect">
            <a:avLst/>
          </a:prstGeom>
        </p:spPr>
      </p:pic>
      <p:pic>
        <p:nvPicPr>
          <p:cNvPr id="47" name="Image 6" descr="m_AP1-10/k2e959ba788.png">    </p:cNvPr>
          <p:cNvPicPr>
            <a:picLocks noChangeAspect="1"/>
          </p:cNvPicPr>
          <p:nvPr/>
        </p:nvPicPr>
        <p:blipFill>
          <a:blip r:embed="rId7"/>
          <a:stretch>
            <a:fillRect/>
          </a:stretch>
        </p:blipFill>
        <p:spPr>
          <a:xfrm>
            <a:off x="8161020" y="3580790"/>
            <a:ext cx="3383280" cy="375920"/>
          </a:xfrm>
          <a:prstGeom prst="rect">
            <a:avLst/>
          </a:prstGeom>
        </p:spPr>
      </p:pic>
      <p:sp>
        <p:nvSpPr>
          <p:cNvPr id="48" name="Text 38"/>
          <p:cNvSpPr txBox="1"/>
          <p:nvPr/>
        </p:nvSpPr>
        <p:spPr>
          <a:xfrm>
            <a:off x="827532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your function is in factored form and you check that its limit at the hole's input is 5.</a:t>
            </a:r>
            <a:endParaRPr lang="en-US" sz="11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1.10.A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9</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329184" cy="0"/>
          </a:xfrm>
          <a:prstGeom prst="line">
            <a:avLst/>
          </a:prstGeom>
          <a:noFill/>
          <a:ln w="25400">
            <a:solidFill>
              <a:srgbClr val="17A199"/>
            </a:solidFill>
            <a:prstDash val="dash"/>
          </a:ln>
        </p:spPr>
      </p:sp>
      <p:sp>
        <p:nvSpPr>
          <p:cNvPr id="18" name="stn4"/>
          <p:cNvSpPr/>
          <p:nvPr/>
        </p:nvSpPr>
        <p:spPr>
          <a:xfrm>
            <a:off x="6071616" y="228600"/>
            <a:ext cx="457200" cy="457200"/>
          </a:xfrm>
          <a:prstGeom prst="ellipse">
            <a:avLst/>
          </a:prstGeom>
          <a:solidFill>
            <a:srgbClr val="E8762C"/>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path4"/>
          <p:cNvSpPr/>
          <p:nvPr/>
        </p:nvSpPr>
        <p:spPr>
          <a:xfrm>
            <a:off x="6547104" y="457200"/>
            <a:ext cx="32918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4  ·  PRODUCTION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Production: climb rate of a survey drone</a:t>
            </a:r>
            <a:endParaRPr lang="en-US" sz="3000" dirty="0"/>
          </a:p>
        </p:txBody>
      </p:sp>
      <p:sp>
        <p:nvSpPr>
          <p:cNvPr id="29" name="Shape 24"/>
          <p:cNvSpPr/>
          <p:nvPr/>
        </p:nvSpPr>
        <p:spPr>
          <a:xfrm>
            <a:off x="457200" y="1828800"/>
            <a:ext cx="585216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Text 25"/>
          <p:cNvSpPr txBox="1"/>
          <p:nvPr/>
        </p:nvSpPr>
        <p:spPr>
          <a:xfrm>
            <a:off x="73152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THE MODEL</a:t>
            </a:r>
            <a:endParaRPr lang="en-US" sz="1100" dirty="0"/>
          </a:p>
        </p:txBody>
      </p:sp>
      <p:sp>
        <p:nvSpPr>
          <p:cNvPr id="31" name="Text 26"/>
          <p:cNvSpPr txBox="1"/>
          <p:nvPr/>
        </p:nvSpPr>
        <p:spPr>
          <a:xfrm>
            <a:off x="731520" y="2194560"/>
            <a:ext cx="5303520" cy="1280160"/>
          </a:xfrm>
          <a:prstGeom prst="rect">
            <a:avLst/>
          </a:prstGeom>
          <a:noFill/>
          <a:ln/>
        </p:spPr>
        <p:txBody>
          <a:bodyPr wrap="square" lIns="0" tIns="0" rIns="0" bIns="0" rtlCol="0" anchor="t"/>
          <a:lstStyle/>
          <a:p>
            <a:pPr indent="0" marL="0">
              <a:buNone/>
            </a:pPr>
            <a:r>
              <a:rPr lang="en-US" sz="1400" dirty="0">
                <a:solidFill>
                  <a:srgbClr val="222E2D"/>
                </a:solidFill>
                <a:latin typeface="Calibri" pitchFamily="34" charset="0"/>
                <a:ea typeface="Calibri" pitchFamily="34" charset="-122"/>
                <a:cs typeface="Calibri" pitchFamily="34" charset="-120"/>
              </a:rPr>
              <a:t>A survey drone rises so that its height in metres is the function h below, where the input is the time in seconds. Its average climb rate between 2 seconds and a later time is the function A below, defined for positive times other than 2. The numbers are model values for practice, not real data.</a:t>
            </a:r>
            <a:endParaRPr lang="en-US" sz="1400" dirty="0"/>
          </a:p>
        </p:txBody>
      </p:sp>
      <p:pic>
        <p:nvPicPr>
          <p:cNvPr id="32" name="Image 2" descr="m_AP1-10/kb6e0679f7a.png">    </p:cNvPr>
          <p:cNvPicPr>
            <a:picLocks noChangeAspect="1"/>
          </p:cNvPicPr>
          <p:nvPr/>
        </p:nvPicPr>
        <p:blipFill>
          <a:blip r:embed="rId3"/>
          <a:stretch>
            <a:fillRect/>
          </a:stretch>
        </p:blipFill>
        <p:spPr>
          <a:xfrm>
            <a:off x="2648834" y="3566160"/>
            <a:ext cx="1468892" cy="327721"/>
          </a:xfrm>
          <a:prstGeom prst="rect">
            <a:avLst/>
          </a:prstGeom>
        </p:spPr>
      </p:pic>
      <p:pic>
        <p:nvPicPr>
          <p:cNvPr id="33" name="Image 3" descr="m_AP1-10/k24ef6147fe.png">    </p:cNvPr>
          <p:cNvPicPr>
            <a:picLocks noChangeAspect="1"/>
          </p:cNvPicPr>
          <p:nvPr/>
        </p:nvPicPr>
        <p:blipFill>
          <a:blip r:embed="rId4"/>
          <a:stretch>
            <a:fillRect/>
          </a:stretch>
        </p:blipFill>
        <p:spPr>
          <a:xfrm>
            <a:off x="1637873" y="4003609"/>
            <a:ext cx="3490813" cy="605699"/>
          </a:xfrm>
          <a:prstGeom prst="rect">
            <a:avLst/>
          </a:prstGeom>
        </p:spPr>
      </p:pic>
      <p:sp>
        <p:nvSpPr>
          <p:cNvPr id="34" name="Text 27"/>
          <p:cNvSpPr txBox="1"/>
          <p:nvPr/>
        </p:nvSpPr>
        <p:spPr>
          <a:xfrm>
            <a:off x="731520" y="4856196"/>
            <a:ext cx="5303520" cy="1361724"/>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Factor the numerator, simplify the climb rate and state the coordinates of the hole.</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Complete a table of the climb rate for the times 1.9, 1.99, 2.01 and 2.1 and write the limit with notation.</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Say in one sentence what the limit means for the drone at 2 seconds.</a:t>
            </a:r>
            <a:endParaRPr lang="en-US" sz="1300" dirty="0"/>
          </a:p>
        </p:txBody>
      </p:sp>
      <p:sp>
        <p:nvSpPr>
          <p:cNvPr id="35" name="Shape 28"/>
          <p:cNvSpPr/>
          <p:nvPr/>
        </p:nvSpPr>
        <p:spPr>
          <a:xfrm>
            <a:off x="6492240" y="1828800"/>
            <a:ext cx="521208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6" name="Text 29"/>
          <p:cNvSpPr txBox="1"/>
          <p:nvPr/>
        </p:nvSpPr>
        <p:spPr>
          <a:xfrm>
            <a:off x="676656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DONE WHEN</a:t>
            </a:r>
            <a:endParaRPr lang="en-US" sz="1100" dirty="0"/>
          </a:p>
        </p:txBody>
      </p:sp>
      <p:sp>
        <p:nvSpPr>
          <p:cNvPr id="37" name="Text 30"/>
          <p:cNvSpPr txBox="1"/>
          <p:nvPr/>
        </p:nvSpPr>
        <p:spPr>
          <a:xfrm>
            <a:off x="6766560" y="2286000"/>
            <a:ext cx="4663440" cy="292608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The numerator is factored and the common factor named.</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The table shows four values that approach the same number.</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The limit is written with limit notation and equals the y-value of the hole.</a:t>
            </a:r>
            <a:endParaRPr lang="en-US" sz="1400" dirty="0"/>
          </a:p>
          <a:p>
            <a:pPr marL="342900" indent="-342900">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The meaning is given in metres per second.</a:t>
            </a:r>
            <a:endParaRPr lang="en-US" sz="1400" dirty="0"/>
          </a:p>
        </p:txBody>
      </p:sp>
      <p:sp>
        <p:nvSpPr>
          <p:cNvPr id="38" name="Text 31"/>
          <p:cNvSpPr txBox="1"/>
          <p:nvPr/>
        </p:nvSpPr>
        <p:spPr>
          <a:xfrm>
            <a:off x="6766560" y="5303520"/>
            <a:ext cx="4663440" cy="822960"/>
          </a:xfrm>
          <a:prstGeom prst="rect">
            <a:avLst/>
          </a:prstGeom>
          <a:noFill/>
          <a:ln/>
        </p:spPr>
        <p:txBody>
          <a:bodyPr wrap="square" lIns="0" tIns="0" rIns="0" bIns="0" rtlCol="0" anchor="t"/>
          <a:lstStyle/>
          <a:p>
            <a:pPr indent="0" marL="0">
              <a:buNone/>
            </a:pPr>
            <a:r>
              <a:rPr lang="en-US" sz="1250" i="1" dirty="0">
                <a:solidFill>
                  <a:srgbClr val="F0B323"/>
                </a:solidFill>
                <a:latin typeface="Calibri" pitchFamily="34" charset="0"/>
                <a:ea typeface="Calibri" pitchFamily="34" charset="-122"/>
                <a:cs typeface="Calibri" pitchFamily="34" charset="-120"/>
              </a:rPr>
              <a:t>Hint: the numerator factors into t minus 2 and t plus 4, so the simplified function is a line with one point missing.</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1.10.A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10</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329184" cy="0"/>
          </a:xfrm>
          <a:prstGeom prst="line">
            <a:avLst/>
          </a:prstGeom>
          <a:noFill/>
          <a:ln w="25400">
            <a:solidFill>
              <a:srgbClr val="17A199"/>
            </a:solidFill>
            <a:prstDash val="dash"/>
          </a:ln>
        </p:spPr>
      </p:sp>
      <p:sp>
        <p:nvSpPr>
          <p:cNvPr id="21" name="stn5"/>
          <p:cNvSpPr/>
          <p:nvPr/>
        </p:nvSpPr>
        <p:spPr>
          <a:xfrm>
            <a:off x="6784848" y="228600"/>
            <a:ext cx="457200" cy="457200"/>
          </a:xfrm>
          <a:prstGeom prst="ellipse">
            <a:avLst/>
          </a:prstGeom>
          <a:solidFill>
            <a:srgbClr val="E8762C"/>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path5"/>
          <p:cNvSpPr/>
          <p:nvPr/>
        </p:nvSpPr>
        <p:spPr>
          <a:xfrm>
            <a:off x="7260336" y="457200"/>
            <a:ext cx="32918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5  ·  MASTERY GATE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Mastery Gate: three questions to pass</a:t>
            </a:r>
            <a:endParaRPr lang="en-US" sz="3000" dirty="0"/>
          </a:p>
        </p:txBody>
      </p:sp>
      <p:sp>
        <p:nvSpPr>
          <p:cNvPr id="29" name="Shape 24"/>
          <p:cNvSpPr/>
          <p:nvPr/>
        </p:nvSpPr>
        <p:spPr>
          <a:xfrm>
            <a:off x="45720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E8762C"/>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AP1-10/ke5b0935f91.png">    </p:cNvPr>
          <p:cNvPicPr>
            <a:picLocks noChangeAspect="1"/>
          </p:cNvPicPr>
          <p:nvPr/>
        </p:nvPicPr>
        <p:blipFill>
          <a:blip r:embed="rId3"/>
          <a:stretch>
            <a:fillRect/>
          </a:stretch>
        </p:blipFill>
        <p:spPr>
          <a:xfrm>
            <a:off x="685800" y="2743200"/>
            <a:ext cx="3200400" cy="674626"/>
          </a:xfrm>
          <a:prstGeom prst="rect">
            <a:avLst/>
          </a:prstGeom>
        </p:spPr>
      </p:pic>
      <p:sp>
        <p:nvSpPr>
          <p:cNvPr id="33" name="Shape 27"/>
          <p:cNvSpPr/>
          <p:nvPr/>
        </p:nvSpPr>
        <p:spPr>
          <a:xfrm>
            <a:off x="420624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E8762C"/>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AP1-10/kacea355065.png">    </p:cNvPr>
          <p:cNvPicPr>
            <a:picLocks noChangeAspect="1"/>
          </p:cNvPicPr>
          <p:nvPr/>
        </p:nvPicPr>
        <p:blipFill>
          <a:blip r:embed="rId4"/>
          <a:stretch>
            <a:fillRect/>
          </a:stretch>
        </p:blipFill>
        <p:spPr>
          <a:xfrm>
            <a:off x="4434840" y="2743200"/>
            <a:ext cx="3200400" cy="514018"/>
          </a:xfrm>
          <a:prstGeom prst="rect">
            <a:avLst/>
          </a:prstGeom>
        </p:spPr>
      </p:pic>
      <p:sp>
        <p:nvSpPr>
          <p:cNvPr id="37" name="Shape 30"/>
          <p:cNvSpPr/>
          <p:nvPr/>
        </p:nvSpPr>
        <p:spPr>
          <a:xfrm>
            <a:off x="795528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E8762C"/>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AP1-10/k4222362282.png">    </p:cNvPr>
          <p:cNvPicPr>
            <a:picLocks noChangeAspect="1"/>
          </p:cNvPicPr>
          <p:nvPr/>
        </p:nvPicPr>
        <p:blipFill>
          <a:blip r:embed="rId5"/>
          <a:stretch>
            <a:fillRect/>
          </a:stretch>
        </p:blipFill>
        <p:spPr>
          <a:xfrm>
            <a:off x="8764250" y="2743200"/>
            <a:ext cx="2039661" cy="719267"/>
          </a:xfrm>
          <a:prstGeom prst="rect">
            <a:avLst/>
          </a:prstGeom>
        </p:spPr>
      </p:pic>
      <p:sp>
        <p:nvSpPr>
          <p:cNvPr id="41" name="Shape 33"/>
          <p:cNvSpPr/>
          <p:nvPr/>
        </p:nvSpPr>
        <p:spPr>
          <a:xfrm>
            <a:off x="457200" y="4480560"/>
            <a:ext cx="11247120" cy="1554480"/>
          </a:xfrm>
          <a:prstGeom prst="roundRect">
            <a:avLst>
              <a:gd name="adj" fmla="val 705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61772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Pass mark</a:t>
            </a:r>
            <a:endParaRPr lang="en-US" sz="1400" dirty="0"/>
          </a:p>
        </p:txBody>
      </p:sp>
      <p:sp>
        <p:nvSpPr>
          <p:cNvPr id="43" name="Text 35"/>
          <p:cNvSpPr txBox="1"/>
          <p:nvPr/>
        </p:nvSpPr>
        <p:spPr>
          <a:xfrm>
            <a:off x="777240" y="4983480"/>
            <a:ext cx="10607040" cy="9144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3 of 3 correct unlocks Station 6. Fewer than that: return to the slide for the question you missed, redo it, then re-take the gate.</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1.10.A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11</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329184" cy="0"/>
          </a:xfrm>
          <a:prstGeom prst="line">
            <a:avLst/>
          </a:prstGeom>
          <a:noFill/>
          <a:ln w="25400">
            <a:solidFill>
              <a:srgbClr val="17A199"/>
            </a:solidFill>
            <a:prstDash val="dash"/>
          </a:ln>
        </p:spPr>
      </p:sp>
      <p:sp>
        <p:nvSpPr>
          <p:cNvPr id="24" name="stn6"/>
          <p:cNvSpPr/>
          <p:nvPr/>
        </p:nvSpPr>
        <p:spPr>
          <a:xfrm>
            <a:off x="7498080" y="228600"/>
            <a:ext cx="457200" cy="457200"/>
          </a:xfrm>
          <a:prstGeom prst="ellipse">
            <a:avLst/>
          </a:prstGeom>
          <a:solidFill>
            <a:srgbClr val="E8762C"/>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6  ·  SMART PRODUCTION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Smart Production: make one, then check it</a:t>
            </a:r>
            <a:endParaRPr lang="en-US" sz="3000" dirty="0"/>
          </a:p>
        </p:txBody>
      </p:sp>
      <p:sp>
        <p:nvSpPr>
          <p:cNvPr id="29" name="Shape 24"/>
          <p:cNvSpPr/>
          <p:nvPr/>
        </p:nvSpPr>
        <p:spPr>
          <a:xfrm>
            <a:off x="457200" y="1828800"/>
            <a:ext cx="557784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731520" y="2011680"/>
            <a:ext cx="2377440" cy="457200"/>
          </a:xfrm>
          <a:prstGeom prst="roundRect">
            <a:avLst>
              <a:gd name="adj" fmla="val 50000"/>
            </a:avLst>
          </a:prstGeom>
          <a:solidFill>
            <a:srgbClr val="17A199"/>
          </a:solidFill>
          <a:ln w="12700">
            <a:solidFill>
              <a:srgbClr val="FFFFFF"/>
            </a:solidFill>
            <a:prstDash val="solid"/>
          </a:ln>
        </p:spPr>
      </p:sp>
      <p:sp>
        <p:nvSpPr>
          <p:cNvPr id="31" name="Text 26"/>
          <p:cNvSpPr txBox="1"/>
          <p:nvPr/>
        </p:nvSpPr>
        <p:spPr>
          <a:xfrm>
            <a:off x="731520" y="2011680"/>
            <a:ext cx="23774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CREATE</a:t>
            </a:r>
            <a:endParaRPr lang="en-US" sz="1600" dirty="0"/>
          </a:p>
        </p:txBody>
      </p:sp>
      <p:sp>
        <p:nvSpPr>
          <p:cNvPr id="32" name="Text 27"/>
          <p:cNvSpPr txBox="1"/>
          <p:nvPr/>
        </p:nvSpPr>
        <p:spPr>
          <a:xfrm>
            <a:off x="731520" y="2697480"/>
            <a:ext cx="5029200" cy="24688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Write a rational function in factored form with a hole where x is 3 and a zero where x is negative 1.</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Expand it on the back and find the y-value of the hole.</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Swap with a partner: they use a limit to confirm the hole.</a:t>
            </a:r>
            <a:endParaRPr lang="en-US" sz="1500" dirty="0"/>
          </a:p>
        </p:txBody>
      </p:sp>
      <p:sp>
        <p:nvSpPr>
          <p:cNvPr id="33" name="Text 28"/>
          <p:cNvSpPr txBox="1"/>
          <p:nvPr/>
        </p:nvSpPr>
        <p:spPr>
          <a:xfrm>
            <a:off x="731520" y="5212080"/>
            <a:ext cx="5029200" cy="914400"/>
          </a:xfrm>
          <a:prstGeom prst="rect">
            <a:avLst/>
          </a:prstGeom>
          <a:noFill/>
          <a:ln/>
        </p:spPr>
        <p:txBody>
          <a:bodyPr wrap="square" lIns="0" tIns="0" rIns="0" bIns="0" rtlCol="0" anchor="t"/>
          <a:lstStyle/>
          <a:p>
            <a:pPr indent="0" marL="0">
              <a:buNone/>
            </a:pPr>
            <a:r>
              <a:rPr lang="en-US" sz="1400" dirty="0">
                <a:solidFill>
                  <a:srgbClr val="3F4B49"/>
                </a:solidFill>
                <a:latin typeface="Calibri" pitchFamily="34" charset="0"/>
                <a:ea typeface="Calibri" pitchFamily="34" charset="-122"/>
                <a:cs typeface="Calibri" pitchFamily="34" charset="-120"/>
              </a:rPr>
              <a:t>Done when: your partner confirms the hole, the zero and the y-value using a limit.</a:t>
            </a:r>
            <a:endParaRPr lang="en-US" sz="1400" dirty="0"/>
          </a:p>
        </p:txBody>
      </p:sp>
      <p:sp>
        <p:nvSpPr>
          <p:cNvPr id="34" name="Shape 29"/>
          <p:cNvSpPr/>
          <p:nvPr/>
        </p:nvSpPr>
        <p:spPr>
          <a:xfrm>
            <a:off x="6217920" y="1828800"/>
            <a:ext cx="548640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Shape 30"/>
          <p:cNvSpPr/>
          <p:nvPr/>
        </p:nvSpPr>
        <p:spPr>
          <a:xfrm>
            <a:off x="6492240" y="2011680"/>
            <a:ext cx="2651760" cy="457200"/>
          </a:xfrm>
          <a:prstGeom prst="roundRect">
            <a:avLst>
              <a:gd name="adj" fmla="val 50000"/>
            </a:avLst>
          </a:prstGeom>
          <a:solidFill>
            <a:srgbClr val="F0B323"/>
          </a:solidFill>
          <a:ln w="12700">
            <a:solidFill>
              <a:srgbClr val="FFFFFF"/>
            </a:solidFill>
            <a:prstDash val="solid"/>
          </a:ln>
        </p:spPr>
      </p:sp>
      <p:sp>
        <p:nvSpPr>
          <p:cNvPr id="36" name="Text 31"/>
          <p:cNvSpPr txBox="1"/>
          <p:nvPr/>
        </p:nvSpPr>
        <p:spPr>
          <a:xfrm>
            <a:off x="6492240" y="2011680"/>
            <a:ext cx="2651760" cy="457200"/>
          </a:xfrm>
          <a:prstGeom prst="rect">
            <a:avLst/>
          </a:prstGeom>
          <a:noFill/>
          <a:ln/>
        </p:spPr>
        <p:txBody>
          <a:bodyPr wrap="square" lIns="0" tIns="0" rIns="0" bIns="0" rtlCol="0" anchor="ctr"/>
          <a:lstStyle/>
          <a:p>
            <a:pPr algn="ctr" indent="0" marL="0">
              <a:buNone/>
            </a:pPr>
            <a:r>
              <a:rPr lang="en-US" sz="1600" b="1" dirty="0">
                <a:solidFill>
                  <a:srgbClr val="222E2D"/>
                </a:solidFill>
                <a:latin typeface="Calibri" pitchFamily="34" charset="0"/>
                <a:ea typeface="Calibri" pitchFamily="34" charset="-122"/>
                <a:cs typeface="Calibri" pitchFamily="34" charset="-120"/>
              </a:rPr>
              <a:t>TIME TO CHECK</a:t>
            </a:r>
            <a:endParaRPr lang="en-US" sz="1600" dirty="0"/>
          </a:p>
        </p:txBody>
      </p:sp>
      <p:sp>
        <p:nvSpPr>
          <p:cNvPr id="37" name="Text 32"/>
          <p:cNvSpPr txBox="1"/>
          <p:nvPr/>
        </p:nvSpPr>
        <p:spPr>
          <a:xfrm>
            <a:off x="6492240" y="2697480"/>
            <a:ext cx="4937760" cy="8229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Exit ticket: write your answer on a sticky note and place it on the door.</a:t>
            </a:r>
            <a:endParaRPr lang="en-US" sz="1600" dirty="0"/>
          </a:p>
        </p:txBody>
      </p:sp>
      <p:sp>
        <p:nvSpPr>
          <p:cNvPr id="38" name="Shape 33"/>
          <p:cNvSpPr/>
          <p:nvPr/>
        </p:nvSpPr>
        <p:spPr>
          <a:xfrm>
            <a:off x="6492240" y="3611880"/>
            <a:ext cx="4937760" cy="1234440"/>
          </a:xfrm>
          <a:prstGeom prst="roundRect">
            <a:avLst>
              <a:gd name="adj" fmla="val 7407"/>
            </a:avLst>
          </a:prstGeom>
          <a:solidFill>
            <a:srgbClr val="FFFFFF"/>
          </a:solidFill>
          <a:ln w="12700">
            <a:solidFill>
              <a:srgbClr val="FFFFFF"/>
            </a:solidFill>
            <a:prstDash val="solid"/>
          </a:ln>
        </p:spPr>
      </p:sp>
      <p:pic>
        <p:nvPicPr>
          <p:cNvPr id="39" name="Image 2" descr="m_AP1-10/k3824720927.png">    </p:cNvPr>
          <p:cNvPicPr>
            <a:picLocks noChangeAspect="1"/>
          </p:cNvPicPr>
          <p:nvPr/>
        </p:nvPicPr>
        <p:blipFill>
          <a:blip r:embed="rId3"/>
          <a:stretch>
            <a:fillRect/>
          </a:stretch>
        </p:blipFill>
        <p:spPr>
          <a:xfrm>
            <a:off x="7881396" y="3703320"/>
            <a:ext cx="2159447" cy="605699"/>
          </a:xfrm>
          <a:prstGeom prst="rect">
            <a:avLst/>
          </a:prstGeom>
        </p:spPr>
      </p:pic>
      <p:sp>
        <p:nvSpPr>
          <p:cNvPr id="40" name="Text 34"/>
          <p:cNvSpPr txBox="1"/>
          <p:nvPr/>
        </p:nvSpPr>
        <p:spPr>
          <a:xfrm>
            <a:off x="6492240" y="5074920"/>
            <a:ext cx="4937760" cy="822960"/>
          </a:xfrm>
          <a:prstGeom prst="rect">
            <a:avLst/>
          </a:prstGeom>
          <a:noFill/>
          <a:ln/>
        </p:spPr>
        <p:txBody>
          <a:bodyPr wrap="square" lIns="0" tIns="0" rIns="0" bIns="0" rtlCol="0" anchor="t"/>
          <a:lstStyle/>
          <a:p>
            <a:pPr indent="0" marL="0">
              <a:buNone/>
            </a:pPr>
            <a:r>
              <a:rPr lang="en-US" sz="1500" dirty="0">
                <a:solidFill>
                  <a:srgbClr val="BFD8D5"/>
                </a:solidFill>
                <a:latin typeface="Calibri" pitchFamily="34" charset="0"/>
                <a:ea typeface="Calibri" pitchFamily="34" charset="-122"/>
                <a:cs typeface="Calibri" pitchFamily="34" charset="-120"/>
              </a:rPr>
              <a:t>Next lesson: Topic 1.11 Equivalent Representations of Polynomial and Rational Expressions.</a:t>
            </a:r>
            <a:endParaRPr lang="en-US" sz="15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Journey complete</a:t>
            </a:r>
            <a:endParaRPr lang="en-US" sz="4000" dirty="0"/>
          </a:p>
        </p:txBody>
      </p:sp>
      <p:sp>
        <p:nvSpPr>
          <p:cNvPr id="7" name="path1"/>
          <p:cNvSpPr/>
          <p:nvPr/>
        </p:nvSpPr>
        <p:spPr>
          <a:xfrm flipV="1">
            <a:off x="1371600" y="3200400"/>
            <a:ext cx="1965960" cy="1097280"/>
          </a:xfrm>
          <a:prstGeom prst="line">
            <a:avLst/>
          </a:prstGeom>
          <a:noFill/>
          <a:ln w="38100">
            <a:solidFill>
              <a:srgbClr val="F0B323"/>
            </a:solidFill>
            <a:prstDash val="dash"/>
          </a:ln>
        </p:spPr>
      </p:sp>
      <p:sp>
        <p:nvSpPr>
          <p:cNvPr id="8" name="path2"/>
          <p:cNvSpPr/>
          <p:nvPr/>
        </p:nvSpPr>
        <p:spPr>
          <a:xfrm>
            <a:off x="3337560" y="3200400"/>
            <a:ext cx="1965960" cy="1097280"/>
          </a:xfrm>
          <a:prstGeom prst="line">
            <a:avLst/>
          </a:prstGeom>
          <a:noFill/>
          <a:ln w="38100">
            <a:solidFill>
              <a:srgbClr val="F0B323"/>
            </a:solidFill>
            <a:prstDash val="dash"/>
          </a:ln>
        </p:spPr>
      </p:sp>
      <p:sp>
        <p:nvSpPr>
          <p:cNvPr id="9" name="path3"/>
          <p:cNvSpPr/>
          <p:nvPr/>
        </p:nvSpPr>
        <p:spPr>
          <a:xfrm flipV="1">
            <a:off x="5303520" y="3200400"/>
            <a:ext cx="1965960" cy="1097280"/>
          </a:xfrm>
          <a:prstGeom prst="line">
            <a:avLst/>
          </a:prstGeom>
          <a:noFill/>
          <a:ln w="38100">
            <a:solidFill>
              <a:srgbClr val="F0B323"/>
            </a:solidFill>
            <a:prstDash val="dash"/>
          </a:ln>
        </p:spPr>
      </p:sp>
      <p:sp>
        <p:nvSpPr>
          <p:cNvPr id="10" name="path4"/>
          <p:cNvSpPr/>
          <p:nvPr/>
        </p:nvSpPr>
        <p:spPr>
          <a:xfrm>
            <a:off x="7269480" y="3200400"/>
            <a:ext cx="1965960" cy="1097280"/>
          </a:xfrm>
          <a:prstGeom prst="line">
            <a:avLst/>
          </a:prstGeom>
          <a:noFill/>
          <a:ln w="38100">
            <a:solidFill>
              <a:srgbClr val="F0B323"/>
            </a:solidFill>
            <a:prstDash val="dash"/>
          </a:ln>
        </p:spPr>
      </p:sp>
      <p:sp>
        <p:nvSpPr>
          <p:cNvPr id="11" name="path5"/>
          <p:cNvSpPr/>
          <p:nvPr/>
        </p:nvSpPr>
        <p:spPr>
          <a:xfrm flipV="1">
            <a:off x="9235440" y="3200400"/>
            <a:ext cx="1737360" cy="1097280"/>
          </a:xfrm>
          <a:prstGeom prst="line">
            <a:avLst/>
          </a:prstGeom>
          <a:noFill/>
          <a:ln w="38100">
            <a:solidFill>
              <a:srgbClr val="F0B323"/>
            </a:solidFill>
            <a:prstDash val="dash"/>
          </a:ln>
        </p:spPr>
      </p:sp>
      <p:sp>
        <p:nvSpPr>
          <p:cNvPr id="12" name="stn1"/>
          <p:cNvSpPr/>
          <p:nvPr/>
        </p:nvSpPr>
        <p:spPr>
          <a:xfrm>
            <a:off x="708660" y="3634740"/>
            <a:ext cx="1325880" cy="1325880"/>
          </a:xfrm>
          <a:prstGeom prst="ellipse">
            <a:avLst/>
          </a:prstGeom>
          <a:solidFill>
            <a:srgbClr val="F0B323"/>
          </a:solidFill>
          <a:ln w="38100">
            <a:solidFill>
              <a:srgbClr val="FFFFFF"/>
            </a:solidFill>
            <a:prstDash val="solid"/>
          </a:ln>
        </p:spPr>
      </p:sp>
      <p:sp>
        <p:nvSpPr>
          <p:cNvPr id="13" name="Text 9"/>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4" name="Text 10"/>
          <p:cNvSpPr txBox="1"/>
          <p:nvPr/>
        </p:nvSpPr>
        <p:spPr>
          <a:xfrm>
            <a:off x="41148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Diagnose</a:t>
            </a:r>
            <a:endParaRPr lang="en-US" sz="1600" dirty="0"/>
          </a:p>
        </p:txBody>
      </p:sp>
      <p:sp>
        <p:nvSpPr>
          <p:cNvPr id="15" name="stn2"/>
          <p:cNvSpPr/>
          <p:nvPr/>
        </p:nvSpPr>
        <p:spPr>
          <a:xfrm>
            <a:off x="2674620" y="2537460"/>
            <a:ext cx="1325880" cy="1325880"/>
          </a:xfrm>
          <a:prstGeom prst="ellipse">
            <a:avLst/>
          </a:prstGeom>
          <a:solidFill>
            <a:srgbClr val="F0B323"/>
          </a:solidFill>
          <a:ln w="38100">
            <a:solidFill>
              <a:srgbClr val="FFFFFF"/>
            </a:solidFill>
            <a:prstDash val="solid"/>
          </a:ln>
        </p:spPr>
      </p:sp>
      <p:sp>
        <p:nvSpPr>
          <p:cNvPr id="16" name="Text 12"/>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7" name="Text 13"/>
          <p:cNvSpPr txBox="1"/>
          <p:nvPr/>
        </p:nvSpPr>
        <p:spPr>
          <a:xfrm>
            <a:off x="237744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Targeted Instruction</a:t>
            </a:r>
            <a:endParaRPr lang="en-US" sz="1600" dirty="0"/>
          </a:p>
        </p:txBody>
      </p:sp>
      <p:sp>
        <p:nvSpPr>
          <p:cNvPr id="18" name="stn3"/>
          <p:cNvSpPr/>
          <p:nvPr/>
        </p:nvSpPr>
        <p:spPr>
          <a:xfrm>
            <a:off x="4640580" y="3634740"/>
            <a:ext cx="1325880" cy="1325880"/>
          </a:xfrm>
          <a:prstGeom prst="ellipse">
            <a:avLst/>
          </a:prstGeom>
          <a:solidFill>
            <a:srgbClr val="F0B323"/>
          </a:solidFill>
          <a:ln w="38100">
            <a:solidFill>
              <a:srgbClr val="FFFFFF"/>
            </a:solidFill>
            <a:prstDash val="solid"/>
          </a:ln>
        </p:spPr>
      </p:sp>
      <p:sp>
        <p:nvSpPr>
          <p:cNvPr id="19" name="Text 15"/>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0" name="Text 16"/>
          <p:cNvSpPr txBox="1"/>
          <p:nvPr/>
        </p:nvSpPr>
        <p:spPr>
          <a:xfrm>
            <a:off x="434340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Practice</a:t>
            </a:r>
            <a:endParaRPr lang="en-US" sz="1600" dirty="0"/>
          </a:p>
        </p:txBody>
      </p:sp>
      <p:sp>
        <p:nvSpPr>
          <p:cNvPr id="21" name="stn4"/>
          <p:cNvSpPr/>
          <p:nvPr/>
        </p:nvSpPr>
        <p:spPr>
          <a:xfrm>
            <a:off x="6606540" y="2537460"/>
            <a:ext cx="1325880" cy="1325880"/>
          </a:xfrm>
          <a:prstGeom prst="ellipse">
            <a:avLst/>
          </a:prstGeom>
          <a:solidFill>
            <a:srgbClr val="F0B323"/>
          </a:solidFill>
          <a:ln w="38100">
            <a:solidFill>
              <a:srgbClr val="FFFFFF"/>
            </a:solidFill>
            <a:prstDash val="solid"/>
          </a:ln>
        </p:spPr>
      </p:sp>
      <p:sp>
        <p:nvSpPr>
          <p:cNvPr id="22" name="Text 18"/>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3" name="Text 19"/>
          <p:cNvSpPr txBox="1"/>
          <p:nvPr/>
        </p:nvSpPr>
        <p:spPr>
          <a:xfrm>
            <a:off x="630936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Production</a:t>
            </a:r>
            <a:endParaRPr lang="en-US" sz="1600" dirty="0"/>
          </a:p>
        </p:txBody>
      </p:sp>
      <p:sp>
        <p:nvSpPr>
          <p:cNvPr id="24" name="stn5"/>
          <p:cNvSpPr/>
          <p:nvPr/>
        </p:nvSpPr>
        <p:spPr>
          <a:xfrm>
            <a:off x="8572500" y="3634740"/>
            <a:ext cx="1325880" cy="1325880"/>
          </a:xfrm>
          <a:prstGeom prst="ellipse">
            <a:avLst/>
          </a:prstGeom>
          <a:solidFill>
            <a:srgbClr val="F0B323"/>
          </a:solidFill>
          <a:ln w="38100">
            <a:solidFill>
              <a:srgbClr val="FFFFFF"/>
            </a:solidFill>
            <a:prstDash val="solid"/>
          </a:ln>
        </p:spPr>
      </p:sp>
      <p:sp>
        <p:nvSpPr>
          <p:cNvPr id="25" name="Text 21"/>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6" name="Text 22"/>
          <p:cNvSpPr txBox="1"/>
          <p:nvPr/>
        </p:nvSpPr>
        <p:spPr>
          <a:xfrm>
            <a:off x="827532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Mastery Gate</a:t>
            </a:r>
            <a:endParaRPr lang="en-US" sz="1600" dirty="0"/>
          </a:p>
        </p:txBody>
      </p:sp>
      <p:sp>
        <p:nvSpPr>
          <p:cNvPr id="27" name="stn6"/>
          <p:cNvSpPr/>
          <p:nvPr/>
        </p:nvSpPr>
        <p:spPr>
          <a:xfrm>
            <a:off x="10309860" y="2537460"/>
            <a:ext cx="1325880" cy="1325880"/>
          </a:xfrm>
          <a:prstGeom prst="ellipse">
            <a:avLst/>
          </a:prstGeom>
          <a:solidFill>
            <a:srgbClr val="F0B323"/>
          </a:solidFill>
          <a:ln w="38100">
            <a:solidFill>
              <a:srgbClr val="FFFFFF"/>
            </a:solidFill>
            <a:prstDash val="solid"/>
          </a:ln>
        </p:spPr>
      </p:sp>
      <p:sp>
        <p:nvSpPr>
          <p:cNvPr id="28" name="Text 24"/>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9" name="Text 25"/>
          <p:cNvSpPr txBox="1"/>
          <p:nvPr/>
        </p:nvSpPr>
        <p:spPr>
          <a:xfrm>
            <a:off x="1001268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Smart Production</a:t>
            </a:r>
            <a:endParaRPr lang="en-US" sz="1600" dirty="0"/>
          </a:p>
        </p:txBody>
      </p:sp>
      <p:sp>
        <p:nvSpPr>
          <p:cNvPr id="30" name="Text 26"/>
          <p:cNvSpPr txBox="1"/>
          <p:nvPr/>
        </p:nvSpPr>
        <p:spPr>
          <a:xfrm>
            <a:off x="548640" y="5669280"/>
            <a:ext cx="11064240" cy="640080"/>
          </a:xfrm>
          <a:prstGeom prst="rect">
            <a:avLst/>
          </a:prstGeom>
          <a:noFill/>
          <a:ln/>
        </p:spPr>
        <p:txBody>
          <a:bodyPr wrap="square" lIns="0" tIns="0" rIns="0" bIns="0" rtlCol="0" anchor="ctr"/>
          <a:lstStyle/>
          <a:p>
            <a:pPr algn="ctr" indent="0" marL="0">
              <a:buNone/>
            </a:pPr>
            <a:r>
              <a:rPr lang="en-US" sz="1700" b="1" dirty="0">
                <a:solidFill>
                  <a:srgbClr val="F0B323"/>
                </a:solidFill>
                <a:latin typeface="Calibri" pitchFamily="34" charset="0"/>
                <a:ea typeface="Calibri" pitchFamily="34" charset="-122"/>
                <a:cs typeface="Calibri" pitchFamily="34" charset="-120"/>
              </a:rPr>
              <a:t>A shared factor with numerator multiplicity at least the denominator multiplicity gives a hole, and the limit of the reduced function at that input is the y-value of the hole.</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 Precalculus Topic 1.10 Rational Functions and Holes presentation</dc:title>
  <dc:subject>PptxGenJS Presentation</dc:subject>
  <dc:creator>Mr Malek Thiab</dc:creator>
  <cp:lastModifiedBy>Mr Malek Thiab</cp:lastModifiedBy>
  <cp:revision>1</cp:revision>
  <dcterms:created xsi:type="dcterms:W3CDTF">2026-10-17T17:38:52Z</dcterms:created>
  <dcterms:modified xsi:type="dcterms:W3CDTF">2026-10-17T17:38:52Z</dcterms:modified>
</cp:coreProperties>
</file>