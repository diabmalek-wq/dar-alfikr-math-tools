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Welcome to Topic 1.8: Rational Functions and Zeros.
Timing: 60 minutes (Diagnose 6, Targeted Instruction 18, Practice 12, Production 12, Mastery Gate 6, Smart Production 6). For a 40-minute class scale every station by two thirds.
The journey map on the next slide shows the six stations; in slideshow mode the Morph transition zooms the station circles into the breadcrumb at the top of every later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whole map. Walk it left to right: Diagnose (what we already know), Targeted Instruction (Zeros of a rational function; Rewrite first, then find the zeros; Sign charts and inequalities), Practice (Practice, Apply, Investigate), Production (break-even at a tile studio in Lisbon), Mastery Gate (three questions to pass), Smart Production (create, then Time to Check).
In slideshow mode the Morph transition animates these circles shrinking into the breadcrumb on later slides; without Morph the slides fade.
Ask the class which station they think will be hardest.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Read the objectives aloud one at a time and have students say which one they feel least sure about.
Vocabulary used today: zero, rational function, numerator, denominator, domain, hole, vertical asymptote, endpoint, inequality, sign chart.
Standards are listed on this slide.
The essential question and mathematical practices are not shown because they are not in the project documents; add them from the curriculum map if you want them displayed.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(Diagnose, 6 min, no calculator):
Speaker notes (Diagnose, 6 min, no calculator).
Solutions: Q1 x^2 - x - 12 = (x - 4)(x + 3), because -4 and 3 multiply to -12 and add to -1. Q2 the denominator x - 2 is zero when x = 2, so the domain is all real numbers except 2. Q3 at x = 0: (0 - 1)/(0 + 2) = -1/2, which is negative.
Verbal misconceptions: 'factor pairs only need the right product' (check the sum); 'a fraction is zero when the denominator is zero' (that makes it undefined); 'the sign is positive because the numbers look small'.
Adaptive routing: if more than 30% miss Q1, route to slide 5 (factor first). If more than 30% miss Q2, route to slide 5 Example B (the domain decides). If more than 30% miss Q3, route to slide 7 (sign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1 of 3):
Speaker notes (Targeted Instruction, block 1 of 3, LO 1.8.A). Source: AP Precalculus Course and Exam Description (College Board), read via web fetch. EK 1.8.A.1: 'The real zeros of a rational function correspond to the real zeros of the numerator for such values in its domain.'
Worked solutions: Example A: the numerator (x - 2)(x + 3) is zero at x = 2 and x = -3. The denominator at x = 2 is (3)(-2) = -6, and at x = -3 it is (-2)(-7) = 14, so neither value is excluded: zeros -3 and 2. Example B: x^2 - x - 12 = (x - 4)(x + 3) and x^2 - 16 = (x - 4)(x + 4). The numerator is zero at x = 4 and x = -3, but the denominator is also zero at x = 4, so 4 is not in the domain and is not a zero; the graph has a hole at (4, 7/8). The only zero is x = -3. Example C: x^3 - 4x = x(x^2 - 4) = x(x - 2)(x + 2). The denominator x^2 + 1 is at least 1, so it is never zero and all three numerator zeros count: -2, 0, 2.
Verbal misconceptions: 'every zero of the numerator is a zero of the function' (check the domain); 'a zero of the denominator is a zero of the function'; 'a denominator with no real zeros means no zeros at all'.
Adaptive routing: if more than 30% miss Gate Q1, return to this slide and redo Example B aloud, stating the domain before the zeros.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2 of 3):
Speaker notes (Targeted Instruction, block 2 of 3, LO 1.8.A). Zeros are read from the numerator of a single fraction, so a sum or difference must be combined first (EK 1.8.A.1).
Worked solutions: Example A: common denominator (x - 1)(x + 2): 2(x + 2) - 3(x - 1) = 2x + 4 - 3x + 3 = 7 - x. The numerator is zero at x = 7, and the denominator there is (6)(9) = 54, not zero, so the zero is x = 7. Check: 2/6 - 3/9 = 1/3 - 1/3 = 0. Example B: x - 6/(x - 1) = (x(x - 1) - 6)/(x - 1) = (x^2 - x - 6)/(x - 1) = (x - 3)(x + 2)/(x - 1). The numerator is zero at 3 and -2, and the denominator is -2 at x = 3 and -3 at x = -2, so both are zeros. Check: r(3) = 3 - 6/2 = 0; r(-2) = -2 - 6/(-3) = 0. Example C: the numerator (x - 1)^2 (x + 4) is zero at x = 1 and x = -4, but r is undefined at x = 1 because the denominator is zero. So x = 1 is not in the domain and not a zero; the simplified form (x - 1)(x + 4) shows the graph passes through (1, 0) with an open circle there (a hole on the x-axis). The only zero is x = -4.
Verbal misconceptions: 'set each fraction equal to zero separately'; 'subtract the numerators 2 - 3 and ignore the denominators'; 'a hole on the x-axis is still a zero'.
Adaptive routing: if more than 30% miss Gate Q2, return to this slide and redo Example A, writing the common denominator first. If students list x = 1 in Example C, return to slide 5 Example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(Targeted Instruction, block 3 of 3):
Speaker notes (Targeted Instruction, block 3 of 3, LO 1.8.A). EK 1.8.A.2 as printed in the CED text I could fetch (partly garbled, check against the CED PDF): 'The real zeros of both polynomial functions of a rational function r are endpoints or asymptotes for intervals satisfying the rational function inequalities r(x) &gt;= 0 or r(x) &lt;= 0.' The sentence appears to refer to the numerator and denominator.
Worked solutions: Example A (graph on the slide): boundaries are the numerator zeros -2 and 1 and the denominator zero 3. Test x = -3: (-1)(-4)/(-6) = -2/3, negative. Test x = 0: (2)(-1)/(-3) = 2/3, positive. Test x = 2: (4)(1)/(-1) = -4, negative. Test x = 4: (6)(3)/1 = 18, positive. r(x) &gt;= 0 on [-2, 1] (zeros included, closed) and on (3, infinity) (x = 3 is a vertical asymptote, never included). Example B: cancel x - 1 but keep x not equal to 1. Then (x + 3)/(x - 2) &lt;= 0: test x = -4: (-1)/(-6) positive; x = 0: 3/(-2) negative; x = 3: 6/1 positive. So -3 &lt;= x &lt; 2, and x = 1 is removed because r(1) is undefined: [-3, 1) union (1, 2).
Verbal misconceptions: 'include the endpoint where the denominator is zero'; 'the sign alternates at every boundary' (it does not change across a hole, and an even-multiplicity zero keeps the sign); 'cancelled factors can be forgotten when writing the answer'.
Adaptive routing: if more than 30% miss Gate Q3, return to this slide and rebuild the sign chart for Example A on the board. If students include x = 3 in Example A, remind them that the denominator is zero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(Practice, 12 min; tierless differentiation: students choose the starting column and may move across):
Speaker notes (Practice, 12 min; tierless: students choose the starting column and may move across).
Answers: Practice: x^2 - 3x = x(x - 3) and x^2 - 9 = (x - 3)(x + 3), so r(x) = x/(x + 3) with x not equal to 3. The numerator is zero at x = 0 and x = 3; x = 3 is not in the domain (hole at (3, 1/2)), so the only zero is x = 0. Apply: 3t - 12 = 0 gives t = 4, and the denominator is 6 there, so h(4) = 0. At t = 0: h(0) = -12/2 = -6, negative, and the sign does not change before t = 4, so h is negative on 0 &lt;= t &lt; 4. Investigate: (x^2 - 4)/(x - 2) = (x - 2)(x + 2)/(x - 2); the denominator is zero at x = 2, so 2 is not in the domain; the actual zero is x = -2, and the graph is the line y = x + 2 with a hole at (2, 4).
Use 'done when' as a prompt in the 'Apply' column: ask what the zero of h means in a story you invent.
Verbal misconceptions: 'if the numerator is zero the function is zero'; 'cancelling removes the problem at x = 3'.
Adaptive routing: finished students move to Apply then Investigate; stuck students return to slide 5 Example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(Production, 12 min):
Speaker notes (Production, 12 min).
Solutions: Task 1: 8(x - 15) = 0 gives x = 15; the denominator is 20 there, so x = 15 is a zero. At 15 sets per week the average profit per set is zero euros: the studio breaks even. Task 2: the only boundary inside x &gt;= 1 is 15 (x = -5 is outside the domain of the context). Test x = 1: 8(-14)/6 = -56/3, about -18.67, negative. Test x = 20: 8(5)/25 = 1.6, positive. So A(x) &lt; 0 for 1 &lt;= x &lt; 15 and A(x) &gt; 0 for x &gt; 15. Task 3: 8(x - 15)/(x + 5) = 4 gives 8x - 120 = 4x + 20, so 4x = 140 and x = 35. Check: 8(20)/40 = 4.
Verbal misconceptions: 'the zero of the denominator, x = -5, is also a break-even point'; 'multiplying through by x + 5 can change the answer' (it is allowed because x + 5 is not zero); 'negative profit means the studio should stop' (the model shows the loss shrinking as sales grow).
Adaptive routing: if students cannot start, send them to slide 5 Example A and the hint. If Task 2 stalls, send them to slide 7 Example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(Mastery Gate, 6 min, no calculator):
Speaker notes (Mastery Gate, 6 min, no calculator).
Answers: Q1 x^2 - 5x + 6 = (x - 2)(x - 3); the numerator is zero at 2 and 3, but x = 2 makes the denominator zero, so the only zero is x = 3 (hole at (2, -1)). Q2 combine: (2(x + 1) - 3(x - 1))/((x - 1)(x + 1)) = (5 - x)/((x - 1)(x + 1)); the zero is x = 5. Q3 boundaries -2 and 1; test x = -3: (-4)/(-1) = 4, positive; x = 0: -1/2, negative; x = 2: 1/4, positive. Solution (-infinity, -2) union [1, infinity).
Verbal misconceptions: Q1 'zeros are 2 and 3'; Q2 'the zero is where each fraction is zero' or 'x = 1 and x = -1'; Q3 'include -2' or 'answer [-2, 1]'.
Adaptive routing: Q1 missed, route to slide 5 Example B; Q2 missed, route to slide 6 Example A; Q3 missed, route to slide 7 Example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(Smart Production, 6 min):
Speaker notes (Smart Production, 6 min).
Create example: r(x) = (x + 2)(x - 5)(x - 1)/((x - 1)(x + 3)): zeros -2 and 5, hole at x = 1 (value (3)(-4)/(4) = -3, so the hole is (1, -3)), asymptote x = -3. Exit answer: x(x - 4)/((x - 4)(x + 4)); the numerator is zero at 0 and 4, but 4 is not in the domain (hole at (4, 1/2)); the only zero is x = 0.
Verbal misconceptions: students list 0 and 4; ask: is r(4) 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Every station is checked off. Recap in one sentence: A zero of a rational function is a zero of the numerator that is also in the domain, and the zeros of the numerator and denominator are the boundaries when solving a rational inequality. Collect the Time to Check responses. Next lesson: Topic 1.9 Rational Functions and Vertical Asymptotes.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slideLayout" Target="../slideLayouts/slideLayout1.xml"/><Relationship Id="rId1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image" Target="../media/image-6-15.png"/><Relationship Id="rId16" Type="http://schemas.openxmlformats.org/officeDocument/2006/relationships/image" Target="../media/image-6-16.png"/><Relationship Id="rId17" Type="http://schemas.openxmlformats.org/officeDocument/2006/relationships/slideLayout" Target="../slideLayouts/slideLayout1.xml"/><Relationship Id="rId1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slideLayout" Target="../slideLayouts/slideLayout1.xml"/><Relationship Id="rId1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6583680" y="1463040"/>
            <a:ext cx="7863840" cy="7863840"/>
          </a:xfrm>
          <a:prstGeom prst="ellipse">
            <a:avLst/>
          </a:prstGeom>
          <a:solidFill>
            <a:srgbClr val="0E4F4C"/>
          </a:solidFill>
          <a:ln w="12700">
            <a:solidFill>
              <a:srgbClr val="0E4F4C"/>
            </a:solidFill>
            <a:prstDash val="solid"/>
          </a:ln>
        </p:spPr>
      </p:sp>
      <p:sp>
        <p:nvSpPr>
          <p:cNvPr id="3" name="Shape 1"/>
          <p:cNvSpPr/>
          <p:nvPr/>
        </p:nvSpPr>
        <p:spPr>
          <a:xfrm>
            <a:off x="8595360" y="-1463040"/>
            <a:ext cx="3291840" cy="3291840"/>
          </a:xfrm>
          <a:prstGeom prst="ellipse">
            <a:avLst/>
          </a:prstGeom>
          <a:solidFill>
            <a:srgbClr val="F0B323">
              <a:alpha val="30000"/>
            </a:srgbClr>
          </a:solidFill>
          <a:ln w="12700">
            <a:solidFill>
              <a:srgbClr val="F0B323">
                <a:alpha val="0"/>
              </a:srgbClr>
            </a:solidFill>
            <a:prstDash val="solid"/>
          </a:ln>
        </p:spPr>
      </p:sp>
      <p:sp>
        <p:nvSpPr>
          <p:cNvPr id="4" name="Shape 2"/>
          <p:cNvSpPr/>
          <p:nvPr/>
        </p:nvSpPr>
        <p:spPr>
          <a:xfrm>
            <a:off x="-1280160" y="4023360"/>
            <a:ext cx="3291840" cy="3291840"/>
          </a:xfrm>
          <a:prstGeom prst="ellipse">
            <a:avLst/>
          </a:prstGeom>
          <a:solidFill>
            <a:srgbClr val="17A199">
              <a:alpha val="15000"/>
            </a:srgbClr>
          </a:solidFill>
          <a:ln w="12700">
            <a:solidFill>
              <a:srgbClr val="17A199">
                <a:alpha val="0"/>
              </a:srgbClr>
            </a:solidFill>
            <a:prstDash val="solid"/>
          </a:ln>
        </p:spPr>
      </p:sp>
      <p:pic>
        <p:nvPicPr>
          <p:cNvPr id="5"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6" name="Image 1" descr="../cognia_badge.png">    </p:cNvPr>
          <p:cNvPicPr>
            <a:picLocks noChangeAspect="1"/>
          </p:cNvPicPr>
          <p:nvPr/>
        </p:nvPicPr>
        <p:blipFill>
          <a:blip r:embed="rId2"/>
          <a:stretch>
            <a:fillRect/>
          </a:stretch>
        </p:blipFill>
        <p:spPr>
          <a:xfrm>
            <a:off x="4663440" y="91440"/>
            <a:ext cx="1188720" cy="891540"/>
          </a:xfrm>
          <a:prstGeom prst="rect">
            <a:avLst/>
          </a:prstGeom>
        </p:spPr>
      </p:pic>
      <p:pic>
        <p:nvPicPr>
          <p:cNvPr id="7" name="Image 2" descr="../school_logo.png">    </p:cNvPr>
          <p:cNvPicPr>
            <a:picLocks noChangeAspect="1"/>
          </p:cNvPicPr>
          <p:nvPr/>
        </p:nvPicPr>
        <p:blipFill>
          <a:blip r:embed="rId3"/>
          <a:stretch>
            <a:fillRect/>
          </a:stretch>
        </p:blipFill>
        <p:spPr>
          <a:xfrm>
            <a:off x="11292840" y="164592"/>
            <a:ext cx="566928" cy="566928"/>
          </a:xfrm>
          <a:prstGeom prst="rect">
            <a:avLst/>
          </a:prstGeom>
        </p:spPr>
      </p:pic>
      <p:sp>
        <p:nvSpPr>
          <p:cNvPr id="8" name="Text 3"/>
          <p:cNvSpPr txBox="1"/>
          <p:nvPr/>
        </p:nvSpPr>
        <p:spPr>
          <a:xfrm>
            <a:off x="640080" y="1828800"/>
            <a:ext cx="6400800" cy="274320"/>
          </a:xfrm>
          <a:prstGeom prst="rect">
            <a:avLst/>
          </a:prstGeom>
          <a:noFill/>
          <a:ln/>
        </p:spPr>
        <p:txBody>
          <a:bodyPr wrap="square" lIns="0" tIns="0" rIns="0" bIns="0" rtlCol="0" anchor="t"/>
          <a:lstStyle/>
          <a:p>
            <a:pPr indent="0" marL="0">
              <a:buNone/>
            </a:pPr>
            <a:r>
              <a:rPr lang="en-US" sz="1400" b="1" spc="300" kern="0" dirty="0">
                <a:solidFill>
                  <a:srgbClr val="E8762C"/>
                </a:solidFill>
                <a:latin typeface="Calibri" pitchFamily="34" charset="0"/>
                <a:ea typeface="Calibri" pitchFamily="34" charset="-122"/>
                <a:cs typeface="Calibri" pitchFamily="34" charset="-120"/>
              </a:rPr>
              <a:t>GRADE 9-10  ·  AP PRECALCULUS  ·  UNIT 1</a:t>
            </a:r>
            <a:endParaRPr lang="en-US" sz="1400" dirty="0"/>
          </a:p>
        </p:txBody>
      </p:sp>
      <p:sp>
        <p:nvSpPr>
          <p:cNvPr id="9" name="Text 4"/>
          <p:cNvSpPr txBox="1"/>
          <p:nvPr/>
        </p:nvSpPr>
        <p:spPr>
          <a:xfrm>
            <a:off x="640080" y="2194560"/>
            <a:ext cx="5943600" cy="548640"/>
          </a:xfrm>
          <a:prstGeom prst="rect">
            <a:avLst/>
          </a:prstGeom>
          <a:noFill/>
          <a:ln/>
        </p:spPr>
        <p:txBody>
          <a:bodyPr wrap="square" lIns="0" tIns="0" rIns="0" bIns="0" rtlCol="0" anchor="t"/>
          <a:lstStyle/>
          <a:p>
            <a:pPr indent="0" marL="0">
              <a:buNone/>
            </a:pPr>
            <a:r>
              <a:rPr lang="en-US" sz="2600" b="1" dirty="0">
                <a:solidFill>
                  <a:srgbClr val="17A199"/>
                </a:solidFill>
                <a:latin typeface="Cambria" pitchFamily="34" charset="0"/>
                <a:ea typeface="Cambria" pitchFamily="34" charset="-122"/>
                <a:cs typeface="Cambria" pitchFamily="34" charset="-120"/>
              </a:rPr>
              <a:t>Topic 1.8</a:t>
            </a:r>
            <a:endParaRPr lang="en-US" sz="2600" dirty="0"/>
          </a:p>
        </p:txBody>
      </p:sp>
      <p:sp>
        <p:nvSpPr>
          <p:cNvPr id="10" name="Text 5"/>
          <p:cNvSpPr txBox="1"/>
          <p:nvPr/>
        </p:nvSpPr>
        <p:spPr>
          <a:xfrm>
            <a:off x="640080" y="2743200"/>
            <a:ext cx="6035040" cy="1737360"/>
          </a:xfrm>
          <a:prstGeom prst="rect">
            <a:avLst/>
          </a:prstGeom>
          <a:noFill/>
          <a:ln/>
        </p:spPr>
        <p:txBody>
          <a:bodyPr wrap="square" lIns="0" tIns="0" rIns="0" bIns="0" rtlCol="0" anchor="t"/>
          <a:lstStyle/>
          <a:p>
            <a:pPr indent="0" marL="0">
              <a:buNone/>
            </a:pPr>
            <a:r>
              <a:rPr lang="en-US" sz="3800" b="1" dirty="0">
                <a:solidFill>
                  <a:srgbClr val="1F3864"/>
                </a:solidFill>
                <a:latin typeface="Cambria" pitchFamily="34" charset="0"/>
                <a:ea typeface="Cambria" pitchFamily="34" charset="-122"/>
                <a:cs typeface="Cambria" pitchFamily="34" charset="-120"/>
              </a:rPr>
              <a:t>Rational Functions</a:t>
            </a:r>
            <a:endParaRPr lang="en-US" sz="3800" dirty="0"/>
          </a:p>
          <a:p>
            <a:pPr indent="0" marL="0">
              <a:buNone/>
            </a:pPr>
            <a:r>
              <a:rPr lang="en-US" sz="3800" b="1" dirty="0">
                <a:solidFill>
                  <a:srgbClr val="1F3864"/>
                </a:solidFill>
                <a:latin typeface="Cambria" pitchFamily="34" charset="0"/>
                <a:ea typeface="Cambria" pitchFamily="34" charset="-122"/>
                <a:cs typeface="Cambria" pitchFamily="34" charset="-120"/>
              </a:rPr>
              <a:t>and Zeros</a:t>
            </a:r>
            <a:endParaRPr lang="en-US" sz="3800" dirty="0"/>
          </a:p>
        </p:txBody>
      </p:sp>
      <p:sp>
        <p:nvSpPr>
          <p:cNvPr id="11" name="Text 6"/>
          <p:cNvSpPr txBox="1"/>
          <p:nvPr/>
        </p:nvSpPr>
        <p:spPr>
          <a:xfrm>
            <a:off x="640080" y="4572000"/>
            <a:ext cx="6035040" cy="365760"/>
          </a:xfrm>
          <a:prstGeom prst="rect">
            <a:avLst/>
          </a:prstGeom>
          <a:noFill/>
          <a:ln/>
        </p:spPr>
        <p:txBody>
          <a:bodyPr wrap="square" lIns="0" tIns="0" rIns="0" bIns="0" rtlCol="0" anchor="t"/>
          <a:lstStyle/>
          <a:p>
            <a:pPr indent="0" marL="0">
              <a:buNone/>
            </a:pPr>
            <a:r>
              <a:rPr lang="en-US" sz="1800" dirty="0">
                <a:solidFill>
                  <a:srgbClr val="222E2D"/>
                </a:solidFill>
                <a:latin typeface="Calibri" pitchFamily="34" charset="0"/>
                <a:ea typeface="Calibri" pitchFamily="34" charset="-122"/>
                <a:cs typeface="Calibri" pitchFamily="34" charset="-120"/>
              </a:rPr>
              <a:t>Polynomial and Rational Functions</a:t>
            </a:r>
            <a:endParaRPr lang="en-US" sz="1800" dirty="0"/>
          </a:p>
        </p:txBody>
      </p:sp>
      <p:sp>
        <p:nvSpPr>
          <p:cNvPr id="12" name="Text 7"/>
          <p:cNvSpPr txBox="1"/>
          <p:nvPr/>
        </p:nvSpPr>
        <p:spPr>
          <a:xfrm>
            <a:off x="640080" y="5074920"/>
            <a:ext cx="4572000" cy="365760"/>
          </a:xfrm>
          <a:prstGeom prst="rect">
            <a:avLst/>
          </a:prstGeom>
          <a:noFill/>
          <a:ln/>
        </p:spPr>
        <p:txBody>
          <a:bodyPr wrap="square" lIns="0" tIns="0" rIns="0" bIns="0" rtlCol="0" anchor="t"/>
          <a:lstStyle/>
          <a:p>
            <a:pPr indent="0" marL="0">
              <a:buNone/>
            </a:pPr>
            <a:r>
              <a:rPr lang="en-US" sz="1800" b="1" dirty="0">
                <a:solidFill>
                  <a:srgbClr val="222E2D"/>
                </a:solidFill>
                <a:latin typeface="Calibri" pitchFamily="34" charset="0"/>
                <a:ea typeface="Calibri" pitchFamily="34" charset="-122"/>
                <a:cs typeface="Calibri" pitchFamily="34" charset="-120"/>
              </a:rPr>
              <a:t>Mr Malek Thiab</a:t>
            </a:r>
            <a:endParaRPr lang="en-US" sz="1800" dirty="0"/>
          </a:p>
        </p:txBody>
      </p:sp>
      <p:pic>
        <p:nvPicPr>
          <p:cNvPr id="13" name="Image 3" descr="m_AP1-8/k11f6b5b1d6.png">    </p:cNvPr>
          <p:cNvPicPr>
            <a:picLocks noChangeAspect="1"/>
          </p:cNvPicPr>
          <p:nvPr/>
        </p:nvPicPr>
        <p:blipFill>
          <a:blip r:embed="rId4"/>
          <a:stretch>
            <a:fillRect/>
          </a:stretch>
        </p:blipFill>
        <p:spPr>
          <a:xfrm>
            <a:off x="8641446" y="3017520"/>
            <a:ext cx="2833908" cy="1031809"/>
          </a:xfrm>
          <a:prstGeom prst="rect">
            <a:avLst/>
          </a:prstGeom>
        </p:spPr>
      </p:pic>
      <p:sp>
        <p:nvSpPr>
          <p:cNvPr id="14" name="Text 8"/>
          <p:cNvSpPr txBox="1"/>
          <p:nvPr/>
        </p:nvSpPr>
        <p:spPr>
          <a:xfrm>
            <a:off x="8138160" y="4160520"/>
            <a:ext cx="3840480" cy="365760"/>
          </a:xfrm>
          <a:prstGeom prst="rect">
            <a:avLst/>
          </a:prstGeom>
          <a:noFill/>
          <a:ln/>
        </p:spPr>
        <p:txBody>
          <a:bodyPr wrap="square" lIns="0" tIns="0" rIns="0" bIns="0" rtlCol="0" anchor="t"/>
          <a:lstStyle/>
          <a:p>
            <a:pPr algn="ctr" indent="0" marL="0">
              <a:buNone/>
            </a:pPr>
            <a:r>
              <a:rPr lang="en-US" sz="1600" dirty="0">
                <a:solidFill>
                  <a:srgbClr val="FFFFFF"/>
                </a:solidFill>
                <a:latin typeface="Calibri" pitchFamily="34" charset="0"/>
                <a:ea typeface="Calibri" pitchFamily="34" charset="-122"/>
                <a:cs typeface="Calibri" pitchFamily="34" charset="-120"/>
              </a:rPr>
              <a:t>Journey of 6 stations, 60 minutes</a:t>
            </a:r>
            <a:endParaRPr lang="en-US" sz="1600" dirty="0"/>
          </a:p>
        </p:txBody>
      </p:sp>
      <p:sp>
        <p:nvSpPr>
          <p:cNvPr id="15" name="Text 9"/>
          <p:cNvSpPr txBox="1"/>
          <p:nvPr/>
        </p:nvSpPr>
        <p:spPr>
          <a:xfrm>
            <a:off x="365760" y="6492240"/>
            <a:ext cx="5943600" cy="228600"/>
          </a:xfrm>
          <a:prstGeom prst="rect">
            <a:avLst/>
          </a:prstGeom>
          <a:noFill/>
          <a:ln/>
        </p:spPr>
        <p:txBody>
          <a:bodyPr wrap="square" lIns="0" tIns="0" rIns="0" bIns="0" rtlCol="0" anchor="t"/>
          <a:lstStyle/>
          <a:p>
            <a:pPr indent="0" marL="0">
              <a:buNone/>
            </a:pPr>
            <a:r>
              <a:rPr lang="en-US" sz="1000" b="1" spc="300" kern="0" dirty="0">
                <a:solidFill>
                  <a:srgbClr val="1F3864"/>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Today's journey</a:t>
            </a:r>
            <a:endParaRPr lang="en-US" sz="4000" dirty="0"/>
          </a:p>
        </p:txBody>
      </p:sp>
      <p:sp>
        <p:nvSpPr>
          <p:cNvPr id="7" name="Text 3"/>
          <p:cNvSpPr txBox="1"/>
          <p:nvPr/>
        </p:nvSpPr>
        <p:spPr>
          <a:xfrm>
            <a:off x="548640" y="1554480"/>
            <a:ext cx="10972800" cy="365760"/>
          </a:xfrm>
          <a:prstGeom prst="rect">
            <a:avLst/>
          </a:prstGeom>
          <a:noFill/>
          <a:ln/>
        </p:spPr>
        <p:txBody>
          <a:bodyPr wrap="square" lIns="0" tIns="0" rIns="0" bIns="0" rtlCol="0" anchor="t"/>
          <a:lstStyle/>
          <a:p>
            <a:pPr indent="0" marL="0">
              <a:buNone/>
            </a:pPr>
            <a:r>
              <a:rPr lang="en-US" sz="1800" dirty="0">
                <a:solidFill>
                  <a:srgbClr val="BFD8D5"/>
                </a:solidFill>
                <a:latin typeface="Calibri" pitchFamily="34" charset="0"/>
                <a:ea typeface="Calibri" pitchFamily="34" charset="-122"/>
                <a:cs typeface="Calibri" pitchFamily="34" charset="-120"/>
              </a:rPr>
              <a:t>Six stations. Each one zooms in as we arrive.</a:t>
            </a:r>
            <a:endParaRPr lang="en-US" sz="1800" dirty="0"/>
          </a:p>
        </p:txBody>
      </p:sp>
      <p:sp>
        <p:nvSpPr>
          <p:cNvPr id="8" name="path1"/>
          <p:cNvSpPr/>
          <p:nvPr/>
        </p:nvSpPr>
        <p:spPr>
          <a:xfrm flipV="1">
            <a:off x="1371600" y="3200400"/>
            <a:ext cx="1965960" cy="1097280"/>
          </a:xfrm>
          <a:prstGeom prst="line">
            <a:avLst/>
          </a:prstGeom>
          <a:noFill/>
          <a:ln w="38100">
            <a:solidFill>
              <a:srgbClr val="F0B323"/>
            </a:solidFill>
            <a:prstDash val="dash"/>
          </a:ln>
        </p:spPr>
      </p:sp>
      <p:sp>
        <p:nvSpPr>
          <p:cNvPr id="9" name="path2"/>
          <p:cNvSpPr/>
          <p:nvPr/>
        </p:nvSpPr>
        <p:spPr>
          <a:xfrm>
            <a:off x="3337560" y="3200400"/>
            <a:ext cx="1965960" cy="1097280"/>
          </a:xfrm>
          <a:prstGeom prst="line">
            <a:avLst/>
          </a:prstGeom>
          <a:noFill/>
          <a:ln w="38100">
            <a:solidFill>
              <a:srgbClr val="F0B323"/>
            </a:solidFill>
            <a:prstDash val="dash"/>
          </a:ln>
        </p:spPr>
      </p:sp>
      <p:sp>
        <p:nvSpPr>
          <p:cNvPr id="10" name="path3"/>
          <p:cNvSpPr/>
          <p:nvPr/>
        </p:nvSpPr>
        <p:spPr>
          <a:xfrm flipV="1">
            <a:off x="5303520" y="3200400"/>
            <a:ext cx="1965960" cy="1097280"/>
          </a:xfrm>
          <a:prstGeom prst="line">
            <a:avLst/>
          </a:prstGeom>
          <a:noFill/>
          <a:ln w="38100">
            <a:solidFill>
              <a:srgbClr val="F0B323"/>
            </a:solidFill>
            <a:prstDash val="dash"/>
          </a:ln>
        </p:spPr>
      </p:sp>
      <p:sp>
        <p:nvSpPr>
          <p:cNvPr id="11" name="path4"/>
          <p:cNvSpPr/>
          <p:nvPr/>
        </p:nvSpPr>
        <p:spPr>
          <a:xfrm>
            <a:off x="7269480" y="3200400"/>
            <a:ext cx="1965960" cy="1097280"/>
          </a:xfrm>
          <a:prstGeom prst="line">
            <a:avLst/>
          </a:prstGeom>
          <a:noFill/>
          <a:ln w="38100">
            <a:solidFill>
              <a:srgbClr val="F0B323"/>
            </a:solidFill>
            <a:prstDash val="dash"/>
          </a:ln>
        </p:spPr>
      </p:sp>
      <p:sp>
        <p:nvSpPr>
          <p:cNvPr id="12" name="path5"/>
          <p:cNvSpPr/>
          <p:nvPr/>
        </p:nvSpPr>
        <p:spPr>
          <a:xfrm flipV="1">
            <a:off x="9235440" y="3200400"/>
            <a:ext cx="1737360" cy="1097280"/>
          </a:xfrm>
          <a:prstGeom prst="line">
            <a:avLst/>
          </a:prstGeom>
          <a:noFill/>
          <a:ln w="38100">
            <a:solidFill>
              <a:srgbClr val="F0B323"/>
            </a:solidFill>
            <a:prstDash val="dash"/>
          </a:ln>
        </p:spPr>
      </p:sp>
      <p:sp>
        <p:nvSpPr>
          <p:cNvPr id="13" name="stn1"/>
          <p:cNvSpPr/>
          <p:nvPr/>
        </p:nvSpPr>
        <p:spPr>
          <a:xfrm>
            <a:off x="708660" y="3634740"/>
            <a:ext cx="1325880" cy="1325880"/>
          </a:xfrm>
          <a:prstGeom prst="ellipse">
            <a:avLst/>
          </a:prstGeom>
          <a:solidFill>
            <a:srgbClr val="E8762C"/>
          </a:solidFill>
          <a:ln w="38100">
            <a:solidFill>
              <a:srgbClr val="FFFFFF"/>
            </a:solidFill>
            <a:prstDash val="solid"/>
          </a:ln>
        </p:spPr>
      </p:sp>
      <p:sp>
        <p:nvSpPr>
          <p:cNvPr id="14" name="Text 10"/>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15" name="Text 11"/>
          <p:cNvSpPr txBox="1"/>
          <p:nvPr/>
        </p:nvSpPr>
        <p:spPr>
          <a:xfrm>
            <a:off x="41148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Diagnose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16" name="stn2"/>
          <p:cNvSpPr/>
          <p:nvPr/>
        </p:nvSpPr>
        <p:spPr>
          <a:xfrm>
            <a:off x="2674620" y="2537460"/>
            <a:ext cx="1325880" cy="1325880"/>
          </a:xfrm>
          <a:prstGeom prst="ellipse">
            <a:avLst/>
          </a:prstGeom>
          <a:solidFill>
            <a:srgbClr val="17A199"/>
          </a:solidFill>
          <a:ln w="38100">
            <a:solidFill>
              <a:srgbClr val="FFFFFF"/>
            </a:solidFill>
            <a:prstDash val="solid"/>
          </a:ln>
        </p:spPr>
      </p:sp>
      <p:sp>
        <p:nvSpPr>
          <p:cNvPr id="17" name="Text 13"/>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18" name="Text 14"/>
          <p:cNvSpPr txBox="1"/>
          <p:nvPr/>
        </p:nvSpPr>
        <p:spPr>
          <a:xfrm>
            <a:off x="237744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Targeted Instruction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18 min</a:t>
            </a:r>
            <a:endParaRPr lang="en-US" sz="1700" dirty="0"/>
          </a:p>
        </p:txBody>
      </p:sp>
      <p:sp>
        <p:nvSpPr>
          <p:cNvPr id="19" name="stn3"/>
          <p:cNvSpPr/>
          <p:nvPr/>
        </p:nvSpPr>
        <p:spPr>
          <a:xfrm>
            <a:off x="4640580" y="3634740"/>
            <a:ext cx="1325880" cy="1325880"/>
          </a:xfrm>
          <a:prstGeom prst="ellipse">
            <a:avLst/>
          </a:prstGeom>
          <a:solidFill>
            <a:srgbClr val="17A199"/>
          </a:solidFill>
          <a:ln w="38100">
            <a:solidFill>
              <a:srgbClr val="FFFFFF"/>
            </a:solidFill>
            <a:prstDash val="solid"/>
          </a:ln>
        </p:spPr>
      </p:sp>
      <p:sp>
        <p:nvSpPr>
          <p:cNvPr id="20" name="Text 16"/>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21" name="Text 17"/>
          <p:cNvSpPr txBox="1"/>
          <p:nvPr/>
        </p:nvSpPr>
        <p:spPr>
          <a:xfrm>
            <a:off x="434340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Practice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2" name="stn4"/>
          <p:cNvSpPr/>
          <p:nvPr/>
        </p:nvSpPr>
        <p:spPr>
          <a:xfrm>
            <a:off x="6606540" y="2537460"/>
            <a:ext cx="1325880" cy="1325880"/>
          </a:xfrm>
          <a:prstGeom prst="ellipse">
            <a:avLst/>
          </a:prstGeom>
          <a:solidFill>
            <a:srgbClr val="17A199"/>
          </a:solidFill>
          <a:ln w="38100">
            <a:solidFill>
              <a:srgbClr val="FFFFFF"/>
            </a:solidFill>
            <a:prstDash val="solid"/>
          </a:ln>
        </p:spPr>
      </p:sp>
      <p:sp>
        <p:nvSpPr>
          <p:cNvPr id="23" name="Text 19"/>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4</a:t>
            </a:r>
            <a:endParaRPr lang="en-US" sz="3000" dirty="0"/>
          </a:p>
        </p:txBody>
      </p:sp>
      <p:sp>
        <p:nvSpPr>
          <p:cNvPr id="24" name="Text 20"/>
          <p:cNvSpPr txBox="1"/>
          <p:nvPr/>
        </p:nvSpPr>
        <p:spPr>
          <a:xfrm>
            <a:off x="630936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12 min</a:t>
            </a:r>
            <a:endParaRPr lang="en-US" sz="1700" dirty="0"/>
          </a:p>
        </p:txBody>
      </p:sp>
      <p:sp>
        <p:nvSpPr>
          <p:cNvPr id="25" name="stn5"/>
          <p:cNvSpPr/>
          <p:nvPr/>
        </p:nvSpPr>
        <p:spPr>
          <a:xfrm>
            <a:off x="8572500" y="3634740"/>
            <a:ext cx="1325880" cy="1325880"/>
          </a:xfrm>
          <a:prstGeom prst="ellipse">
            <a:avLst/>
          </a:prstGeom>
          <a:solidFill>
            <a:srgbClr val="17A199"/>
          </a:solidFill>
          <a:ln w="38100">
            <a:solidFill>
              <a:srgbClr val="FFFFFF"/>
            </a:solidFill>
            <a:prstDash val="solid"/>
          </a:ln>
        </p:spPr>
      </p:sp>
      <p:sp>
        <p:nvSpPr>
          <p:cNvPr id="26" name="Text 22"/>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27" name="Text 23"/>
          <p:cNvSpPr txBox="1"/>
          <p:nvPr/>
        </p:nvSpPr>
        <p:spPr>
          <a:xfrm>
            <a:off x="8275320" y="5070348"/>
            <a:ext cx="1920240" cy="73152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Mastery Gate</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28" name="stn6"/>
          <p:cNvSpPr/>
          <p:nvPr/>
        </p:nvSpPr>
        <p:spPr>
          <a:xfrm>
            <a:off x="10309860" y="2537460"/>
            <a:ext cx="1325880" cy="1325880"/>
          </a:xfrm>
          <a:prstGeom prst="ellipse">
            <a:avLst/>
          </a:prstGeom>
          <a:solidFill>
            <a:srgbClr val="17A199"/>
          </a:solidFill>
          <a:ln w="38100">
            <a:solidFill>
              <a:srgbClr val="FFFFFF"/>
            </a:solidFill>
            <a:prstDash val="solid"/>
          </a:ln>
        </p:spPr>
      </p:sp>
      <p:sp>
        <p:nvSpPr>
          <p:cNvPr id="29" name="Text 25"/>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6</a:t>
            </a:r>
            <a:endParaRPr lang="en-US" sz="3000" dirty="0"/>
          </a:p>
        </p:txBody>
      </p:sp>
      <p:sp>
        <p:nvSpPr>
          <p:cNvPr id="30" name="Text 26"/>
          <p:cNvSpPr txBox="1"/>
          <p:nvPr/>
        </p:nvSpPr>
        <p:spPr>
          <a:xfrm>
            <a:off x="10012680" y="1668780"/>
            <a:ext cx="1920240" cy="731520"/>
          </a:xfrm>
          <a:prstGeom prst="rect">
            <a:avLst/>
          </a:prstGeom>
          <a:noFill/>
          <a:ln/>
        </p:spPr>
        <p:txBody>
          <a:bodyPr wrap="square" lIns="0" tIns="0" rIns="0" bIns="0" rtlCol="0" anchor="b"/>
          <a:lstStyle/>
          <a:p>
            <a:pPr algn="ctr" indent="0" marL="0">
              <a:buNone/>
            </a:pPr>
            <a:r>
              <a:rPr lang="en-US" sz="1700" b="1" dirty="0">
                <a:solidFill>
                  <a:srgbClr val="FFFFFF"/>
                </a:solidFill>
                <a:latin typeface="Calibri" pitchFamily="34" charset="0"/>
                <a:ea typeface="Calibri" pitchFamily="34" charset="-122"/>
                <a:cs typeface="Calibri" pitchFamily="34" charset="-120"/>
              </a:rPr>
              <a:t>Smart Production</a:t>
            </a:r>
            <a:endParaRPr lang="en-US" sz="1700" dirty="0"/>
          </a:p>
          <a:p>
            <a:pPr algn="ctr" indent="0" marL="0">
              <a:buNone/>
            </a:pPr>
            <a:r>
              <a:rPr lang="en-US" sz="1700" b="1" dirty="0">
                <a:solidFill>
                  <a:srgbClr val="FFFFFF"/>
                </a:solidFill>
                <a:latin typeface="Calibri" pitchFamily="34" charset="0"/>
                <a:ea typeface="Calibri" pitchFamily="34" charset="-122"/>
                <a:cs typeface="Calibri" pitchFamily="34" charset="-120"/>
              </a:rPr>
              <a:t>6 min</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1.8.A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3</a:t>
            </a:r>
            <a:endParaRPr lang="en-US" sz="1000" dirty="0"/>
          </a:p>
        </p:txBody>
      </p:sp>
      <p:sp>
        <p:nvSpPr>
          <p:cNvPr id="9" name="Text 5"/>
          <p:cNvSpPr txBox="1"/>
          <p:nvPr/>
        </p:nvSpPr>
        <p:spPr>
          <a:xfrm>
            <a:off x="457200" y="822960"/>
            <a:ext cx="11247120" cy="45720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What we are learning</a:t>
            </a:r>
            <a:endParaRPr lang="en-US" sz="3000" dirty="0"/>
          </a:p>
        </p:txBody>
      </p:sp>
      <p:sp>
        <p:nvSpPr>
          <p:cNvPr id="11" name="Shape 6"/>
          <p:cNvSpPr/>
          <p:nvPr/>
        </p:nvSpPr>
        <p:spPr>
          <a:xfrm>
            <a:off x="457200" y="1280160"/>
            <a:ext cx="5760720" cy="5029200"/>
          </a:xfrm>
          <a:prstGeom prst="roundRect">
            <a:avLst>
              <a:gd name="adj" fmla="val 2182"/>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2" name="Text 7"/>
          <p:cNvSpPr txBox="1"/>
          <p:nvPr/>
        </p:nvSpPr>
        <p:spPr>
          <a:xfrm>
            <a:off x="7315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OBJECTIVES</a:t>
            </a:r>
            <a:endParaRPr lang="en-US" sz="1100" dirty="0"/>
          </a:p>
        </p:txBody>
      </p:sp>
      <p:sp>
        <p:nvSpPr>
          <p:cNvPr id="13" name="Text 8"/>
          <p:cNvSpPr txBox="1"/>
          <p:nvPr/>
        </p:nvSpPr>
        <p:spPr>
          <a:xfrm>
            <a:off x="731520" y="1691640"/>
            <a:ext cx="5303520" cy="448056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700" dirty="0">
                <a:solidFill>
                  <a:srgbClr val="222E2D"/>
                </a:solidFill>
                <a:latin typeface="Calibri" pitchFamily="34" charset="0"/>
                <a:ea typeface="Calibri" pitchFamily="34" charset="-122"/>
                <a:cs typeface="Calibri" pitchFamily="34" charset="-120"/>
              </a:rPr>
              <a:t>Determine the zeros of rational functions.</a:t>
            </a:r>
            <a:endParaRPr lang="en-US" sz="1700" dirty="0"/>
          </a:p>
        </p:txBody>
      </p:sp>
      <p:sp>
        <p:nvSpPr>
          <p:cNvPr id="14" name="Shape 9"/>
          <p:cNvSpPr/>
          <p:nvPr/>
        </p:nvSpPr>
        <p:spPr>
          <a:xfrm>
            <a:off x="6400800" y="1280160"/>
            <a:ext cx="5303520" cy="2148840"/>
          </a:xfrm>
          <a:prstGeom prst="roundRect">
            <a:avLst>
              <a:gd name="adj" fmla="val 5106"/>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15" name="Text 10"/>
          <p:cNvSpPr txBox="1"/>
          <p:nvPr/>
        </p:nvSpPr>
        <p:spPr>
          <a:xfrm>
            <a:off x="6675120" y="137160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VOCABULARY</a:t>
            </a:r>
            <a:endParaRPr lang="en-US" sz="1100" dirty="0"/>
          </a:p>
        </p:txBody>
      </p:sp>
      <p:sp>
        <p:nvSpPr>
          <p:cNvPr id="16" name="Shape 11"/>
          <p:cNvSpPr/>
          <p:nvPr/>
        </p:nvSpPr>
        <p:spPr>
          <a:xfrm>
            <a:off x="6629400" y="1691640"/>
            <a:ext cx="2468880" cy="265176"/>
          </a:xfrm>
          <a:prstGeom prst="roundRect">
            <a:avLst>
              <a:gd name="adj" fmla="val 48276"/>
            </a:avLst>
          </a:prstGeom>
          <a:solidFill>
            <a:srgbClr val="17A199"/>
          </a:solidFill>
          <a:ln w="12700">
            <a:solidFill>
              <a:srgbClr val="FFFFFF"/>
            </a:solidFill>
            <a:prstDash val="solid"/>
          </a:ln>
        </p:spPr>
      </p:sp>
      <p:sp>
        <p:nvSpPr>
          <p:cNvPr id="17" name="Text 12"/>
          <p:cNvSpPr txBox="1"/>
          <p:nvPr/>
        </p:nvSpPr>
        <p:spPr>
          <a:xfrm>
            <a:off x="662940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zero</a:t>
            </a:r>
            <a:endParaRPr lang="en-US" sz="1100" dirty="0"/>
          </a:p>
        </p:txBody>
      </p:sp>
      <p:sp>
        <p:nvSpPr>
          <p:cNvPr id="18" name="Shape 13"/>
          <p:cNvSpPr/>
          <p:nvPr/>
        </p:nvSpPr>
        <p:spPr>
          <a:xfrm>
            <a:off x="9189720" y="1691640"/>
            <a:ext cx="2468880" cy="265176"/>
          </a:xfrm>
          <a:prstGeom prst="roundRect">
            <a:avLst>
              <a:gd name="adj" fmla="val 48276"/>
            </a:avLst>
          </a:prstGeom>
          <a:solidFill>
            <a:srgbClr val="17A199"/>
          </a:solidFill>
          <a:ln w="12700">
            <a:solidFill>
              <a:srgbClr val="FFFFFF"/>
            </a:solidFill>
            <a:prstDash val="solid"/>
          </a:ln>
        </p:spPr>
      </p:sp>
      <p:sp>
        <p:nvSpPr>
          <p:cNvPr id="19" name="Text 14"/>
          <p:cNvSpPr txBox="1"/>
          <p:nvPr/>
        </p:nvSpPr>
        <p:spPr>
          <a:xfrm>
            <a:off x="9189720" y="1691640"/>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rational function</a:t>
            </a:r>
            <a:endParaRPr lang="en-US" sz="1100" dirty="0"/>
          </a:p>
        </p:txBody>
      </p:sp>
      <p:sp>
        <p:nvSpPr>
          <p:cNvPr id="20" name="Shape 15"/>
          <p:cNvSpPr/>
          <p:nvPr/>
        </p:nvSpPr>
        <p:spPr>
          <a:xfrm>
            <a:off x="6629400" y="1993392"/>
            <a:ext cx="2468880" cy="265176"/>
          </a:xfrm>
          <a:prstGeom prst="roundRect">
            <a:avLst>
              <a:gd name="adj" fmla="val 48276"/>
            </a:avLst>
          </a:prstGeom>
          <a:solidFill>
            <a:srgbClr val="1F3864"/>
          </a:solidFill>
          <a:ln w="12700">
            <a:solidFill>
              <a:srgbClr val="FFFFFF"/>
            </a:solidFill>
            <a:prstDash val="solid"/>
          </a:ln>
        </p:spPr>
      </p:sp>
      <p:sp>
        <p:nvSpPr>
          <p:cNvPr id="21" name="Text 16"/>
          <p:cNvSpPr txBox="1"/>
          <p:nvPr/>
        </p:nvSpPr>
        <p:spPr>
          <a:xfrm>
            <a:off x="6629400" y="199339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numerator</a:t>
            </a:r>
            <a:endParaRPr lang="en-US" sz="1100" dirty="0"/>
          </a:p>
        </p:txBody>
      </p:sp>
      <p:sp>
        <p:nvSpPr>
          <p:cNvPr id="22" name="Shape 17"/>
          <p:cNvSpPr/>
          <p:nvPr/>
        </p:nvSpPr>
        <p:spPr>
          <a:xfrm>
            <a:off x="9189720" y="1993392"/>
            <a:ext cx="2468880" cy="265176"/>
          </a:xfrm>
          <a:prstGeom prst="roundRect">
            <a:avLst>
              <a:gd name="adj" fmla="val 48276"/>
            </a:avLst>
          </a:prstGeom>
          <a:solidFill>
            <a:srgbClr val="1F3864"/>
          </a:solidFill>
          <a:ln w="12700">
            <a:solidFill>
              <a:srgbClr val="FFFFFF"/>
            </a:solidFill>
            <a:prstDash val="solid"/>
          </a:ln>
        </p:spPr>
      </p:sp>
      <p:sp>
        <p:nvSpPr>
          <p:cNvPr id="23" name="Text 18"/>
          <p:cNvSpPr txBox="1"/>
          <p:nvPr/>
        </p:nvSpPr>
        <p:spPr>
          <a:xfrm>
            <a:off x="9189720" y="1993392"/>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denominator</a:t>
            </a:r>
            <a:endParaRPr lang="en-US" sz="1100" dirty="0"/>
          </a:p>
        </p:txBody>
      </p:sp>
      <p:sp>
        <p:nvSpPr>
          <p:cNvPr id="24" name="Shape 19"/>
          <p:cNvSpPr/>
          <p:nvPr/>
        </p:nvSpPr>
        <p:spPr>
          <a:xfrm>
            <a:off x="6629400" y="2295144"/>
            <a:ext cx="2468880" cy="265176"/>
          </a:xfrm>
          <a:prstGeom prst="roundRect">
            <a:avLst>
              <a:gd name="adj" fmla="val 48276"/>
            </a:avLst>
          </a:prstGeom>
          <a:solidFill>
            <a:srgbClr val="E8762C"/>
          </a:solidFill>
          <a:ln w="12700">
            <a:solidFill>
              <a:srgbClr val="FFFFFF"/>
            </a:solidFill>
            <a:prstDash val="solid"/>
          </a:ln>
        </p:spPr>
      </p:sp>
      <p:sp>
        <p:nvSpPr>
          <p:cNvPr id="25" name="Text 20"/>
          <p:cNvSpPr txBox="1"/>
          <p:nvPr/>
        </p:nvSpPr>
        <p:spPr>
          <a:xfrm>
            <a:off x="6629400" y="2295144"/>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domain</a:t>
            </a:r>
            <a:endParaRPr lang="en-US" sz="1100" dirty="0"/>
          </a:p>
        </p:txBody>
      </p:sp>
      <p:sp>
        <p:nvSpPr>
          <p:cNvPr id="26" name="Shape 21"/>
          <p:cNvSpPr/>
          <p:nvPr/>
        </p:nvSpPr>
        <p:spPr>
          <a:xfrm>
            <a:off x="9189720" y="2295144"/>
            <a:ext cx="2468880" cy="265176"/>
          </a:xfrm>
          <a:prstGeom prst="roundRect">
            <a:avLst>
              <a:gd name="adj" fmla="val 48276"/>
            </a:avLst>
          </a:prstGeom>
          <a:solidFill>
            <a:srgbClr val="E8762C"/>
          </a:solidFill>
          <a:ln w="12700">
            <a:solidFill>
              <a:srgbClr val="FFFFFF"/>
            </a:solidFill>
            <a:prstDash val="solid"/>
          </a:ln>
        </p:spPr>
      </p:sp>
      <p:sp>
        <p:nvSpPr>
          <p:cNvPr id="27" name="Text 22"/>
          <p:cNvSpPr txBox="1"/>
          <p:nvPr/>
        </p:nvSpPr>
        <p:spPr>
          <a:xfrm>
            <a:off x="9189720" y="2295144"/>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hole</a:t>
            </a:r>
            <a:endParaRPr lang="en-US" sz="1100" dirty="0"/>
          </a:p>
        </p:txBody>
      </p:sp>
      <p:sp>
        <p:nvSpPr>
          <p:cNvPr id="28" name="Shape 23"/>
          <p:cNvSpPr/>
          <p:nvPr/>
        </p:nvSpPr>
        <p:spPr>
          <a:xfrm>
            <a:off x="6629400" y="2596896"/>
            <a:ext cx="2468880" cy="265176"/>
          </a:xfrm>
          <a:prstGeom prst="roundRect">
            <a:avLst>
              <a:gd name="adj" fmla="val 48276"/>
            </a:avLst>
          </a:prstGeom>
          <a:solidFill>
            <a:srgbClr val="17A199"/>
          </a:solidFill>
          <a:ln w="12700">
            <a:solidFill>
              <a:srgbClr val="FFFFFF"/>
            </a:solidFill>
            <a:prstDash val="solid"/>
          </a:ln>
        </p:spPr>
      </p:sp>
      <p:sp>
        <p:nvSpPr>
          <p:cNvPr id="29" name="Text 24"/>
          <p:cNvSpPr txBox="1"/>
          <p:nvPr/>
        </p:nvSpPr>
        <p:spPr>
          <a:xfrm>
            <a:off x="6629400" y="2596896"/>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vertical asymptote</a:t>
            </a:r>
            <a:endParaRPr lang="en-US" sz="1100" dirty="0"/>
          </a:p>
        </p:txBody>
      </p:sp>
      <p:sp>
        <p:nvSpPr>
          <p:cNvPr id="30" name="Shape 25"/>
          <p:cNvSpPr/>
          <p:nvPr/>
        </p:nvSpPr>
        <p:spPr>
          <a:xfrm>
            <a:off x="9189720" y="2596896"/>
            <a:ext cx="2468880" cy="265176"/>
          </a:xfrm>
          <a:prstGeom prst="roundRect">
            <a:avLst>
              <a:gd name="adj" fmla="val 48276"/>
            </a:avLst>
          </a:prstGeom>
          <a:solidFill>
            <a:srgbClr val="17A199"/>
          </a:solidFill>
          <a:ln w="12700">
            <a:solidFill>
              <a:srgbClr val="FFFFFF"/>
            </a:solidFill>
            <a:prstDash val="solid"/>
          </a:ln>
        </p:spPr>
      </p:sp>
      <p:sp>
        <p:nvSpPr>
          <p:cNvPr id="31" name="Text 26"/>
          <p:cNvSpPr txBox="1"/>
          <p:nvPr/>
        </p:nvSpPr>
        <p:spPr>
          <a:xfrm>
            <a:off x="9189720" y="2596896"/>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endpoint</a:t>
            </a:r>
            <a:endParaRPr lang="en-US" sz="1100" dirty="0"/>
          </a:p>
        </p:txBody>
      </p:sp>
      <p:sp>
        <p:nvSpPr>
          <p:cNvPr id="32" name="Shape 27"/>
          <p:cNvSpPr/>
          <p:nvPr/>
        </p:nvSpPr>
        <p:spPr>
          <a:xfrm>
            <a:off x="6629400" y="2898648"/>
            <a:ext cx="2468880" cy="265176"/>
          </a:xfrm>
          <a:prstGeom prst="roundRect">
            <a:avLst>
              <a:gd name="adj" fmla="val 48276"/>
            </a:avLst>
          </a:prstGeom>
          <a:solidFill>
            <a:srgbClr val="1F3864"/>
          </a:solidFill>
          <a:ln w="12700">
            <a:solidFill>
              <a:srgbClr val="FFFFFF"/>
            </a:solidFill>
            <a:prstDash val="solid"/>
          </a:ln>
        </p:spPr>
      </p:sp>
      <p:sp>
        <p:nvSpPr>
          <p:cNvPr id="33" name="Text 28"/>
          <p:cNvSpPr txBox="1"/>
          <p:nvPr/>
        </p:nvSpPr>
        <p:spPr>
          <a:xfrm>
            <a:off x="6629400" y="2898648"/>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inequality</a:t>
            </a:r>
            <a:endParaRPr lang="en-US" sz="1100" dirty="0"/>
          </a:p>
        </p:txBody>
      </p:sp>
      <p:sp>
        <p:nvSpPr>
          <p:cNvPr id="34" name="Shape 29"/>
          <p:cNvSpPr/>
          <p:nvPr/>
        </p:nvSpPr>
        <p:spPr>
          <a:xfrm>
            <a:off x="9189720" y="2898648"/>
            <a:ext cx="2468880" cy="265176"/>
          </a:xfrm>
          <a:prstGeom prst="roundRect">
            <a:avLst>
              <a:gd name="adj" fmla="val 48276"/>
            </a:avLst>
          </a:prstGeom>
          <a:solidFill>
            <a:srgbClr val="1F3864"/>
          </a:solidFill>
          <a:ln w="12700">
            <a:solidFill>
              <a:srgbClr val="FFFFFF"/>
            </a:solidFill>
            <a:prstDash val="solid"/>
          </a:ln>
        </p:spPr>
      </p:sp>
      <p:sp>
        <p:nvSpPr>
          <p:cNvPr id="35" name="Text 30"/>
          <p:cNvSpPr txBox="1"/>
          <p:nvPr/>
        </p:nvSpPr>
        <p:spPr>
          <a:xfrm>
            <a:off x="9189720" y="2898648"/>
            <a:ext cx="246888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sign chart</a:t>
            </a:r>
            <a:endParaRPr lang="en-US" sz="1100" dirty="0"/>
          </a:p>
        </p:txBody>
      </p:sp>
      <p:sp>
        <p:nvSpPr>
          <p:cNvPr id="36" name="Shape 31"/>
          <p:cNvSpPr/>
          <p:nvPr/>
        </p:nvSpPr>
        <p:spPr>
          <a:xfrm>
            <a:off x="6400800" y="3566160"/>
            <a:ext cx="5303520" cy="2743200"/>
          </a:xfrm>
          <a:prstGeom prst="roundRect">
            <a:avLst>
              <a:gd name="adj" fmla="val 4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7" name="Text 32"/>
          <p:cNvSpPr txBox="1"/>
          <p:nvPr/>
        </p:nvSpPr>
        <p:spPr>
          <a:xfrm>
            <a:off x="6675120" y="3639312"/>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STANDARDS</a:t>
            </a:r>
            <a:endParaRPr lang="en-US" sz="1100" dirty="0"/>
          </a:p>
        </p:txBody>
      </p:sp>
      <p:sp>
        <p:nvSpPr>
          <p:cNvPr id="38" name="Text 33"/>
          <p:cNvSpPr txBox="1"/>
          <p:nvPr/>
        </p:nvSpPr>
        <p:spPr>
          <a:xfrm>
            <a:off x="6675120" y="3931920"/>
            <a:ext cx="4846320" cy="2286000"/>
          </a:xfrm>
          <a:prstGeom prst="rect">
            <a:avLst/>
          </a:prstGeom>
          <a:noFill/>
          <a:ln/>
        </p:spPr>
        <p:txBody>
          <a:bodyPr wrap="square" lIns="0" tIns="0" rIns="0" bIns="0" rtlCol="0" anchor="t"/>
          <a:lstStyle/>
          <a:p>
            <a:pPr indent="0" marL="0">
              <a:buNone/>
            </a:pPr>
            <a:r>
              <a:rPr lang="en-US" sz="1050" b="1" dirty="0">
                <a:solidFill>
                  <a:srgbClr val="222E2D"/>
                </a:solidFill>
                <a:latin typeface="Calibri" pitchFamily="34" charset="0"/>
                <a:ea typeface="Calibri" pitchFamily="34" charset="-122"/>
                <a:cs typeface="Calibri" pitchFamily="34" charset="-120"/>
              </a:rPr>
              <a:t>LO 1.8.A  </a:t>
            </a:r>
            <a:pPr indent="0" marL="0">
              <a:spcAft>
                <a:spcPts val="400"/>
              </a:spcAft>
              <a:buNone/>
            </a:pPr>
            <a:r>
              <a:rPr lang="en-US" sz="1050" dirty="0">
                <a:solidFill>
                  <a:srgbClr val="222E2D"/>
                </a:solidFill>
                <a:latin typeface="Calibri" pitchFamily="34" charset="0"/>
                <a:ea typeface="Calibri" pitchFamily="34" charset="-122"/>
                <a:cs typeface="Calibri" pitchFamily="34" charset="-120"/>
              </a:rPr>
              <a:t>Determine the zeros of rational functions.</a:t>
            </a:r>
            <a:endParaRPr lang="en-US" sz="10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1.8.A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4</a:t>
            </a:r>
            <a:endParaRPr lang="en-US" sz="1000" dirty="0"/>
          </a:p>
        </p:txBody>
      </p:sp>
      <p:sp>
        <p:nvSpPr>
          <p:cNvPr id="9" name="stn1"/>
          <p:cNvSpPr/>
          <p:nvPr/>
        </p:nvSpPr>
        <p:spPr>
          <a:xfrm>
            <a:off x="3931920" y="228600"/>
            <a:ext cx="457200" cy="457200"/>
          </a:xfrm>
          <a:prstGeom prst="ellipse">
            <a:avLst/>
          </a:prstGeom>
          <a:solidFill>
            <a:srgbClr val="E8762C"/>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path1"/>
          <p:cNvSpPr/>
          <p:nvPr/>
        </p:nvSpPr>
        <p:spPr>
          <a:xfrm>
            <a:off x="4407408" y="457200"/>
            <a:ext cx="32918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1  ·  DIAGNOSE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Start here: three quick checks</a:t>
            </a:r>
            <a:endParaRPr lang="en-US" sz="3000" dirty="0"/>
          </a:p>
        </p:txBody>
      </p:sp>
      <p:sp>
        <p:nvSpPr>
          <p:cNvPr id="29" name="Shape 24"/>
          <p:cNvSpPr/>
          <p:nvPr/>
        </p:nvSpPr>
        <p:spPr>
          <a:xfrm>
            <a:off x="45720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17A199"/>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AP1-8/k455df1b700.png">    </p:cNvPr>
          <p:cNvPicPr>
            <a:picLocks noChangeAspect="1"/>
          </p:cNvPicPr>
          <p:nvPr/>
        </p:nvPicPr>
        <p:blipFill>
          <a:blip r:embed="rId3"/>
          <a:stretch>
            <a:fillRect/>
          </a:stretch>
        </p:blipFill>
        <p:spPr>
          <a:xfrm>
            <a:off x="1033272" y="2697480"/>
            <a:ext cx="2505456" cy="358445"/>
          </a:xfrm>
          <a:prstGeom prst="rect">
            <a:avLst/>
          </a:prstGeom>
        </p:spPr>
      </p:pic>
      <p:sp>
        <p:nvSpPr>
          <p:cNvPr id="33" name="Shape 27"/>
          <p:cNvSpPr/>
          <p:nvPr/>
        </p:nvSpPr>
        <p:spPr>
          <a:xfrm>
            <a:off x="420624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17A199"/>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AP1-8/ke217641c91.png">    </p:cNvPr>
          <p:cNvPicPr>
            <a:picLocks noChangeAspect="1"/>
          </p:cNvPicPr>
          <p:nvPr/>
        </p:nvPicPr>
        <p:blipFill>
          <a:blip r:embed="rId4"/>
          <a:stretch>
            <a:fillRect/>
          </a:stretch>
        </p:blipFill>
        <p:spPr>
          <a:xfrm>
            <a:off x="4892040" y="2697480"/>
            <a:ext cx="2286000" cy="713232"/>
          </a:xfrm>
          <a:prstGeom prst="rect">
            <a:avLst/>
          </a:prstGeom>
        </p:spPr>
      </p:pic>
      <p:sp>
        <p:nvSpPr>
          <p:cNvPr id="37" name="Shape 30"/>
          <p:cNvSpPr/>
          <p:nvPr/>
        </p:nvSpPr>
        <p:spPr>
          <a:xfrm>
            <a:off x="7955280" y="1920240"/>
            <a:ext cx="3611880" cy="2194560"/>
          </a:xfrm>
          <a:prstGeom prst="roundRect">
            <a:avLst>
              <a:gd name="adj" fmla="val 5000"/>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17A199"/>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AP1-8/k81960da937.png">    </p:cNvPr>
          <p:cNvPicPr>
            <a:picLocks noChangeAspect="1"/>
          </p:cNvPicPr>
          <p:nvPr/>
        </p:nvPicPr>
        <p:blipFill>
          <a:blip r:embed="rId5"/>
          <a:stretch>
            <a:fillRect/>
          </a:stretch>
        </p:blipFill>
        <p:spPr>
          <a:xfrm>
            <a:off x="8280806" y="2697480"/>
            <a:ext cx="3006547" cy="709574"/>
          </a:xfrm>
          <a:prstGeom prst="rect">
            <a:avLst/>
          </a:prstGeom>
        </p:spPr>
      </p:pic>
      <p:sp>
        <p:nvSpPr>
          <p:cNvPr id="41" name="Shape 33"/>
          <p:cNvSpPr/>
          <p:nvPr/>
        </p:nvSpPr>
        <p:spPr>
          <a:xfrm>
            <a:off x="457200" y="4434840"/>
            <a:ext cx="11247120" cy="1463040"/>
          </a:xfrm>
          <a:prstGeom prst="roundRect">
            <a:avLst>
              <a:gd name="adj" fmla="val 75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57200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Done when</a:t>
            </a:r>
            <a:endParaRPr lang="en-US" sz="1400" dirty="0"/>
          </a:p>
        </p:txBody>
      </p:sp>
      <p:sp>
        <p:nvSpPr>
          <p:cNvPr id="43" name="Text 35"/>
          <p:cNvSpPr txBox="1"/>
          <p:nvPr/>
        </p:nvSpPr>
        <p:spPr>
          <a:xfrm>
            <a:off x="777240" y="4937760"/>
            <a:ext cx="10607040" cy="82296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All three answers are written without a calculator, and you can say what makes a fraction undefined and what makes it zero.</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1.8.A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5</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Zeros of a rational function</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AP1-8/kc577b402d6.png">    </p:cNvPr>
          <p:cNvPicPr>
            <a:picLocks noChangeAspect="1"/>
          </p:cNvPicPr>
          <p:nvPr/>
        </p:nvPicPr>
        <p:blipFill>
          <a:blip r:embed="rId3"/>
          <a:stretch>
            <a:fillRect/>
          </a:stretch>
        </p:blipFill>
        <p:spPr>
          <a:xfrm>
            <a:off x="2499970" y="1934870"/>
            <a:ext cx="1631290" cy="793699"/>
          </a:xfrm>
          <a:prstGeom prst="rect">
            <a:avLst/>
          </a:prstGeom>
        </p:spPr>
      </p:pic>
      <p:pic>
        <p:nvPicPr>
          <p:cNvPr id="31" name="Image 3" descr="m_AP1-8/ka625e3e181.png">    </p:cNvPr>
          <p:cNvPicPr>
            <a:picLocks noChangeAspect="1"/>
          </p:cNvPicPr>
          <p:nvPr/>
        </p:nvPicPr>
        <p:blipFill>
          <a:blip r:embed="rId4"/>
          <a:stretch>
            <a:fillRect/>
          </a:stretch>
        </p:blipFill>
        <p:spPr>
          <a:xfrm>
            <a:off x="4771339" y="2141525"/>
            <a:ext cx="4890211" cy="380390"/>
          </a:xfrm>
          <a:prstGeom prst="rect">
            <a:avLst/>
          </a:prstGeom>
        </p:spPr>
      </p:pic>
      <p:sp>
        <p:nvSpPr>
          <p:cNvPr id="32"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AP1-8/kae1f584b6a.png">    </p:cNvPr>
          <p:cNvPicPr>
            <a:picLocks noChangeAspect="1"/>
          </p:cNvPicPr>
          <p:nvPr/>
        </p:nvPicPr>
        <p:blipFill>
          <a:blip r:embed="rId5"/>
          <a:stretch>
            <a:fillRect/>
          </a:stretch>
        </p:blipFill>
        <p:spPr>
          <a:xfrm>
            <a:off x="908612" y="3566160"/>
            <a:ext cx="2754776" cy="750046"/>
          </a:xfrm>
          <a:prstGeom prst="rect">
            <a:avLst/>
          </a:prstGeom>
        </p:spPr>
      </p:pic>
      <p:pic>
        <p:nvPicPr>
          <p:cNvPr id="35" name="Image 5" descr="m_AP1-8/k989ebced91.png">    </p:cNvPr>
          <p:cNvPicPr>
            <a:picLocks noChangeAspect="1"/>
          </p:cNvPicPr>
          <p:nvPr/>
        </p:nvPicPr>
        <p:blipFill>
          <a:blip r:embed="rId6"/>
          <a:stretch>
            <a:fillRect/>
          </a:stretch>
        </p:blipFill>
        <p:spPr>
          <a:xfrm>
            <a:off x="687812" y="4471654"/>
            <a:ext cx="3196377" cy="342351"/>
          </a:xfrm>
          <a:prstGeom prst="rect">
            <a:avLst/>
          </a:prstGeom>
        </p:spPr>
      </p:pic>
      <p:pic>
        <p:nvPicPr>
          <p:cNvPr id="36" name="Image 6" descr="m_AP1-8/k0de2c4a68e.png">    </p:cNvPr>
          <p:cNvPicPr>
            <a:picLocks noChangeAspect="1"/>
          </p:cNvPicPr>
          <p:nvPr/>
        </p:nvPicPr>
        <p:blipFill>
          <a:blip r:embed="rId7"/>
          <a:stretch>
            <a:fillRect/>
          </a:stretch>
        </p:blipFill>
        <p:spPr>
          <a:xfrm>
            <a:off x="640080" y="4969453"/>
            <a:ext cx="3291840" cy="300308"/>
          </a:xfrm>
          <a:prstGeom prst="rect">
            <a:avLst/>
          </a:prstGeom>
        </p:spPr>
      </p:pic>
      <p:pic>
        <p:nvPicPr>
          <p:cNvPr id="37" name="Image 7" descr="m_AP1-8/k8ecf135972.png">    </p:cNvPr>
          <p:cNvPicPr>
            <a:picLocks noChangeAspect="1"/>
          </p:cNvPicPr>
          <p:nvPr/>
        </p:nvPicPr>
        <p:blipFill>
          <a:blip r:embed="rId8"/>
          <a:stretch>
            <a:fillRect/>
          </a:stretch>
        </p:blipFill>
        <p:spPr>
          <a:xfrm>
            <a:off x="1007120" y="5425209"/>
            <a:ext cx="2557760" cy="299557"/>
          </a:xfrm>
          <a:prstGeom prst="rect">
            <a:avLst/>
          </a:prstGeom>
        </p:spPr>
      </p:pic>
      <p:sp>
        <p:nvSpPr>
          <p:cNvPr id="38"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9"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0" name="Image 8" descr="m_AP1-8/k9e1423b148.png">    </p:cNvPr>
          <p:cNvPicPr>
            <a:picLocks noChangeAspect="1"/>
          </p:cNvPicPr>
          <p:nvPr/>
        </p:nvPicPr>
        <p:blipFill>
          <a:blip r:embed="rId9"/>
          <a:stretch>
            <a:fillRect/>
          </a:stretch>
        </p:blipFill>
        <p:spPr>
          <a:xfrm>
            <a:off x="4862368" y="3566160"/>
            <a:ext cx="2436785" cy="715481"/>
          </a:xfrm>
          <a:prstGeom prst="rect">
            <a:avLst/>
          </a:prstGeom>
        </p:spPr>
      </p:pic>
      <p:pic>
        <p:nvPicPr>
          <p:cNvPr id="41" name="Image 9" descr="m_AP1-8/ke3e8664ac2.png">    </p:cNvPr>
          <p:cNvPicPr>
            <a:picLocks noChangeAspect="1"/>
          </p:cNvPicPr>
          <p:nvPr/>
        </p:nvPicPr>
        <p:blipFill>
          <a:blip r:embed="rId10"/>
          <a:stretch>
            <a:fillRect/>
          </a:stretch>
        </p:blipFill>
        <p:spPr>
          <a:xfrm>
            <a:off x="4768962" y="4437089"/>
            <a:ext cx="2623596" cy="714329"/>
          </a:xfrm>
          <a:prstGeom prst="rect">
            <a:avLst/>
          </a:prstGeom>
        </p:spPr>
      </p:pic>
      <p:pic>
        <p:nvPicPr>
          <p:cNvPr id="42" name="Image 10" descr="m_AP1-8/kf2c89063ac.png">    </p:cNvPr>
          <p:cNvPicPr>
            <a:picLocks noChangeAspect="1"/>
          </p:cNvPicPr>
          <p:nvPr/>
        </p:nvPicPr>
        <p:blipFill>
          <a:blip r:embed="rId11"/>
          <a:stretch>
            <a:fillRect/>
          </a:stretch>
        </p:blipFill>
        <p:spPr>
          <a:xfrm>
            <a:off x="4434840" y="5306867"/>
            <a:ext cx="3291840" cy="252472"/>
          </a:xfrm>
          <a:prstGeom prst="rect">
            <a:avLst/>
          </a:prstGeom>
        </p:spPr>
      </p:pic>
      <p:pic>
        <p:nvPicPr>
          <p:cNvPr id="43" name="Image 11" descr="m_AP1-8/k53d3b30f15.png">    </p:cNvPr>
          <p:cNvPicPr>
            <a:picLocks noChangeAspect="1"/>
          </p:cNvPicPr>
          <p:nvPr/>
        </p:nvPicPr>
        <p:blipFill>
          <a:blip r:embed="rId12"/>
          <a:stretch>
            <a:fillRect/>
          </a:stretch>
        </p:blipFill>
        <p:spPr>
          <a:xfrm>
            <a:off x="4987869" y="5714786"/>
            <a:ext cx="2185782" cy="312725"/>
          </a:xfrm>
          <a:prstGeom prst="rect">
            <a:avLst/>
          </a:prstGeom>
        </p:spPr>
      </p:pic>
      <p:sp>
        <p:nvSpPr>
          <p:cNvPr id="44"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5"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6" name="Image 12" descr="m_AP1-8/k786c2d3800.png">    </p:cNvPr>
          <p:cNvPicPr>
            <a:picLocks noChangeAspect="1"/>
          </p:cNvPicPr>
          <p:nvPr/>
        </p:nvPicPr>
        <p:blipFill>
          <a:blip r:embed="rId13"/>
          <a:stretch>
            <a:fillRect/>
          </a:stretch>
        </p:blipFill>
        <p:spPr>
          <a:xfrm>
            <a:off x="8902534" y="3566160"/>
            <a:ext cx="1945971" cy="715481"/>
          </a:xfrm>
          <a:prstGeom prst="rect">
            <a:avLst/>
          </a:prstGeom>
        </p:spPr>
      </p:pic>
      <p:pic>
        <p:nvPicPr>
          <p:cNvPr id="47" name="Image 13" descr="m_AP1-8/k09fd05b32f.png">    </p:cNvPr>
          <p:cNvPicPr>
            <a:picLocks noChangeAspect="1"/>
          </p:cNvPicPr>
          <p:nvPr/>
        </p:nvPicPr>
        <p:blipFill>
          <a:blip r:embed="rId14"/>
          <a:stretch>
            <a:fillRect/>
          </a:stretch>
        </p:blipFill>
        <p:spPr>
          <a:xfrm>
            <a:off x="8692104" y="4437089"/>
            <a:ext cx="2366833" cy="342351"/>
          </a:xfrm>
          <a:prstGeom prst="rect">
            <a:avLst/>
          </a:prstGeom>
        </p:spPr>
      </p:pic>
      <p:pic>
        <p:nvPicPr>
          <p:cNvPr id="48" name="Image 14" descr="m_AP1-8/ka8bdb12c08.png">    </p:cNvPr>
          <p:cNvPicPr>
            <a:picLocks noChangeAspect="1"/>
          </p:cNvPicPr>
          <p:nvPr/>
        </p:nvPicPr>
        <p:blipFill>
          <a:blip r:embed="rId15"/>
          <a:stretch>
            <a:fillRect/>
          </a:stretch>
        </p:blipFill>
        <p:spPr>
          <a:xfrm>
            <a:off x="8293791" y="4934889"/>
            <a:ext cx="3163458" cy="352227"/>
          </a:xfrm>
          <a:prstGeom prst="rect">
            <a:avLst/>
          </a:prstGeom>
        </p:spPr>
      </p:pic>
      <p:pic>
        <p:nvPicPr>
          <p:cNvPr id="49" name="Image 15" descr="m_AP1-8/k3394fdb3d2.png">    </p:cNvPr>
          <p:cNvPicPr>
            <a:picLocks noChangeAspect="1"/>
          </p:cNvPicPr>
          <p:nvPr/>
        </p:nvPicPr>
        <p:blipFill>
          <a:blip r:embed="rId16"/>
          <a:stretch>
            <a:fillRect/>
          </a:stretch>
        </p:blipFill>
        <p:spPr>
          <a:xfrm>
            <a:off x="8680582" y="5442564"/>
            <a:ext cx="2389876" cy="29955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1.8.A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6</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Rewrite first, then find the zeros</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AP1-8/kb79295788d.png">    </p:cNvPr>
          <p:cNvPicPr>
            <a:picLocks noChangeAspect="1"/>
          </p:cNvPicPr>
          <p:nvPr/>
        </p:nvPicPr>
        <p:blipFill>
          <a:blip r:embed="rId3"/>
          <a:stretch>
            <a:fillRect/>
          </a:stretch>
        </p:blipFill>
        <p:spPr>
          <a:xfrm>
            <a:off x="2254910" y="1934870"/>
            <a:ext cx="3156509" cy="793699"/>
          </a:xfrm>
          <a:prstGeom prst="rect">
            <a:avLst/>
          </a:prstGeom>
        </p:spPr>
      </p:pic>
      <p:pic>
        <p:nvPicPr>
          <p:cNvPr id="31" name="Image 3" descr="m_AP1-8/ka593c93d77.png">    </p:cNvPr>
          <p:cNvPicPr>
            <a:picLocks noChangeAspect="1"/>
          </p:cNvPicPr>
          <p:nvPr/>
        </p:nvPicPr>
        <p:blipFill>
          <a:blip r:embed="rId4"/>
          <a:stretch>
            <a:fillRect/>
          </a:stretch>
        </p:blipFill>
        <p:spPr>
          <a:xfrm>
            <a:off x="6051499" y="2141525"/>
            <a:ext cx="3855110" cy="380390"/>
          </a:xfrm>
          <a:prstGeom prst="rect">
            <a:avLst/>
          </a:prstGeom>
        </p:spPr>
      </p:pic>
      <p:sp>
        <p:nvSpPr>
          <p:cNvPr id="32" name="Shape 25"/>
          <p:cNvSpPr/>
          <p:nvPr/>
        </p:nvSpPr>
        <p:spPr>
          <a:xfrm>
            <a:off x="45720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3" name="Text 26"/>
          <p:cNvSpPr txBox="1"/>
          <p:nvPr/>
        </p:nvSpPr>
        <p:spPr>
          <a:xfrm>
            <a:off x="68580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4" name="Image 4" descr="m_AP1-8/kaa90f9b5f9.png">    </p:cNvPr>
          <p:cNvPicPr>
            <a:picLocks noChangeAspect="1"/>
          </p:cNvPicPr>
          <p:nvPr/>
        </p:nvPicPr>
        <p:blipFill>
          <a:blip r:embed="rId5"/>
          <a:stretch>
            <a:fillRect/>
          </a:stretch>
        </p:blipFill>
        <p:spPr>
          <a:xfrm>
            <a:off x="1022580" y="3566160"/>
            <a:ext cx="2526840" cy="624504"/>
          </a:xfrm>
          <a:prstGeom prst="rect">
            <a:avLst/>
          </a:prstGeom>
        </p:spPr>
      </p:pic>
      <p:pic>
        <p:nvPicPr>
          <p:cNvPr id="35" name="Image 5" descr="m_AP1-8/k41507ad55e.png">    </p:cNvPr>
          <p:cNvPicPr>
            <a:picLocks noChangeAspect="1"/>
          </p:cNvPicPr>
          <p:nvPr/>
        </p:nvPicPr>
        <p:blipFill>
          <a:blip r:embed="rId6"/>
          <a:stretch>
            <a:fillRect/>
          </a:stretch>
        </p:blipFill>
        <p:spPr>
          <a:xfrm>
            <a:off x="791460" y="4334696"/>
            <a:ext cx="2989079" cy="661868"/>
          </a:xfrm>
          <a:prstGeom prst="rect">
            <a:avLst/>
          </a:prstGeom>
        </p:spPr>
      </p:pic>
      <p:pic>
        <p:nvPicPr>
          <p:cNvPr id="36" name="Image 6" descr="m_AP1-8/kab3ac7913f.png">    </p:cNvPr>
          <p:cNvPicPr>
            <a:picLocks noChangeAspect="1"/>
          </p:cNvPicPr>
          <p:nvPr/>
        </p:nvPicPr>
        <p:blipFill>
          <a:blip r:embed="rId7"/>
          <a:stretch>
            <a:fillRect/>
          </a:stretch>
        </p:blipFill>
        <p:spPr>
          <a:xfrm>
            <a:off x="1070543" y="5140595"/>
            <a:ext cx="2430915" cy="637467"/>
          </a:xfrm>
          <a:prstGeom prst="rect">
            <a:avLst/>
          </a:prstGeom>
        </p:spPr>
      </p:pic>
      <p:pic>
        <p:nvPicPr>
          <p:cNvPr id="37" name="Image 7" descr="m_AP1-8/k411cc4c8ff.png">    </p:cNvPr>
          <p:cNvPicPr>
            <a:picLocks noChangeAspect="1"/>
          </p:cNvPicPr>
          <p:nvPr/>
        </p:nvPicPr>
        <p:blipFill>
          <a:blip r:embed="rId8"/>
          <a:stretch>
            <a:fillRect/>
          </a:stretch>
        </p:blipFill>
        <p:spPr>
          <a:xfrm>
            <a:off x="1241347" y="5922093"/>
            <a:ext cx="2089305" cy="250107"/>
          </a:xfrm>
          <a:prstGeom prst="rect">
            <a:avLst/>
          </a:prstGeom>
        </p:spPr>
      </p:pic>
      <p:sp>
        <p:nvSpPr>
          <p:cNvPr id="38" name="Shape 27"/>
          <p:cNvSpPr/>
          <p:nvPr/>
        </p:nvSpPr>
        <p:spPr>
          <a:xfrm>
            <a:off x="425196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9" name="Text 28"/>
          <p:cNvSpPr txBox="1"/>
          <p:nvPr/>
        </p:nvSpPr>
        <p:spPr>
          <a:xfrm>
            <a:off x="448056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0" name="Image 8" descr="m_AP1-8/kf97ea68700.png">    </p:cNvPr>
          <p:cNvPicPr>
            <a:picLocks noChangeAspect="1"/>
          </p:cNvPicPr>
          <p:nvPr/>
        </p:nvPicPr>
        <p:blipFill>
          <a:blip r:embed="rId9"/>
          <a:stretch>
            <a:fillRect/>
          </a:stretch>
        </p:blipFill>
        <p:spPr>
          <a:xfrm>
            <a:off x="5063199" y="3566160"/>
            <a:ext cx="2035122" cy="628921"/>
          </a:xfrm>
          <a:prstGeom prst="rect">
            <a:avLst/>
          </a:prstGeom>
        </p:spPr>
      </p:pic>
      <p:pic>
        <p:nvPicPr>
          <p:cNvPr id="41" name="Image 9" descr="m_AP1-8/kb30bd77bbc.png">    </p:cNvPr>
          <p:cNvPicPr>
            <a:picLocks noChangeAspect="1"/>
          </p:cNvPicPr>
          <p:nvPr/>
        </p:nvPicPr>
        <p:blipFill>
          <a:blip r:embed="rId10"/>
          <a:stretch>
            <a:fillRect/>
          </a:stretch>
        </p:blipFill>
        <p:spPr>
          <a:xfrm>
            <a:off x="5060972" y="4340131"/>
            <a:ext cx="2039576" cy="635832"/>
          </a:xfrm>
          <a:prstGeom prst="rect">
            <a:avLst/>
          </a:prstGeom>
        </p:spPr>
      </p:pic>
      <p:pic>
        <p:nvPicPr>
          <p:cNvPr id="42" name="Image 10" descr="m_AP1-8/ka5a8d31f4b.png">    </p:cNvPr>
          <p:cNvPicPr>
            <a:picLocks noChangeAspect="1"/>
          </p:cNvPicPr>
          <p:nvPr/>
        </p:nvPicPr>
        <p:blipFill>
          <a:blip r:embed="rId11"/>
          <a:stretch>
            <a:fillRect/>
          </a:stretch>
        </p:blipFill>
        <p:spPr>
          <a:xfrm>
            <a:off x="4856707" y="5121013"/>
            <a:ext cx="2448106" cy="626617"/>
          </a:xfrm>
          <a:prstGeom prst="rect">
            <a:avLst/>
          </a:prstGeom>
        </p:spPr>
      </p:pic>
      <p:pic>
        <p:nvPicPr>
          <p:cNvPr id="43" name="Image 11" descr="m_AP1-8/k1297c23de4.png">    </p:cNvPr>
          <p:cNvPicPr>
            <a:picLocks noChangeAspect="1"/>
          </p:cNvPicPr>
          <p:nvPr/>
        </p:nvPicPr>
        <p:blipFill>
          <a:blip r:embed="rId12"/>
          <a:stretch>
            <a:fillRect/>
          </a:stretch>
        </p:blipFill>
        <p:spPr>
          <a:xfrm>
            <a:off x="4887424" y="5892680"/>
            <a:ext cx="2386673" cy="279520"/>
          </a:xfrm>
          <a:prstGeom prst="rect">
            <a:avLst/>
          </a:prstGeom>
        </p:spPr>
      </p:pic>
      <p:sp>
        <p:nvSpPr>
          <p:cNvPr id="44" name="Shape 29"/>
          <p:cNvSpPr/>
          <p:nvPr/>
        </p:nvSpPr>
        <p:spPr>
          <a:xfrm>
            <a:off x="8046720" y="3108960"/>
            <a:ext cx="365760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5" name="Text 30"/>
          <p:cNvSpPr txBox="1"/>
          <p:nvPr/>
        </p:nvSpPr>
        <p:spPr>
          <a:xfrm>
            <a:off x="827532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C</a:t>
            </a:r>
            <a:endParaRPr lang="en-US" sz="1100" dirty="0"/>
          </a:p>
        </p:txBody>
      </p:sp>
      <p:pic>
        <p:nvPicPr>
          <p:cNvPr id="46" name="Image 12" descr="m_AP1-8/kc3ff40566e.png">    </p:cNvPr>
          <p:cNvPicPr>
            <a:picLocks noChangeAspect="1"/>
          </p:cNvPicPr>
          <p:nvPr/>
        </p:nvPicPr>
        <p:blipFill>
          <a:blip r:embed="rId13"/>
          <a:stretch>
            <a:fillRect/>
          </a:stretch>
        </p:blipFill>
        <p:spPr>
          <a:xfrm>
            <a:off x="8441101" y="3566160"/>
            <a:ext cx="2868839" cy="715481"/>
          </a:xfrm>
          <a:prstGeom prst="rect">
            <a:avLst/>
          </a:prstGeom>
        </p:spPr>
      </p:pic>
      <p:pic>
        <p:nvPicPr>
          <p:cNvPr id="47" name="Image 13" descr="m_AP1-8/ka888876dda.png">    </p:cNvPr>
          <p:cNvPicPr>
            <a:picLocks noChangeAspect="1"/>
          </p:cNvPicPr>
          <p:nvPr/>
        </p:nvPicPr>
        <p:blipFill>
          <a:blip r:embed="rId14"/>
          <a:stretch>
            <a:fillRect/>
          </a:stretch>
        </p:blipFill>
        <p:spPr>
          <a:xfrm>
            <a:off x="8277332" y="4437089"/>
            <a:ext cx="3196377" cy="342351"/>
          </a:xfrm>
          <a:prstGeom prst="rect">
            <a:avLst/>
          </a:prstGeom>
        </p:spPr>
      </p:pic>
      <p:pic>
        <p:nvPicPr>
          <p:cNvPr id="48" name="Image 14" descr="m_AP1-8/k3d63266cce.png">    </p:cNvPr>
          <p:cNvPicPr>
            <a:picLocks noChangeAspect="1"/>
          </p:cNvPicPr>
          <p:nvPr/>
        </p:nvPicPr>
        <p:blipFill>
          <a:blip r:embed="rId15"/>
          <a:stretch>
            <a:fillRect/>
          </a:stretch>
        </p:blipFill>
        <p:spPr>
          <a:xfrm>
            <a:off x="8229600" y="4934889"/>
            <a:ext cx="3291840" cy="252472"/>
          </a:xfrm>
          <a:prstGeom prst="rect">
            <a:avLst/>
          </a:prstGeom>
        </p:spPr>
      </p:pic>
      <p:pic>
        <p:nvPicPr>
          <p:cNvPr id="49" name="Image 15" descr="m_AP1-8/k57e9f758d2.png">    </p:cNvPr>
          <p:cNvPicPr>
            <a:picLocks noChangeAspect="1"/>
          </p:cNvPicPr>
          <p:nvPr/>
        </p:nvPicPr>
        <p:blipFill>
          <a:blip r:embed="rId16"/>
          <a:stretch>
            <a:fillRect/>
          </a:stretch>
        </p:blipFill>
        <p:spPr>
          <a:xfrm>
            <a:off x="8250997" y="5342808"/>
            <a:ext cx="3249046" cy="34235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1.8.A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7</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329184" cy="0"/>
          </a:xfrm>
          <a:prstGeom prst="line">
            <a:avLst/>
          </a:prstGeom>
          <a:noFill/>
          <a:ln w="25400">
            <a:solidFill>
              <a:srgbClr val="17A199"/>
            </a:solidFill>
            <a:prstDash val="dash"/>
          </a:ln>
        </p:spPr>
      </p:sp>
      <p:sp>
        <p:nvSpPr>
          <p:cNvPr id="12" name="stn2"/>
          <p:cNvSpPr/>
          <p:nvPr/>
        </p:nvSpPr>
        <p:spPr>
          <a:xfrm>
            <a:off x="4645152" y="228600"/>
            <a:ext cx="457200" cy="457200"/>
          </a:xfrm>
          <a:prstGeom prst="ellipse">
            <a:avLst/>
          </a:prstGeom>
          <a:solidFill>
            <a:srgbClr val="E8762C"/>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path2"/>
          <p:cNvSpPr/>
          <p:nvPr/>
        </p:nvSpPr>
        <p:spPr>
          <a:xfrm>
            <a:off x="5120640" y="457200"/>
            <a:ext cx="32918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2  ·  TARGETED INSTRUCTION  ·  18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Sign charts and inequalities</a:t>
            </a:r>
            <a:endParaRPr lang="en-US" sz="3000" dirty="0"/>
          </a:p>
        </p:txBody>
      </p:sp>
      <p:sp>
        <p:nvSpPr>
          <p:cNvPr id="29" name="Shape 24"/>
          <p:cNvSpPr/>
          <p:nvPr/>
        </p:nvSpPr>
        <p:spPr>
          <a:xfrm>
            <a:off x="457200" y="1783080"/>
            <a:ext cx="11247120" cy="1097280"/>
          </a:xfrm>
          <a:prstGeom prst="roundRect">
            <a:avLst>
              <a:gd name="adj" fmla="val 10000"/>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0" name="Image 2" descr="m_AP1-8/k81add4f717.png">    </p:cNvPr>
          <p:cNvPicPr>
            <a:picLocks noChangeAspect="1"/>
          </p:cNvPicPr>
          <p:nvPr/>
        </p:nvPicPr>
        <p:blipFill>
          <a:blip r:embed="rId3"/>
          <a:stretch>
            <a:fillRect/>
          </a:stretch>
        </p:blipFill>
        <p:spPr>
          <a:xfrm>
            <a:off x="1675181" y="2157984"/>
            <a:ext cx="4136746" cy="347472"/>
          </a:xfrm>
          <a:prstGeom prst="rect">
            <a:avLst/>
          </a:prstGeom>
        </p:spPr>
      </p:pic>
      <p:pic>
        <p:nvPicPr>
          <p:cNvPr id="31" name="Image 3" descr="m_AP1-8/kf31ef871ae.png">    </p:cNvPr>
          <p:cNvPicPr>
            <a:picLocks noChangeAspect="1"/>
          </p:cNvPicPr>
          <p:nvPr/>
        </p:nvPicPr>
        <p:blipFill>
          <a:blip r:embed="rId4"/>
          <a:stretch>
            <a:fillRect/>
          </a:stretch>
        </p:blipFill>
        <p:spPr>
          <a:xfrm>
            <a:off x="6452006" y="2187245"/>
            <a:ext cx="4034333" cy="288950"/>
          </a:xfrm>
          <a:prstGeom prst="rect">
            <a:avLst/>
          </a:prstGeom>
        </p:spPr>
      </p:pic>
      <p:sp>
        <p:nvSpPr>
          <p:cNvPr id="32" name="Shape 25"/>
          <p:cNvSpPr/>
          <p:nvPr/>
        </p:nvSpPr>
        <p:spPr>
          <a:xfrm>
            <a:off x="457200" y="3108960"/>
            <a:ext cx="393192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3" name="Image 4" descr="figs/AP1-8_signs.png">    </p:cNvPr>
          <p:cNvPicPr>
            <a:picLocks noChangeAspect="1"/>
          </p:cNvPicPr>
          <p:nvPr/>
        </p:nvPicPr>
        <p:blipFill>
          <a:blip r:embed="rId5"/>
          <a:stretch>
            <a:fillRect/>
          </a:stretch>
        </p:blipFill>
        <p:spPr>
          <a:xfrm>
            <a:off x="594360" y="3303549"/>
            <a:ext cx="3657600" cy="2765502"/>
          </a:xfrm>
          <a:prstGeom prst="rect">
            <a:avLst/>
          </a:prstGeom>
        </p:spPr>
      </p:pic>
      <p:sp>
        <p:nvSpPr>
          <p:cNvPr id="34" name="Shape 26"/>
          <p:cNvSpPr/>
          <p:nvPr/>
        </p:nvSpPr>
        <p:spPr>
          <a:xfrm>
            <a:off x="4526280" y="3108960"/>
            <a:ext cx="352044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Text 27"/>
          <p:cNvSpPr txBox="1"/>
          <p:nvPr/>
        </p:nvSpPr>
        <p:spPr>
          <a:xfrm>
            <a:off x="475488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A</a:t>
            </a:r>
            <a:endParaRPr lang="en-US" sz="1100" dirty="0"/>
          </a:p>
        </p:txBody>
      </p:sp>
      <p:pic>
        <p:nvPicPr>
          <p:cNvPr id="36" name="Image 5" descr="m_AP1-8/kbb8170c2f5.png">    </p:cNvPr>
          <p:cNvPicPr>
            <a:picLocks noChangeAspect="1"/>
          </p:cNvPicPr>
          <p:nvPr/>
        </p:nvPicPr>
        <p:blipFill>
          <a:blip r:embed="rId6"/>
          <a:stretch>
            <a:fillRect/>
          </a:stretch>
        </p:blipFill>
        <p:spPr>
          <a:xfrm>
            <a:off x="5092303" y="3566160"/>
            <a:ext cx="2388395" cy="705112"/>
          </a:xfrm>
          <a:prstGeom prst="rect">
            <a:avLst/>
          </a:prstGeom>
        </p:spPr>
      </p:pic>
      <p:pic>
        <p:nvPicPr>
          <p:cNvPr id="37" name="Image 6" descr="m_AP1-8/k99f228ae27.png">    </p:cNvPr>
          <p:cNvPicPr>
            <a:picLocks noChangeAspect="1"/>
          </p:cNvPicPr>
          <p:nvPr/>
        </p:nvPicPr>
        <p:blipFill>
          <a:blip r:embed="rId7"/>
          <a:stretch>
            <a:fillRect/>
          </a:stretch>
        </p:blipFill>
        <p:spPr>
          <a:xfrm>
            <a:off x="4941783" y="4426720"/>
            <a:ext cx="2689433" cy="312725"/>
          </a:xfrm>
          <a:prstGeom prst="rect">
            <a:avLst/>
          </a:prstGeom>
        </p:spPr>
      </p:pic>
      <p:pic>
        <p:nvPicPr>
          <p:cNvPr id="38" name="Image 7" descr="m_AP1-8/kf65ee8c4c0.png">    </p:cNvPr>
          <p:cNvPicPr>
            <a:picLocks noChangeAspect="1"/>
          </p:cNvPicPr>
          <p:nvPr/>
        </p:nvPicPr>
        <p:blipFill>
          <a:blip r:embed="rId8"/>
          <a:stretch>
            <a:fillRect/>
          </a:stretch>
        </p:blipFill>
        <p:spPr>
          <a:xfrm>
            <a:off x="5061936" y="4894893"/>
            <a:ext cx="2449129" cy="302849"/>
          </a:xfrm>
          <a:prstGeom prst="rect">
            <a:avLst/>
          </a:prstGeom>
        </p:spPr>
      </p:pic>
      <p:pic>
        <p:nvPicPr>
          <p:cNvPr id="39" name="Image 8" descr="m_AP1-8/kd747db92e7.png">    </p:cNvPr>
          <p:cNvPicPr>
            <a:picLocks noChangeAspect="1"/>
          </p:cNvPicPr>
          <p:nvPr/>
        </p:nvPicPr>
        <p:blipFill>
          <a:blip r:embed="rId9"/>
          <a:stretch>
            <a:fillRect/>
          </a:stretch>
        </p:blipFill>
        <p:spPr>
          <a:xfrm>
            <a:off x="5358201" y="5353190"/>
            <a:ext cx="1856598" cy="342351"/>
          </a:xfrm>
          <a:prstGeom prst="rect">
            <a:avLst/>
          </a:prstGeom>
        </p:spPr>
      </p:pic>
      <p:sp>
        <p:nvSpPr>
          <p:cNvPr id="40" name="Shape 28"/>
          <p:cNvSpPr/>
          <p:nvPr/>
        </p:nvSpPr>
        <p:spPr>
          <a:xfrm>
            <a:off x="8183880" y="3108960"/>
            <a:ext cx="3520440" cy="3154680"/>
          </a:xfrm>
          <a:prstGeom prst="roundRect">
            <a:avLst>
              <a:gd name="adj" fmla="val 347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1" name="Text 29"/>
          <p:cNvSpPr txBox="1"/>
          <p:nvPr/>
        </p:nvSpPr>
        <p:spPr>
          <a:xfrm>
            <a:off x="8412480" y="3200400"/>
            <a:ext cx="27432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EXAMPLE B</a:t>
            </a:r>
            <a:endParaRPr lang="en-US" sz="1100" dirty="0"/>
          </a:p>
        </p:txBody>
      </p:sp>
      <p:pic>
        <p:nvPicPr>
          <p:cNvPr id="42" name="Image 9" descr="m_AP1-8/k871b20c7cb.png">    </p:cNvPr>
          <p:cNvPicPr>
            <a:picLocks noChangeAspect="1"/>
          </p:cNvPicPr>
          <p:nvPr/>
        </p:nvPicPr>
        <p:blipFill>
          <a:blip r:embed="rId10"/>
          <a:stretch>
            <a:fillRect/>
          </a:stretch>
        </p:blipFill>
        <p:spPr>
          <a:xfrm>
            <a:off x="8748175" y="3566160"/>
            <a:ext cx="2391851" cy="750046"/>
          </a:xfrm>
          <a:prstGeom prst="rect">
            <a:avLst/>
          </a:prstGeom>
        </p:spPr>
      </p:pic>
      <p:pic>
        <p:nvPicPr>
          <p:cNvPr id="43" name="Image 10" descr="m_AP1-8/kc425cb6a54.png">    </p:cNvPr>
          <p:cNvPicPr>
            <a:picLocks noChangeAspect="1"/>
          </p:cNvPicPr>
          <p:nvPr/>
        </p:nvPicPr>
        <p:blipFill>
          <a:blip r:embed="rId11"/>
          <a:stretch>
            <a:fillRect/>
          </a:stretch>
        </p:blipFill>
        <p:spPr>
          <a:xfrm>
            <a:off x="8467710" y="4471654"/>
            <a:ext cx="2952780" cy="641909"/>
          </a:xfrm>
          <a:prstGeom prst="rect">
            <a:avLst/>
          </a:prstGeom>
        </p:spPr>
      </p:pic>
      <p:pic>
        <p:nvPicPr>
          <p:cNvPr id="44" name="Image 11" descr="m_AP1-8/kd02ba5d586.png">    </p:cNvPr>
          <p:cNvPicPr>
            <a:picLocks noChangeAspect="1"/>
          </p:cNvPicPr>
          <p:nvPr/>
        </p:nvPicPr>
        <p:blipFill>
          <a:blip r:embed="rId12"/>
          <a:stretch>
            <a:fillRect/>
          </a:stretch>
        </p:blipFill>
        <p:spPr>
          <a:xfrm>
            <a:off x="8974653" y="5269011"/>
            <a:ext cx="1938894" cy="302849"/>
          </a:xfrm>
          <a:prstGeom prst="rect">
            <a:avLst/>
          </a:prstGeom>
        </p:spPr>
      </p:pic>
      <p:pic>
        <p:nvPicPr>
          <p:cNvPr id="45" name="Image 12" descr="m_AP1-8/kb0ba42638e.png">    </p:cNvPr>
          <p:cNvPicPr>
            <a:picLocks noChangeAspect="1"/>
          </p:cNvPicPr>
          <p:nvPr/>
        </p:nvPicPr>
        <p:blipFill>
          <a:blip r:embed="rId13"/>
          <a:stretch>
            <a:fillRect/>
          </a:stretch>
        </p:blipFill>
        <p:spPr>
          <a:xfrm>
            <a:off x="9070116" y="5727308"/>
            <a:ext cx="1747967" cy="34235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1.8.A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8</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329184" cy="0"/>
          </a:xfrm>
          <a:prstGeom prst="line">
            <a:avLst/>
          </a:prstGeom>
          <a:noFill/>
          <a:ln w="25400">
            <a:solidFill>
              <a:srgbClr val="17A199"/>
            </a:solidFill>
            <a:prstDash val="dash"/>
          </a:ln>
        </p:spPr>
      </p:sp>
      <p:sp>
        <p:nvSpPr>
          <p:cNvPr id="15" name="stn3"/>
          <p:cNvSpPr/>
          <p:nvPr/>
        </p:nvSpPr>
        <p:spPr>
          <a:xfrm>
            <a:off x="5358384" y="228600"/>
            <a:ext cx="457200" cy="457200"/>
          </a:xfrm>
          <a:prstGeom prst="ellipse">
            <a:avLst/>
          </a:prstGeom>
          <a:solidFill>
            <a:srgbClr val="E8762C"/>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path3"/>
          <p:cNvSpPr/>
          <p:nvPr/>
        </p:nvSpPr>
        <p:spPr>
          <a:xfrm>
            <a:off x="5833872" y="457200"/>
            <a:ext cx="32918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3  ·  PRACTICE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Give it a go: Practice, Apply, Investigate</a:t>
            </a:r>
            <a:endParaRPr lang="en-US" sz="3000" dirty="0"/>
          </a:p>
        </p:txBody>
      </p:sp>
      <p:sp>
        <p:nvSpPr>
          <p:cNvPr id="29" name="Shape 24"/>
          <p:cNvSpPr/>
          <p:nvPr/>
        </p:nvSpPr>
        <p:spPr>
          <a:xfrm>
            <a:off x="457200" y="1828800"/>
            <a:ext cx="3611880" cy="777240"/>
          </a:xfrm>
          <a:prstGeom prst="roundRect">
            <a:avLst>
              <a:gd name="adj" fmla="val 14118"/>
            </a:avLst>
          </a:prstGeom>
          <a:solidFill>
            <a:srgbClr val="17A199"/>
          </a:solidFill>
          <a:ln w="12700">
            <a:solidFill>
              <a:srgbClr val="FFFFFF"/>
            </a:solidFill>
            <a:prstDash val="solid"/>
          </a:ln>
        </p:spPr>
      </p:sp>
      <p:sp>
        <p:nvSpPr>
          <p:cNvPr id="30" name="Text 25"/>
          <p:cNvSpPr txBox="1"/>
          <p:nvPr/>
        </p:nvSpPr>
        <p:spPr>
          <a:xfrm>
            <a:off x="68580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PRACTICE</a:t>
            </a:r>
            <a:endParaRPr lang="en-US" sz="2000" dirty="0"/>
          </a:p>
        </p:txBody>
      </p:sp>
      <p:sp>
        <p:nvSpPr>
          <p:cNvPr id="31" name="Text 26"/>
          <p:cNvSpPr txBox="1"/>
          <p:nvPr/>
        </p:nvSpPr>
        <p:spPr>
          <a:xfrm>
            <a:off x="68580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Secure the method</a:t>
            </a:r>
            <a:endParaRPr lang="en-US" sz="1300" dirty="0"/>
          </a:p>
        </p:txBody>
      </p:sp>
      <p:sp>
        <p:nvSpPr>
          <p:cNvPr id="32" name="Shape 27"/>
          <p:cNvSpPr/>
          <p:nvPr/>
        </p:nvSpPr>
        <p:spPr>
          <a:xfrm>
            <a:off x="45720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3" name="Image 2" descr="m_AP1-8/k219ece443f.png">    </p:cNvPr>
          <p:cNvPicPr>
            <a:picLocks noChangeAspect="1"/>
          </p:cNvPicPr>
          <p:nvPr/>
        </p:nvPicPr>
        <p:blipFill>
          <a:blip r:embed="rId3"/>
          <a:stretch>
            <a:fillRect/>
          </a:stretch>
        </p:blipFill>
        <p:spPr>
          <a:xfrm>
            <a:off x="1233526" y="2926080"/>
            <a:ext cx="2059229" cy="757123"/>
          </a:xfrm>
          <a:prstGeom prst="rect">
            <a:avLst/>
          </a:prstGeom>
        </p:spPr>
      </p:pic>
      <p:sp>
        <p:nvSpPr>
          <p:cNvPr id="34" name="Text 28"/>
          <p:cNvSpPr txBox="1"/>
          <p:nvPr/>
        </p:nvSpPr>
        <p:spPr>
          <a:xfrm>
            <a:off x="68580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you factor both parts, state every real zero, and say what happens at the other zero of the numerator.</a:t>
            </a:r>
            <a:endParaRPr lang="en-US" sz="1150" dirty="0"/>
          </a:p>
        </p:txBody>
      </p:sp>
      <p:sp>
        <p:nvSpPr>
          <p:cNvPr id="35" name="Shape 29"/>
          <p:cNvSpPr/>
          <p:nvPr/>
        </p:nvSpPr>
        <p:spPr>
          <a:xfrm>
            <a:off x="4251960" y="1828800"/>
            <a:ext cx="3611880" cy="777240"/>
          </a:xfrm>
          <a:prstGeom prst="roundRect">
            <a:avLst>
              <a:gd name="adj" fmla="val 14118"/>
            </a:avLst>
          </a:prstGeom>
          <a:solidFill>
            <a:srgbClr val="E8762C"/>
          </a:solidFill>
          <a:ln w="12700">
            <a:solidFill>
              <a:srgbClr val="FFFFFF"/>
            </a:solidFill>
            <a:prstDash val="solid"/>
          </a:ln>
        </p:spPr>
      </p:sp>
      <p:sp>
        <p:nvSpPr>
          <p:cNvPr id="36" name="Text 30"/>
          <p:cNvSpPr txBox="1"/>
          <p:nvPr/>
        </p:nvSpPr>
        <p:spPr>
          <a:xfrm>
            <a:off x="448056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APPLY</a:t>
            </a:r>
            <a:endParaRPr lang="en-US" sz="2000" dirty="0"/>
          </a:p>
        </p:txBody>
      </p:sp>
      <p:sp>
        <p:nvSpPr>
          <p:cNvPr id="37" name="Text 31"/>
          <p:cNvSpPr txBox="1"/>
          <p:nvPr/>
        </p:nvSpPr>
        <p:spPr>
          <a:xfrm>
            <a:off x="448056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Use it in context</a:t>
            </a:r>
            <a:endParaRPr lang="en-US" sz="1300" dirty="0"/>
          </a:p>
        </p:txBody>
      </p:sp>
      <p:sp>
        <p:nvSpPr>
          <p:cNvPr id="38" name="Shape 32"/>
          <p:cNvSpPr/>
          <p:nvPr/>
        </p:nvSpPr>
        <p:spPr>
          <a:xfrm>
            <a:off x="425196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39" name="Image 3" descr="m_AP1-8/k7402a29c3d.png">    </p:cNvPr>
          <p:cNvPicPr>
            <a:picLocks noChangeAspect="1"/>
          </p:cNvPicPr>
          <p:nvPr/>
        </p:nvPicPr>
        <p:blipFill>
          <a:blip r:embed="rId4"/>
          <a:stretch>
            <a:fillRect/>
          </a:stretch>
        </p:blipFill>
        <p:spPr>
          <a:xfrm>
            <a:off x="4624121" y="2926080"/>
            <a:ext cx="2867558" cy="709574"/>
          </a:xfrm>
          <a:prstGeom prst="rect">
            <a:avLst/>
          </a:prstGeom>
        </p:spPr>
      </p:pic>
      <p:sp>
        <p:nvSpPr>
          <p:cNvPr id="40" name="Text 33"/>
          <p:cNvSpPr txBox="1"/>
          <p:nvPr/>
        </p:nvSpPr>
        <p:spPr>
          <a:xfrm>
            <a:off x="448056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you find when h is zero and state the sign of h before that time using a test value.</a:t>
            </a:r>
            <a:endParaRPr lang="en-US" sz="1150" dirty="0"/>
          </a:p>
        </p:txBody>
      </p:sp>
      <p:sp>
        <p:nvSpPr>
          <p:cNvPr id="41" name="Shape 34"/>
          <p:cNvSpPr/>
          <p:nvPr/>
        </p:nvSpPr>
        <p:spPr>
          <a:xfrm>
            <a:off x="8046720" y="1828800"/>
            <a:ext cx="3611880" cy="777240"/>
          </a:xfrm>
          <a:prstGeom prst="roundRect">
            <a:avLst>
              <a:gd name="adj" fmla="val 14118"/>
            </a:avLst>
          </a:prstGeom>
          <a:solidFill>
            <a:srgbClr val="1F3864"/>
          </a:solidFill>
          <a:ln w="12700">
            <a:solidFill>
              <a:srgbClr val="FFFFFF"/>
            </a:solidFill>
            <a:prstDash val="solid"/>
          </a:ln>
        </p:spPr>
      </p:sp>
      <p:sp>
        <p:nvSpPr>
          <p:cNvPr id="42" name="Text 35"/>
          <p:cNvSpPr txBox="1"/>
          <p:nvPr/>
        </p:nvSpPr>
        <p:spPr>
          <a:xfrm>
            <a:off x="8275320" y="1892808"/>
            <a:ext cx="32004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INVESTIGATE</a:t>
            </a:r>
            <a:endParaRPr lang="en-US" sz="2000" dirty="0"/>
          </a:p>
        </p:txBody>
      </p:sp>
      <p:sp>
        <p:nvSpPr>
          <p:cNvPr id="43" name="Text 36"/>
          <p:cNvSpPr txBox="1"/>
          <p:nvPr/>
        </p:nvSpPr>
        <p:spPr>
          <a:xfrm>
            <a:off x="8275320" y="2240280"/>
            <a:ext cx="3200400" cy="274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Find out why</a:t>
            </a:r>
            <a:endParaRPr lang="en-US" sz="1300" dirty="0"/>
          </a:p>
        </p:txBody>
      </p:sp>
      <p:sp>
        <p:nvSpPr>
          <p:cNvPr id="44" name="Shape 37"/>
          <p:cNvSpPr/>
          <p:nvPr/>
        </p:nvSpPr>
        <p:spPr>
          <a:xfrm>
            <a:off x="8046720" y="2697480"/>
            <a:ext cx="3611880" cy="3611880"/>
          </a:xfrm>
          <a:prstGeom prst="roundRect">
            <a:avLst>
              <a:gd name="adj" fmla="val 3038"/>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pic>
        <p:nvPicPr>
          <p:cNvPr id="45" name="Image 4" descr="m_AP1-8/k581bc22ad0.png">    </p:cNvPr>
          <p:cNvPicPr>
            <a:picLocks noChangeAspect="1"/>
          </p:cNvPicPr>
          <p:nvPr/>
        </p:nvPicPr>
        <p:blipFill>
          <a:blip r:embed="rId5"/>
          <a:stretch>
            <a:fillRect/>
          </a:stretch>
        </p:blipFill>
        <p:spPr>
          <a:xfrm>
            <a:off x="8161020" y="2926080"/>
            <a:ext cx="3383280" cy="997759"/>
          </a:xfrm>
          <a:prstGeom prst="rect">
            <a:avLst/>
          </a:prstGeom>
        </p:spPr>
      </p:pic>
      <p:sp>
        <p:nvSpPr>
          <p:cNvPr id="46" name="Text 38"/>
          <p:cNvSpPr txBox="1"/>
          <p:nvPr/>
        </p:nvSpPr>
        <p:spPr>
          <a:xfrm>
            <a:off x="8275320" y="5212080"/>
            <a:ext cx="3200400" cy="1005840"/>
          </a:xfrm>
          <a:prstGeom prst="rect">
            <a:avLst/>
          </a:prstGeom>
          <a:noFill/>
          <a:ln/>
        </p:spPr>
        <p:txBody>
          <a:bodyPr wrap="square" lIns="0" tIns="0" rIns="0" bIns="0" rtlCol="0" anchor="b"/>
          <a:lstStyle/>
          <a:p>
            <a:pPr indent="0" marL="0">
              <a:buNone/>
            </a:pPr>
            <a:r>
              <a:rPr lang="en-US" sz="1150" dirty="0">
                <a:solidFill>
                  <a:srgbClr val="3F4B49"/>
                </a:solidFill>
                <a:latin typeface="Calibri" pitchFamily="34" charset="0"/>
                <a:ea typeface="Calibri" pitchFamily="34" charset="-122"/>
                <a:cs typeface="Calibri" pitchFamily="34" charset="-120"/>
              </a:rPr>
              <a:t>Done when: your explanation names the domain, gives the actual zero, and gives the coordinates of the hole.</a:t>
            </a:r>
            <a:endParaRPr lang="en-US" sz="11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1.8.A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9</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329184" cy="0"/>
          </a:xfrm>
          <a:prstGeom prst="line">
            <a:avLst/>
          </a:prstGeom>
          <a:noFill/>
          <a:ln w="25400">
            <a:solidFill>
              <a:srgbClr val="17A199"/>
            </a:solidFill>
            <a:prstDash val="dash"/>
          </a:ln>
        </p:spPr>
      </p:sp>
      <p:sp>
        <p:nvSpPr>
          <p:cNvPr id="18" name="stn4"/>
          <p:cNvSpPr/>
          <p:nvPr/>
        </p:nvSpPr>
        <p:spPr>
          <a:xfrm>
            <a:off x="6071616" y="228600"/>
            <a:ext cx="457200" cy="457200"/>
          </a:xfrm>
          <a:prstGeom prst="ellipse">
            <a:avLst/>
          </a:prstGeom>
          <a:solidFill>
            <a:srgbClr val="E8762C"/>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0" name="path4"/>
          <p:cNvSpPr/>
          <p:nvPr/>
        </p:nvSpPr>
        <p:spPr>
          <a:xfrm>
            <a:off x="6547104" y="457200"/>
            <a:ext cx="32918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42062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4  ·  PRODUCTION  ·  12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2600" b="1" dirty="0">
                <a:solidFill>
                  <a:srgbClr val="1F3864"/>
                </a:solidFill>
                <a:latin typeface="Cambria" pitchFamily="34" charset="0"/>
                <a:ea typeface="Cambria" pitchFamily="34" charset="-122"/>
                <a:cs typeface="Cambria" pitchFamily="34" charset="-120"/>
              </a:rPr>
              <a:t>Production: break-even at a tile studio in Lisbon</a:t>
            </a:r>
            <a:endParaRPr lang="en-US" sz="2600" dirty="0"/>
          </a:p>
        </p:txBody>
      </p:sp>
      <p:sp>
        <p:nvSpPr>
          <p:cNvPr id="29" name="Shape 24"/>
          <p:cNvSpPr/>
          <p:nvPr/>
        </p:nvSpPr>
        <p:spPr>
          <a:xfrm>
            <a:off x="457200" y="1828800"/>
            <a:ext cx="585216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Text 25"/>
          <p:cNvSpPr txBox="1"/>
          <p:nvPr/>
        </p:nvSpPr>
        <p:spPr>
          <a:xfrm>
            <a:off x="73152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THE MODEL</a:t>
            </a:r>
            <a:endParaRPr lang="en-US" sz="1100" dirty="0"/>
          </a:p>
        </p:txBody>
      </p:sp>
      <p:sp>
        <p:nvSpPr>
          <p:cNvPr id="31" name="Text 26"/>
          <p:cNvSpPr txBox="1"/>
          <p:nvPr/>
        </p:nvSpPr>
        <p:spPr>
          <a:xfrm>
            <a:off x="731520" y="2194560"/>
            <a:ext cx="5303520" cy="1280160"/>
          </a:xfrm>
          <a:prstGeom prst="rect">
            <a:avLst/>
          </a:prstGeom>
          <a:noFill/>
          <a:ln/>
        </p:spPr>
        <p:txBody>
          <a:bodyPr wrap="square" lIns="0" tIns="0" rIns="0" bIns="0" rtlCol="0" anchor="t"/>
          <a:lstStyle/>
          <a:p>
            <a:pPr indent="0" marL="0">
              <a:buNone/>
            </a:pPr>
            <a:r>
              <a:rPr lang="en-US" sz="1400" dirty="0">
                <a:solidFill>
                  <a:srgbClr val="222E2D"/>
                </a:solidFill>
                <a:latin typeface="Calibri" pitchFamily="34" charset="0"/>
                <a:ea typeface="Calibri" pitchFamily="34" charset="-122"/>
                <a:cs typeface="Calibri" pitchFamily="34" charset="-120"/>
              </a:rPr>
              <a:t>A tile studio in Lisbon sells hand-painted tile sets. The model gives the average profit per set, in euros, when x sets are sold in a week, after the studio's weekly fixed costs are spread over the sets. All numbers are model values for practice, not real accounts.</a:t>
            </a:r>
            <a:endParaRPr lang="en-US" sz="1400" dirty="0"/>
          </a:p>
        </p:txBody>
      </p:sp>
      <p:pic>
        <p:nvPicPr>
          <p:cNvPr id="32" name="Image 2" descr="m_AP1-8/kb35e730cbe.png">    </p:cNvPr>
          <p:cNvPicPr>
            <a:picLocks noChangeAspect="1"/>
          </p:cNvPicPr>
          <p:nvPr/>
        </p:nvPicPr>
        <p:blipFill>
          <a:blip r:embed="rId3"/>
          <a:stretch>
            <a:fillRect/>
          </a:stretch>
        </p:blipFill>
        <p:spPr>
          <a:xfrm>
            <a:off x="2432304" y="3566160"/>
            <a:ext cx="1901952" cy="593994"/>
          </a:xfrm>
          <a:prstGeom prst="rect">
            <a:avLst/>
          </a:prstGeom>
        </p:spPr>
      </p:pic>
      <p:pic>
        <p:nvPicPr>
          <p:cNvPr id="33" name="Image 3" descr="m_AP1-8/k51af22c66a.png">    </p:cNvPr>
          <p:cNvPicPr>
            <a:picLocks noChangeAspect="1"/>
          </p:cNvPicPr>
          <p:nvPr/>
        </p:nvPicPr>
        <p:blipFill>
          <a:blip r:embed="rId4"/>
          <a:stretch>
            <a:fillRect/>
          </a:stretch>
        </p:blipFill>
        <p:spPr>
          <a:xfrm>
            <a:off x="3062874" y="4269882"/>
            <a:ext cx="640812" cy="251643"/>
          </a:xfrm>
          <a:prstGeom prst="rect">
            <a:avLst/>
          </a:prstGeom>
        </p:spPr>
      </p:pic>
      <p:sp>
        <p:nvSpPr>
          <p:cNvPr id="34" name="Text 27"/>
          <p:cNvSpPr txBox="1"/>
          <p:nvPr/>
        </p:nvSpPr>
        <p:spPr>
          <a:xfrm>
            <a:off x="731520" y="4768413"/>
            <a:ext cx="5303520" cy="1449507"/>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Find the zero of A and say what it means for the studio.</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Use a sign chart to state when the average profit per set is negative and when it is positive.</a:t>
            </a:r>
            <a:endParaRPr lang="en-US" sz="1300" dirty="0"/>
          </a:p>
          <a:p>
            <a:pPr marL="342900" indent="-342900">
              <a:spcAft>
                <a:spcPts val="400"/>
              </a:spcAft>
              <a:buSzPct val="100000"/>
              <a:buFont typeface="+mj-lt"/>
              <a:buAutoNum type="arabicPeriod" startAt="1"/>
            </a:pPr>
            <a:r>
              <a:rPr lang="en-US" sz="1300" dirty="0">
                <a:solidFill>
                  <a:srgbClr val="222E2D"/>
                </a:solidFill>
                <a:latin typeface="Calibri" pitchFamily="34" charset="0"/>
                <a:ea typeface="Calibri" pitchFamily="34" charset="-122"/>
                <a:cs typeface="Calibri" pitchFamily="34" charset="-120"/>
              </a:rPr>
              <a:t>Find how many sets give an average profit of exactly 4 euros per set.</a:t>
            </a:r>
            <a:endParaRPr lang="en-US" sz="1300" dirty="0"/>
          </a:p>
        </p:txBody>
      </p:sp>
      <p:sp>
        <p:nvSpPr>
          <p:cNvPr id="35" name="Shape 28"/>
          <p:cNvSpPr/>
          <p:nvPr/>
        </p:nvSpPr>
        <p:spPr>
          <a:xfrm>
            <a:off x="6492240" y="1828800"/>
            <a:ext cx="521208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6" name="Text 29"/>
          <p:cNvSpPr txBox="1"/>
          <p:nvPr/>
        </p:nvSpPr>
        <p:spPr>
          <a:xfrm>
            <a:off x="6766560" y="1920240"/>
            <a:ext cx="3657600" cy="228600"/>
          </a:xfrm>
          <a:prstGeom prst="rect">
            <a:avLst/>
          </a:prstGeom>
          <a:noFill/>
          <a:ln/>
        </p:spPr>
        <p:txBody>
          <a:bodyPr wrap="square" lIns="0" tIns="0" rIns="0" bIns="0" rtlCol="0" anchor="t"/>
          <a:lstStyle/>
          <a:p>
            <a:pPr indent="0" marL="0">
              <a:buNone/>
            </a:pPr>
            <a:r>
              <a:rPr lang="en-US" sz="1100" b="1" spc="200" kern="0" dirty="0">
                <a:solidFill>
                  <a:srgbClr val="E8762C"/>
                </a:solidFill>
                <a:latin typeface="Calibri" pitchFamily="34" charset="0"/>
                <a:ea typeface="Calibri" pitchFamily="34" charset="-122"/>
                <a:cs typeface="Calibri" pitchFamily="34" charset="-120"/>
              </a:rPr>
              <a:t>DONE WHEN</a:t>
            </a:r>
            <a:endParaRPr lang="en-US" sz="1100" dirty="0"/>
          </a:p>
        </p:txBody>
      </p:sp>
      <p:sp>
        <p:nvSpPr>
          <p:cNvPr id="37" name="Text 30"/>
          <p:cNvSpPr txBox="1"/>
          <p:nvPr/>
        </p:nvSpPr>
        <p:spPr>
          <a:xfrm>
            <a:off x="6766560" y="2286000"/>
            <a:ext cx="4663440" cy="2926080"/>
          </a:xfrm>
          <a:prstGeom prst="rect">
            <a:avLst/>
          </a:prstGeom>
          <a:noFill/>
          <a:ln/>
        </p:spPr>
        <p:txBody>
          <a:bodyPr wrap="square" lIns="0" tIns="0" rIns="0" bIns="0" rtlCol="0" anchor="t"/>
          <a:lstStyle/>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The zero is found from the numerator and checked against the domain.</a:t>
            </a:r>
            <a:endParaRPr lang="en-US" sz="1550" dirty="0"/>
          </a:p>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The sign chart shows a test value for each interval.</a:t>
            </a:r>
            <a:endParaRPr lang="en-US" sz="1550" dirty="0"/>
          </a:p>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Both the negative and positive intervals are written as inequalities.</a:t>
            </a:r>
            <a:endParaRPr lang="en-US" sz="1550" dirty="0"/>
          </a:p>
          <a:p>
            <a:pPr marL="342900" indent="-342900">
              <a:spcAft>
                <a:spcPts val="900"/>
              </a:spcAft>
              <a:buSzPct val="100000"/>
              <a:buChar char="•"/>
            </a:pPr>
            <a:r>
              <a:rPr lang="en-US" sz="1550" dirty="0">
                <a:solidFill>
                  <a:srgbClr val="FFFFFF"/>
                </a:solidFill>
                <a:latin typeface="Calibri" pitchFamily="34" charset="0"/>
                <a:ea typeface="Calibri" pitchFamily="34" charset="-122"/>
                <a:cs typeface="Calibri" pitchFamily="34" charset="-120"/>
              </a:rPr>
              <a:t>The equation for 4 euros is solved and the answer checked in A.</a:t>
            </a:r>
            <a:endParaRPr lang="en-US" sz="1550" dirty="0"/>
          </a:p>
        </p:txBody>
      </p:sp>
      <p:sp>
        <p:nvSpPr>
          <p:cNvPr id="38" name="Text 31"/>
          <p:cNvSpPr txBox="1"/>
          <p:nvPr/>
        </p:nvSpPr>
        <p:spPr>
          <a:xfrm>
            <a:off x="6766560" y="5303520"/>
            <a:ext cx="4663440" cy="822960"/>
          </a:xfrm>
          <a:prstGeom prst="rect">
            <a:avLst/>
          </a:prstGeom>
          <a:noFill/>
          <a:ln/>
        </p:spPr>
        <p:txBody>
          <a:bodyPr wrap="square" lIns="0" tIns="0" rIns="0" bIns="0" rtlCol="0" anchor="t"/>
          <a:lstStyle/>
          <a:p>
            <a:pPr indent="0" marL="0">
              <a:buNone/>
            </a:pPr>
            <a:r>
              <a:rPr lang="en-US" sz="1250" i="1" dirty="0">
                <a:solidFill>
                  <a:srgbClr val="F0B323"/>
                </a:solidFill>
                <a:latin typeface="Calibri" pitchFamily="34" charset="0"/>
                <a:ea typeface="Calibri" pitchFamily="34" charset="-122"/>
                <a:cs typeface="Calibri" pitchFamily="34" charset="-120"/>
              </a:rPr>
              <a:t>Hint: the denominator is positive for every x in the domain, so the sign of A comes from the numerator alone.</a:t>
            </a:r>
            <a:endParaRPr lang="en-US" sz="125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1.8.A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10</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329184" cy="0"/>
          </a:xfrm>
          <a:prstGeom prst="line">
            <a:avLst/>
          </a:prstGeom>
          <a:noFill/>
          <a:ln w="25400">
            <a:solidFill>
              <a:srgbClr val="17A199"/>
            </a:solidFill>
            <a:prstDash val="dash"/>
          </a:ln>
        </p:spPr>
      </p:sp>
      <p:sp>
        <p:nvSpPr>
          <p:cNvPr id="21" name="stn5"/>
          <p:cNvSpPr/>
          <p:nvPr/>
        </p:nvSpPr>
        <p:spPr>
          <a:xfrm>
            <a:off x="6784848" y="228600"/>
            <a:ext cx="457200" cy="457200"/>
          </a:xfrm>
          <a:prstGeom prst="ellipse">
            <a:avLst/>
          </a:prstGeom>
          <a:solidFill>
            <a:srgbClr val="E8762C"/>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path5"/>
          <p:cNvSpPr/>
          <p:nvPr/>
        </p:nvSpPr>
        <p:spPr>
          <a:xfrm>
            <a:off x="7260336" y="457200"/>
            <a:ext cx="329184" cy="0"/>
          </a:xfrm>
          <a:prstGeom prst="line">
            <a:avLst/>
          </a:prstGeom>
          <a:noFill/>
          <a:ln w="25400">
            <a:solidFill>
              <a:srgbClr val="17A199"/>
            </a:solidFill>
            <a:prstDash val="dash"/>
          </a:ln>
        </p:spPr>
      </p:sp>
      <p:sp>
        <p:nvSpPr>
          <p:cNvPr id="24" name="stn6"/>
          <p:cNvSpPr/>
          <p:nvPr/>
        </p:nvSpPr>
        <p:spPr>
          <a:xfrm>
            <a:off x="7589520" y="320040"/>
            <a:ext cx="274320" cy="274320"/>
          </a:xfrm>
          <a:prstGeom prst="ellipse">
            <a:avLst/>
          </a:prstGeom>
          <a:solidFill>
            <a:srgbClr val="17A199"/>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5  ·  MASTERY GATE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Mastery Gate: three questions to pass</a:t>
            </a:r>
            <a:endParaRPr lang="en-US" sz="3000" dirty="0"/>
          </a:p>
        </p:txBody>
      </p:sp>
      <p:sp>
        <p:nvSpPr>
          <p:cNvPr id="29" name="Shape 24"/>
          <p:cNvSpPr/>
          <p:nvPr/>
        </p:nvSpPr>
        <p:spPr>
          <a:xfrm>
            <a:off x="45720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640080" y="2057400"/>
            <a:ext cx="502920" cy="502920"/>
          </a:xfrm>
          <a:prstGeom prst="ellipse">
            <a:avLst/>
          </a:prstGeom>
          <a:solidFill>
            <a:srgbClr val="E8762C"/>
          </a:solidFill>
          <a:ln w="12700">
            <a:solidFill>
              <a:srgbClr val="FFFFFF"/>
            </a:solidFill>
            <a:prstDash val="solid"/>
          </a:ln>
        </p:spPr>
      </p:sp>
      <p:sp>
        <p:nvSpPr>
          <p:cNvPr id="31" name="Text 26"/>
          <p:cNvSpPr txBox="1"/>
          <p:nvPr/>
        </p:nvSpPr>
        <p:spPr>
          <a:xfrm>
            <a:off x="64008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pic>
        <p:nvPicPr>
          <p:cNvPr id="32" name="Image 2" descr="m_AP1-8/k5b263e5b20.png">    </p:cNvPr>
          <p:cNvPicPr>
            <a:picLocks noChangeAspect="1"/>
          </p:cNvPicPr>
          <p:nvPr/>
        </p:nvPicPr>
        <p:blipFill>
          <a:blip r:embed="rId3"/>
          <a:stretch>
            <a:fillRect/>
          </a:stretch>
        </p:blipFill>
        <p:spPr>
          <a:xfrm>
            <a:off x="685800" y="2743200"/>
            <a:ext cx="3200400" cy="653981"/>
          </a:xfrm>
          <a:prstGeom prst="rect">
            <a:avLst/>
          </a:prstGeom>
        </p:spPr>
      </p:pic>
      <p:sp>
        <p:nvSpPr>
          <p:cNvPr id="33" name="Shape 27"/>
          <p:cNvSpPr/>
          <p:nvPr/>
        </p:nvSpPr>
        <p:spPr>
          <a:xfrm>
            <a:off x="420624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4" name="Shape 28"/>
          <p:cNvSpPr/>
          <p:nvPr/>
        </p:nvSpPr>
        <p:spPr>
          <a:xfrm>
            <a:off x="4389120" y="2057400"/>
            <a:ext cx="502920" cy="502920"/>
          </a:xfrm>
          <a:prstGeom prst="ellipse">
            <a:avLst/>
          </a:prstGeom>
          <a:solidFill>
            <a:srgbClr val="E8762C"/>
          </a:solidFill>
          <a:ln w="12700">
            <a:solidFill>
              <a:srgbClr val="FFFFFF"/>
            </a:solidFill>
            <a:prstDash val="solid"/>
          </a:ln>
        </p:spPr>
      </p:sp>
      <p:sp>
        <p:nvSpPr>
          <p:cNvPr id="35" name="Text 29"/>
          <p:cNvSpPr txBox="1"/>
          <p:nvPr/>
        </p:nvSpPr>
        <p:spPr>
          <a:xfrm>
            <a:off x="438912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pic>
        <p:nvPicPr>
          <p:cNvPr id="36" name="Image 3" descr="m_AP1-8/k82cba65fa1.png">    </p:cNvPr>
          <p:cNvPicPr>
            <a:picLocks noChangeAspect="1"/>
          </p:cNvPicPr>
          <p:nvPr/>
        </p:nvPicPr>
        <p:blipFill>
          <a:blip r:embed="rId4"/>
          <a:stretch>
            <a:fillRect/>
          </a:stretch>
        </p:blipFill>
        <p:spPr>
          <a:xfrm>
            <a:off x="4434840" y="2743200"/>
            <a:ext cx="3200400" cy="567860"/>
          </a:xfrm>
          <a:prstGeom prst="rect">
            <a:avLst/>
          </a:prstGeom>
        </p:spPr>
      </p:pic>
      <p:sp>
        <p:nvSpPr>
          <p:cNvPr id="37" name="Shape 30"/>
          <p:cNvSpPr/>
          <p:nvPr/>
        </p:nvSpPr>
        <p:spPr>
          <a:xfrm>
            <a:off x="7955280" y="1920240"/>
            <a:ext cx="3611880" cy="2286000"/>
          </a:xfrm>
          <a:prstGeom prst="roundRect">
            <a:avLst>
              <a:gd name="adj" fmla="val 4800"/>
            </a:avLst>
          </a:prstGeom>
          <a:solidFill>
            <a:srgbClr val="FFFFFF"/>
          </a:solidFill>
          <a:ln w="15875">
            <a:solidFill>
              <a:srgbClr val="E8762C"/>
            </a:solidFill>
            <a:prstDash val="solid"/>
          </a:ln>
          <a:effectLst>
            <a:outerShdw sx="100000" sy="100000" kx="0" ky="0" algn="bl" rotWithShape="0" blurRad="101600" dist="25400" dir="5400000">
              <a:srgbClr val="000000">
                <a:alpha val="15000"/>
              </a:srgbClr>
            </a:outerShdw>
          </a:effectLst>
        </p:spPr>
      </p:sp>
      <p:sp>
        <p:nvSpPr>
          <p:cNvPr id="38" name="Shape 31"/>
          <p:cNvSpPr/>
          <p:nvPr/>
        </p:nvSpPr>
        <p:spPr>
          <a:xfrm>
            <a:off x="8138160" y="2057400"/>
            <a:ext cx="502920" cy="502920"/>
          </a:xfrm>
          <a:prstGeom prst="ellipse">
            <a:avLst/>
          </a:prstGeom>
          <a:solidFill>
            <a:srgbClr val="E8762C"/>
          </a:solidFill>
          <a:ln w="12700">
            <a:solidFill>
              <a:srgbClr val="FFFFFF"/>
            </a:solidFill>
            <a:prstDash val="solid"/>
          </a:ln>
        </p:spPr>
      </p:sp>
      <p:sp>
        <p:nvSpPr>
          <p:cNvPr id="39" name="Text 32"/>
          <p:cNvSpPr txBox="1"/>
          <p:nvPr/>
        </p:nvSpPr>
        <p:spPr>
          <a:xfrm>
            <a:off x="8138160" y="20574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pic>
        <p:nvPicPr>
          <p:cNvPr id="40" name="Image 4" descr="m_AP1-8/k09a5982482.png">    </p:cNvPr>
          <p:cNvPicPr>
            <a:picLocks noChangeAspect="1"/>
          </p:cNvPicPr>
          <p:nvPr/>
        </p:nvPicPr>
        <p:blipFill>
          <a:blip r:embed="rId5"/>
          <a:stretch>
            <a:fillRect/>
          </a:stretch>
        </p:blipFill>
        <p:spPr>
          <a:xfrm>
            <a:off x="8759038" y="2743200"/>
            <a:ext cx="2050085" cy="674096"/>
          </a:xfrm>
          <a:prstGeom prst="rect">
            <a:avLst/>
          </a:prstGeom>
        </p:spPr>
      </p:pic>
      <p:sp>
        <p:nvSpPr>
          <p:cNvPr id="41" name="Shape 33"/>
          <p:cNvSpPr/>
          <p:nvPr/>
        </p:nvSpPr>
        <p:spPr>
          <a:xfrm>
            <a:off x="457200" y="4480560"/>
            <a:ext cx="11247120" cy="1554480"/>
          </a:xfrm>
          <a:prstGeom prst="roundRect">
            <a:avLst>
              <a:gd name="adj" fmla="val 7059"/>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42" name="Text 34"/>
          <p:cNvSpPr txBox="1"/>
          <p:nvPr/>
        </p:nvSpPr>
        <p:spPr>
          <a:xfrm>
            <a:off x="777240" y="4617720"/>
            <a:ext cx="3657600" cy="320040"/>
          </a:xfrm>
          <a:prstGeom prst="rect">
            <a:avLst/>
          </a:prstGeom>
          <a:noFill/>
          <a:ln/>
        </p:spPr>
        <p:txBody>
          <a:bodyPr wrap="square" lIns="0" tIns="0" rIns="0" bIns="0" rtlCol="0" anchor="t"/>
          <a:lstStyle/>
          <a:p>
            <a:pPr indent="0" marL="0">
              <a:buNone/>
            </a:pPr>
            <a:r>
              <a:rPr lang="en-US" sz="1400" b="1" dirty="0">
                <a:solidFill>
                  <a:srgbClr val="F0B323"/>
                </a:solidFill>
                <a:latin typeface="Calibri" pitchFamily="34" charset="0"/>
                <a:ea typeface="Calibri" pitchFamily="34" charset="-122"/>
                <a:cs typeface="Calibri" pitchFamily="34" charset="-120"/>
              </a:rPr>
              <a:t>Pass mark</a:t>
            </a:r>
            <a:endParaRPr lang="en-US" sz="1400" dirty="0"/>
          </a:p>
        </p:txBody>
      </p:sp>
      <p:sp>
        <p:nvSpPr>
          <p:cNvPr id="43" name="Text 35"/>
          <p:cNvSpPr txBox="1"/>
          <p:nvPr/>
        </p:nvSpPr>
        <p:spPr>
          <a:xfrm>
            <a:off x="777240" y="4983480"/>
            <a:ext cx="10607040" cy="91440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3 of 3 correct unlocks Station 6. Fewer than that: return to the slide for the question you missed, redo it, then re-take the gate.</a:t>
            </a:r>
            <a:endParaRPr lang="en-US" sz="18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7"/>
        </a:solidFill>
      </p:bgPr>
    </p:bg>
    <p:spTree>
      <p:nvGrpSpPr>
        <p:cNvPr id="1" name=""/>
        <p:cNvGrpSpPr/>
        <p:nvPr/>
      </p:nvGrpSpPr>
      <p:grpSpPr>
        <a:xfrm>
          <a:off x="0" y="0"/>
          <a:ext cx="0" cy="0"/>
          <a:chOff x="0" y="0"/>
          <a:chExt cx="0" cy="0"/>
        </a:xfrm>
      </p:grpSpPr>
      <p:sp>
        <p:nvSpPr>
          <p:cNvPr id="2" name="Shape 0"/>
          <p:cNvSpPr/>
          <p:nvPr/>
        </p:nvSpPr>
        <p:spPr>
          <a:xfrm>
            <a:off x="-1097280" y="4754880"/>
            <a:ext cx="3108960" cy="3108960"/>
          </a:xfrm>
          <a:prstGeom prst="ellipse">
            <a:avLst/>
          </a:prstGeom>
          <a:solidFill>
            <a:srgbClr val="17A199">
              <a:alpha val="12000"/>
            </a:srgbClr>
          </a:solidFill>
          <a:ln w="12700">
            <a:solidFill>
              <a:srgbClr val="17A199">
                <a:alpha val="0"/>
              </a:srgbClr>
            </a:solidFill>
            <a:prstDash val="solid"/>
          </a:ln>
        </p:spPr>
      </p:sp>
      <p:sp>
        <p:nvSpPr>
          <p:cNvPr id="3" name="Shape 1"/>
          <p:cNvSpPr/>
          <p:nvPr/>
        </p:nvSpPr>
        <p:spPr>
          <a:xfrm>
            <a:off x="10241280" y="-1188720"/>
            <a:ext cx="2926080" cy="2926080"/>
          </a:xfrm>
          <a:prstGeom prst="ellipse">
            <a:avLst/>
          </a:prstGeom>
          <a:solidFill>
            <a:srgbClr val="F0B323">
              <a:alpha val="14000"/>
            </a:srgbClr>
          </a:solidFill>
          <a:ln w="12700">
            <a:solidFill>
              <a:srgbClr val="F0B323">
                <a:alpha val="0"/>
              </a:srgbClr>
            </a:solidFill>
            <a:prstDash val="solid"/>
          </a:ln>
        </p:spPr>
      </p:sp>
      <p:pic>
        <p:nvPicPr>
          <p:cNvPr id="4" name="Image 0" descr="../dept_logo.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365760" y="6455664"/>
            <a:ext cx="4754880" cy="310896"/>
          </a:xfrm>
          <a:prstGeom prst="rect">
            <a:avLst/>
          </a:prstGeom>
          <a:noFill/>
          <a:ln/>
        </p:spPr>
        <p:txBody>
          <a:bodyPr wrap="square" lIns="0" tIns="0" rIns="0" bIns="0" rtlCol="0" anchor="t"/>
          <a:lstStyle/>
          <a:p>
            <a:pPr indent="0" marL="0">
              <a:buNone/>
            </a:pPr>
            <a:r>
              <a:rPr lang="en-US" sz="850" dirty="0">
                <a:solidFill>
                  <a:srgbClr val="5A6B69"/>
                </a:solidFill>
                <a:latin typeface="Calibri" pitchFamily="34" charset="0"/>
                <a:ea typeface="Calibri" pitchFamily="34" charset="-122"/>
                <a:cs typeface="Calibri" pitchFamily="34" charset="-120"/>
              </a:rPr>
              <a:t>LO 1.8.A</a:t>
            </a:r>
            <a:endParaRPr lang="en-US" sz="850" dirty="0"/>
          </a:p>
        </p:txBody>
      </p:sp>
      <p:sp>
        <p:nvSpPr>
          <p:cNvPr id="7" name="Text 3"/>
          <p:cNvSpPr txBox="1"/>
          <p:nvPr/>
        </p:nvSpPr>
        <p:spPr>
          <a:xfrm>
            <a:off x="5257800" y="6492240"/>
            <a:ext cx="3291840" cy="228600"/>
          </a:xfrm>
          <a:prstGeom prst="rect">
            <a:avLst/>
          </a:prstGeom>
          <a:noFill/>
          <a:ln/>
        </p:spPr>
        <p:txBody>
          <a:bodyPr wrap="square" lIns="0" tIns="0" rIns="0" bIns="0" rtlCol="0" anchor="t"/>
          <a:lstStyle/>
          <a:p>
            <a:pPr algn="ctr" indent="0" marL="0">
              <a:buNone/>
            </a:pPr>
            <a:r>
              <a:rPr lang="en-US" sz="950" b="1" spc="200" kern="0" dirty="0">
                <a:solidFill>
                  <a:srgbClr val="1F3864"/>
                </a:solidFill>
                <a:latin typeface="Calibri" pitchFamily="34" charset="0"/>
                <a:ea typeface="Calibri" pitchFamily="34" charset="-122"/>
                <a:cs typeface="Calibri" pitchFamily="34" charset="-120"/>
              </a:rPr>
              <a:t>FAITH, RIGHTEOUSNESS AND WISDOM</a:t>
            </a:r>
            <a:endParaRPr lang="en-US" sz="950" dirty="0"/>
          </a:p>
        </p:txBody>
      </p:sp>
      <p:sp>
        <p:nvSpPr>
          <p:cNvPr id="8" name="Text 4"/>
          <p:cNvSpPr txBox="1"/>
          <p:nvPr/>
        </p:nvSpPr>
        <p:spPr>
          <a:xfrm>
            <a:off x="8869680" y="6492240"/>
            <a:ext cx="2971800" cy="228600"/>
          </a:xfrm>
          <a:prstGeom prst="rect">
            <a:avLst/>
          </a:prstGeom>
          <a:noFill/>
          <a:ln/>
        </p:spPr>
        <p:txBody>
          <a:bodyPr wrap="square" lIns="0" tIns="0" rIns="0" bIns="0" rtlCol="0" anchor="t"/>
          <a:lstStyle/>
          <a:p>
            <a:pPr algn="r" indent="0" marL="0">
              <a:buNone/>
            </a:pPr>
            <a:r>
              <a:rPr lang="en-US" sz="1000" dirty="0">
                <a:solidFill>
                  <a:srgbClr val="5A6B69"/>
                </a:solidFill>
                <a:latin typeface="Calibri" pitchFamily="34" charset="0"/>
                <a:ea typeface="Calibri" pitchFamily="34" charset="-122"/>
                <a:cs typeface="Calibri" pitchFamily="34" charset="-120"/>
              </a:rPr>
              <a:t>Mr Malek Thiab  ·  11</a:t>
            </a:r>
            <a:endParaRPr lang="en-US" sz="1000" dirty="0"/>
          </a:p>
        </p:txBody>
      </p:sp>
      <p:sp>
        <p:nvSpPr>
          <p:cNvPr id="9" name="stn1"/>
          <p:cNvSpPr/>
          <p:nvPr/>
        </p:nvSpPr>
        <p:spPr>
          <a:xfrm>
            <a:off x="4023360" y="320040"/>
            <a:ext cx="274320" cy="274320"/>
          </a:xfrm>
          <a:prstGeom prst="ellipse">
            <a:avLst/>
          </a:prstGeom>
          <a:solidFill>
            <a:srgbClr val="17A199"/>
          </a:solidFill>
          <a:ln w="19050">
            <a:solidFill>
              <a:srgbClr val="FFFFFF"/>
            </a:solidFill>
            <a:prstDash val="solid"/>
          </a:ln>
        </p:spPr>
      </p:sp>
      <p:sp>
        <p:nvSpPr>
          <p:cNvPr id="10" name="Text 6"/>
          <p:cNvSpPr txBox="1"/>
          <p:nvPr/>
        </p:nvSpPr>
        <p:spPr>
          <a:xfrm>
            <a:off x="3977640"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1" name="path1"/>
          <p:cNvSpPr/>
          <p:nvPr/>
        </p:nvSpPr>
        <p:spPr>
          <a:xfrm>
            <a:off x="4315968" y="457200"/>
            <a:ext cx="420624" cy="0"/>
          </a:xfrm>
          <a:prstGeom prst="line">
            <a:avLst/>
          </a:prstGeom>
          <a:noFill/>
          <a:ln w="25400">
            <a:solidFill>
              <a:srgbClr val="17A199"/>
            </a:solidFill>
            <a:prstDash val="dash"/>
          </a:ln>
        </p:spPr>
      </p:sp>
      <p:sp>
        <p:nvSpPr>
          <p:cNvPr id="12" name="stn2"/>
          <p:cNvSpPr/>
          <p:nvPr/>
        </p:nvSpPr>
        <p:spPr>
          <a:xfrm>
            <a:off x="4736592" y="320040"/>
            <a:ext cx="274320" cy="274320"/>
          </a:xfrm>
          <a:prstGeom prst="ellipse">
            <a:avLst/>
          </a:prstGeom>
          <a:solidFill>
            <a:srgbClr val="17A199"/>
          </a:solidFill>
          <a:ln w="19050">
            <a:solidFill>
              <a:srgbClr val="FFFFFF"/>
            </a:solidFill>
            <a:prstDash val="solid"/>
          </a:ln>
        </p:spPr>
      </p:sp>
      <p:sp>
        <p:nvSpPr>
          <p:cNvPr id="13" name="Text 9"/>
          <p:cNvSpPr txBox="1"/>
          <p:nvPr/>
        </p:nvSpPr>
        <p:spPr>
          <a:xfrm>
            <a:off x="4690872"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path2"/>
          <p:cNvSpPr/>
          <p:nvPr/>
        </p:nvSpPr>
        <p:spPr>
          <a:xfrm>
            <a:off x="5029200" y="457200"/>
            <a:ext cx="420624" cy="0"/>
          </a:xfrm>
          <a:prstGeom prst="line">
            <a:avLst/>
          </a:prstGeom>
          <a:noFill/>
          <a:ln w="25400">
            <a:solidFill>
              <a:srgbClr val="17A199"/>
            </a:solidFill>
            <a:prstDash val="dash"/>
          </a:ln>
        </p:spPr>
      </p:sp>
      <p:sp>
        <p:nvSpPr>
          <p:cNvPr id="15" name="stn3"/>
          <p:cNvSpPr/>
          <p:nvPr/>
        </p:nvSpPr>
        <p:spPr>
          <a:xfrm>
            <a:off x="5449824" y="320040"/>
            <a:ext cx="274320" cy="274320"/>
          </a:xfrm>
          <a:prstGeom prst="ellipse">
            <a:avLst/>
          </a:prstGeom>
          <a:solidFill>
            <a:srgbClr val="17A199"/>
          </a:solidFill>
          <a:ln w="19050">
            <a:solidFill>
              <a:srgbClr val="FFFFFF"/>
            </a:solidFill>
            <a:prstDash val="solid"/>
          </a:ln>
        </p:spPr>
      </p:sp>
      <p:sp>
        <p:nvSpPr>
          <p:cNvPr id="16" name="Text 12"/>
          <p:cNvSpPr txBox="1"/>
          <p:nvPr/>
        </p:nvSpPr>
        <p:spPr>
          <a:xfrm>
            <a:off x="5404104"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7" name="path3"/>
          <p:cNvSpPr/>
          <p:nvPr/>
        </p:nvSpPr>
        <p:spPr>
          <a:xfrm>
            <a:off x="5742432" y="457200"/>
            <a:ext cx="420624" cy="0"/>
          </a:xfrm>
          <a:prstGeom prst="line">
            <a:avLst/>
          </a:prstGeom>
          <a:noFill/>
          <a:ln w="25400">
            <a:solidFill>
              <a:srgbClr val="17A199"/>
            </a:solidFill>
            <a:prstDash val="dash"/>
          </a:ln>
        </p:spPr>
      </p:sp>
      <p:sp>
        <p:nvSpPr>
          <p:cNvPr id="18" name="stn4"/>
          <p:cNvSpPr/>
          <p:nvPr/>
        </p:nvSpPr>
        <p:spPr>
          <a:xfrm>
            <a:off x="6163056" y="320040"/>
            <a:ext cx="274320" cy="274320"/>
          </a:xfrm>
          <a:prstGeom prst="ellipse">
            <a:avLst/>
          </a:prstGeom>
          <a:solidFill>
            <a:srgbClr val="17A199"/>
          </a:solidFill>
          <a:ln w="19050">
            <a:solidFill>
              <a:srgbClr val="FFFFFF"/>
            </a:solidFill>
            <a:prstDash val="solid"/>
          </a:ln>
        </p:spPr>
      </p:sp>
      <p:sp>
        <p:nvSpPr>
          <p:cNvPr id="19" name="Text 15"/>
          <p:cNvSpPr txBox="1"/>
          <p:nvPr/>
        </p:nvSpPr>
        <p:spPr>
          <a:xfrm>
            <a:off x="6117336"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0" name="path4"/>
          <p:cNvSpPr/>
          <p:nvPr/>
        </p:nvSpPr>
        <p:spPr>
          <a:xfrm>
            <a:off x="6455664" y="457200"/>
            <a:ext cx="420624" cy="0"/>
          </a:xfrm>
          <a:prstGeom prst="line">
            <a:avLst/>
          </a:prstGeom>
          <a:noFill/>
          <a:ln w="25400">
            <a:solidFill>
              <a:srgbClr val="17A199"/>
            </a:solidFill>
            <a:prstDash val="dash"/>
          </a:ln>
        </p:spPr>
      </p:sp>
      <p:sp>
        <p:nvSpPr>
          <p:cNvPr id="21" name="stn5"/>
          <p:cNvSpPr/>
          <p:nvPr/>
        </p:nvSpPr>
        <p:spPr>
          <a:xfrm>
            <a:off x="6876288" y="320040"/>
            <a:ext cx="274320" cy="274320"/>
          </a:xfrm>
          <a:prstGeom prst="ellipse">
            <a:avLst/>
          </a:prstGeom>
          <a:solidFill>
            <a:srgbClr val="17A199"/>
          </a:solidFill>
          <a:ln w="19050">
            <a:solidFill>
              <a:srgbClr val="FFFFFF"/>
            </a:solidFill>
            <a:prstDash val="solid"/>
          </a:ln>
        </p:spPr>
      </p:sp>
      <p:sp>
        <p:nvSpPr>
          <p:cNvPr id="22" name="Text 18"/>
          <p:cNvSpPr txBox="1"/>
          <p:nvPr/>
        </p:nvSpPr>
        <p:spPr>
          <a:xfrm>
            <a:off x="6830568" y="347472"/>
            <a:ext cx="365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path5"/>
          <p:cNvSpPr/>
          <p:nvPr/>
        </p:nvSpPr>
        <p:spPr>
          <a:xfrm>
            <a:off x="7168896" y="457200"/>
            <a:ext cx="329184" cy="0"/>
          </a:xfrm>
          <a:prstGeom prst="line">
            <a:avLst/>
          </a:prstGeom>
          <a:noFill/>
          <a:ln w="25400">
            <a:solidFill>
              <a:srgbClr val="17A199"/>
            </a:solidFill>
            <a:prstDash val="dash"/>
          </a:ln>
        </p:spPr>
      </p:sp>
      <p:sp>
        <p:nvSpPr>
          <p:cNvPr id="24" name="stn6"/>
          <p:cNvSpPr/>
          <p:nvPr/>
        </p:nvSpPr>
        <p:spPr>
          <a:xfrm>
            <a:off x="7498080" y="228600"/>
            <a:ext cx="457200" cy="457200"/>
          </a:xfrm>
          <a:prstGeom prst="ellipse">
            <a:avLst/>
          </a:prstGeom>
          <a:solidFill>
            <a:srgbClr val="E8762C"/>
          </a:solidFill>
          <a:ln w="19050">
            <a:solidFill>
              <a:srgbClr val="FFFFFF"/>
            </a:solidFill>
            <a:prstDash val="solid"/>
          </a:ln>
        </p:spPr>
      </p:sp>
      <p:sp>
        <p:nvSpPr>
          <p:cNvPr id="25" name="Text 21"/>
          <p:cNvSpPr txBox="1"/>
          <p:nvPr/>
        </p:nvSpPr>
        <p:spPr>
          <a:xfrm>
            <a:off x="7543800" y="347472"/>
            <a:ext cx="365760" cy="21945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6" name="Text 22"/>
          <p:cNvSpPr txBox="1"/>
          <p:nvPr/>
        </p:nvSpPr>
        <p:spPr>
          <a:xfrm>
            <a:off x="457200" y="896112"/>
            <a:ext cx="8229600" cy="274320"/>
          </a:xfrm>
          <a:prstGeom prst="rect">
            <a:avLst/>
          </a:prstGeom>
          <a:noFill/>
          <a:ln/>
        </p:spPr>
        <p:txBody>
          <a:bodyPr wrap="square" lIns="0" tIns="0" rIns="0" bIns="0" rtlCol="0" anchor="t"/>
          <a:lstStyle/>
          <a:p>
            <a:pPr indent="0" marL="0">
              <a:buNone/>
            </a:pPr>
            <a:r>
              <a:rPr lang="en-US" sz="1200" b="1" spc="200" kern="0" dirty="0">
                <a:solidFill>
                  <a:srgbClr val="E8762C"/>
                </a:solidFill>
                <a:latin typeface="Calibri" pitchFamily="34" charset="0"/>
                <a:ea typeface="Calibri" pitchFamily="34" charset="-122"/>
                <a:cs typeface="Calibri" pitchFamily="34" charset="-120"/>
              </a:rPr>
              <a:t>STATION 6  ·  SMART PRODUCTION  ·  6 MIN</a:t>
            </a:r>
            <a:endParaRPr lang="en-US" sz="1200" dirty="0"/>
          </a:p>
        </p:txBody>
      </p:sp>
      <p:sp>
        <p:nvSpPr>
          <p:cNvPr id="27" name="Text 23"/>
          <p:cNvSpPr txBox="1"/>
          <p:nvPr/>
        </p:nvSpPr>
        <p:spPr>
          <a:xfrm>
            <a:off x="457200" y="1143000"/>
            <a:ext cx="11247120" cy="548640"/>
          </a:xfrm>
          <a:prstGeom prst="rect">
            <a:avLst/>
          </a:prstGeom>
          <a:noFill/>
          <a:ln/>
        </p:spPr>
        <p:txBody>
          <a:bodyPr wrap="square" lIns="0" tIns="0" rIns="0" bIns="0" rtlCol="0" anchor="ctr"/>
          <a:lstStyle/>
          <a:p>
            <a:pPr indent="0" marL="0">
              <a:buNone/>
            </a:pPr>
            <a:r>
              <a:rPr lang="en-US" sz="3000" b="1" dirty="0">
                <a:solidFill>
                  <a:srgbClr val="1F3864"/>
                </a:solidFill>
                <a:latin typeface="Cambria" pitchFamily="34" charset="0"/>
                <a:ea typeface="Cambria" pitchFamily="34" charset="-122"/>
                <a:cs typeface="Cambria" pitchFamily="34" charset="-120"/>
              </a:rPr>
              <a:t>Smart Production: make one, then check it</a:t>
            </a:r>
            <a:endParaRPr lang="en-US" sz="3000" dirty="0"/>
          </a:p>
        </p:txBody>
      </p:sp>
      <p:sp>
        <p:nvSpPr>
          <p:cNvPr id="29" name="Shape 24"/>
          <p:cNvSpPr/>
          <p:nvPr/>
        </p:nvSpPr>
        <p:spPr>
          <a:xfrm>
            <a:off x="457200" y="1828800"/>
            <a:ext cx="5577840" cy="4434840"/>
          </a:xfrm>
          <a:prstGeom prst="roundRect">
            <a:avLst>
              <a:gd name="adj" fmla="val 2474"/>
            </a:avLst>
          </a:prstGeom>
          <a:solidFill>
            <a:srgbClr val="FFFFFF"/>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0" name="Shape 25"/>
          <p:cNvSpPr/>
          <p:nvPr/>
        </p:nvSpPr>
        <p:spPr>
          <a:xfrm>
            <a:off x="731520" y="2011680"/>
            <a:ext cx="2377440" cy="457200"/>
          </a:xfrm>
          <a:prstGeom prst="roundRect">
            <a:avLst>
              <a:gd name="adj" fmla="val 50000"/>
            </a:avLst>
          </a:prstGeom>
          <a:solidFill>
            <a:srgbClr val="17A199"/>
          </a:solidFill>
          <a:ln w="12700">
            <a:solidFill>
              <a:srgbClr val="FFFFFF"/>
            </a:solidFill>
            <a:prstDash val="solid"/>
          </a:ln>
        </p:spPr>
      </p:sp>
      <p:sp>
        <p:nvSpPr>
          <p:cNvPr id="31" name="Text 26"/>
          <p:cNvSpPr txBox="1"/>
          <p:nvPr/>
        </p:nvSpPr>
        <p:spPr>
          <a:xfrm>
            <a:off x="731520" y="2011680"/>
            <a:ext cx="23774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CREATE</a:t>
            </a:r>
            <a:endParaRPr lang="en-US" sz="1600" dirty="0"/>
          </a:p>
        </p:txBody>
      </p:sp>
      <p:sp>
        <p:nvSpPr>
          <p:cNvPr id="32" name="Text 27"/>
          <p:cNvSpPr txBox="1"/>
          <p:nvPr/>
        </p:nvSpPr>
        <p:spPr>
          <a:xfrm>
            <a:off x="731520" y="2697480"/>
            <a:ext cx="5029200" cy="24688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Write a rational function in factored form with zeros at x equal to negative 2 and 5, a hole where x is 1, and a vertical asymptote where x is negative 3.</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Expand nothing: write the domain and the list of zeros directly from the factored form.</a:t>
            </a:r>
            <a:endParaRPr lang="en-US" sz="1500" dirty="0"/>
          </a:p>
          <a:p>
            <a:pPr marL="342900" indent="-342900">
              <a:spcAft>
                <a:spcPts val="800"/>
              </a:spcAft>
              <a:buSzPct val="100000"/>
              <a:buFont typeface="+mj-lt"/>
              <a:buAutoNum type="arabicPeriod" startAt="1"/>
            </a:pPr>
            <a:r>
              <a:rPr lang="en-US" sz="1500" dirty="0">
                <a:solidFill>
                  <a:srgbClr val="222E2D"/>
                </a:solidFill>
                <a:latin typeface="Calibri" pitchFamily="34" charset="0"/>
                <a:ea typeface="Calibri" pitchFamily="34" charset="-122"/>
                <a:cs typeface="Calibri" pitchFamily="34" charset="-120"/>
              </a:rPr>
              <a:t>Swap with a partner: they check the zeros against the domain and find the hole.</a:t>
            </a:r>
            <a:endParaRPr lang="en-US" sz="1500" dirty="0"/>
          </a:p>
        </p:txBody>
      </p:sp>
      <p:sp>
        <p:nvSpPr>
          <p:cNvPr id="33" name="Text 28"/>
          <p:cNvSpPr txBox="1"/>
          <p:nvPr/>
        </p:nvSpPr>
        <p:spPr>
          <a:xfrm>
            <a:off x="731520" y="5212080"/>
            <a:ext cx="5029200" cy="914400"/>
          </a:xfrm>
          <a:prstGeom prst="rect">
            <a:avLst/>
          </a:prstGeom>
          <a:noFill/>
          <a:ln/>
        </p:spPr>
        <p:txBody>
          <a:bodyPr wrap="square" lIns="0" tIns="0" rIns="0" bIns="0" rtlCol="0" anchor="t"/>
          <a:lstStyle/>
          <a:p>
            <a:pPr indent="0" marL="0">
              <a:buNone/>
            </a:pPr>
            <a:r>
              <a:rPr lang="en-US" sz="1400" dirty="0">
                <a:solidFill>
                  <a:srgbClr val="3F4B49"/>
                </a:solidFill>
                <a:latin typeface="Calibri" pitchFamily="34" charset="0"/>
                <a:ea typeface="Calibri" pitchFamily="34" charset="-122"/>
                <a:cs typeface="Calibri" pitchFamily="34" charset="-120"/>
              </a:rPr>
              <a:t>Done when: your partner confirms the two zeros, the hole and the asymptote from the factored form.</a:t>
            </a:r>
            <a:endParaRPr lang="en-US" sz="1400" dirty="0"/>
          </a:p>
        </p:txBody>
      </p:sp>
      <p:sp>
        <p:nvSpPr>
          <p:cNvPr id="34" name="Shape 29"/>
          <p:cNvSpPr/>
          <p:nvPr/>
        </p:nvSpPr>
        <p:spPr>
          <a:xfrm>
            <a:off x="6217920" y="1828800"/>
            <a:ext cx="5486400" cy="4434840"/>
          </a:xfrm>
          <a:prstGeom prst="roundRect">
            <a:avLst>
              <a:gd name="adj" fmla="val 2474"/>
            </a:avLst>
          </a:prstGeom>
          <a:solidFill>
            <a:srgbClr val="0E4F4C"/>
          </a:solidFill>
          <a:ln w="9525">
            <a:solidFill>
              <a:srgbClr val="DDE6E4"/>
            </a:solidFill>
            <a:prstDash val="solid"/>
          </a:ln>
          <a:effectLst>
            <a:outerShdw sx="100000" sy="100000" kx="0" ky="0" algn="bl" rotWithShape="0" blurRad="101600" dist="25400" dir="5400000">
              <a:srgbClr val="000000">
                <a:alpha val="15000"/>
              </a:srgbClr>
            </a:outerShdw>
          </a:effectLst>
        </p:spPr>
      </p:sp>
      <p:sp>
        <p:nvSpPr>
          <p:cNvPr id="35" name="Shape 30"/>
          <p:cNvSpPr/>
          <p:nvPr/>
        </p:nvSpPr>
        <p:spPr>
          <a:xfrm>
            <a:off x="6492240" y="2011680"/>
            <a:ext cx="2651760" cy="457200"/>
          </a:xfrm>
          <a:prstGeom prst="roundRect">
            <a:avLst>
              <a:gd name="adj" fmla="val 50000"/>
            </a:avLst>
          </a:prstGeom>
          <a:solidFill>
            <a:srgbClr val="F0B323"/>
          </a:solidFill>
          <a:ln w="12700">
            <a:solidFill>
              <a:srgbClr val="FFFFFF"/>
            </a:solidFill>
            <a:prstDash val="solid"/>
          </a:ln>
        </p:spPr>
      </p:sp>
      <p:sp>
        <p:nvSpPr>
          <p:cNvPr id="36" name="Text 31"/>
          <p:cNvSpPr txBox="1"/>
          <p:nvPr/>
        </p:nvSpPr>
        <p:spPr>
          <a:xfrm>
            <a:off x="6492240" y="2011680"/>
            <a:ext cx="2651760" cy="457200"/>
          </a:xfrm>
          <a:prstGeom prst="rect">
            <a:avLst/>
          </a:prstGeom>
          <a:noFill/>
          <a:ln/>
        </p:spPr>
        <p:txBody>
          <a:bodyPr wrap="square" lIns="0" tIns="0" rIns="0" bIns="0" rtlCol="0" anchor="ctr"/>
          <a:lstStyle/>
          <a:p>
            <a:pPr algn="ctr" indent="0" marL="0">
              <a:buNone/>
            </a:pPr>
            <a:r>
              <a:rPr lang="en-US" sz="1600" b="1" dirty="0">
                <a:solidFill>
                  <a:srgbClr val="222E2D"/>
                </a:solidFill>
                <a:latin typeface="Calibri" pitchFamily="34" charset="0"/>
                <a:ea typeface="Calibri" pitchFamily="34" charset="-122"/>
                <a:cs typeface="Calibri" pitchFamily="34" charset="-120"/>
              </a:rPr>
              <a:t>TIME TO CHECK</a:t>
            </a:r>
            <a:endParaRPr lang="en-US" sz="1600" dirty="0"/>
          </a:p>
        </p:txBody>
      </p:sp>
      <p:sp>
        <p:nvSpPr>
          <p:cNvPr id="37" name="Text 32"/>
          <p:cNvSpPr txBox="1"/>
          <p:nvPr/>
        </p:nvSpPr>
        <p:spPr>
          <a:xfrm>
            <a:off x="6492240" y="2697480"/>
            <a:ext cx="4937760" cy="82296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Exit ticket: write your answer on a sticky note and place it on the door.</a:t>
            </a:r>
            <a:endParaRPr lang="en-US" sz="1600" dirty="0"/>
          </a:p>
        </p:txBody>
      </p:sp>
      <p:sp>
        <p:nvSpPr>
          <p:cNvPr id="38" name="Shape 33"/>
          <p:cNvSpPr/>
          <p:nvPr/>
        </p:nvSpPr>
        <p:spPr>
          <a:xfrm>
            <a:off x="6492240" y="3611880"/>
            <a:ext cx="4937760" cy="1234440"/>
          </a:xfrm>
          <a:prstGeom prst="roundRect">
            <a:avLst>
              <a:gd name="adj" fmla="val 7407"/>
            </a:avLst>
          </a:prstGeom>
          <a:solidFill>
            <a:srgbClr val="FFFFFF"/>
          </a:solidFill>
          <a:ln w="12700">
            <a:solidFill>
              <a:srgbClr val="FFFFFF"/>
            </a:solidFill>
            <a:prstDash val="solid"/>
          </a:ln>
        </p:spPr>
      </p:sp>
      <p:pic>
        <p:nvPicPr>
          <p:cNvPr id="39" name="Image 2" descr="m_AP1-8/k6df9a5ddee.png">    </p:cNvPr>
          <p:cNvPicPr>
            <a:picLocks noChangeAspect="1"/>
          </p:cNvPicPr>
          <p:nvPr/>
        </p:nvPicPr>
        <p:blipFill>
          <a:blip r:embed="rId3"/>
          <a:stretch>
            <a:fillRect/>
          </a:stretch>
        </p:blipFill>
        <p:spPr>
          <a:xfrm>
            <a:off x="8061350" y="3703320"/>
            <a:ext cx="1799539" cy="605699"/>
          </a:xfrm>
          <a:prstGeom prst="rect">
            <a:avLst/>
          </a:prstGeom>
        </p:spPr>
      </p:pic>
      <p:sp>
        <p:nvSpPr>
          <p:cNvPr id="40" name="Text 34"/>
          <p:cNvSpPr txBox="1"/>
          <p:nvPr/>
        </p:nvSpPr>
        <p:spPr>
          <a:xfrm>
            <a:off x="6492240" y="5074920"/>
            <a:ext cx="4937760" cy="822960"/>
          </a:xfrm>
          <a:prstGeom prst="rect">
            <a:avLst/>
          </a:prstGeom>
          <a:noFill/>
          <a:ln/>
        </p:spPr>
        <p:txBody>
          <a:bodyPr wrap="square" lIns="0" tIns="0" rIns="0" bIns="0" rtlCol="0" anchor="t"/>
          <a:lstStyle/>
          <a:p>
            <a:pPr indent="0" marL="0">
              <a:buNone/>
            </a:pPr>
            <a:r>
              <a:rPr lang="en-US" sz="1500" dirty="0">
                <a:solidFill>
                  <a:srgbClr val="BFD8D5"/>
                </a:solidFill>
                <a:latin typeface="Calibri" pitchFamily="34" charset="0"/>
                <a:ea typeface="Calibri" pitchFamily="34" charset="-122"/>
                <a:cs typeface="Calibri" pitchFamily="34" charset="-120"/>
              </a:rPr>
              <a:t>Next lesson: Topic 1.9 Rational Functions and Vertical Asymptotes.</a:t>
            </a:r>
            <a:endParaRPr lang="en-US" sz="15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4F4C"/>
        </a:solidFill>
      </p:bgPr>
    </p:bg>
    <p:spTree>
      <p:nvGrpSpPr>
        <p:cNvPr id="1" name=""/>
        <p:cNvGrpSpPr/>
        <p:nvPr/>
      </p:nvGrpSpPr>
      <p:grpSpPr>
        <a:xfrm>
          <a:off x="0" y="0"/>
          <a:ext cx="0" cy="0"/>
          <a:chOff x="0" y="0"/>
          <a:chExt cx="0" cy="0"/>
        </a:xfrm>
      </p:grpSpPr>
      <p:sp>
        <p:nvSpPr>
          <p:cNvPr id="2" name="Shape 0"/>
          <p:cNvSpPr/>
          <p:nvPr/>
        </p:nvSpPr>
        <p:spPr>
          <a:xfrm>
            <a:off x="-1097280" y="4572000"/>
            <a:ext cx="3474720" cy="3474720"/>
          </a:xfrm>
          <a:prstGeom prst="ellipse">
            <a:avLst/>
          </a:prstGeom>
          <a:solidFill>
            <a:srgbClr val="17A199">
              <a:alpha val="20000"/>
            </a:srgbClr>
          </a:solidFill>
          <a:ln w="12700">
            <a:solidFill>
              <a:srgbClr val="17A199">
                <a:alpha val="0"/>
              </a:srgbClr>
            </a:solidFill>
            <a:prstDash val="solid"/>
          </a:ln>
        </p:spPr>
      </p:sp>
      <p:sp>
        <p:nvSpPr>
          <p:cNvPr id="3" name="Shape 1"/>
          <p:cNvSpPr/>
          <p:nvPr/>
        </p:nvSpPr>
        <p:spPr>
          <a:xfrm>
            <a:off x="9875520" y="-1097280"/>
            <a:ext cx="3291840" cy="3291840"/>
          </a:xfrm>
          <a:prstGeom prst="ellipse">
            <a:avLst/>
          </a:prstGeom>
          <a:solidFill>
            <a:srgbClr val="F0B323">
              <a:alpha val="18000"/>
            </a:srgbClr>
          </a:solidFill>
          <a:ln w="12700">
            <a:solidFill>
              <a:srgbClr val="F0B323">
                <a:alpha val="0"/>
              </a:srgbClr>
            </a:solidFill>
            <a:prstDash val="solid"/>
          </a:ln>
        </p:spPr>
      </p:sp>
      <p:pic>
        <p:nvPicPr>
          <p:cNvPr id="4" name="Image 0" descr="../dept_logo_white.png">    </p:cNvPr>
          <p:cNvPicPr>
            <a:picLocks noChangeAspect="1"/>
          </p:cNvPicPr>
          <p:nvPr/>
        </p:nvPicPr>
        <p:blipFill>
          <a:blip r:embed="rId1"/>
          <a:stretch>
            <a:fillRect/>
          </a:stretch>
        </p:blipFill>
        <p:spPr>
          <a:xfrm>
            <a:off x="365760" y="201168"/>
            <a:ext cx="1481328" cy="457200"/>
          </a:xfrm>
          <a:prstGeom prst="rect">
            <a:avLst/>
          </a:prstGeom>
        </p:spPr>
      </p:pic>
      <p:pic>
        <p:nvPicPr>
          <p:cNvPr id="5" name="Image 1" descr="../school_logo_white.png">    </p:cNvPr>
          <p:cNvPicPr>
            <a:picLocks noChangeAspect="1"/>
          </p:cNvPicPr>
          <p:nvPr/>
        </p:nvPicPr>
        <p:blipFill>
          <a:blip r:embed="rId2"/>
          <a:stretch>
            <a:fillRect/>
          </a:stretch>
        </p:blipFill>
        <p:spPr>
          <a:xfrm>
            <a:off x="11292840" y="164592"/>
            <a:ext cx="566928" cy="566928"/>
          </a:xfrm>
          <a:prstGeom prst="rect">
            <a:avLst/>
          </a:prstGeom>
        </p:spPr>
      </p:pic>
      <p:sp>
        <p:nvSpPr>
          <p:cNvPr id="6" name="Text 2"/>
          <p:cNvSpPr txBox="1"/>
          <p:nvPr/>
        </p:nvSpPr>
        <p:spPr>
          <a:xfrm>
            <a:off x="548640" y="868680"/>
            <a:ext cx="109728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Journey complete</a:t>
            </a:r>
            <a:endParaRPr lang="en-US" sz="4000" dirty="0"/>
          </a:p>
        </p:txBody>
      </p:sp>
      <p:sp>
        <p:nvSpPr>
          <p:cNvPr id="7" name="path1"/>
          <p:cNvSpPr/>
          <p:nvPr/>
        </p:nvSpPr>
        <p:spPr>
          <a:xfrm flipV="1">
            <a:off x="1371600" y="3200400"/>
            <a:ext cx="1965960" cy="1097280"/>
          </a:xfrm>
          <a:prstGeom prst="line">
            <a:avLst/>
          </a:prstGeom>
          <a:noFill/>
          <a:ln w="38100">
            <a:solidFill>
              <a:srgbClr val="F0B323"/>
            </a:solidFill>
            <a:prstDash val="dash"/>
          </a:ln>
        </p:spPr>
      </p:sp>
      <p:sp>
        <p:nvSpPr>
          <p:cNvPr id="8" name="path2"/>
          <p:cNvSpPr/>
          <p:nvPr/>
        </p:nvSpPr>
        <p:spPr>
          <a:xfrm>
            <a:off x="3337560" y="3200400"/>
            <a:ext cx="1965960" cy="1097280"/>
          </a:xfrm>
          <a:prstGeom prst="line">
            <a:avLst/>
          </a:prstGeom>
          <a:noFill/>
          <a:ln w="38100">
            <a:solidFill>
              <a:srgbClr val="F0B323"/>
            </a:solidFill>
            <a:prstDash val="dash"/>
          </a:ln>
        </p:spPr>
      </p:sp>
      <p:sp>
        <p:nvSpPr>
          <p:cNvPr id="9" name="path3"/>
          <p:cNvSpPr/>
          <p:nvPr/>
        </p:nvSpPr>
        <p:spPr>
          <a:xfrm flipV="1">
            <a:off x="5303520" y="3200400"/>
            <a:ext cx="1965960" cy="1097280"/>
          </a:xfrm>
          <a:prstGeom prst="line">
            <a:avLst/>
          </a:prstGeom>
          <a:noFill/>
          <a:ln w="38100">
            <a:solidFill>
              <a:srgbClr val="F0B323"/>
            </a:solidFill>
            <a:prstDash val="dash"/>
          </a:ln>
        </p:spPr>
      </p:sp>
      <p:sp>
        <p:nvSpPr>
          <p:cNvPr id="10" name="path4"/>
          <p:cNvSpPr/>
          <p:nvPr/>
        </p:nvSpPr>
        <p:spPr>
          <a:xfrm>
            <a:off x="7269480" y="3200400"/>
            <a:ext cx="1965960" cy="1097280"/>
          </a:xfrm>
          <a:prstGeom prst="line">
            <a:avLst/>
          </a:prstGeom>
          <a:noFill/>
          <a:ln w="38100">
            <a:solidFill>
              <a:srgbClr val="F0B323"/>
            </a:solidFill>
            <a:prstDash val="dash"/>
          </a:ln>
        </p:spPr>
      </p:sp>
      <p:sp>
        <p:nvSpPr>
          <p:cNvPr id="11" name="path5"/>
          <p:cNvSpPr/>
          <p:nvPr/>
        </p:nvSpPr>
        <p:spPr>
          <a:xfrm flipV="1">
            <a:off x="9235440" y="3200400"/>
            <a:ext cx="1737360" cy="1097280"/>
          </a:xfrm>
          <a:prstGeom prst="line">
            <a:avLst/>
          </a:prstGeom>
          <a:noFill/>
          <a:ln w="38100">
            <a:solidFill>
              <a:srgbClr val="F0B323"/>
            </a:solidFill>
            <a:prstDash val="dash"/>
          </a:ln>
        </p:spPr>
      </p:sp>
      <p:sp>
        <p:nvSpPr>
          <p:cNvPr id="12" name="stn1"/>
          <p:cNvSpPr/>
          <p:nvPr/>
        </p:nvSpPr>
        <p:spPr>
          <a:xfrm>
            <a:off x="708660" y="3634740"/>
            <a:ext cx="1325880" cy="1325880"/>
          </a:xfrm>
          <a:prstGeom prst="ellipse">
            <a:avLst/>
          </a:prstGeom>
          <a:solidFill>
            <a:srgbClr val="F0B323"/>
          </a:solidFill>
          <a:ln w="38100">
            <a:solidFill>
              <a:srgbClr val="FFFFFF"/>
            </a:solidFill>
            <a:prstDash val="solid"/>
          </a:ln>
        </p:spPr>
      </p:sp>
      <p:sp>
        <p:nvSpPr>
          <p:cNvPr id="13" name="Text 9"/>
          <p:cNvSpPr txBox="1"/>
          <p:nvPr/>
        </p:nvSpPr>
        <p:spPr>
          <a:xfrm>
            <a:off x="100584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4" name="Text 10"/>
          <p:cNvSpPr txBox="1"/>
          <p:nvPr/>
        </p:nvSpPr>
        <p:spPr>
          <a:xfrm>
            <a:off x="41148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Diagnose</a:t>
            </a:r>
            <a:endParaRPr lang="en-US" sz="1600" dirty="0"/>
          </a:p>
        </p:txBody>
      </p:sp>
      <p:sp>
        <p:nvSpPr>
          <p:cNvPr id="15" name="stn2"/>
          <p:cNvSpPr/>
          <p:nvPr/>
        </p:nvSpPr>
        <p:spPr>
          <a:xfrm>
            <a:off x="2674620" y="2537460"/>
            <a:ext cx="1325880" cy="1325880"/>
          </a:xfrm>
          <a:prstGeom prst="ellipse">
            <a:avLst/>
          </a:prstGeom>
          <a:solidFill>
            <a:srgbClr val="F0B323"/>
          </a:solidFill>
          <a:ln w="38100">
            <a:solidFill>
              <a:srgbClr val="FFFFFF"/>
            </a:solidFill>
            <a:prstDash val="solid"/>
          </a:ln>
        </p:spPr>
      </p:sp>
      <p:sp>
        <p:nvSpPr>
          <p:cNvPr id="16" name="Text 12"/>
          <p:cNvSpPr txBox="1"/>
          <p:nvPr/>
        </p:nvSpPr>
        <p:spPr>
          <a:xfrm>
            <a:off x="297180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17" name="Text 13"/>
          <p:cNvSpPr txBox="1"/>
          <p:nvPr/>
        </p:nvSpPr>
        <p:spPr>
          <a:xfrm>
            <a:off x="237744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Targeted Instruction</a:t>
            </a:r>
            <a:endParaRPr lang="en-US" sz="1600" dirty="0"/>
          </a:p>
        </p:txBody>
      </p:sp>
      <p:sp>
        <p:nvSpPr>
          <p:cNvPr id="18" name="stn3"/>
          <p:cNvSpPr/>
          <p:nvPr/>
        </p:nvSpPr>
        <p:spPr>
          <a:xfrm>
            <a:off x="4640580" y="3634740"/>
            <a:ext cx="1325880" cy="1325880"/>
          </a:xfrm>
          <a:prstGeom prst="ellipse">
            <a:avLst/>
          </a:prstGeom>
          <a:solidFill>
            <a:srgbClr val="F0B323"/>
          </a:solidFill>
          <a:ln w="38100">
            <a:solidFill>
              <a:srgbClr val="FFFFFF"/>
            </a:solidFill>
            <a:prstDash val="solid"/>
          </a:ln>
        </p:spPr>
      </p:sp>
      <p:sp>
        <p:nvSpPr>
          <p:cNvPr id="19" name="Text 15"/>
          <p:cNvSpPr txBox="1"/>
          <p:nvPr/>
        </p:nvSpPr>
        <p:spPr>
          <a:xfrm>
            <a:off x="493776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0" name="Text 16"/>
          <p:cNvSpPr txBox="1"/>
          <p:nvPr/>
        </p:nvSpPr>
        <p:spPr>
          <a:xfrm>
            <a:off x="434340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Practice</a:t>
            </a:r>
            <a:endParaRPr lang="en-US" sz="1600" dirty="0"/>
          </a:p>
        </p:txBody>
      </p:sp>
      <p:sp>
        <p:nvSpPr>
          <p:cNvPr id="21" name="stn4"/>
          <p:cNvSpPr/>
          <p:nvPr/>
        </p:nvSpPr>
        <p:spPr>
          <a:xfrm>
            <a:off x="6606540" y="2537460"/>
            <a:ext cx="1325880" cy="1325880"/>
          </a:xfrm>
          <a:prstGeom prst="ellipse">
            <a:avLst/>
          </a:prstGeom>
          <a:solidFill>
            <a:srgbClr val="F0B323"/>
          </a:solidFill>
          <a:ln w="38100">
            <a:solidFill>
              <a:srgbClr val="FFFFFF"/>
            </a:solidFill>
            <a:prstDash val="solid"/>
          </a:ln>
        </p:spPr>
      </p:sp>
      <p:sp>
        <p:nvSpPr>
          <p:cNvPr id="22" name="Text 18"/>
          <p:cNvSpPr txBox="1"/>
          <p:nvPr/>
        </p:nvSpPr>
        <p:spPr>
          <a:xfrm>
            <a:off x="690372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3" name="Text 19"/>
          <p:cNvSpPr txBox="1"/>
          <p:nvPr/>
        </p:nvSpPr>
        <p:spPr>
          <a:xfrm>
            <a:off x="630936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Production</a:t>
            </a:r>
            <a:endParaRPr lang="en-US" sz="1600" dirty="0"/>
          </a:p>
        </p:txBody>
      </p:sp>
      <p:sp>
        <p:nvSpPr>
          <p:cNvPr id="24" name="stn5"/>
          <p:cNvSpPr/>
          <p:nvPr/>
        </p:nvSpPr>
        <p:spPr>
          <a:xfrm>
            <a:off x="8572500" y="3634740"/>
            <a:ext cx="1325880" cy="1325880"/>
          </a:xfrm>
          <a:prstGeom prst="ellipse">
            <a:avLst/>
          </a:prstGeom>
          <a:solidFill>
            <a:srgbClr val="F0B323"/>
          </a:solidFill>
          <a:ln w="38100">
            <a:solidFill>
              <a:srgbClr val="FFFFFF"/>
            </a:solidFill>
            <a:prstDash val="solid"/>
          </a:ln>
        </p:spPr>
      </p:sp>
      <p:sp>
        <p:nvSpPr>
          <p:cNvPr id="25" name="Text 21"/>
          <p:cNvSpPr txBox="1"/>
          <p:nvPr/>
        </p:nvSpPr>
        <p:spPr>
          <a:xfrm>
            <a:off x="8869680" y="402336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6" name="Text 22"/>
          <p:cNvSpPr txBox="1"/>
          <p:nvPr/>
        </p:nvSpPr>
        <p:spPr>
          <a:xfrm>
            <a:off x="8275320" y="5070348"/>
            <a:ext cx="1920240" cy="54864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Mastery Gate</a:t>
            </a:r>
            <a:endParaRPr lang="en-US" sz="1600" dirty="0"/>
          </a:p>
        </p:txBody>
      </p:sp>
      <p:sp>
        <p:nvSpPr>
          <p:cNvPr id="27" name="stn6"/>
          <p:cNvSpPr/>
          <p:nvPr/>
        </p:nvSpPr>
        <p:spPr>
          <a:xfrm>
            <a:off x="10309860" y="2537460"/>
            <a:ext cx="1325880" cy="1325880"/>
          </a:xfrm>
          <a:prstGeom prst="ellipse">
            <a:avLst/>
          </a:prstGeom>
          <a:solidFill>
            <a:srgbClr val="F0B323"/>
          </a:solidFill>
          <a:ln w="38100">
            <a:solidFill>
              <a:srgbClr val="FFFFFF"/>
            </a:solidFill>
            <a:prstDash val="solid"/>
          </a:ln>
        </p:spPr>
      </p:sp>
      <p:sp>
        <p:nvSpPr>
          <p:cNvPr id="28" name="Text 24"/>
          <p:cNvSpPr txBox="1"/>
          <p:nvPr/>
        </p:nvSpPr>
        <p:spPr>
          <a:xfrm>
            <a:off x="10607040" y="2926080"/>
            <a:ext cx="731520" cy="548640"/>
          </a:xfrm>
          <a:prstGeom prst="rect">
            <a:avLst/>
          </a:prstGeom>
          <a:noFill/>
          <a:ln/>
        </p:spPr>
        <p:txBody>
          <a:bodyPr wrap="square" lIns="0" tIns="0" rIns="0" bIns="0" rtlCol="0" anchor="ctr"/>
          <a:lstStyle/>
          <a:p>
            <a:pPr algn="ctr" indent="0" marL="0">
              <a:buNone/>
            </a:pPr>
            <a:r>
              <a:rPr lang="en-US" sz="3200" b="1" dirty="0">
                <a:solidFill>
                  <a:srgbClr val="0E4F4C"/>
                </a:solidFill>
                <a:latin typeface="Cambria" pitchFamily="34" charset="0"/>
                <a:ea typeface="Cambria" pitchFamily="34" charset="-122"/>
                <a:cs typeface="Cambria" pitchFamily="34" charset="-120"/>
              </a:rPr>
              <a:t>✓</a:t>
            </a:r>
            <a:endParaRPr lang="en-US" sz="3200" dirty="0"/>
          </a:p>
        </p:txBody>
      </p:sp>
      <p:sp>
        <p:nvSpPr>
          <p:cNvPr id="29" name="Text 25"/>
          <p:cNvSpPr txBox="1"/>
          <p:nvPr/>
        </p:nvSpPr>
        <p:spPr>
          <a:xfrm>
            <a:off x="10012680" y="1897380"/>
            <a:ext cx="1920240" cy="548640"/>
          </a:xfrm>
          <a:prstGeom prst="rect">
            <a:avLst/>
          </a:prstGeom>
          <a:noFill/>
          <a:ln/>
        </p:spPr>
        <p:txBody>
          <a:bodyPr wrap="square" lIns="0" tIns="0" rIns="0" bIns="0" rtlCol="0" anchor="b"/>
          <a:lstStyle/>
          <a:p>
            <a:pPr algn="ctr" indent="0" marL="0">
              <a:buNone/>
            </a:pPr>
            <a:r>
              <a:rPr lang="en-US" sz="1600" b="1" dirty="0">
                <a:solidFill>
                  <a:srgbClr val="FFFFFF"/>
                </a:solidFill>
                <a:latin typeface="Calibri" pitchFamily="34" charset="0"/>
                <a:ea typeface="Calibri" pitchFamily="34" charset="-122"/>
                <a:cs typeface="Calibri" pitchFamily="34" charset="-120"/>
              </a:rPr>
              <a:t>Smart Production</a:t>
            </a:r>
            <a:endParaRPr lang="en-US" sz="1600" dirty="0"/>
          </a:p>
        </p:txBody>
      </p:sp>
      <p:sp>
        <p:nvSpPr>
          <p:cNvPr id="30" name="Text 26"/>
          <p:cNvSpPr txBox="1"/>
          <p:nvPr/>
        </p:nvSpPr>
        <p:spPr>
          <a:xfrm>
            <a:off x="548640" y="5669280"/>
            <a:ext cx="11064240" cy="640080"/>
          </a:xfrm>
          <a:prstGeom prst="rect">
            <a:avLst/>
          </a:prstGeom>
          <a:noFill/>
          <a:ln/>
        </p:spPr>
        <p:txBody>
          <a:bodyPr wrap="square" lIns="0" tIns="0" rIns="0" bIns="0" rtlCol="0" anchor="ctr"/>
          <a:lstStyle/>
          <a:p>
            <a:pPr algn="ctr" indent="0" marL="0">
              <a:buNone/>
            </a:pPr>
            <a:r>
              <a:rPr lang="en-US" sz="1700" b="1" dirty="0">
                <a:solidFill>
                  <a:srgbClr val="F0B323"/>
                </a:solidFill>
                <a:latin typeface="Calibri" pitchFamily="34" charset="0"/>
                <a:ea typeface="Calibri" pitchFamily="34" charset="-122"/>
                <a:cs typeface="Calibri" pitchFamily="34" charset="-120"/>
              </a:rPr>
              <a:t>A zero of a rational function is a zero of the numerator that is also in the domain, and the zeros of the numerator and denominator are the boundaries when solving a rational inequality.</a:t>
            </a:r>
            <a:endParaRPr lang="en-US" sz="1700" dirty="0"/>
          </a:p>
        </p:txBody>
      </p:sp>
      <p:sp>
        <p:nvSpPr>
          <p:cNvPr id="31" name="Text 27"/>
          <p:cNvSpPr txBox="1"/>
          <p:nvPr/>
        </p:nvSpPr>
        <p:spPr>
          <a:xfrm>
            <a:off x="4023360" y="6492240"/>
            <a:ext cx="4114800" cy="228600"/>
          </a:xfrm>
          <a:prstGeom prst="rect">
            <a:avLst/>
          </a:prstGeom>
          <a:noFill/>
          <a:ln/>
        </p:spPr>
        <p:txBody>
          <a:bodyPr wrap="square" lIns="0" tIns="0" rIns="0" bIns="0" rtlCol="0" anchor="t"/>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FAITH, RIGHTEOUSNESS AND WISDOM</a:t>
            </a:r>
            <a:endParaRPr lang="en-US" sz="10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 Precalculus Topic 1.8 Rational Functions and Zeros presentation</dc:title>
  <dc:subject>PptxGenJS Presentation</dc:subject>
  <dc:creator>Mr Malek Thiab</dc:creator>
  <cp:lastModifiedBy>Mr Malek Thiab</cp:lastModifiedBy>
  <cp:revision>1</cp:revision>
  <dcterms:created xsi:type="dcterms:W3CDTF">2026-10-17T17:38:54Z</dcterms:created>
  <dcterms:modified xsi:type="dcterms:W3CDTF">2026-10-17T17:38:54Z</dcterms:modified>
</cp:coreProperties>
</file>