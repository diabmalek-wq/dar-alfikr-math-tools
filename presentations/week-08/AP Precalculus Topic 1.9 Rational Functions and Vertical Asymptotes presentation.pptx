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1.9: Vertical Asymptotes.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(Where are the vertical asymptotes?; Behavior near a vertical asymptote; Multiplicity and the two sides), Practice (Practice, Apply, Investigate), Production (a ferry on a river),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rational function, vertical asymptote, real zero, multiplicity, one-sided limit, increases without bound, decreases without bound, domain.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x^2 - x - 6 = (x - 3)(x + 2), because -3 and 2 multiply to -6 and add to -1. Q2 (x - 1)(x + 4) = 0 gives x = 1 or x = -4. Q3 5 divided by -0.001 is -5000, which is negative: a positive number over a tiny negative number is a large negative number.
Verbal misconceptions: 'the zeros of (x + 4) is x = 4' (sign error); 'a tiny denominator makes the answer tiny' (dividing by a small number gives a large number); 'the sign of a quotient comes from the numerator only'.
Adaptive routing: if more than 30% miss Q1 or Q2, route to slide 5 (zeros of the denominator). If more than 30% miss Q3, route to slide 6 (sign near an asymptote).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LO 1.9.A). Source: AP Precalculus Course and Exam Description (College Board). EK 1.9.A.1 begins: 'If the value a is a real zero of the polynomial in the denominator of a rational function' and continues with the condition that a is not also a zero of the numerator, or that its multiplicity in the denominator is greater than in the numerator. The full verbatim sentence could not be fetched (the CED PDF was not reachable); the rules on the slide restate it (check against the CED PDF).
Worked solutions: Example A: x^2 - 4 = (x - 2)(x + 2). The denominator is 0 at x = 2 and x = -2. The numerator x - 1 is 1 at x = 2 and -3 at x = -2, never 0, so both are vertical asymptotes. Example B: x^2 - x - 6 = (x - 3)(x + 2). At x = 3 the numerator is 5 (not 0): vertical asymptote x = 3. At x = -2 the numerator is also 0 and the factor x + 2 cancels: a hole (Topic 1.10), not an asymptote. Example C: x^2 + 1 = 0 has no real solution, so there is no vertical asymptote and the domain is all real numbers.
Verbal misconceptions: 'every zero of the denominator is an asymptote' (check the numerator first); 'the asymptote of (x - 3) is x = -3' (sign error); 'the zeros of the numerator give asymptotes' (they give x-intercepts).
Adaptive routing: if more than 30% miss Gate Q1, return to this slide and redo Example B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LO 1.9.A). EK 1.9.A.2 begins: 'Near a vertical asymptote, x = a, of a rational function,' and continues that the values of the function increase or decrease without bound, described with one-sided limit notation. The full verbatim sentence could not be fetched (check against the CED PDF).
Worked solutions: r(x) = (x - 4)/((x + 2)(x - 1)). Example A, near x = -2: the factors other than x + 2 are x - 4 = -6 and x - 1 = -3, so the numerator is -6 and the other denominator factor is -3. From the left, x + 2 is a tiny negative number, so the denominator (x + 2)(x - 1) is a tiny positive number (negative times negative): -6 over tiny positive = -infinity. From the right, x + 2 is tiny positive, the denominator is tiny negative: -6 over tiny negative = +infinity. Example B, near x = 1: the numerator is -3 and x + 2 is 3. From the left, x - 1 is tiny negative, the denominator is tiny negative: -3 over tiny negative = +infinity. From the right the denominator is tiny positive: -3 over tiny positive = -infinity. These agree with the graph: the branch left of x = -2 falls, the middle branch rises on both ends, the branch right of x = 1 comes up from below and crosses the x-axis at (4, 0).
Verbal misconceptions: 'the graph goes up on both sides of every asymptote' (check the sign on each side); 'infinity is a number the function reaches' (the values increase or decrease without bound); 'the limit exists because the graph gets close to the line' (the one-sided limits are not finite).
Adaptive routing: if more than 30% miss Gate Q2, return to this slide and redo Example A with a sign table for each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LO 1.9.A). EK 1.9.A.1 includes the multiplicity condition: a vertical asymptote also occurs at x = a when the multiplicity of a as a zero of the denominator is greater than its multiplicity as a zero of the numerator (paraphrased from the part of the CED text that could be fetched; check against the CED PDF).
Worked solutions: Example A: (x - 2)^2 is positive on both sides of 2 and tends to 0, so 3/(tiny positive) = +infinity from both sides. Example B: (x + 1)^3 has the sign of x + 1. From the left it is tiny negative: -1 over tiny negative = +infinity. From the right it is tiny positive: -1 over tiny positive = -infinity. Example C: the zero x = -2 has multiplicity 3 in the denominator and 2 in the numerator; 3 &gt; 2, so the factor (x + 2)^2 cancels but one factor x + 2 remains in the denominator: vertical asymptote x = -2 (no hole). The zero x = 1 appears only in the denominator: vertical asymptote x = 1. The simplified form 1/((x + 2)(x - 1)) holds for x not equal to -2.
Verbal misconceptions: 'if a factor cancels there is no asymptote' (only when the numerator multiplicity is at least the denominator multiplicity); 'a squared factor means there is no asymptote'; 'every asymptote goes up on one side and down on the other' (even multiplicity does not).
Adaptive routing: if more than 30% miss Gate Q3, return to this slide and redo Example C aloud, counting multiplicities in a two-column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x^2 - 9 = (x - 3)(x + 3), so r(x) = (x - 3)/((x - 3)(x + 3)). The factor x - 3 cancels (hole at x = 3, point (3, 1/6)); x + 3 remains: vertical asymptote x = -3 only. Apply: 100 - p = 0 at p = 100 and the numerator is 8000 there, so the vertical asymptote is p = 100. For p slightly less than 100 the denominator is tiny positive, so C(p) increases without bound: removing nearly all of a pollutant costs more and more (check: C(50) = 4000/50 = 80 thousand dollars; C(99) = 7920 thousand dollars). The domain 0 &lt;= p &lt; 100 stops before the asymptote. Investigate: 1/x changes sign at 0 (odd multiplicity: -infinity from the left, +infinity from the right); 1/x^2 has a squared denominator that is positive on both sides (even multiplicity: +infinity from both sides).
Verbal misconceptions: 'if the denominator is zero there is always an asymptote' (Practice); 'the cost at p = 100 is a very large number' (it is undefined; the values grow without bound).
Adaptive routing: finished students move to Apply then Investigate; stuck students return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Task 1: T(v) = [36(v + 4) + 36(v - 4)]/((v - 4)(v + 4)) = 72v/(v^2 - 16) = 72v/((v - 4)(v + 4)). The numerator is not 0 at v = 4 or v = -4, so the vertical asymptotes are v = 4 and v = -4. Task 2: the limit of T(v) as v approaches 4 from the right is +infinity (numerator 288 over a tiny positive denominator). Meaning: as the ferry's still-water speed gets closer to the 4 km per hour current, its speed against the current gets close to 0 and the upstream time increases without bound. Task 3: T(12) = 72(12)/(144 - 16) = 864/128 = 6.75 hours (check: 36/8 + 36/16 = 4.5 + 2.25 = 6.75). The model requires v &gt; 4 (the ferry must beat the current), so v = -4 is outside the domain: a negative speed has no meaning here.
Verbal misconceptions: adding the fractions without a common denominator (36/(v - 4) + 36/(v + 4) is not 72/(2v)); writing v = 4 as the answer for both sides of a limit without a sign; thinking the asymptote at v = -4 also shapes the graph in the context.
Adaptive routing: if students cannot start, send them to slide 5 Example A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x^2 - 25 = (x - 5)(x + 5); the factor x + 5 cancels, so the only vertical asymptote is x = 5 (hole at x = -5). Q2 numerator 2, denominator tiny positive: +infinity. Q3 the zero x = 1 has multiplicity 2 in the denominator and 1 in the numerator, so after cancelling, one factor x - 1 remains: vertical asymptote x = 1; also x = -3. So x = 1 and x = -3.
Verbal misconceptions: Q1 'x = 5 and x = -5' (both zeros of the denominator) or 'x = -5 only'; Q2 'the limit is 0' or '-infinity' (sign of x - 2 on the right); Q3 'x = -3 only' (cancelled the whole factor x - 1).
Adaptive routing: Q1 missed, route to slide 5 Example B; Q2 missed, route to slide 6 Example A; Q3 missed, route to slide 7 Example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Create example: r(x) = (x - 1)/((x + 2)(x - 5)): the denominator is 0 at -2 and 5, the numerator is 0 only at 1, so the asymptotes are x = -2 and x = 5. Just right of x = 5: numerator 4, (x + 2) = 7, (x - 5) tiny positive: positive, so r tends to +infinity. Exit answer: numerator -2; x + 3 is tiny negative from the left: -2 over tiny negative = +infinity.
Verbal misconceptions: students write the asymptote with the wrong sign (x = 2 for the factor x + 2); students give the sign of the numerator alone.
Adaptive routing: if more than 30% miss the exit ticket, begin the next lesson with slide 6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Factor first, then each real zero of the denominator that is not cancelled gives a vertical asymptote, and the signs of the factors on each side decide whether the graph rises or falls. Collect the Time to Check responses. Next lesson: Topic 1.10 Rational Functions and 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9.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slideLayout" Target="../slideLayouts/slideLayout1.xml"/><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1.9</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Vertical</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Asymptotes</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9/k23d2031c31.png">    </p:cNvPr>
          <p:cNvPicPr>
            <a:picLocks noChangeAspect="1"/>
          </p:cNvPicPr>
          <p:nvPr/>
        </p:nvPicPr>
        <p:blipFill>
          <a:blip r:embed="rId4"/>
          <a:stretch>
            <a:fillRect/>
          </a:stretch>
        </p:blipFill>
        <p:spPr>
          <a:xfrm>
            <a:off x="8857793" y="3017520"/>
            <a:ext cx="2401214" cy="927202"/>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Determine vertical asymptotes of graphs of rational functions.</a:t>
            </a:r>
            <a:endParaRPr lang="en-US" sz="1700" dirty="0"/>
          </a:p>
        </p:txBody>
      </p:sp>
      <p:sp>
        <p:nvSpPr>
          <p:cNvPr id="14" name="Shape 9"/>
          <p:cNvSpPr/>
          <p:nvPr/>
        </p:nvSpPr>
        <p:spPr>
          <a:xfrm>
            <a:off x="6400800" y="1280160"/>
            <a:ext cx="5303520" cy="1847088"/>
          </a:xfrm>
          <a:prstGeom prst="roundRect">
            <a:avLst>
              <a:gd name="adj" fmla="val 5941"/>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rational function</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vertical asymptote</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real zero</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multiplicity</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one-sided limit</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increases without bound</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decreases without bound</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p:txBody>
      </p:sp>
      <p:sp>
        <p:nvSpPr>
          <p:cNvPr id="32" name="Shape 27"/>
          <p:cNvSpPr/>
          <p:nvPr/>
        </p:nvSpPr>
        <p:spPr>
          <a:xfrm>
            <a:off x="6400800" y="3264408"/>
            <a:ext cx="5303520" cy="3044952"/>
          </a:xfrm>
          <a:prstGeom prst="roundRect">
            <a:avLst>
              <a:gd name="adj" fmla="val 360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8"/>
          <p:cNvSpPr txBox="1"/>
          <p:nvPr/>
        </p:nvSpPr>
        <p:spPr>
          <a:xfrm>
            <a:off x="6675120" y="33375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4" name="Text 29"/>
          <p:cNvSpPr txBox="1"/>
          <p:nvPr/>
        </p:nvSpPr>
        <p:spPr>
          <a:xfrm>
            <a:off x="6675120" y="3630168"/>
            <a:ext cx="4846320" cy="2587752"/>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1.9.A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Determine vertical asymptotes of graphs of rational functions.</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9/kace5f170cf.png">    </p:cNvPr>
          <p:cNvPicPr>
            <a:picLocks noChangeAspect="1"/>
          </p:cNvPicPr>
          <p:nvPr/>
        </p:nvPicPr>
        <p:blipFill>
          <a:blip r:embed="rId3"/>
          <a:stretch>
            <a:fillRect/>
          </a:stretch>
        </p:blipFill>
        <p:spPr>
          <a:xfrm>
            <a:off x="1108253" y="2697480"/>
            <a:ext cx="2355494" cy="358445"/>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9/k3df038bc95.png">    </p:cNvPr>
          <p:cNvPicPr>
            <a:picLocks noChangeAspect="1"/>
          </p:cNvPicPr>
          <p:nvPr/>
        </p:nvPicPr>
        <p:blipFill>
          <a:blip r:embed="rId4"/>
          <a:stretch>
            <a:fillRect/>
          </a:stretch>
        </p:blipFill>
        <p:spPr>
          <a:xfrm>
            <a:off x="4511650" y="2697480"/>
            <a:ext cx="3046781" cy="380390"/>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9/k1133e39bde.png">    </p:cNvPr>
          <p:cNvPicPr>
            <a:picLocks noChangeAspect="1"/>
          </p:cNvPicPr>
          <p:nvPr/>
        </p:nvPicPr>
        <p:blipFill>
          <a:blip r:embed="rId5"/>
          <a:stretch>
            <a:fillRect/>
          </a:stretch>
        </p:blipFill>
        <p:spPr>
          <a:xfrm>
            <a:off x="8092440" y="2697480"/>
            <a:ext cx="3383280" cy="612003"/>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how you checked each one.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Where are the vertical asymptotes?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9/kc577b402d6.png">    </p:cNvPr>
          <p:cNvPicPr>
            <a:picLocks noChangeAspect="1"/>
          </p:cNvPicPr>
          <p:nvPr/>
        </p:nvPicPr>
        <p:blipFill>
          <a:blip r:embed="rId3"/>
          <a:stretch>
            <a:fillRect/>
          </a:stretch>
        </p:blipFill>
        <p:spPr>
          <a:xfrm>
            <a:off x="2531059" y="1934870"/>
            <a:ext cx="1631290" cy="793699"/>
          </a:xfrm>
          <a:prstGeom prst="rect">
            <a:avLst/>
          </a:prstGeom>
        </p:spPr>
      </p:pic>
      <p:pic>
        <p:nvPicPr>
          <p:cNvPr id="31" name="Image 3" descr="m_AP1-9/k7a2b94cff2.png">    </p:cNvPr>
          <p:cNvPicPr>
            <a:picLocks noChangeAspect="1"/>
          </p:cNvPicPr>
          <p:nvPr/>
        </p:nvPicPr>
        <p:blipFill>
          <a:blip r:embed="rId4"/>
          <a:stretch>
            <a:fillRect/>
          </a:stretch>
        </p:blipFill>
        <p:spPr>
          <a:xfrm>
            <a:off x="4802429" y="2141525"/>
            <a:ext cx="4828032"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9/kbaec676189.png">    </p:cNvPr>
          <p:cNvPicPr>
            <a:picLocks noChangeAspect="1"/>
          </p:cNvPicPr>
          <p:nvPr/>
        </p:nvPicPr>
        <p:blipFill>
          <a:blip r:embed="rId5"/>
          <a:stretch>
            <a:fillRect/>
          </a:stretch>
        </p:blipFill>
        <p:spPr>
          <a:xfrm>
            <a:off x="1392512" y="3566160"/>
            <a:ext cx="1786975" cy="674004"/>
          </a:xfrm>
          <a:prstGeom prst="rect">
            <a:avLst/>
          </a:prstGeom>
        </p:spPr>
      </p:pic>
      <p:pic>
        <p:nvPicPr>
          <p:cNvPr id="35" name="Image 5" descr="m_AP1-9/k56a34e4c48.png">    </p:cNvPr>
          <p:cNvPicPr>
            <a:picLocks noChangeAspect="1"/>
          </p:cNvPicPr>
          <p:nvPr/>
        </p:nvPicPr>
        <p:blipFill>
          <a:blip r:embed="rId6"/>
          <a:stretch>
            <a:fillRect/>
          </a:stretch>
        </p:blipFill>
        <p:spPr>
          <a:xfrm>
            <a:off x="974202" y="4395612"/>
            <a:ext cx="2623596" cy="687995"/>
          </a:xfrm>
          <a:prstGeom prst="rect">
            <a:avLst/>
          </a:prstGeom>
        </p:spPr>
      </p:pic>
      <p:pic>
        <p:nvPicPr>
          <p:cNvPr id="36" name="Image 6" descr="m_AP1-9/kc6cce0a8a0.png">    </p:cNvPr>
          <p:cNvPicPr>
            <a:picLocks noChangeAspect="1"/>
          </p:cNvPicPr>
          <p:nvPr/>
        </p:nvPicPr>
        <p:blipFill>
          <a:blip r:embed="rId7"/>
          <a:stretch>
            <a:fillRect/>
          </a:stretch>
        </p:blipFill>
        <p:spPr>
          <a:xfrm>
            <a:off x="921532" y="5239055"/>
            <a:ext cx="2728935" cy="342351"/>
          </a:xfrm>
          <a:prstGeom prst="rect">
            <a:avLst/>
          </a:prstGeom>
        </p:spPr>
      </p:pic>
      <p:pic>
        <p:nvPicPr>
          <p:cNvPr id="37" name="Image 7" descr="m_AP1-9/ke96623d6f2.png">    </p:cNvPr>
          <p:cNvPicPr>
            <a:picLocks noChangeAspect="1"/>
          </p:cNvPicPr>
          <p:nvPr/>
        </p:nvPicPr>
        <p:blipFill>
          <a:blip r:embed="rId8"/>
          <a:stretch>
            <a:fillRect/>
          </a:stretch>
        </p:blipFill>
        <p:spPr>
          <a:xfrm>
            <a:off x="964326" y="5736854"/>
            <a:ext cx="2643348" cy="283098"/>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9/kb79627d4c2.png">    </p:cNvPr>
          <p:cNvPicPr>
            <a:picLocks noChangeAspect="1"/>
          </p:cNvPicPr>
          <p:nvPr/>
        </p:nvPicPr>
        <p:blipFill>
          <a:blip r:embed="rId9"/>
          <a:stretch>
            <a:fillRect/>
          </a:stretch>
        </p:blipFill>
        <p:spPr>
          <a:xfrm>
            <a:off x="4933225" y="3566160"/>
            <a:ext cx="2295071" cy="674004"/>
          </a:xfrm>
          <a:prstGeom prst="rect">
            <a:avLst/>
          </a:prstGeom>
        </p:spPr>
      </p:pic>
      <p:pic>
        <p:nvPicPr>
          <p:cNvPr id="41" name="Image 9" descr="m_AP1-9/kdb96a127d6.png">    </p:cNvPr>
          <p:cNvPicPr>
            <a:picLocks noChangeAspect="1"/>
          </p:cNvPicPr>
          <p:nvPr/>
        </p:nvPicPr>
        <p:blipFill>
          <a:blip r:embed="rId10"/>
          <a:stretch>
            <a:fillRect/>
          </a:stretch>
        </p:blipFill>
        <p:spPr>
          <a:xfrm>
            <a:off x="4768962" y="4395612"/>
            <a:ext cx="2623596" cy="687995"/>
          </a:xfrm>
          <a:prstGeom prst="rect">
            <a:avLst/>
          </a:prstGeom>
        </p:spPr>
      </p:pic>
      <p:pic>
        <p:nvPicPr>
          <p:cNvPr id="42" name="Image 10" descr="m_AP1-9/kbc5cdae3f4.png">    </p:cNvPr>
          <p:cNvPicPr>
            <a:picLocks noChangeAspect="1"/>
          </p:cNvPicPr>
          <p:nvPr/>
        </p:nvPicPr>
        <p:blipFill>
          <a:blip r:embed="rId11"/>
          <a:stretch>
            <a:fillRect/>
          </a:stretch>
        </p:blipFill>
        <p:spPr>
          <a:xfrm>
            <a:off x="4474342" y="5239055"/>
            <a:ext cx="3212836" cy="312725"/>
          </a:xfrm>
          <a:prstGeom prst="rect">
            <a:avLst/>
          </a:prstGeom>
        </p:spPr>
      </p:pic>
      <p:pic>
        <p:nvPicPr>
          <p:cNvPr id="43" name="Image 11" descr="m_AP1-9/kb4a2c579ec.png">    </p:cNvPr>
          <p:cNvPicPr>
            <a:picLocks noChangeAspect="1"/>
          </p:cNvPicPr>
          <p:nvPr/>
        </p:nvPicPr>
        <p:blipFill>
          <a:blip r:embed="rId12"/>
          <a:stretch>
            <a:fillRect/>
          </a:stretch>
        </p:blipFill>
        <p:spPr>
          <a:xfrm>
            <a:off x="4434840" y="5707228"/>
            <a:ext cx="3291840" cy="263592"/>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9/k9285ee7494.png">    </p:cNvPr>
          <p:cNvPicPr>
            <a:picLocks noChangeAspect="1"/>
          </p:cNvPicPr>
          <p:nvPr/>
        </p:nvPicPr>
        <p:blipFill>
          <a:blip r:embed="rId13"/>
          <a:stretch>
            <a:fillRect/>
          </a:stretch>
        </p:blipFill>
        <p:spPr>
          <a:xfrm>
            <a:off x="8985489" y="3566160"/>
            <a:ext cx="1780062" cy="670548"/>
          </a:xfrm>
          <a:prstGeom prst="rect">
            <a:avLst/>
          </a:prstGeom>
        </p:spPr>
      </p:pic>
      <p:pic>
        <p:nvPicPr>
          <p:cNvPr id="47" name="Image 13" descr="m_AP1-9/k03405fd29b.png">    </p:cNvPr>
          <p:cNvPicPr>
            <a:picLocks noChangeAspect="1"/>
          </p:cNvPicPr>
          <p:nvPr/>
        </p:nvPicPr>
        <p:blipFill>
          <a:blip r:embed="rId14"/>
          <a:stretch>
            <a:fillRect/>
          </a:stretch>
        </p:blipFill>
        <p:spPr>
          <a:xfrm>
            <a:off x="8264164" y="4392156"/>
            <a:ext cx="3222711" cy="322600"/>
          </a:xfrm>
          <a:prstGeom prst="rect">
            <a:avLst/>
          </a:prstGeom>
        </p:spPr>
      </p:pic>
      <p:pic>
        <p:nvPicPr>
          <p:cNvPr id="48" name="Image 14" descr="m_AP1-9/k8729c546ef.png">    </p:cNvPr>
          <p:cNvPicPr>
            <a:picLocks noChangeAspect="1"/>
          </p:cNvPicPr>
          <p:nvPr/>
        </p:nvPicPr>
        <p:blipFill>
          <a:blip r:embed="rId15"/>
          <a:stretch>
            <a:fillRect/>
          </a:stretch>
        </p:blipFill>
        <p:spPr>
          <a:xfrm>
            <a:off x="8571951" y="4870204"/>
            <a:ext cx="2607137" cy="312725"/>
          </a:xfrm>
          <a:prstGeom prst="rect">
            <a:avLst/>
          </a:prstGeom>
        </p:spPr>
      </p:pic>
      <p:pic>
        <p:nvPicPr>
          <p:cNvPr id="49" name="Image 15" descr="m_AP1-9/k47c0f9c530.png">    </p:cNvPr>
          <p:cNvPicPr>
            <a:picLocks noChangeAspect="1"/>
          </p:cNvPicPr>
          <p:nvPr/>
        </p:nvPicPr>
        <p:blipFill>
          <a:blip r:embed="rId16"/>
          <a:stretch>
            <a:fillRect/>
          </a:stretch>
        </p:blipFill>
        <p:spPr>
          <a:xfrm>
            <a:off x="8371149" y="5338377"/>
            <a:ext cx="3008742" cy="2600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Behavior near a vertical asymptote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9/ka3052c9363.png">    </p:cNvPr>
          <p:cNvPicPr>
            <a:picLocks noChangeAspect="1"/>
          </p:cNvPicPr>
          <p:nvPr/>
        </p:nvPicPr>
        <p:blipFill>
          <a:blip r:embed="rId3"/>
          <a:stretch>
            <a:fillRect/>
          </a:stretch>
        </p:blipFill>
        <p:spPr>
          <a:xfrm>
            <a:off x="3542386" y="2061058"/>
            <a:ext cx="2220163" cy="541325"/>
          </a:xfrm>
          <a:prstGeom prst="rect">
            <a:avLst/>
          </a:prstGeom>
        </p:spPr>
      </p:pic>
      <p:pic>
        <p:nvPicPr>
          <p:cNvPr id="31" name="Image 3" descr="m_AP1-9/kea4ffcc5fd.png">    </p:cNvPr>
          <p:cNvPicPr>
            <a:picLocks noChangeAspect="1"/>
          </p:cNvPicPr>
          <p:nvPr/>
        </p:nvPicPr>
        <p:blipFill>
          <a:blip r:embed="rId4"/>
          <a:stretch>
            <a:fillRect/>
          </a:stretch>
        </p:blipFill>
        <p:spPr>
          <a:xfrm>
            <a:off x="6402629" y="2061058"/>
            <a:ext cx="2216506" cy="541325"/>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9_behavior.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9/k350f5db961.png">    </p:cNvPr>
          <p:cNvPicPr>
            <a:picLocks noChangeAspect="1"/>
          </p:cNvPicPr>
          <p:nvPr/>
        </p:nvPicPr>
        <p:blipFill>
          <a:blip r:embed="rId6"/>
          <a:stretch>
            <a:fillRect/>
          </a:stretch>
        </p:blipFill>
        <p:spPr>
          <a:xfrm>
            <a:off x="4709160" y="3566160"/>
            <a:ext cx="3154680" cy="577851"/>
          </a:xfrm>
          <a:prstGeom prst="rect">
            <a:avLst/>
          </a:prstGeom>
        </p:spPr>
      </p:pic>
      <p:pic>
        <p:nvPicPr>
          <p:cNvPr id="37" name="Image 6" descr="m_AP1-9/ke7fea8d5c8.png">    </p:cNvPr>
          <p:cNvPicPr>
            <a:picLocks noChangeAspect="1"/>
          </p:cNvPicPr>
          <p:nvPr/>
        </p:nvPicPr>
        <p:blipFill>
          <a:blip r:embed="rId7"/>
          <a:stretch>
            <a:fillRect/>
          </a:stretch>
        </p:blipFill>
        <p:spPr>
          <a:xfrm>
            <a:off x="4926970" y="4299459"/>
            <a:ext cx="2719060" cy="618866"/>
          </a:xfrm>
          <a:prstGeom prst="rect">
            <a:avLst/>
          </a:prstGeom>
        </p:spPr>
      </p:pic>
      <p:pic>
        <p:nvPicPr>
          <p:cNvPr id="38" name="Image 7" descr="m_AP1-9/kd442344fb5.png">    </p:cNvPr>
          <p:cNvPicPr>
            <a:picLocks noChangeAspect="1"/>
          </p:cNvPicPr>
          <p:nvPr/>
        </p:nvPicPr>
        <p:blipFill>
          <a:blip r:embed="rId8"/>
          <a:stretch>
            <a:fillRect/>
          </a:stretch>
        </p:blipFill>
        <p:spPr>
          <a:xfrm>
            <a:off x="4930262" y="5073773"/>
            <a:ext cx="2712476" cy="618866"/>
          </a:xfrm>
          <a:prstGeom prst="rect">
            <a:avLst/>
          </a:prstGeom>
        </p:spPr>
      </p:pic>
      <p:pic>
        <p:nvPicPr>
          <p:cNvPr id="39" name="Image 8" descr="m_AP1-9/k5ff4a9d845.png">    </p:cNvPr>
          <p:cNvPicPr>
            <a:picLocks noChangeAspect="1"/>
          </p:cNvPicPr>
          <p:nvPr/>
        </p:nvPicPr>
        <p:blipFill>
          <a:blip r:embed="rId9"/>
          <a:stretch>
            <a:fillRect/>
          </a:stretch>
        </p:blipFill>
        <p:spPr>
          <a:xfrm>
            <a:off x="5145877" y="5848087"/>
            <a:ext cx="2281245" cy="260055"/>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AP1-9/k7477e53ad4.png">    </p:cNvPr>
          <p:cNvPicPr>
            <a:picLocks noChangeAspect="1"/>
          </p:cNvPicPr>
          <p:nvPr/>
        </p:nvPicPr>
        <p:blipFill>
          <a:blip r:embed="rId10"/>
          <a:stretch>
            <a:fillRect/>
          </a:stretch>
        </p:blipFill>
        <p:spPr>
          <a:xfrm>
            <a:off x="8366760" y="3566160"/>
            <a:ext cx="3154680" cy="612190"/>
          </a:xfrm>
          <a:prstGeom prst="rect">
            <a:avLst/>
          </a:prstGeom>
        </p:spPr>
      </p:pic>
      <p:pic>
        <p:nvPicPr>
          <p:cNvPr id="43" name="Image 10" descr="m_AP1-9/ka850d8f576.png">    </p:cNvPr>
          <p:cNvPicPr>
            <a:picLocks noChangeAspect="1"/>
          </p:cNvPicPr>
          <p:nvPr/>
        </p:nvPicPr>
        <p:blipFill>
          <a:blip r:embed="rId11"/>
          <a:stretch>
            <a:fillRect/>
          </a:stretch>
        </p:blipFill>
        <p:spPr>
          <a:xfrm>
            <a:off x="8693201" y="4333798"/>
            <a:ext cx="2501798" cy="618866"/>
          </a:xfrm>
          <a:prstGeom prst="rect">
            <a:avLst/>
          </a:prstGeom>
        </p:spPr>
      </p:pic>
      <p:pic>
        <p:nvPicPr>
          <p:cNvPr id="44" name="Image 11" descr="m_AP1-9/kc6c724c4bf.png">    </p:cNvPr>
          <p:cNvPicPr>
            <a:picLocks noChangeAspect="1"/>
          </p:cNvPicPr>
          <p:nvPr/>
        </p:nvPicPr>
        <p:blipFill>
          <a:blip r:embed="rId12"/>
          <a:stretch>
            <a:fillRect/>
          </a:stretch>
        </p:blipFill>
        <p:spPr>
          <a:xfrm>
            <a:off x="8691555" y="5108111"/>
            <a:ext cx="2505090" cy="618866"/>
          </a:xfrm>
          <a:prstGeom prst="rect">
            <a:avLst/>
          </a:prstGeom>
        </p:spPr>
      </p:pic>
      <p:pic>
        <p:nvPicPr>
          <p:cNvPr id="45" name="Image 12" descr="m_AP1-9/k5ff4a9d845.png">    </p:cNvPr>
          <p:cNvPicPr>
            <a:picLocks noChangeAspect="1"/>
          </p:cNvPicPr>
          <p:nvPr/>
        </p:nvPicPr>
        <p:blipFill>
          <a:blip r:embed="rId13"/>
          <a:stretch>
            <a:fillRect/>
          </a:stretch>
        </p:blipFill>
        <p:spPr>
          <a:xfrm>
            <a:off x="8803477" y="5882425"/>
            <a:ext cx="2281245" cy="2600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Multiplicity and the two sides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9/k640cb93935.png">    </p:cNvPr>
          <p:cNvPicPr>
            <a:picLocks noChangeAspect="1"/>
          </p:cNvPicPr>
          <p:nvPr/>
        </p:nvPicPr>
        <p:blipFill>
          <a:blip r:embed="rId3"/>
          <a:stretch>
            <a:fillRect/>
          </a:stretch>
        </p:blipFill>
        <p:spPr>
          <a:xfrm>
            <a:off x="1993392" y="2187245"/>
            <a:ext cx="2161642" cy="288950"/>
          </a:xfrm>
          <a:prstGeom prst="rect">
            <a:avLst/>
          </a:prstGeom>
        </p:spPr>
      </p:pic>
      <p:pic>
        <p:nvPicPr>
          <p:cNvPr id="31" name="Image 3" descr="m_AP1-9/k4ee6c81a62.png">    </p:cNvPr>
          <p:cNvPicPr>
            <a:picLocks noChangeAspect="1"/>
          </p:cNvPicPr>
          <p:nvPr/>
        </p:nvPicPr>
        <p:blipFill>
          <a:blip r:embed="rId4"/>
          <a:stretch>
            <a:fillRect/>
          </a:stretch>
        </p:blipFill>
        <p:spPr>
          <a:xfrm>
            <a:off x="4795114" y="2157984"/>
            <a:ext cx="2260397" cy="347472"/>
          </a:xfrm>
          <a:prstGeom prst="rect">
            <a:avLst/>
          </a:prstGeom>
        </p:spPr>
      </p:pic>
      <p:pic>
        <p:nvPicPr>
          <p:cNvPr id="32" name="Image 4" descr="m_AP1-9/k938eb6d744.png">    </p:cNvPr>
          <p:cNvPicPr>
            <a:picLocks noChangeAspect="1"/>
          </p:cNvPicPr>
          <p:nvPr/>
        </p:nvPicPr>
        <p:blipFill>
          <a:blip r:embed="rId5"/>
          <a:stretch>
            <a:fillRect/>
          </a:stretch>
        </p:blipFill>
        <p:spPr>
          <a:xfrm>
            <a:off x="7695590" y="2157984"/>
            <a:ext cx="2472538" cy="347472"/>
          </a:xfrm>
          <a:prstGeom prst="rect">
            <a:avLst/>
          </a:prstGeom>
        </p:spPr>
      </p:pic>
      <p:sp>
        <p:nvSpPr>
          <p:cNvPr id="33"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5" name="Image 5" descr="m_AP1-9/kecfcbefd94.png">    </p:cNvPr>
          <p:cNvPicPr>
            <a:picLocks noChangeAspect="1"/>
          </p:cNvPicPr>
          <p:nvPr/>
        </p:nvPicPr>
        <p:blipFill>
          <a:blip r:embed="rId6"/>
          <a:stretch>
            <a:fillRect/>
          </a:stretch>
        </p:blipFill>
        <p:spPr>
          <a:xfrm>
            <a:off x="1278450" y="3566160"/>
            <a:ext cx="2015100" cy="722394"/>
          </a:xfrm>
          <a:prstGeom prst="rect">
            <a:avLst/>
          </a:prstGeom>
        </p:spPr>
      </p:pic>
      <p:pic>
        <p:nvPicPr>
          <p:cNvPr id="36" name="Image 6" descr="m_AP1-9/k902cafc8b7.png">    </p:cNvPr>
          <p:cNvPicPr>
            <a:picLocks noChangeAspect="1"/>
          </p:cNvPicPr>
          <p:nvPr/>
        </p:nvPicPr>
        <p:blipFill>
          <a:blip r:embed="rId7"/>
          <a:stretch>
            <a:fillRect/>
          </a:stretch>
        </p:blipFill>
        <p:spPr>
          <a:xfrm>
            <a:off x="712500" y="4444002"/>
            <a:ext cx="3146999" cy="368686"/>
          </a:xfrm>
          <a:prstGeom prst="rect">
            <a:avLst/>
          </a:prstGeom>
        </p:spPr>
      </p:pic>
      <p:pic>
        <p:nvPicPr>
          <p:cNvPr id="37" name="Image 7" descr="m_AP1-9/k79c2244bc1.png">    </p:cNvPr>
          <p:cNvPicPr>
            <a:picLocks noChangeAspect="1"/>
          </p:cNvPicPr>
          <p:nvPr/>
        </p:nvPicPr>
        <p:blipFill>
          <a:blip r:embed="rId8"/>
          <a:stretch>
            <a:fillRect/>
          </a:stretch>
        </p:blipFill>
        <p:spPr>
          <a:xfrm>
            <a:off x="789859" y="4968136"/>
            <a:ext cx="2992283" cy="470733"/>
          </a:xfrm>
          <a:prstGeom prst="rect">
            <a:avLst/>
          </a:prstGeom>
        </p:spPr>
      </p:pic>
      <p:pic>
        <p:nvPicPr>
          <p:cNvPr id="38" name="Image 8" descr="m_AP1-9/k9eafc19aac.png">    </p:cNvPr>
          <p:cNvPicPr>
            <a:picLocks noChangeAspect="1"/>
          </p:cNvPicPr>
          <p:nvPr/>
        </p:nvPicPr>
        <p:blipFill>
          <a:blip r:embed="rId9"/>
          <a:stretch>
            <a:fillRect/>
          </a:stretch>
        </p:blipFill>
        <p:spPr>
          <a:xfrm>
            <a:off x="1056498" y="5594317"/>
            <a:ext cx="2459004" cy="260055"/>
          </a:xfrm>
          <a:prstGeom prst="rect">
            <a:avLst/>
          </a:prstGeom>
        </p:spPr>
      </p:pic>
      <p:sp>
        <p:nvSpPr>
          <p:cNvPr id="39"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9" descr="m_AP1-9/k205da4db00.png">    </p:cNvPr>
          <p:cNvPicPr>
            <a:picLocks noChangeAspect="1"/>
          </p:cNvPicPr>
          <p:nvPr/>
        </p:nvPicPr>
        <p:blipFill>
          <a:blip r:embed="rId10"/>
          <a:stretch>
            <a:fillRect/>
          </a:stretch>
        </p:blipFill>
        <p:spPr>
          <a:xfrm>
            <a:off x="5117255" y="3566160"/>
            <a:ext cx="1927009" cy="687278"/>
          </a:xfrm>
          <a:prstGeom prst="rect">
            <a:avLst/>
          </a:prstGeom>
        </p:spPr>
      </p:pic>
      <p:pic>
        <p:nvPicPr>
          <p:cNvPr id="42" name="Image 10" descr="m_AP1-9/ka85312773f.png">    </p:cNvPr>
          <p:cNvPicPr>
            <a:picLocks noChangeAspect="1"/>
          </p:cNvPicPr>
          <p:nvPr/>
        </p:nvPicPr>
        <p:blipFill>
          <a:blip r:embed="rId11"/>
          <a:stretch>
            <a:fillRect/>
          </a:stretch>
        </p:blipFill>
        <p:spPr>
          <a:xfrm>
            <a:off x="4790450" y="4401330"/>
            <a:ext cx="2580620" cy="588782"/>
          </a:xfrm>
          <a:prstGeom prst="rect">
            <a:avLst/>
          </a:prstGeom>
        </p:spPr>
      </p:pic>
      <p:pic>
        <p:nvPicPr>
          <p:cNvPr id="43" name="Image 11" descr="m_AP1-9/kae77da199b.png">    </p:cNvPr>
          <p:cNvPicPr>
            <a:picLocks noChangeAspect="1"/>
          </p:cNvPicPr>
          <p:nvPr/>
        </p:nvPicPr>
        <p:blipFill>
          <a:blip r:embed="rId12"/>
          <a:stretch>
            <a:fillRect/>
          </a:stretch>
        </p:blipFill>
        <p:spPr>
          <a:xfrm>
            <a:off x="4787318" y="5138003"/>
            <a:ext cx="2586884" cy="588782"/>
          </a:xfrm>
          <a:prstGeom prst="rect">
            <a:avLst/>
          </a:prstGeom>
        </p:spPr>
      </p:pic>
      <p:pic>
        <p:nvPicPr>
          <p:cNvPr id="44" name="Image 12" descr="m_AP1-9/k2280dcae9d.png">    </p:cNvPr>
          <p:cNvPicPr>
            <a:picLocks noChangeAspect="1"/>
          </p:cNvPicPr>
          <p:nvPr/>
        </p:nvPicPr>
        <p:blipFill>
          <a:blip r:embed="rId13"/>
          <a:stretch>
            <a:fillRect/>
          </a:stretch>
        </p:blipFill>
        <p:spPr>
          <a:xfrm>
            <a:off x="4763829" y="5874677"/>
            <a:ext cx="2633861" cy="297523"/>
          </a:xfrm>
          <a:prstGeom prst="rect">
            <a:avLst/>
          </a:prstGeom>
        </p:spPr>
      </p:pic>
      <p:sp>
        <p:nvSpPr>
          <p:cNvPr id="45"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6"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7" name="Image 13" descr="m_AP1-9/k7b9ece160e.png">    </p:cNvPr>
          <p:cNvPicPr>
            <a:picLocks noChangeAspect="1"/>
          </p:cNvPicPr>
          <p:nvPr/>
        </p:nvPicPr>
        <p:blipFill>
          <a:blip r:embed="rId14"/>
          <a:stretch>
            <a:fillRect/>
          </a:stretch>
        </p:blipFill>
        <p:spPr>
          <a:xfrm>
            <a:off x="8441101" y="3566160"/>
            <a:ext cx="2868839" cy="763871"/>
          </a:xfrm>
          <a:prstGeom prst="rect">
            <a:avLst/>
          </a:prstGeom>
        </p:spPr>
      </p:pic>
      <p:pic>
        <p:nvPicPr>
          <p:cNvPr id="48" name="Image 14" descr="m_AP1-9/k70baeec774.png">    </p:cNvPr>
          <p:cNvPicPr>
            <a:picLocks noChangeAspect="1"/>
          </p:cNvPicPr>
          <p:nvPr/>
        </p:nvPicPr>
        <p:blipFill>
          <a:blip r:embed="rId15"/>
          <a:stretch>
            <a:fillRect/>
          </a:stretch>
        </p:blipFill>
        <p:spPr>
          <a:xfrm>
            <a:off x="8229600" y="4485479"/>
            <a:ext cx="3291840" cy="217266"/>
          </a:xfrm>
          <a:prstGeom prst="rect">
            <a:avLst/>
          </a:prstGeom>
        </p:spPr>
      </p:pic>
      <p:pic>
        <p:nvPicPr>
          <p:cNvPr id="49" name="Image 15" descr="m_AP1-9/kad96371680.png">    </p:cNvPr>
          <p:cNvPicPr>
            <a:picLocks noChangeAspect="1"/>
          </p:cNvPicPr>
          <p:nvPr/>
        </p:nvPicPr>
        <p:blipFill>
          <a:blip r:embed="rId16"/>
          <a:stretch>
            <a:fillRect/>
          </a:stretch>
        </p:blipFill>
        <p:spPr>
          <a:xfrm>
            <a:off x="8229600" y="4858194"/>
            <a:ext cx="3291840" cy="234511"/>
          </a:xfrm>
          <a:prstGeom prst="rect">
            <a:avLst/>
          </a:prstGeom>
        </p:spPr>
      </p:pic>
      <p:pic>
        <p:nvPicPr>
          <p:cNvPr id="50" name="Image 16" descr="m_AP1-9/kb9750dae2d.png">    </p:cNvPr>
          <p:cNvPicPr>
            <a:picLocks noChangeAspect="1"/>
          </p:cNvPicPr>
          <p:nvPr/>
        </p:nvPicPr>
        <p:blipFill>
          <a:blip r:embed="rId17"/>
          <a:stretch>
            <a:fillRect/>
          </a:stretch>
        </p:blipFill>
        <p:spPr>
          <a:xfrm>
            <a:off x="8229600" y="5248153"/>
            <a:ext cx="3291840" cy="6131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9/k684024b988.png">    </p:cNvPr>
          <p:cNvPicPr>
            <a:picLocks noChangeAspect="1"/>
          </p:cNvPicPr>
          <p:nvPr/>
        </p:nvPicPr>
        <p:blipFill>
          <a:blip r:embed="rId3"/>
          <a:stretch>
            <a:fillRect/>
          </a:stretch>
        </p:blipFill>
        <p:spPr>
          <a:xfrm>
            <a:off x="1317650" y="2926080"/>
            <a:ext cx="1890979" cy="713232"/>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factor first, list every zero of the denominator, and mark each as an asymptote or not.</a:t>
            </a:r>
            <a:endParaRPr lang="en-US" sz="11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9/k682652c829.png">    </p:cNvPr>
          <p:cNvPicPr>
            <a:picLocks noChangeAspect="1"/>
          </p:cNvPicPr>
          <p:nvPr/>
        </p:nvPicPr>
        <p:blipFill>
          <a:blip r:embed="rId4"/>
          <a:stretch>
            <a:fillRect/>
          </a:stretch>
        </p:blipFill>
        <p:spPr>
          <a:xfrm>
            <a:off x="4366260" y="2926080"/>
            <a:ext cx="3383280" cy="813700"/>
          </a:xfrm>
          <a:prstGeom prst="rect">
            <a:avLst/>
          </a:prstGeom>
        </p:spPr>
      </p:pic>
      <p:sp>
        <p:nvSpPr>
          <p:cNvPr id="40"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asymptote is written as an equation and you finish the sentence: as the percentage approaches 100 from the left, the cost...</a:t>
            </a:r>
            <a:endParaRPr lang="en-US" sz="1150" dirty="0"/>
          </a:p>
        </p:txBody>
      </p:sp>
      <p:sp>
        <p:nvSpPr>
          <p:cNvPr id="41"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2"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3"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4"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5" name="Image 4" descr="m_AP1-9/k0708346dc6.png">    </p:cNvPr>
          <p:cNvPicPr>
            <a:picLocks noChangeAspect="1"/>
          </p:cNvPicPr>
          <p:nvPr/>
        </p:nvPicPr>
        <p:blipFill>
          <a:blip r:embed="rId5"/>
          <a:stretch>
            <a:fillRect/>
          </a:stretch>
        </p:blipFill>
        <p:spPr>
          <a:xfrm>
            <a:off x="8161020" y="2926080"/>
            <a:ext cx="3383280" cy="806610"/>
          </a:xfrm>
          <a:prstGeom prst="rect">
            <a:avLst/>
          </a:prstGeom>
        </p:spPr>
      </p:pic>
      <p:sp>
        <p:nvSpPr>
          <p:cNvPr id="46"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explanation uses the sign of the denominator on each side and names the multiplicity of the zero.</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a ferry on a river</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ferry sails 36 km up a river against a current of 4 km per hour, then 36 km back with the current. Its speed in still water is v km per hour. The numbers are model values for practice, not a real timetable.</a:t>
            </a:r>
            <a:endParaRPr lang="en-US" sz="1500" dirty="0"/>
          </a:p>
        </p:txBody>
      </p:sp>
      <p:pic>
        <p:nvPicPr>
          <p:cNvPr id="32" name="Image 2" descr="m_AP1-9/k7f57a8b26e.png">    </p:cNvPr>
          <p:cNvPicPr>
            <a:picLocks noChangeAspect="1"/>
          </p:cNvPicPr>
          <p:nvPr/>
        </p:nvPicPr>
        <p:blipFill>
          <a:blip r:embed="rId3"/>
          <a:stretch>
            <a:fillRect/>
          </a:stretch>
        </p:blipFill>
        <p:spPr>
          <a:xfrm>
            <a:off x="2218700" y="3429000"/>
            <a:ext cx="2329160" cy="570586"/>
          </a:xfrm>
          <a:prstGeom prst="rect">
            <a:avLst/>
          </a:prstGeom>
        </p:spPr>
      </p:pic>
      <p:pic>
        <p:nvPicPr>
          <p:cNvPr id="33" name="Image 3" descr="m_AP1-9/kcc409f4acb.png">    </p:cNvPr>
          <p:cNvPicPr>
            <a:picLocks noChangeAspect="1"/>
          </p:cNvPicPr>
          <p:nvPr/>
        </p:nvPicPr>
        <p:blipFill>
          <a:blip r:embed="rId4"/>
          <a:stretch>
            <a:fillRect/>
          </a:stretch>
        </p:blipFill>
        <p:spPr>
          <a:xfrm>
            <a:off x="3070189" y="4109314"/>
            <a:ext cx="626181" cy="225308"/>
          </a:xfrm>
          <a:prstGeom prst="rect">
            <a:avLst/>
          </a:prstGeom>
        </p:spPr>
      </p:pic>
      <p:sp>
        <p:nvSpPr>
          <p:cNvPr id="34" name="Text 27"/>
          <p:cNvSpPr txBox="1"/>
          <p:nvPr/>
        </p:nvSpPr>
        <p:spPr>
          <a:xfrm>
            <a:off x="731520" y="4581510"/>
            <a:ext cx="5303520" cy="163641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Write the travel time as a single fraction and find its vertical asymptotes.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limit notation for v approaching 4 from the right and explain it in words for the ferry.</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round-trip time at 12 km per hour and say why the asymptote at negative 4 is not part of the model.</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single fraction is simplified and its denominator is factored.</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Both asymptotes are written as equations.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one-sided limit is written with the correct sign and explained in hours.</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time at 12 km per hour is given with units and the domain is used to reject the second asymptote.</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use the product of the two denominators as the common denominator, and multiply each numerator by the other factor.</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9/k28f5a4b843.png">    </p:cNvPr>
          <p:cNvPicPr>
            <a:picLocks noChangeAspect="1"/>
          </p:cNvPicPr>
          <p:nvPr/>
        </p:nvPicPr>
        <p:blipFill>
          <a:blip r:embed="rId3"/>
          <a:stretch>
            <a:fillRect/>
          </a:stretch>
        </p:blipFill>
        <p:spPr>
          <a:xfrm>
            <a:off x="1361724" y="2743200"/>
            <a:ext cx="1848551" cy="677570"/>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9/k9a48a305aa.png">    </p:cNvPr>
          <p:cNvPicPr>
            <a:picLocks noChangeAspect="1"/>
          </p:cNvPicPr>
          <p:nvPr/>
        </p:nvPicPr>
        <p:blipFill>
          <a:blip r:embed="rId4"/>
          <a:stretch>
            <a:fillRect/>
          </a:stretch>
        </p:blipFill>
        <p:spPr>
          <a:xfrm>
            <a:off x="5070805" y="2743200"/>
            <a:ext cx="1928470" cy="618500"/>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9/kedf51051f5.png">    </p:cNvPr>
          <p:cNvPicPr>
            <a:picLocks noChangeAspect="1"/>
          </p:cNvPicPr>
          <p:nvPr/>
        </p:nvPicPr>
        <p:blipFill>
          <a:blip r:embed="rId5"/>
          <a:stretch>
            <a:fillRect/>
          </a:stretch>
        </p:blipFill>
        <p:spPr>
          <a:xfrm>
            <a:off x="8385505" y="2743200"/>
            <a:ext cx="2797150" cy="726216"/>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1.9.A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rational function with vertical asymptotes at negative 2 and at 5 and a zero at 1.</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Check it: factor your denominator and confirm that no numerator zero cancels an asymptote.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they list the asymptotes and the sign of the output just to the right of 5.</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both asymptotes, the zero and the sign to the right of 5.</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9/kb1b5519def.png">    </p:cNvPr>
          <p:cNvPicPr>
            <a:picLocks noChangeAspect="1"/>
          </p:cNvPicPr>
          <p:nvPr/>
        </p:nvPicPr>
        <p:blipFill>
          <a:blip r:embed="rId3"/>
          <a:stretch>
            <a:fillRect/>
          </a:stretch>
        </p:blipFill>
        <p:spPr>
          <a:xfrm>
            <a:off x="8081833" y="3703320"/>
            <a:ext cx="1758574" cy="588142"/>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1.10 Rational Functions and Holes.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Factor first, then each real zero of the denominator that is not cancelled gives a vertical asymptote, and the signs of the factors on each side decide whether the graph rises or falls.</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1.9 Rational Functions and Vertical Asymptotes presentation</dc:title>
  <dc:subject>PptxGenJS Presentation</dc:subject>
  <dc:creator>Mr Malek Thiab</dc:creator>
  <cp:lastModifiedBy>Mr Malek Thiab</cp:lastModifiedBy>
  <cp:revision>1</cp:revision>
  <dcterms:created xsi:type="dcterms:W3CDTF">2026-10-17T17:42:19Z</dcterms:created>
  <dcterms:modified xsi:type="dcterms:W3CDTF">2026-10-17T17:42:19Z</dcterms:modified>
</cp:coreProperties>
</file>