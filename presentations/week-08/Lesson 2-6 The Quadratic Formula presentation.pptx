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Welcome to Lesson 2-6: The Quadratic Formula.
Timing: 60 minutes (Diagnose 6, Targeted Instruction 18, Practice 12, Production 12, Mastery Gate 6, Smart Production 6). For a 40-minute class scale every station by two thirds.
The journey map on the next slide shows the six stations; in slideshow mode the Morph transition zooms the station circles into the breadcrumb at the top of every later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whole map. Walk it left to right: Diagnose (what we already know), Targeted Instruction (The quadratic formula; The discriminant; Nonreal solutions; The discriminant with an unknown), Practice (Practice, Apply, Investigate), Production (Jeddah Season ticket price), Mastery Gate (three questions to pass), Smart Production (create, then Time to Check).
In slideshow mode the Morph transition animates these circles shrinking into the breadcrumb on later slides; without Morph the slides fade.
Ask the class which station they think will be hardest.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Read the objectives aloud one at a time and have students say which one they feel least sure about.
Vocabulary used today: Discriminant, quadratic formula.
Standards are listed on this slide.
The essential question and mathematical practices are not shown because they are not in the project documents; add them from the curriculum map if you want them displayed.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(Diagnose, 6 min, no calculator):
Answers. Q1: b² = (−3)² = 9 and −4ac = −4(2)(−5) = +40, so b² − 4ac = 9 + 40 = 49. Q2: √20 = 2√5, so the top is 4 + 2√5; dividing EVERY term by 2 gives 2 + √5. Q3: √(−36) = √36 × √(−1) = 6i. Verbal misconceptions: Q1 students write (−3)² as −9 and get −9 + 40 = 31, or lose the sign of −4ac and get 9 − 40 = −31; Q2 students divide only the 4 and write 2 + √20, or write √20 ÷ 2 = √10; Q3 students write −6 or say 'impossible' (it is not a real number, but it is 6i). Adaptive routing: if &gt;30% miss Q1, rehearse substituting negative numbers inside brackets for 2 minutes, then go to slide 5 / block 1; if &gt;30% miss Q2, work two more radical fractions such as (6 + √12)/2 before slide 5 / block 1 Example C; if &gt;30% miss Q3, recall Lesson 2-4 (√(−n) = √n · i) and go to slide 7 / block 3. If all three are secure, move quickly through slide 5 and start the Investigate route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1 of 4):
Worked solutions. The formula comes from completing the square on ax² + bx + c = 0 (Lesson 2-5): divide by a, add (b/2a)² to both sides, take square roots. Always write a, b and c WITH their signs, then substitute. Example A: a = 1, b = −5, c = 6. x = (5 ± √(25 − 24))/2 = (5 ± 1)/2, so x = 3 or x = 2. Check x = 3: 9 − 15 + 6 = 0. Example B: a = 2, b = 3, c = −5. b² − 4ac = 9 + 40 = 49; x = (−3 ± 7)/4, so x = 4/4 = 1 or x = −10/4 = −5/2. Check x = 1: 2 + 3 − 5 = 0. Example C: a = 1, b = −4, c = −1. b² − 4ac = 16 + 4 = 20; √20 = 2√5; x = (4 ± 2√5)/2 = 2 ± √5 (about 4.24 and −0.24). Verbal misconceptions: (1) using b instead of −b: with b = −5 the numerator starts with +5, not −5; (2) writing (−4)² as −16; (3) dividing by 2 instead of 2a in Example B (the denominator is 4); (4) dividing only one term by 2 in Example C: (4 ± 2√5)/2 is not 4 ± √5; (5) treating the whole fraction as '−b ± √… over 2 times a' by mistake with the a outside. Adaptive routing: if &gt;30% give x = 2.5 or x = −1.5 in Example B (dividing by 2 not 4), redo with the denominator boxed as 2a = 4; if &gt;30% miss Q2 of the Mastery Gate, come back to this slide (slide 5 / block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2 of 4):
Worked solutions. The discriminant is the part under the square root, Δ = b² − 4ac, and its sign decides everything before any solving. Example A: a = 1, b = 6, c = 9, Δ = 36 − 36 = 0, so there is exactly one real solution (a repeated solution) x = −6/2 = −3; the equation is (x + 3)² = 0. Example B: a = 1, b = 1, c = −3, Δ = 1 + 12 = 13; positive, so two real solutions; 13 is not a perfect square, so the solutions (−1 ± √13)/2 are irrational. Example C: a = 2, b = −3, c = 5, Δ = 9 − 40 = −31 &lt; 0, so two nonreal (complex) solutions that are conjugates of each other. Type rule: Δ &gt; 0 and a perfect square (such as 1, 4, 9, 49) gives two real RATIONAL solutions, which also means the quadratic factors over the integers; Δ &gt; 0 and not a perfect square gives two real IRRATIONAL solutions. Verbal misconceptions: (1) 'Δ = 0 means no solution' (it means exactly one real solution); (2) treating a negative Δ as 'no solution' instead of two nonreal solutions; (3) computing b² − 4ac with a sign slip, for example −3² = −9 in Example C; (4) saying Δ is the solution. Adaptive routing: if &gt;30% give Δ = 9 + 40 = 49 in Example C, return to the Diagnose slide Q1 (slide 4) and redo negative substitution; if &gt;30% miss Q1 of the Mastery Gate, come back to this slide (slide 6 / block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3 of 4):
Worked solutions. When Δ &lt; 0 the formula still works: √Δ = √(−n) = √n · i (Lesson 2-4). Write the answer as a ± bi and divide BOTH the real part and the imaginary part by 2a. Example A: Δ = 16 − 52 = −36; √(−36) = 6i; x = (4 ± 6i)/2 = 2 ± 3i. Check with the sum and product: (2 + 3i) + (2 − 3i) = 4 = −b/a; (2 + 3i)(2 − 3i) = 4 + 9 = 13 = c/a. Example B: a = 2, b = 2, c = 5; Δ = 4 − 40 = −36; x = (−2 ± 6i)/4 = −1/2 ± (3/2)i. Example C: Δ = 4 − 8 = −4; √(−4) = 2i; x = (−2 ± 2i)/2 = −1 ± i. The graph of y = x² − 4x + 13 never meets the x-axis, which is why the solutions are not real. Verbal misconceptions: (1) writing x = 4 ± 6i/2 (dividing only the imaginary part) or 2 ± 6i; (2) writing √(−36) = −6 or 6 without the i; (3) giving only one of the pair (the ± gives two solutions); (4) in Example B dividing by 2 instead of 4; (5) saying 'no solution' for Δ &lt; 0. Adaptive routing: if &gt;30% give 4 ± 3i in Example A, circle the whole numerator and divide each term; if &gt;30% miss Q3 of the Mastery Gate, come back to this slide (slide 7 / block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4 of 4):
Worked solutions. When a coefficient is unknown, write the discriminant in terms of k and set it equal to 0 (one real solution), greater than 0 (two) or less than 0 (none). Example A: a = 1, b = −4, c = k, so Δ = 16 − 4k = 0 and k = 4: the graph y = x² − 4x + 4 just touches the x-axis at x = 2 (the teal curve). The graph shows the family y = x² − 4x + c: c = 3 gives Δ = 4 and two x-intercepts (1 and 3), c = 4 gives Δ = 0 and one, c = 5 gives Δ = −4 and none. Example B: a = 1, b = k, c = 16, so Δ = k² − 4(16) = k² − 64 = 0, k² = 64, k = 8 or k = −8 (two values, because k is squared). For no real solutions in Example A: 16 − 4k &lt; 0, so k &gt; 4. Verbal misconceptions: (1) in Example B giving only k = 8; (2) writing b² as k and forgetting the square; (3) reversing the inequality when dividing by −4; (4) confusing 'one solution' with 'one value of k'. Adaptive routing: if &gt;30% give k = 8 only in Example B, ask 'what else squares to 64?' and show the graph for k = −8; if &gt;30% miss the SAT item on the Exam slide (slide 13), return to Example A (slide 8 / block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(Practice, 12 min; tierless differentiation: students choose the starting column and may move across):
Answers. Practice 1: a = 2, b = −5, c = −3; Δ = 25 + 24 = 49; x = (5 ± 7)/4 = 3 or −1/2. Check x = 3: 18 − 15 − 3 = 0. Practice 2: Δ = 36 − 40 = −4 &lt; 0, so two nonreal solutions (x = 3 ± i). Apply 1: Δ = 36 + 24 = 60; √60 = 2√15; x = (6 ± 2√15)/6 = 1 ± √15/3 (about 2.29 and −0.29). Apply 2: Δ = 36 − 100 = −64; √(−64) = 8i; x = (−6 ± 8i)/2 = −3 ± 4i. Investigate 1: Δ = 36 − 4k &gt; 0, so k &lt; 9 (k = 9 gives one solution, k &gt; 9 none). Investigate 2: for x² − 5x + 6, Δ = 25 − 24 = 1, a perfect square, so the solutions (5 ± 1)/2 = 3 and 2 are rational and the quadratic factors as (x − 2)(x − 3); for x² − 5x + 3, Δ = 25 − 12 = 13 is not a perfect square, so the solutions (5 ± √13)/2 are irrational and there are no integer factors. Verbal misconceptions: students lose the sign of b, divide only part of the numerator by 2a, stop at 'Δ &lt; 0, no solution', or reverse the inequality sign in Investigate 1. Adaptive routing: if most students finish Practice quickly, move them to Apply; students who choose Investigate may need the hint 'Δ = 36 − 4k must be positive'; if &gt;30% miss Apply 2, return to slide 7 / block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(Production, 12 min):
Model values only. Task 1: −10p² + 400p = 2 000 gives 10p² − 400p + 2 000 = 0, or p² − 40p + 200 = 0. Δ = 1 600 − 800 = 800 &gt; 0 (with a = 10: Δ = 160 000 − 80 000 = 80 000). p = (40 ± √800)/2 = (40 ± 20√2)/2 = 20 ± 10√2, so p ≈ 34.14 SAR or p ≈ 5.86 SAR. Check p = 20 + 10√2: R = 2 000. Task 2: R = 4 000 gives p² − 40p + 400 = 0; Δ = 1 600 − 1 600 = 0, so exactly one price, p = 20 SAR; R(20) = −4 000 + 8 000 = 4 000, the greatest revenue (the vertex). Task 3: R = 5 000 gives p² − 40p + 500 = 0; Δ = 1 600 − 2 000 = −400 &lt; 0, so there is no real price: the greatest possible revenue is 4 000 SAR, so 5 000 SAR cannot be reached. Verbal misconceptions: students forget to move T to the left so the equation equals zero; they use the sign of b wrongly (b = −400 after rearranging); they say Δ &lt; 0 means 'a mistake' rather than 'impossible target'; they keep both prices in Task 1 without checking they are positive (both are). Adaptive routing: if most groups cannot rearrange in Task 1, return to slide 5 / block 1 Example A; groups that finish early can find the two prices for a revenue of 3 000 SAR (10 and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(Mastery Gate, 6 min, no calculator):
Answers. Q1: Δ = 16 − 60 = −44 &lt; 0, so there are no real solutions (two nonreal). Q2: Δ = 36 − 16 = 20; x = (−6 ± 2√5)/2 = −3 ± √5. Q3: Δ = 4 − 68 = −64; √(−64) = 8i; x = (−2 ± 8i)/2 = −1 ± 4i. Verbal misconceptions: Q1 students write Δ = −16 − 60 or 16 + 60 = 76 and answer 'two'; Q2 students write x = (−6 ± √20)/2 = −3 ± √20 (dividing only one term) or use b = −6; Q3 students write x = −2 ± 8i or −1 ± 8i. Adaptive routing: students who miss Q1 return to slide 6 / block 2; Q2, slide 5 / block 1; Q3, slide 7 / block 3. Students who score 3 out of 3 move to Smart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(Smart Production, 6 min):
Exit ticket solution. a = 1, b = −6, c = 13; Δ = 36 − 52 = −16; √(−16) = 4i; x = (6 ± 4i)/2 = 3 ± 2i. Create task examples: x² + 2x − 3 = 0 has Δ = 16 and x = 1 or −3; x² + 2x + 1 = 0 has Δ = 0 and x = −1; x² + 2x + 5 = 0 has Δ = −16 and x = −1 ± 2i. Verbal misconceptions: students think Δ &lt; 0 means 'no solution', divide only the real part by 2, or give only one of the conjugate pair. Adaptive routing: collect the sticky notes and sort into correct, sign error in b, and only part of the numerator divided; start the next lesson with the most common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each exam item is worked in numbered steps.
SAT (Advanced Math, grid-in): one real solution means Δ = 0; Δ = 64 − 4c = 0 gives c = 16 (traps: c = 64, from forgetting the 4a; c = 4, from using half of b as c; c = −16, from a sign slip). GAT / Qudurat (quantitative comparison): Δ = 16 − 28 = −12 &lt; 0, so A has 0 real solutions, and 0 &lt; 1, so B is greater (trap: assuming every quadratic has two solutions and choosing A or 'equal'). SAAT / Tahsili: Δ = (−3)² − 4(2)(−1) = 9 + 8 = 17; x = (3 ± √17)/4 (traps: (−3 ± √17)/4 from the wrong sign of b; (3 ± √17)/2 from dividing by 2 instead of 2a = 4; Δ = 9 − 8 = 1 from losing the sign of c). Verbal reminders: write a, b, c with signs, and always find Δ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Every station is checked off. Recap in one sentence: The discriminant b² − 4ac tells you how many solutions and of what type, and the quadratic formula then solves any quadratic, giving a ± bi when the discriminant is negative. Collect the Time to Check responses. Next lesson: 2-7 Solving Linear-Quadratic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slideLayout" Target="../slideLayouts/slideLayout1.xml"/><Relationship Id="rId1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slideLayout" Target="../slideLayouts/slideLayout1.xml"/><Relationship Id="rId1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slideLayout" Target="../slideLayouts/slideLayout1.xml"/><Relationship Id="rId1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slideLayout" Target="../slideLayouts/slideLayout1.xml"/><Relationship Id="rId1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image" Target="../media/image-13-12.png"/><Relationship Id="rId13" Type="http://schemas.openxmlformats.org/officeDocument/2006/relationships/image" Target="../media/image-13-13.png"/><Relationship Id="rId14" Type="http://schemas.openxmlformats.org/officeDocument/2006/relationships/image" Target="../media/image-13-14.png"/><Relationship Id="rId15" Type="http://schemas.openxmlformats.org/officeDocument/2006/relationships/image" Target="../media/image-13-15.png"/><Relationship Id="rId16" Type="http://schemas.openxmlformats.org/officeDocument/2006/relationships/slideLayout" Target="../slideLayouts/slideLayout1.xml"/><Relationship Id="rId1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6583680" y="1463040"/>
            <a:ext cx="7863840" cy="7863840"/>
          </a:xfrm>
          <a:prstGeom prst="ellipse">
            <a:avLst/>
          </a:prstGeom>
          <a:solidFill>
            <a:srgbClr val="0E4F4C"/>
          </a:solidFill>
          <a:ln w="12700">
            <a:solidFill>
              <a:srgbClr val="0E4F4C"/>
            </a:solidFill>
            <a:prstDash val="solid"/>
          </a:ln>
        </p:spPr>
      </p:sp>
      <p:sp>
        <p:nvSpPr>
          <p:cNvPr id="3" name="Shape 1"/>
          <p:cNvSpPr/>
          <p:nvPr/>
        </p:nvSpPr>
        <p:spPr>
          <a:xfrm>
            <a:off x="8595360" y="-1463040"/>
            <a:ext cx="3291840" cy="3291840"/>
          </a:xfrm>
          <a:prstGeom prst="ellipse">
            <a:avLst/>
          </a:prstGeom>
          <a:solidFill>
            <a:srgbClr val="F0B323">
              <a:alpha val="30000"/>
            </a:srgbClr>
          </a:solidFill>
          <a:ln w="12700">
            <a:solidFill>
              <a:srgbClr val="F0B323">
                <a:alpha val="0"/>
              </a:srgbClr>
            </a:solidFill>
            <a:prstDash val="solid"/>
          </a:ln>
        </p:spPr>
      </p:sp>
      <p:sp>
        <p:nvSpPr>
          <p:cNvPr id="4" name="Shape 2"/>
          <p:cNvSpPr/>
          <p:nvPr/>
        </p:nvSpPr>
        <p:spPr>
          <a:xfrm>
            <a:off x="-1280160" y="4023360"/>
            <a:ext cx="3291840" cy="3291840"/>
          </a:xfrm>
          <a:prstGeom prst="ellipse">
            <a:avLst/>
          </a:prstGeom>
          <a:solidFill>
            <a:srgbClr val="17A199">
              <a:alpha val="15000"/>
            </a:srgbClr>
          </a:solidFill>
          <a:ln w="12700">
            <a:solidFill>
              <a:srgbClr val="17A199">
                <a:alpha val="0"/>
              </a:srgbClr>
            </a:solidFill>
            <a:prstDash val="solid"/>
          </a:ln>
        </p:spPr>
      </p:sp>
      <p:pic>
        <p:nvPicPr>
          <p:cNvPr id="5"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6" name="Image 1" descr="../cognia_badge.png">    </p:cNvPr>
          <p:cNvPicPr>
            <a:picLocks noChangeAspect="1"/>
          </p:cNvPicPr>
          <p:nvPr/>
        </p:nvPicPr>
        <p:blipFill>
          <a:blip r:embed="rId2"/>
          <a:stretch>
            <a:fillRect/>
          </a:stretch>
        </p:blipFill>
        <p:spPr>
          <a:xfrm>
            <a:off x="4663440" y="91440"/>
            <a:ext cx="1188720" cy="891540"/>
          </a:xfrm>
          <a:prstGeom prst="rect">
            <a:avLst/>
          </a:prstGeom>
        </p:spPr>
      </p:pic>
      <p:pic>
        <p:nvPicPr>
          <p:cNvPr id="7" name="Image 2" descr="../school_logo.png">    </p:cNvPr>
          <p:cNvPicPr>
            <a:picLocks noChangeAspect="1"/>
          </p:cNvPicPr>
          <p:nvPr/>
        </p:nvPicPr>
        <p:blipFill>
          <a:blip r:embed="rId3"/>
          <a:stretch>
            <a:fillRect/>
          </a:stretch>
        </p:blipFill>
        <p:spPr>
          <a:xfrm>
            <a:off x="11292840" y="164592"/>
            <a:ext cx="566928" cy="566928"/>
          </a:xfrm>
          <a:prstGeom prst="rect">
            <a:avLst/>
          </a:prstGeom>
        </p:spPr>
      </p:pic>
      <p:sp>
        <p:nvSpPr>
          <p:cNvPr id="8" name="Text 3"/>
          <p:cNvSpPr txBox="1"/>
          <p:nvPr/>
        </p:nvSpPr>
        <p:spPr>
          <a:xfrm>
            <a:off x="640080" y="1828800"/>
            <a:ext cx="6400800" cy="274320"/>
          </a:xfrm>
          <a:prstGeom prst="rect">
            <a:avLst/>
          </a:prstGeom>
          <a:noFill/>
          <a:ln/>
        </p:spPr>
        <p:txBody>
          <a:bodyPr wrap="square" lIns="0" tIns="0" rIns="0" bIns="0" rtlCol="0" anchor="t"/>
          <a:lstStyle/>
          <a:p>
            <a:pPr indent="0" marL="0">
              <a:buNone/>
            </a:pPr>
            <a:r>
              <a:rPr lang="en-US" sz="1400" b="1" spc="300" kern="0" dirty="0">
                <a:solidFill>
                  <a:srgbClr val="E8762C"/>
                </a:solidFill>
                <a:latin typeface="Calibri" pitchFamily="34" charset="0"/>
                <a:ea typeface="Calibri" pitchFamily="34" charset="-122"/>
                <a:cs typeface="Calibri" pitchFamily="34" charset="-120"/>
              </a:rPr>
              <a:t>GRADE 10  ·  ALGEBRA II  ·  TOPIC 2</a:t>
            </a:r>
            <a:endParaRPr lang="en-US" sz="1400" dirty="0"/>
          </a:p>
        </p:txBody>
      </p:sp>
      <p:sp>
        <p:nvSpPr>
          <p:cNvPr id="9" name="Text 4"/>
          <p:cNvSpPr txBox="1"/>
          <p:nvPr/>
        </p:nvSpPr>
        <p:spPr>
          <a:xfrm>
            <a:off x="640080" y="2194560"/>
            <a:ext cx="5943600" cy="548640"/>
          </a:xfrm>
          <a:prstGeom prst="rect">
            <a:avLst/>
          </a:prstGeom>
          <a:noFill/>
          <a:ln/>
        </p:spPr>
        <p:txBody>
          <a:bodyPr wrap="square" lIns="0" tIns="0" rIns="0" bIns="0" rtlCol="0" anchor="t"/>
          <a:lstStyle/>
          <a:p>
            <a:pPr indent="0" marL="0">
              <a:buNone/>
            </a:pPr>
            <a:r>
              <a:rPr lang="en-US" sz="2600" b="1" dirty="0">
                <a:solidFill>
                  <a:srgbClr val="17A199"/>
                </a:solidFill>
                <a:latin typeface="Cambria" pitchFamily="34" charset="0"/>
                <a:ea typeface="Cambria" pitchFamily="34" charset="-122"/>
                <a:cs typeface="Cambria" pitchFamily="34" charset="-120"/>
              </a:rPr>
              <a:t>Lesson 2-6</a:t>
            </a:r>
            <a:endParaRPr lang="en-US" sz="2600" dirty="0"/>
          </a:p>
        </p:txBody>
      </p:sp>
      <p:sp>
        <p:nvSpPr>
          <p:cNvPr id="10" name="Text 5"/>
          <p:cNvSpPr txBox="1"/>
          <p:nvPr/>
        </p:nvSpPr>
        <p:spPr>
          <a:xfrm>
            <a:off x="640080" y="2743200"/>
            <a:ext cx="6035040" cy="1737360"/>
          </a:xfrm>
          <a:prstGeom prst="rect">
            <a:avLst/>
          </a:prstGeom>
          <a:noFill/>
          <a:ln/>
        </p:spPr>
        <p:txBody>
          <a:bodyPr wrap="square" lIns="0" tIns="0" rIns="0" bIns="0" rtlCol="0" anchor="t"/>
          <a:lstStyle/>
          <a:p>
            <a:pPr indent="0" marL="0">
              <a:buNone/>
            </a:pPr>
            <a:r>
              <a:rPr lang="en-US" sz="5000" b="1" dirty="0">
                <a:solidFill>
                  <a:srgbClr val="1F3864"/>
                </a:solidFill>
                <a:latin typeface="Cambria" pitchFamily="34" charset="0"/>
                <a:ea typeface="Cambria" pitchFamily="34" charset="-122"/>
                <a:cs typeface="Cambria" pitchFamily="34" charset="-120"/>
              </a:rPr>
              <a:t>The Quadratic</a:t>
            </a:r>
            <a:endParaRPr lang="en-US" sz="5000" dirty="0"/>
          </a:p>
          <a:p>
            <a:pPr indent="0" marL="0">
              <a:buNone/>
            </a:pPr>
            <a:r>
              <a:rPr lang="en-US" sz="5000" b="1" dirty="0">
                <a:solidFill>
                  <a:srgbClr val="1F3864"/>
                </a:solidFill>
                <a:latin typeface="Cambria" pitchFamily="34" charset="0"/>
                <a:ea typeface="Cambria" pitchFamily="34" charset="-122"/>
                <a:cs typeface="Cambria" pitchFamily="34" charset="-120"/>
              </a:rPr>
              <a:t>Formula</a:t>
            </a:r>
            <a:endParaRPr lang="en-US" sz="5000" dirty="0"/>
          </a:p>
        </p:txBody>
      </p:sp>
      <p:sp>
        <p:nvSpPr>
          <p:cNvPr id="11" name="Text 6"/>
          <p:cNvSpPr txBox="1"/>
          <p:nvPr/>
        </p:nvSpPr>
        <p:spPr>
          <a:xfrm>
            <a:off x="640080" y="4572000"/>
            <a:ext cx="6035040" cy="365760"/>
          </a:xfrm>
          <a:prstGeom prst="rect">
            <a:avLst/>
          </a:prstGeom>
          <a:noFill/>
          <a:ln/>
        </p:spPr>
        <p:txBody>
          <a:bodyPr wrap="square" lIns="0" tIns="0" rIns="0" bIns="0" rtlCol="0" anchor="t"/>
          <a:lstStyle/>
          <a:p>
            <a:pPr indent="0" marL="0">
              <a:buNone/>
            </a:pPr>
            <a:r>
              <a:rPr lang="en-US" sz="1800" dirty="0">
                <a:solidFill>
                  <a:srgbClr val="222E2D"/>
                </a:solidFill>
                <a:latin typeface="Calibri" pitchFamily="34" charset="0"/>
                <a:ea typeface="Calibri" pitchFamily="34" charset="-122"/>
                <a:cs typeface="Calibri" pitchFamily="34" charset="-120"/>
              </a:rPr>
              <a:t>Quadratic Functions and Equations</a:t>
            </a:r>
            <a:endParaRPr lang="en-US" sz="1800" dirty="0"/>
          </a:p>
        </p:txBody>
      </p:sp>
      <p:sp>
        <p:nvSpPr>
          <p:cNvPr id="12" name="Text 7"/>
          <p:cNvSpPr txBox="1"/>
          <p:nvPr/>
        </p:nvSpPr>
        <p:spPr>
          <a:xfrm>
            <a:off x="640080" y="5074920"/>
            <a:ext cx="4572000" cy="365760"/>
          </a:xfrm>
          <a:prstGeom prst="rect">
            <a:avLst/>
          </a:prstGeom>
          <a:noFill/>
          <a:ln/>
        </p:spPr>
        <p:txBody>
          <a:bodyPr wrap="square" lIns="0" tIns="0" rIns="0" bIns="0" rtlCol="0" anchor="t"/>
          <a:lstStyle/>
          <a:p>
            <a:pPr indent="0" marL="0">
              <a:buNone/>
            </a:pPr>
            <a:r>
              <a:rPr lang="en-US" sz="1800" b="1" dirty="0">
                <a:solidFill>
                  <a:srgbClr val="222E2D"/>
                </a:solidFill>
                <a:latin typeface="Calibri" pitchFamily="34" charset="0"/>
                <a:ea typeface="Calibri" pitchFamily="34" charset="-122"/>
                <a:cs typeface="Calibri" pitchFamily="34" charset="-120"/>
              </a:rPr>
              <a:t>Mr Malek Thiab</a:t>
            </a:r>
            <a:endParaRPr lang="en-US" sz="1800" dirty="0"/>
          </a:p>
        </p:txBody>
      </p:sp>
      <p:pic>
        <p:nvPicPr>
          <p:cNvPr id="13" name="Image 3" descr="m_L2-6/kba8cc8ef21.png">    </p:cNvPr>
          <p:cNvPicPr>
            <a:picLocks noChangeAspect="1"/>
          </p:cNvPicPr>
          <p:nvPr/>
        </p:nvPicPr>
        <p:blipFill>
          <a:blip r:embed="rId4"/>
          <a:stretch>
            <a:fillRect/>
          </a:stretch>
        </p:blipFill>
        <p:spPr>
          <a:xfrm>
            <a:off x="8412480" y="3017520"/>
            <a:ext cx="3291840" cy="917326"/>
          </a:xfrm>
          <a:prstGeom prst="rect">
            <a:avLst/>
          </a:prstGeom>
        </p:spPr>
      </p:pic>
      <p:sp>
        <p:nvSpPr>
          <p:cNvPr id="14" name="Text 8"/>
          <p:cNvSpPr txBox="1"/>
          <p:nvPr/>
        </p:nvSpPr>
        <p:spPr>
          <a:xfrm>
            <a:off x="8138160" y="4160520"/>
            <a:ext cx="3840480" cy="365760"/>
          </a:xfrm>
          <a:prstGeom prst="rect">
            <a:avLst/>
          </a:prstGeom>
          <a:noFill/>
          <a:ln/>
        </p:spPr>
        <p:txBody>
          <a:bodyPr wrap="square" lIns="0" tIns="0" rIns="0" bIns="0" rtlCol="0" anchor="t"/>
          <a:lstStyle/>
          <a:p>
            <a:pPr algn="ctr" indent="0" marL="0">
              <a:buNone/>
            </a:pPr>
            <a:r>
              <a:rPr lang="en-US" sz="1600" dirty="0">
                <a:solidFill>
                  <a:srgbClr val="FFFFFF"/>
                </a:solidFill>
                <a:latin typeface="Calibri" pitchFamily="34" charset="0"/>
                <a:ea typeface="Calibri" pitchFamily="34" charset="-122"/>
                <a:cs typeface="Calibri" pitchFamily="34" charset="-120"/>
              </a:rPr>
              <a:t>Journey of 6 stations, 60 minutes</a:t>
            </a:r>
            <a:endParaRPr lang="en-US" sz="1600" dirty="0"/>
          </a:p>
        </p:txBody>
      </p:sp>
      <p:sp>
        <p:nvSpPr>
          <p:cNvPr id="15" name="Text 9"/>
          <p:cNvSpPr txBox="1"/>
          <p:nvPr/>
        </p:nvSpPr>
        <p:spPr>
          <a:xfrm>
            <a:off x="365760" y="6492240"/>
            <a:ext cx="5943600" cy="228600"/>
          </a:xfrm>
          <a:prstGeom prst="rect">
            <a:avLst/>
          </a:prstGeom>
          <a:noFill/>
          <a:ln/>
        </p:spPr>
        <p:txBody>
          <a:bodyPr wrap="square" lIns="0" tIns="0" rIns="0" bIns="0" rtlCol="0" anchor="t"/>
          <a:lstStyle/>
          <a:p>
            <a:pPr indent="0" marL="0">
              <a:buNone/>
            </a:pPr>
            <a:r>
              <a:rPr lang="en-US" sz="1000" b="1" spc="300" kern="0" dirty="0">
                <a:solidFill>
                  <a:srgbClr val="1F3864"/>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4F4C"/>
        </a:solidFill>
      </p:bgPr>
    </p:bg>
    <p:spTree>
      <p:nvGrpSpPr>
        <p:cNvPr id="1" name=""/>
        <p:cNvGrpSpPr/>
        <p:nvPr/>
      </p:nvGrpSpPr>
      <p:grpSpPr>
        <a:xfrm>
          <a:off x="0" y="0"/>
          <a:ext cx="0" cy="0"/>
          <a:chOff x="0" y="0"/>
          <a:chExt cx="0" cy="0"/>
        </a:xfrm>
      </p:grpSpPr>
      <p:sp>
        <p:nvSpPr>
          <p:cNvPr id="2" name="Shape 0"/>
          <p:cNvSpPr/>
          <p:nvPr/>
        </p:nvSpPr>
        <p:spPr>
          <a:xfrm>
            <a:off x="-1097280" y="4572000"/>
            <a:ext cx="3474720" cy="3474720"/>
          </a:xfrm>
          <a:prstGeom prst="ellipse">
            <a:avLst/>
          </a:prstGeom>
          <a:solidFill>
            <a:srgbClr val="17A199">
              <a:alpha val="20000"/>
            </a:srgbClr>
          </a:solidFill>
          <a:ln w="12700">
            <a:solidFill>
              <a:srgbClr val="17A199">
                <a:alpha val="0"/>
              </a:srgbClr>
            </a:solidFill>
            <a:prstDash val="solid"/>
          </a:ln>
        </p:spPr>
      </p:sp>
      <p:sp>
        <p:nvSpPr>
          <p:cNvPr id="3" name="Shape 1"/>
          <p:cNvSpPr/>
          <p:nvPr/>
        </p:nvSpPr>
        <p:spPr>
          <a:xfrm>
            <a:off x="9875520" y="-1097280"/>
            <a:ext cx="3291840" cy="3291840"/>
          </a:xfrm>
          <a:prstGeom prst="ellipse">
            <a:avLst/>
          </a:prstGeom>
          <a:solidFill>
            <a:srgbClr val="F0B323">
              <a:alpha val="18000"/>
            </a:srgbClr>
          </a:solidFill>
          <a:ln w="12700">
            <a:solidFill>
              <a:srgbClr val="F0B323">
                <a:alpha val="0"/>
              </a:srgbClr>
            </a:solidFill>
            <a:prstDash val="solid"/>
          </a:ln>
        </p:spPr>
      </p:sp>
      <p:pic>
        <p:nvPicPr>
          <p:cNvPr id="4" name="Image 0" descr="../dept_logo_white.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_white.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548640" y="868680"/>
            <a:ext cx="109728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Today's journey</a:t>
            </a:r>
            <a:endParaRPr lang="en-US" sz="4000" dirty="0"/>
          </a:p>
        </p:txBody>
      </p:sp>
      <p:sp>
        <p:nvSpPr>
          <p:cNvPr id="7" name="Text 3"/>
          <p:cNvSpPr txBox="1"/>
          <p:nvPr/>
        </p:nvSpPr>
        <p:spPr>
          <a:xfrm>
            <a:off x="548640" y="1554480"/>
            <a:ext cx="10972800" cy="365760"/>
          </a:xfrm>
          <a:prstGeom prst="rect">
            <a:avLst/>
          </a:prstGeom>
          <a:noFill/>
          <a:ln/>
        </p:spPr>
        <p:txBody>
          <a:bodyPr wrap="square" lIns="0" tIns="0" rIns="0" bIns="0" rtlCol="0" anchor="t"/>
          <a:lstStyle/>
          <a:p>
            <a:pPr indent="0" marL="0">
              <a:buNone/>
            </a:pPr>
            <a:r>
              <a:rPr lang="en-US" sz="1800" dirty="0">
                <a:solidFill>
                  <a:srgbClr val="BFD8D5"/>
                </a:solidFill>
                <a:latin typeface="Calibri" pitchFamily="34" charset="0"/>
                <a:ea typeface="Calibri" pitchFamily="34" charset="-122"/>
                <a:cs typeface="Calibri" pitchFamily="34" charset="-120"/>
              </a:rPr>
              <a:t>Six stations. Each one zooms in as we arrive.</a:t>
            </a:r>
            <a:endParaRPr lang="en-US" sz="1800" dirty="0"/>
          </a:p>
        </p:txBody>
      </p:sp>
      <p:sp>
        <p:nvSpPr>
          <p:cNvPr id="8" name="path1"/>
          <p:cNvSpPr/>
          <p:nvPr/>
        </p:nvSpPr>
        <p:spPr>
          <a:xfrm flipV="1">
            <a:off x="1371600" y="3200400"/>
            <a:ext cx="1965960" cy="1097280"/>
          </a:xfrm>
          <a:prstGeom prst="line">
            <a:avLst/>
          </a:prstGeom>
          <a:noFill/>
          <a:ln w="38100">
            <a:solidFill>
              <a:srgbClr val="F0B323"/>
            </a:solidFill>
            <a:prstDash val="dash"/>
          </a:ln>
        </p:spPr>
      </p:sp>
      <p:sp>
        <p:nvSpPr>
          <p:cNvPr id="9" name="path2"/>
          <p:cNvSpPr/>
          <p:nvPr/>
        </p:nvSpPr>
        <p:spPr>
          <a:xfrm>
            <a:off x="3337560" y="3200400"/>
            <a:ext cx="1965960" cy="1097280"/>
          </a:xfrm>
          <a:prstGeom prst="line">
            <a:avLst/>
          </a:prstGeom>
          <a:noFill/>
          <a:ln w="38100">
            <a:solidFill>
              <a:srgbClr val="F0B323"/>
            </a:solidFill>
            <a:prstDash val="dash"/>
          </a:ln>
        </p:spPr>
      </p:sp>
      <p:sp>
        <p:nvSpPr>
          <p:cNvPr id="10" name="path3"/>
          <p:cNvSpPr/>
          <p:nvPr/>
        </p:nvSpPr>
        <p:spPr>
          <a:xfrm flipV="1">
            <a:off x="5303520" y="3200400"/>
            <a:ext cx="1965960" cy="1097280"/>
          </a:xfrm>
          <a:prstGeom prst="line">
            <a:avLst/>
          </a:prstGeom>
          <a:noFill/>
          <a:ln w="38100">
            <a:solidFill>
              <a:srgbClr val="F0B323"/>
            </a:solidFill>
            <a:prstDash val="dash"/>
          </a:ln>
        </p:spPr>
      </p:sp>
      <p:sp>
        <p:nvSpPr>
          <p:cNvPr id="11" name="path4"/>
          <p:cNvSpPr/>
          <p:nvPr/>
        </p:nvSpPr>
        <p:spPr>
          <a:xfrm>
            <a:off x="7269480" y="3200400"/>
            <a:ext cx="1965960" cy="1097280"/>
          </a:xfrm>
          <a:prstGeom prst="line">
            <a:avLst/>
          </a:prstGeom>
          <a:noFill/>
          <a:ln w="38100">
            <a:solidFill>
              <a:srgbClr val="F0B323"/>
            </a:solidFill>
            <a:prstDash val="dash"/>
          </a:ln>
        </p:spPr>
      </p:sp>
      <p:sp>
        <p:nvSpPr>
          <p:cNvPr id="12" name="path5"/>
          <p:cNvSpPr/>
          <p:nvPr/>
        </p:nvSpPr>
        <p:spPr>
          <a:xfrm flipV="1">
            <a:off x="9235440" y="3200400"/>
            <a:ext cx="1737360" cy="1097280"/>
          </a:xfrm>
          <a:prstGeom prst="line">
            <a:avLst/>
          </a:prstGeom>
          <a:noFill/>
          <a:ln w="38100">
            <a:solidFill>
              <a:srgbClr val="F0B323"/>
            </a:solidFill>
            <a:prstDash val="dash"/>
          </a:ln>
        </p:spPr>
      </p:sp>
      <p:sp>
        <p:nvSpPr>
          <p:cNvPr id="13" name="stn1"/>
          <p:cNvSpPr/>
          <p:nvPr/>
        </p:nvSpPr>
        <p:spPr>
          <a:xfrm>
            <a:off x="708660" y="3634740"/>
            <a:ext cx="1325880" cy="1325880"/>
          </a:xfrm>
          <a:prstGeom prst="ellipse">
            <a:avLst/>
          </a:prstGeom>
          <a:solidFill>
            <a:srgbClr val="E8762C"/>
          </a:solidFill>
          <a:ln w="38100">
            <a:solidFill>
              <a:srgbClr val="FFFFFF"/>
            </a:solidFill>
            <a:prstDash val="solid"/>
          </a:ln>
        </p:spPr>
      </p:sp>
      <p:sp>
        <p:nvSpPr>
          <p:cNvPr id="14" name="Text 10"/>
          <p:cNvSpPr txBox="1"/>
          <p:nvPr/>
        </p:nvSpPr>
        <p:spPr>
          <a:xfrm>
            <a:off x="100584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15" name="Text 11"/>
          <p:cNvSpPr txBox="1"/>
          <p:nvPr/>
        </p:nvSpPr>
        <p:spPr>
          <a:xfrm>
            <a:off x="41148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Diagnose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16" name="stn2"/>
          <p:cNvSpPr/>
          <p:nvPr/>
        </p:nvSpPr>
        <p:spPr>
          <a:xfrm>
            <a:off x="2674620" y="2537460"/>
            <a:ext cx="1325880" cy="1325880"/>
          </a:xfrm>
          <a:prstGeom prst="ellipse">
            <a:avLst/>
          </a:prstGeom>
          <a:solidFill>
            <a:srgbClr val="17A199"/>
          </a:solidFill>
          <a:ln w="38100">
            <a:solidFill>
              <a:srgbClr val="FFFFFF"/>
            </a:solidFill>
            <a:prstDash val="solid"/>
          </a:ln>
        </p:spPr>
      </p:sp>
      <p:sp>
        <p:nvSpPr>
          <p:cNvPr id="17" name="Text 13"/>
          <p:cNvSpPr txBox="1"/>
          <p:nvPr/>
        </p:nvSpPr>
        <p:spPr>
          <a:xfrm>
            <a:off x="297180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18" name="Text 14"/>
          <p:cNvSpPr txBox="1"/>
          <p:nvPr/>
        </p:nvSpPr>
        <p:spPr>
          <a:xfrm>
            <a:off x="237744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Targeted Instruction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18 min</a:t>
            </a:r>
            <a:endParaRPr lang="en-US" sz="1700" dirty="0"/>
          </a:p>
        </p:txBody>
      </p:sp>
      <p:sp>
        <p:nvSpPr>
          <p:cNvPr id="19" name="stn3"/>
          <p:cNvSpPr/>
          <p:nvPr/>
        </p:nvSpPr>
        <p:spPr>
          <a:xfrm>
            <a:off x="4640580" y="3634740"/>
            <a:ext cx="1325880" cy="1325880"/>
          </a:xfrm>
          <a:prstGeom prst="ellipse">
            <a:avLst/>
          </a:prstGeom>
          <a:solidFill>
            <a:srgbClr val="17A199"/>
          </a:solidFill>
          <a:ln w="38100">
            <a:solidFill>
              <a:srgbClr val="FFFFFF"/>
            </a:solidFill>
            <a:prstDash val="solid"/>
          </a:ln>
        </p:spPr>
      </p:sp>
      <p:sp>
        <p:nvSpPr>
          <p:cNvPr id="20" name="Text 16"/>
          <p:cNvSpPr txBox="1"/>
          <p:nvPr/>
        </p:nvSpPr>
        <p:spPr>
          <a:xfrm>
            <a:off x="493776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3</a:t>
            </a:r>
            <a:endParaRPr lang="en-US" sz="3000" dirty="0"/>
          </a:p>
        </p:txBody>
      </p:sp>
      <p:sp>
        <p:nvSpPr>
          <p:cNvPr id="21" name="Text 17"/>
          <p:cNvSpPr txBox="1"/>
          <p:nvPr/>
        </p:nvSpPr>
        <p:spPr>
          <a:xfrm>
            <a:off x="434340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Practice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12 min</a:t>
            </a:r>
            <a:endParaRPr lang="en-US" sz="1700" dirty="0"/>
          </a:p>
        </p:txBody>
      </p:sp>
      <p:sp>
        <p:nvSpPr>
          <p:cNvPr id="22" name="stn4"/>
          <p:cNvSpPr/>
          <p:nvPr/>
        </p:nvSpPr>
        <p:spPr>
          <a:xfrm>
            <a:off x="6606540" y="2537460"/>
            <a:ext cx="1325880" cy="1325880"/>
          </a:xfrm>
          <a:prstGeom prst="ellipse">
            <a:avLst/>
          </a:prstGeom>
          <a:solidFill>
            <a:srgbClr val="17A199"/>
          </a:solidFill>
          <a:ln w="38100">
            <a:solidFill>
              <a:srgbClr val="FFFFFF"/>
            </a:solidFill>
            <a:prstDash val="solid"/>
          </a:ln>
        </p:spPr>
      </p:sp>
      <p:sp>
        <p:nvSpPr>
          <p:cNvPr id="23" name="Text 19"/>
          <p:cNvSpPr txBox="1"/>
          <p:nvPr/>
        </p:nvSpPr>
        <p:spPr>
          <a:xfrm>
            <a:off x="690372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4</a:t>
            </a:r>
            <a:endParaRPr lang="en-US" sz="3000" dirty="0"/>
          </a:p>
        </p:txBody>
      </p:sp>
      <p:sp>
        <p:nvSpPr>
          <p:cNvPr id="24" name="Text 20"/>
          <p:cNvSpPr txBox="1"/>
          <p:nvPr/>
        </p:nvSpPr>
        <p:spPr>
          <a:xfrm>
            <a:off x="630936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Production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12 min</a:t>
            </a:r>
            <a:endParaRPr lang="en-US" sz="1700" dirty="0"/>
          </a:p>
        </p:txBody>
      </p:sp>
      <p:sp>
        <p:nvSpPr>
          <p:cNvPr id="25" name="stn5"/>
          <p:cNvSpPr/>
          <p:nvPr/>
        </p:nvSpPr>
        <p:spPr>
          <a:xfrm>
            <a:off x="8572500" y="3634740"/>
            <a:ext cx="1325880" cy="1325880"/>
          </a:xfrm>
          <a:prstGeom prst="ellipse">
            <a:avLst/>
          </a:prstGeom>
          <a:solidFill>
            <a:srgbClr val="17A199"/>
          </a:solidFill>
          <a:ln w="38100">
            <a:solidFill>
              <a:srgbClr val="FFFFFF"/>
            </a:solidFill>
            <a:prstDash val="solid"/>
          </a:ln>
        </p:spPr>
      </p:sp>
      <p:sp>
        <p:nvSpPr>
          <p:cNvPr id="26" name="Text 22"/>
          <p:cNvSpPr txBox="1"/>
          <p:nvPr/>
        </p:nvSpPr>
        <p:spPr>
          <a:xfrm>
            <a:off x="886968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5</a:t>
            </a:r>
            <a:endParaRPr lang="en-US" sz="3000" dirty="0"/>
          </a:p>
        </p:txBody>
      </p:sp>
      <p:sp>
        <p:nvSpPr>
          <p:cNvPr id="27" name="Text 23"/>
          <p:cNvSpPr txBox="1"/>
          <p:nvPr/>
        </p:nvSpPr>
        <p:spPr>
          <a:xfrm>
            <a:off x="827532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Mastery Gate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28" name="stn6"/>
          <p:cNvSpPr/>
          <p:nvPr/>
        </p:nvSpPr>
        <p:spPr>
          <a:xfrm>
            <a:off x="10309860" y="2537460"/>
            <a:ext cx="1325880" cy="1325880"/>
          </a:xfrm>
          <a:prstGeom prst="ellipse">
            <a:avLst/>
          </a:prstGeom>
          <a:solidFill>
            <a:srgbClr val="17A199"/>
          </a:solidFill>
          <a:ln w="38100">
            <a:solidFill>
              <a:srgbClr val="FFFFFF"/>
            </a:solidFill>
            <a:prstDash val="solid"/>
          </a:ln>
        </p:spPr>
      </p:sp>
      <p:sp>
        <p:nvSpPr>
          <p:cNvPr id="29" name="Text 25"/>
          <p:cNvSpPr txBox="1"/>
          <p:nvPr/>
        </p:nvSpPr>
        <p:spPr>
          <a:xfrm>
            <a:off x="1060704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6</a:t>
            </a:r>
            <a:endParaRPr lang="en-US" sz="3000" dirty="0"/>
          </a:p>
        </p:txBody>
      </p:sp>
      <p:sp>
        <p:nvSpPr>
          <p:cNvPr id="30" name="Text 26"/>
          <p:cNvSpPr txBox="1"/>
          <p:nvPr/>
        </p:nvSpPr>
        <p:spPr>
          <a:xfrm>
            <a:off x="1001268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Smart Production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31" name="Text 27"/>
          <p:cNvSpPr txBox="1"/>
          <p:nvPr/>
        </p:nvSpPr>
        <p:spPr>
          <a:xfrm>
            <a:off x="4023360" y="6492240"/>
            <a:ext cx="4114800" cy="228600"/>
          </a:xfrm>
          <a:prstGeom prst="rect">
            <a:avLst/>
          </a:prstGeom>
          <a:noFill/>
          <a:ln/>
        </p:spPr>
        <p:txBody>
          <a:bodyPr wrap="square" lIns="0" tIns="0" rIns="0" bIns="0" rtlCol="0" anchor="t"/>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HSN.CN.C.7 · HSA.REI.B.4.A · HSA.REI.B.4.B</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3</a:t>
            </a:r>
            <a:endParaRPr lang="en-US" sz="1000" dirty="0"/>
          </a:p>
        </p:txBody>
      </p:sp>
      <p:sp>
        <p:nvSpPr>
          <p:cNvPr id="9" name="Text 5"/>
          <p:cNvSpPr txBox="1"/>
          <p:nvPr/>
        </p:nvSpPr>
        <p:spPr>
          <a:xfrm>
            <a:off x="457200" y="822960"/>
            <a:ext cx="11247120" cy="45720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What we are learning</a:t>
            </a:r>
            <a:endParaRPr lang="en-US" sz="3000" dirty="0"/>
          </a:p>
        </p:txBody>
      </p:sp>
      <p:sp>
        <p:nvSpPr>
          <p:cNvPr id="11" name="Shape 6"/>
          <p:cNvSpPr/>
          <p:nvPr/>
        </p:nvSpPr>
        <p:spPr>
          <a:xfrm>
            <a:off x="457200" y="1280160"/>
            <a:ext cx="5760720" cy="5029200"/>
          </a:xfrm>
          <a:prstGeom prst="roundRect">
            <a:avLst>
              <a:gd name="adj" fmla="val 2182"/>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2" name="Text 7"/>
          <p:cNvSpPr txBox="1"/>
          <p:nvPr/>
        </p:nvSpPr>
        <p:spPr>
          <a:xfrm>
            <a:off x="731520" y="137160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OBJECTIVES</a:t>
            </a:r>
            <a:endParaRPr lang="en-US" sz="1100" dirty="0"/>
          </a:p>
        </p:txBody>
      </p:sp>
      <p:sp>
        <p:nvSpPr>
          <p:cNvPr id="13" name="Text 8"/>
          <p:cNvSpPr txBox="1"/>
          <p:nvPr/>
        </p:nvSpPr>
        <p:spPr>
          <a:xfrm>
            <a:off x="731520" y="1691640"/>
            <a:ext cx="5303520" cy="4480560"/>
          </a:xfrm>
          <a:prstGeom prst="rect">
            <a:avLst/>
          </a:prstGeom>
          <a:noFill/>
          <a:ln/>
        </p:spPr>
        <p:txBody>
          <a:bodyPr wrap="square" lIns="0" tIns="0" rIns="0" bIns="0" rtlCol="0" anchor="t"/>
          <a:lstStyle/>
          <a:p>
            <a:pPr marL="342900" indent="-342900">
              <a:spcAft>
                <a:spcPts val="9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Analyze the discriminant to identify the number and type of solutions for a quadratic equation.</a:t>
            </a:r>
            <a:endParaRPr lang="en-US" sz="1700" dirty="0"/>
          </a:p>
          <a:p>
            <a:pPr marL="342900" indent="-342900">
              <a:spcAft>
                <a:spcPts val="9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Solve quadratic equations using the quadratic formula, including those with nonreal solutions.</a:t>
            </a:r>
            <a:endParaRPr lang="en-US" sz="1700" dirty="0"/>
          </a:p>
        </p:txBody>
      </p:sp>
      <p:sp>
        <p:nvSpPr>
          <p:cNvPr id="14" name="Shape 9"/>
          <p:cNvSpPr/>
          <p:nvPr/>
        </p:nvSpPr>
        <p:spPr>
          <a:xfrm>
            <a:off x="6400800" y="1280160"/>
            <a:ext cx="5303520" cy="941832"/>
          </a:xfrm>
          <a:prstGeom prst="roundRect">
            <a:avLst>
              <a:gd name="adj" fmla="val 1165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5" name="Text 10"/>
          <p:cNvSpPr txBox="1"/>
          <p:nvPr/>
        </p:nvSpPr>
        <p:spPr>
          <a:xfrm>
            <a:off x="6675120" y="137160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VOCABULARY</a:t>
            </a:r>
            <a:endParaRPr lang="en-US" sz="1100" dirty="0"/>
          </a:p>
        </p:txBody>
      </p:sp>
      <p:sp>
        <p:nvSpPr>
          <p:cNvPr id="16" name="Shape 11"/>
          <p:cNvSpPr/>
          <p:nvPr/>
        </p:nvSpPr>
        <p:spPr>
          <a:xfrm>
            <a:off x="6629400" y="1691640"/>
            <a:ext cx="2468880" cy="265176"/>
          </a:xfrm>
          <a:prstGeom prst="roundRect">
            <a:avLst>
              <a:gd name="adj" fmla="val 48276"/>
            </a:avLst>
          </a:prstGeom>
          <a:solidFill>
            <a:srgbClr val="17A199"/>
          </a:solidFill>
          <a:ln w="12700">
            <a:solidFill>
              <a:srgbClr val="FFFFFF"/>
            </a:solidFill>
            <a:prstDash val="solid"/>
          </a:ln>
        </p:spPr>
      </p:sp>
      <p:sp>
        <p:nvSpPr>
          <p:cNvPr id="17" name="Text 12"/>
          <p:cNvSpPr txBox="1"/>
          <p:nvPr/>
        </p:nvSpPr>
        <p:spPr>
          <a:xfrm>
            <a:off x="6629400" y="1691640"/>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Discriminant</a:t>
            </a:r>
            <a:endParaRPr lang="en-US" sz="1100" dirty="0"/>
          </a:p>
        </p:txBody>
      </p:sp>
      <p:sp>
        <p:nvSpPr>
          <p:cNvPr id="18" name="Shape 13"/>
          <p:cNvSpPr/>
          <p:nvPr/>
        </p:nvSpPr>
        <p:spPr>
          <a:xfrm>
            <a:off x="9189720" y="1691640"/>
            <a:ext cx="2468880" cy="265176"/>
          </a:xfrm>
          <a:prstGeom prst="roundRect">
            <a:avLst>
              <a:gd name="adj" fmla="val 48276"/>
            </a:avLst>
          </a:prstGeom>
          <a:solidFill>
            <a:srgbClr val="17A199"/>
          </a:solidFill>
          <a:ln w="12700">
            <a:solidFill>
              <a:srgbClr val="FFFFFF"/>
            </a:solidFill>
            <a:prstDash val="solid"/>
          </a:ln>
        </p:spPr>
      </p:sp>
      <p:sp>
        <p:nvSpPr>
          <p:cNvPr id="19" name="Text 14"/>
          <p:cNvSpPr txBox="1"/>
          <p:nvPr/>
        </p:nvSpPr>
        <p:spPr>
          <a:xfrm>
            <a:off x="9189720" y="1691640"/>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quadratic formula</a:t>
            </a:r>
            <a:endParaRPr lang="en-US" sz="1100" dirty="0"/>
          </a:p>
        </p:txBody>
      </p:sp>
      <p:sp>
        <p:nvSpPr>
          <p:cNvPr id="20" name="Shape 15"/>
          <p:cNvSpPr/>
          <p:nvPr/>
        </p:nvSpPr>
        <p:spPr>
          <a:xfrm>
            <a:off x="6400800" y="2359152"/>
            <a:ext cx="5303520" cy="3950208"/>
          </a:xfrm>
          <a:prstGeom prst="roundRect">
            <a:avLst>
              <a:gd name="adj" fmla="val 27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21" name="Text 16"/>
          <p:cNvSpPr txBox="1"/>
          <p:nvPr/>
        </p:nvSpPr>
        <p:spPr>
          <a:xfrm>
            <a:off x="6675120" y="2432304"/>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STANDARDS</a:t>
            </a:r>
            <a:endParaRPr lang="en-US" sz="1100" dirty="0"/>
          </a:p>
        </p:txBody>
      </p:sp>
      <p:sp>
        <p:nvSpPr>
          <p:cNvPr id="22" name="Text 17"/>
          <p:cNvSpPr txBox="1"/>
          <p:nvPr/>
        </p:nvSpPr>
        <p:spPr>
          <a:xfrm>
            <a:off x="6675120" y="2724912"/>
            <a:ext cx="4846320" cy="3493008"/>
          </a:xfrm>
          <a:prstGeom prst="rect">
            <a:avLst/>
          </a:prstGeom>
          <a:noFill/>
          <a:ln/>
        </p:spPr>
        <p:txBody>
          <a:bodyPr wrap="square" lIns="0" tIns="0" rIns="0" bIns="0" rtlCol="0" anchor="t"/>
          <a:lstStyle/>
          <a:p>
            <a:pPr indent="0" marL="0">
              <a:buNone/>
            </a:pPr>
            <a:r>
              <a:rPr lang="en-US" sz="1050" b="1" dirty="0">
                <a:solidFill>
                  <a:srgbClr val="222E2D"/>
                </a:solidFill>
                <a:latin typeface="Calibri" pitchFamily="34" charset="0"/>
                <a:ea typeface="Calibri" pitchFamily="34" charset="-122"/>
                <a:cs typeface="Calibri" pitchFamily="34" charset="-120"/>
              </a:rPr>
              <a:t>HSN.CN.C.7  </a:t>
            </a:r>
            <a:pPr indent="0" marL="0">
              <a:spcAft>
                <a:spcPts val="400"/>
              </a:spcAft>
              <a:buNone/>
            </a:pPr>
            <a:r>
              <a:rPr lang="en-US" sz="1050" dirty="0">
                <a:solidFill>
                  <a:srgbClr val="222E2D"/>
                </a:solidFill>
                <a:latin typeface="Calibri" pitchFamily="34" charset="0"/>
                <a:ea typeface="Calibri" pitchFamily="34" charset="-122"/>
                <a:cs typeface="Calibri" pitchFamily="34" charset="-120"/>
              </a:rPr>
              <a:t>Solve quadratic equations with real coefficients that have complex solutions.</a:t>
            </a:r>
            <a:endParaRPr lang="en-US" sz="1050" dirty="0"/>
          </a:p>
          <a:p>
            <a:pPr indent="0" marL="0">
              <a:buNone/>
            </a:pPr>
            <a:r>
              <a:rPr lang="en-US" sz="1050" b="1" dirty="0">
                <a:solidFill>
                  <a:srgbClr val="222E2D"/>
                </a:solidFill>
                <a:latin typeface="Calibri" pitchFamily="34" charset="0"/>
                <a:ea typeface="Calibri" pitchFamily="34" charset="-122"/>
                <a:cs typeface="Calibri" pitchFamily="34" charset="-120"/>
              </a:rPr>
              <a:t>HSA.REI.B.4.A  </a:t>
            </a:r>
            <a:pPr indent="0" marL="0">
              <a:spcAft>
                <a:spcPts val="400"/>
              </a:spcAft>
              <a:buNone/>
            </a:pPr>
            <a:r>
              <a:rPr lang="en-US" sz="1050" dirty="0">
                <a:solidFill>
                  <a:srgbClr val="222E2D"/>
                </a:solidFill>
                <a:latin typeface="Calibri" pitchFamily="34" charset="0"/>
                <a:ea typeface="Calibri" pitchFamily="34" charset="-122"/>
                <a:cs typeface="Calibri" pitchFamily="34" charset="-120"/>
              </a:rPr>
              <a:t>Use the method of completing the square to transform any quadratic equation in x into an equation of the form (x - p)² = q that has the same solutions. Derive the quadratic formula from this form.</a:t>
            </a:r>
            <a:endParaRPr lang="en-US" sz="1050" dirty="0"/>
          </a:p>
          <a:p>
            <a:pPr indent="0" marL="0">
              <a:buNone/>
            </a:pPr>
            <a:r>
              <a:rPr lang="en-US" sz="1050" b="1" dirty="0">
                <a:solidFill>
                  <a:srgbClr val="222E2D"/>
                </a:solidFill>
                <a:latin typeface="Calibri" pitchFamily="34" charset="0"/>
                <a:ea typeface="Calibri" pitchFamily="34" charset="-122"/>
                <a:cs typeface="Calibri" pitchFamily="34" charset="-120"/>
              </a:rPr>
              <a:t>HSA.REI.B.4.B  </a:t>
            </a:r>
            <a:pPr indent="0" marL="0">
              <a:spcAft>
                <a:spcPts val="400"/>
              </a:spcAft>
              <a:buNone/>
            </a:pPr>
            <a:r>
              <a:rPr lang="en-US" sz="1050" dirty="0">
                <a:solidFill>
                  <a:srgbClr val="222E2D"/>
                </a:solidFill>
                <a:latin typeface="Calibri" pitchFamily="34" charset="0"/>
                <a:ea typeface="Calibri" pitchFamily="34" charset="-122"/>
                <a:cs typeface="Calibri" pitchFamily="34" charset="-120"/>
              </a:rPr>
              <a:t>Solve quadratic equations by inspection (e.g., for x² = 49), taking square roots, completing the square, the quadratic formula and factoring, as appropriate to the initial form of the equation. Recognize when the quadratic formula gives complex solutions and write them as a ± bi for real numbers a and b.</a:t>
            </a:r>
            <a:endParaRPr lang="en-US" sz="10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HSN.CN.C.7 · HSA.REI.B.4.A · HSA.REI.B.4.B</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4</a:t>
            </a:r>
            <a:endParaRPr lang="en-US" sz="1000" dirty="0"/>
          </a:p>
        </p:txBody>
      </p:sp>
      <p:sp>
        <p:nvSpPr>
          <p:cNvPr id="9" name="stn1"/>
          <p:cNvSpPr/>
          <p:nvPr/>
        </p:nvSpPr>
        <p:spPr>
          <a:xfrm>
            <a:off x="3931920" y="228600"/>
            <a:ext cx="457200" cy="457200"/>
          </a:xfrm>
          <a:prstGeom prst="ellipse">
            <a:avLst/>
          </a:prstGeom>
          <a:solidFill>
            <a:srgbClr val="E8762C"/>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path1"/>
          <p:cNvSpPr/>
          <p:nvPr/>
        </p:nvSpPr>
        <p:spPr>
          <a:xfrm>
            <a:off x="4407408" y="457200"/>
            <a:ext cx="32918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1  ·  DIAGNOSE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Start here: three quick checks</a:t>
            </a:r>
            <a:endParaRPr lang="en-US" sz="3000" dirty="0"/>
          </a:p>
        </p:txBody>
      </p:sp>
      <p:sp>
        <p:nvSpPr>
          <p:cNvPr id="29" name="Shape 24"/>
          <p:cNvSpPr/>
          <p:nvPr/>
        </p:nvSpPr>
        <p:spPr>
          <a:xfrm>
            <a:off x="45720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640080" y="2057400"/>
            <a:ext cx="502920" cy="502920"/>
          </a:xfrm>
          <a:prstGeom prst="ellipse">
            <a:avLst/>
          </a:prstGeom>
          <a:solidFill>
            <a:srgbClr val="17A199"/>
          </a:solidFill>
          <a:ln w="12700">
            <a:solidFill>
              <a:srgbClr val="FFFFFF"/>
            </a:solidFill>
            <a:prstDash val="solid"/>
          </a:ln>
        </p:spPr>
      </p:sp>
      <p:sp>
        <p:nvSpPr>
          <p:cNvPr id="31" name="Text 26"/>
          <p:cNvSpPr txBox="1"/>
          <p:nvPr/>
        </p:nvSpPr>
        <p:spPr>
          <a:xfrm>
            <a:off x="64008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pic>
        <p:nvPicPr>
          <p:cNvPr id="32" name="Image 2" descr="m_L2-6/ke05cc5dbf7.png">    </p:cNvPr>
          <p:cNvPicPr>
            <a:picLocks noChangeAspect="1"/>
          </p:cNvPicPr>
          <p:nvPr/>
        </p:nvPicPr>
        <p:blipFill>
          <a:blip r:embed="rId3"/>
          <a:stretch>
            <a:fillRect/>
          </a:stretch>
        </p:blipFill>
        <p:spPr>
          <a:xfrm>
            <a:off x="594360" y="2697480"/>
            <a:ext cx="3383280" cy="727094"/>
          </a:xfrm>
          <a:prstGeom prst="rect">
            <a:avLst/>
          </a:prstGeom>
        </p:spPr>
      </p:pic>
      <p:sp>
        <p:nvSpPr>
          <p:cNvPr id="33" name="Shape 27"/>
          <p:cNvSpPr/>
          <p:nvPr/>
        </p:nvSpPr>
        <p:spPr>
          <a:xfrm>
            <a:off x="420624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4" name="Shape 28"/>
          <p:cNvSpPr/>
          <p:nvPr/>
        </p:nvSpPr>
        <p:spPr>
          <a:xfrm>
            <a:off x="4389120" y="2057400"/>
            <a:ext cx="502920" cy="502920"/>
          </a:xfrm>
          <a:prstGeom prst="ellipse">
            <a:avLst/>
          </a:prstGeom>
          <a:solidFill>
            <a:srgbClr val="17A199"/>
          </a:solidFill>
          <a:ln w="12700">
            <a:solidFill>
              <a:srgbClr val="FFFFFF"/>
            </a:solidFill>
            <a:prstDash val="solid"/>
          </a:ln>
        </p:spPr>
      </p:sp>
      <p:sp>
        <p:nvSpPr>
          <p:cNvPr id="35" name="Text 29"/>
          <p:cNvSpPr txBox="1"/>
          <p:nvPr/>
        </p:nvSpPr>
        <p:spPr>
          <a:xfrm>
            <a:off x="438912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pic>
        <p:nvPicPr>
          <p:cNvPr id="36" name="Image 3" descr="m_L2-6/k3b9f67008d.png">    </p:cNvPr>
          <p:cNvPicPr>
            <a:picLocks noChangeAspect="1"/>
          </p:cNvPicPr>
          <p:nvPr/>
        </p:nvPicPr>
        <p:blipFill>
          <a:blip r:embed="rId4"/>
          <a:stretch>
            <a:fillRect/>
          </a:stretch>
        </p:blipFill>
        <p:spPr>
          <a:xfrm>
            <a:off x="4789627" y="2697480"/>
            <a:ext cx="2490826" cy="768096"/>
          </a:xfrm>
          <a:prstGeom prst="rect">
            <a:avLst/>
          </a:prstGeom>
        </p:spPr>
      </p:pic>
      <p:sp>
        <p:nvSpPr>
          <p:cNvPr id="37" name="Shape 30"/>
          <p:cNvSpPr/>
          <p:nvPr/>
        </p:nvSpPr>
        <p:spPr>
          <a:xfrm>
            <a:off x="795528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Shape 31"/>
          <p:cNvSpPr/>
          <p:nvPr/>
        </p:nvSpPr>
        <p:spPr>
          <a:xfrm>
            <a:off x="8138160" y="2057400"/>
            <a:ext cx="502920" cy="502920"/>
          </a:xfrm>
          <a:prstGeom prst="ellipse">
            <a:avLst/>
          </a:prstGeom>
          <a:solidFill>
            <a:srgbClr val="17A199"/>
          </a:solidFill>
          <a:ln w="12700">
            <a:solidFill>
              <a:srgbClr val="FFFFFF"/>
            </a:solidFill>
            <a:prstDash val="solid"/>
          </a:ln>
        </p:spPr>
      </p:sp>
      <p:sp>
        <p:nvSpPr>
          <p:cNvPr id="39" name="Text 32"/>
          <p:cNvSpPr txBox="1"/>
          <p:nvPr/>
        </p:nvSpPr>
        <p:spPr>
          <a:xfrm>
            <a:off x="813816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pic>
        <p:nvPicPr>
          <p:cNvPr id="40" name="Image 4" descr="m_L2-6/kee83ef23c2.png">    </p:cNvPr>
          <p:cNvPicPr>
            <a:picLocks noChangeAspect="1"/>
          </p:cNvPicPr>
          <p:nvPr/>
        </p:nvPicPr>
        <p:blipFill>
          <a:blip r:embed="rId5"/>
          <a:stretch>
            <a:fillRect/>
          </a:stretch>
        </p:blipFill>
        <p:spPr>
          <a:xfrm>
            <a:off x="8449056" y="2697480"/>
            <a:ext cx="2670048" cy="413309"/>
          </a:xfrm>
          <a:prstGeom prst="rect">
            <a:avLst/>
          </a:prstGeom>
        </p:spPr>
      </p:pic>
      <p:sp>
        <p:nvSpPr>
          <p:cNvPr id="41" name="Shape 33"/>
          <p:cNvSpPr/>
          <p:nvPr/>
        </p:nvSpPr>
        <p:spPr>
          <a:xfrm>
            <a:off x="457200" y="4434840"/>
            <a:ext cx="11247120" cy="1463040"/>
          </a:xfrm>
          <a:prstGeom prst="roundRect">
            <a:avLst>
              <a:gd name="adj" fmla="val 75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2" name="Text 34"/>
          <p:cNvSpPr txBox="1"/>
          <p:nvPr/>
        </p:nvSpPr>
        <p:spPr>
          <a:xfrm>
            <a:off x="777240" y="4572000"/>
            <a:ext cx="3657600" cy="320040"/>
          </a:xfrm>
          <a:prstGeom prst="rect">
            <a:avLst/>
          </a:prstGeom>
          <a:noFill/>
          <a:ln/>
        </p:spPr>
        <p:txBody>
          <a:bodyPr wrap="square" lIns="0" tIns="0" rIns="0" bIns="0" rtlCol="0" anchor="t"/>
          <a:lstStyle/>
          <a:p>
            <a:pPr indent="0" marL="0">
              <a:buNone/>
            </a:pPr>
            <a:r>
              <a:rPr lang="en-US" sz="1400" b="1" dirty="0">
                <a:solidFill>
                  <a:srgbClr val="F0B323"/>
                </a:solidFill>
                <a:latin typeface="Calibri" pitchFamily="34" charset="0"/>
                <a:ea typeface="Calibri" pitchFamily="34" charset="-122"/>
                <a:cs typeface="Calibri" pitchFamily="34" charset="-120"/>
              </a:rPr>
              <a:t>Done when</a:t>
            </a:r>
            <a:endParaRPr lang="en-US" sz="1400" dirty="0"/>
          </a:p>
        </p:txBody>
      </p:sp>
      <p:sp>
        <p:nvSpPr>
          <p:cNvPr id="43" name="Text 35"/>
          <p:cNvSpPr txBox="1"/>
          <p:nvPr/>
        </p:nvSpPr>
        <p:spPr>
          <a:xfrm>
            <a:off x="777240" y="4937760"/>
            <a:ext cx="10607040" cy="82296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All three answers are written without a calculator, and you can say what goes wrong if the minus sign in Question 1 is lost.</a:t>
            </a:r>
            <a:endParaRPr lang="en-US" sz="18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HSN.CN.C.7 · HSA.REI.B.4.A · HSA.REI.B.4.B</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5</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The quadratic formula</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2-6/ke73aff4766.png">    </p:cNvPr>
          <p:cNvPicPr>
            <a:picLocks noChangeAspect="1"/>
          </p:cNvPicPr>
          <p:nvPr/>
        </p:nvPicPr>
        <p:blipFill>
          <a:blip r:embed="rId3"/>
          <a:stretch>
            <a:fillRect/>
          </a:stretch>
        </p:blipFill>
        <p:spPr>
          <a:xfrm>
            <a:off x="731520" y="1950056"/>
            <a:ext cx="5555129" cy="763328"/>
          </a:xfrm>
          <a:prstGeom prst="rect">
            <a:avLst/>
          </a:prstGeom>
        </p:spPr>
      </p:pic>
      <p:pic>
        <p:nvPicPr>
          <p:cNvPr id="31" name="Image 3" descr="m_L2-6/k938b6f163f.png">    </p:cNvPr>
          <p:cNvPicPr>
            <a:picLocks noChangeAspect="1"/>
          </p:cNvPicPr>
          <p:nvPr/>
        </p:nvPicPr>
        <p:blipFill>
          <a:blip r:embed="rId4"/>
          <a:stretch>
            <a:fillRect/>
          </a:stretch>
        </p:blipFill>
        <p:spPr>
          <a:xfrm>
            <a:off x="6926729" y="2158236"/>
            <a:ext cx="4503271" cy="346967"/>
          </a:xfrm>
          <a:prstGeom prst="rect">
            <a:avLst/>
          </a:prstGeom>
        </p:spPr>
      </p:pic>
      <p:sp>
        <p:nvSpPr>
          <p:cNvPr id="32" name="Shape 25"/>
          <p:cNvSpPr/>
          <p:nvPr/>
        </p:nvSpPr>
        <p:spPr>
          <a:xfrm>
            <a:off x="45720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L2-6/k894fe9c423.png">    </p:cNvPr>
          <p:cNvPicPr>
            <a:picLocks noChangeAspect="1"/>
          </p:cNvPicPr>
          <p:nvPr/>
        </p:nvPicPr>
        <p:blipFill>
          <a:blip r:embed="rId5"/>
          <a:stretch>
            <a:fillRect/>
          </a:stretch>
        </p:blipFill>
        <p:spPr>
          <a:xfrm>
            <a:off x="863678" y="3566160"/>
            <a:ext cx="2844644" cy="338730"/>
          </a:xfrm>
          <a:prstGeom prst="rect">
            <a:avLst/>
          </a:prstGeom>
        </p:spPr>
      </p:pic>
      <p:pic>
        <p:nvPicPr>
          <p:cNvPr id="35" name="Image 5" descr="m_L2-6/kd0a1007162.png">    </p:cNvPr>
          <p:cNvPicPr>
            <a:picLocks noChangeAspect="1"/>
          </p:cNvPicPr>
          <p:nvPr/>
        </p:nvPicPr>
        <p:blipFill>
          <a:blip r:embed="rId6"/>
          <a:stretch>
            <a:fillRect/>
          </a:stretch>
        </p:blipFill>
        <p:spPr>
          <a:xfrm>
            <a:off x="1010412" y="4060338"/>
            <a:ext cx="2551176" cy="312725"/>
          </a:xfrm>
          <a:prstGeom prst="rect">
            <a:avLst/>
          </a:prstGeom>
        </p:spPr>
      </p:pic>
      <p:pic>
        <p:nvPicPr>
          <p:cNvPr id="36" name="Image 6" descr="m_L2-6/ke68bf37908.png">    </p:cNvPr>
          <p:cNvPicPr>
            <a:picLocks noChangeAspect="1"/>
          </p:cNvPicPr>
          <p:nvPr/>
        </p:nvPicPr>
        <p:blipFill>
          <a:blip r:embed="rId7"/>
          <a:stretch>
            <a:fillRect/>
          </a:stretch>
        </p:blipFill>
        <p:spPr>
          <a:xfrm>
            <a:off x="677936" y="4528511"/>
            <a:ext cx="3216128" cy="678119"/>
          </a:xfrm>
          <a:prstGeom prst="rect">
            <a:avLst/>
          </a:prstGeom>
        </p:spPr>
      </p:pic>
      <p:pic>
        <p:nvPicPr>
          <p:cNvPr id="37" name="Image 7" descr="m_L2-6/k03aeb41c02.png">    </p:cNvPr>
          <p:cNvPicPr>
            <a:picLocks noChangeAspect="1"/>
          </p:cNvPicPr>
          <p:nvPr/>
        </p:nvPicPr>
        <p:blipFill>
          <a:blip r:embed="rId8"/>
          <a:stretch>
            <a:fillRect/>
          </a:stretch>
        </p:blipFill>
        <p:spPr>
          <a:xfrm>
            <a:off x="1397203" y="5362078"/>
            <a:ext cx="1777594" cy="246888"/>
          </a:xfrm>
          <a:prstGeom prst="rect">
            <a:avLst/>
          </a:prstGeom>
        </p:spPr>
      </p:pic>
      <p:sp>
        <p:nvSpPr>
          <p:cNvPr id="38" name="Shape 27"/>
          <p:cNvSpPr/>
          <p:nvPr/>
        </p:nvSpPr>
        <p:spPr>
          <a:xfrm>
            <a:off x="425196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9" name="Text 28"/>
          <p:cNvSpPr txBox="1"/>
          <p:nvPr/>
        </p:nvSpPr>
        <p:spPr>
          <a:xfrm>
            <a:off x="448056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40" name="Image 8" descr="m_L2-6/k3e05671def.png">    </p:cNvPr>
          <p:cNvPicPr>
            <a:picLocks noChangeAspect="1"/>
          </p:cNvPicPr>
          <p:nvPr/>
        </p:nvPicPr>
        <p:blipFill>
          <a:blip r:embed="rId9"/>
          <a:stretch>
            <a:fillRect/>
          </a:stretch>
        </p:blipFill>
        <p:spPr>
          <a:xfrm>
            <a:off x="4587581" y="3566160"/>
            <a:ext cx="2986357" cy="338730"/>
          </a:xfrm>
          <a:prstGeom prst="rect">
            <a:avLst/>
          </a:prstGeom>
        </p:spPr>
      </p:pic>
      <p:pic>
        <p:nvPicPr>
          <p:cNvPr id="41" name="Image 9" descr="m_L2-6/k7491f90fa9.png">    </p:cNvPr>
          <p:cNvPicPr>
            <a:picLocks noChangeAspect="1"/>
          </p:cNvPicPr>
          <p:nvPr/>
        </p:nvPicPr>
        <p:blipFill>
          <a:blip r:embed="rId10"/>
          <a:stretch>
            <a:fillRect/>
          </a:stretch>
        </p:blipFill>
        <p:spPr>
          <a:xfrm>
            <a:off x="4805172" y="4060338"/>
            <a:ext cx="2551176" cy="312725"/>
          </a:xfrm>
          <a:prstGeom prst="rect">
            <a:avLst/>
          </a:prstGeom>
        </p:spPr>
      </p:pic>
      <p:pic>
        <p:nvPicPr>
          <p:cNvPr id="42" name="Image 10" descr="m_L2-6/kba8b7a44e4.png">    </p:cNvPr>
          <p:cNvPicPr>
            <a:picLocks noChangeAspect="1"/>
          </p:cNvPicPr>
          <p:nvPr/>
        </p:nvPicPr>
        <p:blipFill>
          <a:blip r:embed="rId11"/>
          <a:stretch>
            <a:fillRect/>
          </a:stretch>
        </p:blipFill>
        <p:spPr>
          <a:xfrm>
            <a:off x="4434840" y="4528511"/>
            <a:ext cx="3291840" cy="639822"/>
          </a:xfrm>
          <a:prstGeom prst="rect">
            <a:avLst/>
          </a:prstGeom>
        </p:spPr>
      </p:pic>
      <p:pic>
        <p:nvPicPr>
          <p:cNvPr id="43" name="Image 11" descr="m_L2-6/kebe84453df.png">    </p:cNvPr>
          <p:cNvPicPr>
            <a:picLocks noChangeAspect="1"/>
          </p:cNvPicPr>
          <p:nvPr/>
        </p:nvPicPr>
        <p:blipFill>
          <a:blip r:embed="rId12"/>
          <a:stretch>
            <a:fillRect/>
          </a:stretch>
        </p:blipFill>
        <p:spPr>
          <a:xfrm>
            <a:off x="5058644" y="5323782"/>
            <a:ext cx="2044233" cy="618866"/>
          </a:xfrm>
          <a:prstGeom prst="rect">
            <a:avLst/>
          </a:prstGeom>
        </p:spPr>
      </p:pic>
      <p:sp>
        <p:nvSpPr>
          <p:cNvPr id="44" name="Shape 29"/>
          <p:cNvSpPr/>
          <p:nvPr/>
        </p:nvSpPr>
        <p:spPr>
          <a:xfrm>
            <a:off x="804672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5" name="Text 30"/>
          <p:cNvSpPr txBox="1"/>
          <p:nvPr/>
        </p:nvSpPr>
        <p:spPr>
          <a:xfrm>
            <a:off x="827532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C</a:t>
            </a:r>
            <a:endParaRPr lang="en-US" sz="1100" dirty="0"/>
          </a:p>
        </p:txBody>
      </p:sp>
      <p:pic>
        <p:nvPicPr>
          <p:cNvPr id="46" name="Image 12" descr="m_L2-6/k31862c420d.png">    </p:cNvPr>
          <p:cNvPicPr>
            <a:picLocks noChangeAspect="1"/>
          </p:cNvPicPr>
          <p:nvPr/>
        </p:nvPicPr>
        <p:blipFill>
          <a:blip r:embed="rId13"/>
          <a:stretch>
            <a:fillRect/>
          </a:stretch>
        </p:blipFill>
        <p:spPr>
          <a:xfrm>
            <a:off x="8449742" y="3566160"/>
            <a:ext cx="2851556" cy="338730"/>
          </a:xfrm>
          <a:prstGeom prst="rect">
            <a:avLst/>
          </a:prstGeom>
        </p:spPr>
      </p:pic>
      <p:pic>
        <p:nvPicPr>
          <p:cNvPr id="47" name="Image 13" descr="m_L2-6/k139ea7e427.png">    </p:cNvPr>
          <p:cNvPicPr>
            <a:picLocks noChangeAspect="1"/>
          </p:cNvPicPr>
          <p:nvPr/>
        </p:nvPicPr>
        <p:blipFill>
          <a:blip r:embed="rId14"/>
          <a:stretch>
            <a:fillRect/>
          </a:stretch>
        </p:blipFill>
        <p:spPr>
          <a:xfrm>
            <a:off x="8492947" y="4060338"/>
            <a:ext cx="2765146" cy="312725"/>
          </a:xfrm>
          <a:prstGeom prst="rect">
            <a:avLst/>
          </a:prstGeom>
        </p:spPr>
      </p:pic>
      <p:pic>
        <p:nvPicPr>
          <p:cNvPr id="48" name="Image 14" descr="m_L2-6/kca2f8b926e.png">    </p:cNvPr>
          <p:cNvPicPr>
            <a:picLocks noChangeAspect="1"/>
          </p:cNvPicPr>
          <p:nvPr/>
        </p:nvPicPr>
        <p:blipFill>
          <a:blip r:embed="rId15"/>
          <a:stretch>
            <a:fillRect/>
          </a:stretch>
        </p:blipFill>
        <p:spPr>
          <a:xfrm>
            <a:off x="8229600" y="4528511"/>
            <a:ext cx="3291840" cy="661518"/>
          </a:xfrm>
          <a:prstGeom prst="rect">
            <a:avLst/>
          </a:prstGeom>
        </p:spPr>
      </p:pic>
      <p:pic>
        <p:nvPicPr>
          <p:cNvPr id="49" name="Image 15" descr="m_L2-6/k05804e6167.png">    </p:cNvPr>
          <p:cNvPicPr>
            <a:picLocks noChangeAspect="1"/>
          </p:cNvPicPr>
          <p:nvPr/>
        </p:nvPicPr>
        <p:blipFill>
          <a:blip r:embed="rId16"/>
          <a:stretch>
            <a:fillRect/>
          </a:stretch>
        </p:blipFill>
        <p:spPr>
          <a:xfrm>
            <a:off x="9169420" y="5345477"/>
            <a:ext cx="1412199" cy="35551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HSN.CN.C.7 · HSA.REI.B.4.A · HSA.REI.B.4.B</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6</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The discriminant</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2-6/ke76759e016.png">    </p:cNvPr>
          <p:cNvPicPr>
            <a:picLocks noChangeAspect="1"/>
          </p:cNvPicPr>
          <p:nvPr/>
        </p:nvPicPr>
        <p:blipFill>
          <a:blip r:embed="rId3"/>
          <a:stretch>
            <a:fillRect/>
          </a:stretch>
        </p:blipFill>
        <p:spPr>
          <a:xfrm>
            <a:off x="731520" y="2152693"/>
            <a:ext cx="1775657" cy="358054"/>
          </a:xfrm>
          <a:prstGeom prst="rect">
            <a:avLst/>
          </a:prstGeom>
        </p:spPr>
      </p:pic>
      <p:pic>
        <p:nvPicPr>
          <p:cNvPr id="31" name="Image 3" descr="m_L2-6/kcd10ee4cdb.png">    </p:cNvPr>
          <p:cNvPicPr>
            <a:picLocks noChangeAspect="1"/>
          </p:cNvPicPr>
          <p:nvPr/>
        </p:nvPicPr>
        <p:blipFill>
          <a:blip r:embed="rId4"/>
          <a:stretch>
            <a:fillRect/>
          </a:stretch>
        </p:blipFill>
        <p:spPr>
          <a:xfrm>
            <a:off x="3147257" y="2183749"/>
            <a:ext cx="8282743" cy="295943"/>
          </a:xfrm>
          <a:prstGeom prst="rect">
            <a:avLst/>
          </a:prstGeom>
        </p:spPr>
      </p:pic>
      <p:sp>
        <p:nvSpPr>
          <p:cNvPr id="32" name="Shape 25"/>
          <p:cNvSpPr/>
          <p:nvPr/>
        </p:nvSpPr>
        <p:spPr>
          <a:xfrm>
            <a:off x="45720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L2-6/k91808fff2d.png">    </p:cNvPr>
          <p:cNvPicPr>
            <a:picLocks noChangeAspect="1"/>
          </p:cNvPicPr>
          <p:nvPr/>
        </p:nvPicPr>
        <p:blipFill>
          <a:blip r:embed="rId5"/>
          <a:stretch>
            <a:fillRect/>
          </a:stretch>
        </p:blipFill>
        <p:spPr>
          <a:xfrm>
            <a:off x="708139" y="3566160"/>
            <a:ext cx="3155722" cy="369838"/>
          </a:xfrm>
          <a:prstGeom prst="rect">
            <a:avLst/>
          </a:prstGeom>
        </p:spPr>
      </p:pic>
      <p:pic>
        <p:nvPicPr>
          <p:cNvPr id="35" name="Image 5" descr="m_L2-6/k2f16d0b2b7.png">    </p:cNvPr>
          <p:cNvPicPr>
            <a:picLocks noChangeAspect="1"/>
          </p:cNvPicPr>
          <p:nvPr/>
        </p:nvPicPr>
        <p:blipFill>
          <a:blip r:embed="rId6"/>
          <a:stretch>
            <a:fillRect/>
          </a:stretch>
        </p:blipFill>
        <p:spPr>
          <a:xfrm>
            <a:off x="1278697" y="4091446"/>
            <a:ext cx="2014606" cy="279806"/>
          </a:xfrm>
          <a:prstGeom prst="rect">
            <a:avLst/>
          </a:prstGeom>
        </p:spPr>
      </p:pic>
      <p:pic>
        <p:nvPicPr>
          <p:cNvPr id="36" name="Image 6" descr="m_L2-6/k7bada4b17d.png">    </p:cNvPr>
          <p:cNvPicPr>
            <a:picLocks noChangeAspect="1"/>
          </p:cNvPicPr>
          <p:nvPr/>
        </p:nvPicPr>
        <p:blipFill>
          <a:blip r:embed="rId7"/>
          <a:stretch>
            <a:fillRect/>
          </a:stretch>
        </p:blipFill>
        <p:spPr>
          <a:xfrm>
            <a:off x="773400" y="4526701"/>
            <a:ext cx="3025201" cy="312725"/>
          </a:xfrm>
          <a:prstGeom prst="rect">
            <a:avLst/>
          </a:prstGeom>
        </p:spPr>
      </p:pic>
      <p:sp>
        <p:nvSpPr>
          <p:cNvPr id="37" name="Shape 27"/>
          <p:cNvSpPr/>
          <p:nvPr/>
        </p:nvSpPr>
        <p:spPr>
          <a:xfrm>
            <a:off x="425196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Text 28"/>
          <p:cNvSpPr txBox="1"/>
          <p:nvPr/>
        </p:nvSpPr>
        <p:spPr>
          <a:xfrm>
            <a:off x="448056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39" name="Image 7" descr="m_L2-6/k3a7b7acbdb.png">    </p:cNvPr>
          <p:cNvPicPr>
            <a:picLocks noChangeAspect="1"/>
          </p:cNvPicPr>
          <p:nvPr/>
        </p:nvPicPr>
        <p:blipFill>
          <a:blip r:embed="rId8"/>
          <a:stretch>
            <a:fillRect/>
          </a:stretch>
        </p:blipFill>
        <p:spPr>
          <a:xfrm>
            <a:off x="4570299" y="3566160"/>
            <a:ext cx="3020922" cy="369838"/>
          </a:xfrm>
          <a:prstGeom prst="rect">
            <a:avLst/>
          </a:prstGeom>
        </p:spPr>
      </p:pic>
      <p:pic>
        <p:nvPicPr>
          <p:cNvPr id="40" name="Image 8" descr="m_L2-6/k561071c90b.png">    </p:cNvPr>
          <p:cNvPicPr>
            <a:picLocks noChangeAspect="1"/>
          </p:cNvPicPr>
          <p:nvPr/>
        </p:nvPicPr>
        <p:blipFill>
          <a:blip r:embed="rId9"/>
          <a:stretch>
            <a:fillRect/>
          </a:stretch>
        </p:blipFill>
        <p:spPr>
          <a:xfrm>
            <a:off x="4828215" y="4091446"/>
            <a:ext cx="2505090" cy="276515"/>
          </a:xfrm>
          <a:prstGeom prst="rect">
            <a:avLst/>
          </a:prstGeom>
        </p:spPr>
      </p:pic>
      <p:pic>
        <p:nvPicPr>
          <p:cNvPr id="41" name="Image 9" descr="m_L2-6/ke66d6d5682.png">    </p:cNvPr>
          <p:cNvPicPr>
            <a:picLocks noChangeAspect="1"/>
          </p:cNvPicPr>
          <p:nvPr/>
        </p:nvPicPr>
        <p:blipFill>
          <a:blip r:embed="rId10"/>
          <a:stretch>
            <a:fillRect/>
          </a:stretch>
        </p:blipFill>
        <p:spPr>
          <a:xfrm>
            <a:off x="4434840" y="4523409"/>
            <a:ext cx="3291840" cy="305097"/>
          </a:xfrm>
          <a:prstGeom prst="rect">
            <a:avLst/>
          </a:prstGeom>
        </p:spPr>
      </p:pic>
      <p:sp>
        <p:nvSpPr>
          <p:cNvPr id="42" name="Shape 29"/>
          <p:cNvSpPr/>
          <p:nvPr/>
        </p:nvSpPr>
        <p:spPr>
          <a:xfrm>
            <a:off x="804672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3" name="Text 30"/>
          <p:cNvSpPr txBox="1"/>
          <p:nvPr/>
        </p:nvSpPr>
        <p:spPr>
          <a:xfrm>
            <a:off x="827532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C</a:t>
            </a:r>
            <a:endParaRPr lang="en-US" sz="1100" dirty="0"/>
          </a:p>
        </p:txBody>
      </p:sp>
      <p:pic>
        <p:nvPicPr>
          <p:cNvPr id="44" name="Image 10" descr="m_L2-6/k577d953454.png">    </p:cNvPr>
          <p:cNvPicPr>
            <a:picLocks noChangeAspect="1"/>
          </p:cNvPicPr>
          <p:nvPr/>
        </p:nvPicPr>
        <p:blipFill>
          <a:blip r:embed="rId11"/>
          <a:stretch>
            <a:fillRect/>
          </a:stretch>
        </p:blipFill>
        <p:spPr>
          <a:xfrm>
            <a:off x="8229600" y="3566160"/>
            <a:ext cx="3291840" cy="368824"/>
          </a:xfrm>
          <a:prstGeom prst="rect">
            <a:avLst/>
          </a:prstGeom>
        </p:spPr>
      </p:pic>
      <p:pic>
        <p:nvPicPr>
          <p:cNvPr id="45" name="Image 11" descr="m_L2-6/kf97c7a973e.png">    </p:cNvPr>
          <p:cNvPicPr>
            <a:picLocks noChangeAspect="1"/>
          </p:cNvPicPr>
          <p:nvPr/>
        </p:nvPicPr>
        <p:blipFill>
          <a:blip r:embed="rId12"/>
          <a:stretch>
            <a:fillRect/>
          </a:stretch>
        </p:blipFill>
        <p:spPr>
          <a:xfrm>
            <a:off x="8514344" y="4090432"/>
            <a:ext cx="2722352" cy="279806"/>
          </a:xfrm>
          <a:prstGeom prst="rect">
            <a:avLst/>
          </a:prstGeom>
        </p:spPr>
      </p:pic>
      <p:pic>
        <p:nvPicPr>
          <p:cNvPr id="46" name="Image 12" descr="m_L2-6/k431f7f4798.png">    </p:cNvPr>
          <p:cNvPicPr>
            <a:picLocks noChangeAspect="1"/>
          </p:cNvPicPr>
          <p:nvPr/>
        </p:nvPicPr>
        <p:blipFill>
          <a:blip r:embed="rId13"/>
          <a:stretch>
            <a:fillRect/>
          </a:stretch>
        </p:blipFill>
        <p:spPr>
          <a:xfrm>
            <a:off x="8598286" y="4525686"/>
            <a:ext cx="2554468" cy="26005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HSN.CN.C.7 · HSA.REI.B.4.A · HSA.REI.B.4.B</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7</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Nonreal solutions</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2-6/kc95b1be9ef.png">    </p:cNvPr>
          <p:cNvPicPr>
            <a:picLocks noChangeAspect="1"/>
          </p:cNvPicPr>
          <p:nvPr/>
        </p:nvPicPr>
        <p:blipFill>
          <a:blip r:embed="rId3"/>
          <a:stretch>
            <a:fillRect/>
          </a:stretch>
        </p:blipFill>
        <p:spPr>
          <a:xfrm>
            <a:off x="2404872" y="2130552"/>
            <a:ext cx="2874874" cy="402336"/>
          </a:xfrm>
          <a:prstGeom prst="rect">
            <a:avLst/>
          </a:prstGeom>
        </p:spPr>
      </p:pic>
      <p:pic>
        <p:nvPicPr>
          <p:cNvPr id="31" name="Image 3" descr="m_L2-6/kb70688162c.png">    </p:cNvPr>
          <p:cNvPicPr>
            <a:picLocks noChangeAspect="1"/>
          </p:cNvPicPr>
          <p:nvPr/>
        </p:nvPicPr>
        <p:blipFill>
          <a:blip r:embed="rId4"/>
          <a:stretch>
            <a:fillRect/>
          </a:stretch>
        </p:blipFill>
        <p:spPr>
          <a:xfrm>
            <a:off x="5919826" y="2141525"/>
            <a:ext cx="3836822" cy="380390"/>
          </a:xfrm>
          <a:prstGeom prst="rect">
            <a:avLst/>
          </a:prstGeom>
        </p:spPr>
      </p:pic>
      <p:sp>
        <p:nvSpPr>
          <p:cNvPr id="32" name="Shape 25"/>
          <p:cNvSpPr/>
          <p:nvPr/>
        </p:nvSpPr>
        <p:spPr>
          <a:xfrm>
            <a:off x="45720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L2-6/kebe52d239b.png">    </p:cNvPr>
          <p:cNvPicPr>
            <a:picLocks noChangeAspect="1"/>
          </p:cNvPicPr>
          <p:nvPr/>
        </p:nvPicPr>
        <p:blipFill>
          <a:blip r:embed="rId5"/>
          <a:stretch>
            <a:fillRect/>
          </a:stretch>
        </p:blipFill>
        <p:spPr>
          <a:xfrm>
            <a:off x="792821" y="3566160"/>
            <a:ext cx="2986357" cy="338730"/>
          </a:xfrm>
          <a:prstGeom prst="rect">
            <a:avLst/>
          </a:prstGeom>
        </p:spPr>
      </p:pic>
      <p:pic>
        <p:nvPicPr>
          <p:cNvPr id="35" name="Image 5" descr="m_L2-6/kd5ceba6742.png">    </p:cNvPr>
          <p:cNvPicPr>
            <a:picLocks noChangeAspect="1"/>
          </p:cNvPicPr>
          <p:nvPr/>
        </p:nvPicPr>
        <p:blipFill>
          <a:blip r:embed="rId6"/>
          <a:stretch>
            <a:fillRect/>
          </a:stretch>
        </p:blipFill>
        <p:spPr>
          <a:xfrm>
            <a:off x="640080" y="4060338"/>
            <a:ext cx="3291840" cy="674745"/>
          </a:xfrm>
          <a:prstGeom prst="rect">
            <a:avLst/>
          </a:prstGeom>
        </p:spPr>
      </p:pic>
      <p:pic>
        <p:nvPicPr>
          <p:cNvPr id="36" name="Image 6" descr="m_L2-6/k862621c726.png">    </p:cNvPr>
          <p:cNvPicPr>
            <a:picLocks noChangeAspect="1"/>
          </p:cNvPicPr>
          <p:nvPr/>
        </p:nvPicPr>
        <p:blipFill>
          <a:blip r:embed="rId7"/>
          <a:stretch>
            <a:fillRect/>
          </a:stretch>
        </p:blipFill>
        <p:spPr>
          <a:xfrm>
            <a:off x="1649029" y="4890532"/>
            <a:ext cx="1273942" cy="273223"/>
          </a:xfrm>
          <a:prstGeom prst="rect">
            <a:avLst/>
          </a:prstGeom>
        </p:spPr>
      </p:pic>
      <p:sp>
        <p:nvSpPr>
          <p:cNvPr id="37" name="Shape 27"/>
          <p:cNvSpPr/>
          <p:nvPr/>
        </p:nvSpPr>
        <p:spPr>
          <a:xfrm>
            <a:off x="425196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Text 28"/>
          <p:cNvSpPr txBox="1"/>
          <p:nvPr/>
        </p:nvSpPr>
        <p:spPr>
          <a:xfrm>
            <a:off x="448056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39" name="Image 7" descr="m_L2-6/ka43519883d.png">    </p:cNvPr>
          <p:cNvPicPr>
            <a:picLocks noChangeAspect="1"/>
          </p:cNvPicPr>
          <p:nvPr/>
        </p:nvPicPr>
        <p:blipFill>
          <a:blip r:embed="rId8"/>
          <a:stretch>
            <a:fillRect/>
          </a:stretch>
        </p:blipFill>
        <p:spPr>
          <a:xfrm>
            <a:off x="4589310" y="3566160"/>
            <a:ext cx="2982901" cy="338730"/>
          </a:xfrm>
          <a:prstGeom prst="rect">
            <a:avLst/>
          </a:prstGeom>
        </p:spPr>
      </p:pic>
      <p:pic>
        <p:nvPicPr>
          <p:cNvPr id="40" name="Image 8" descr="m_L2-6/kf283361d91.png">    </p:cNvPr>
          <p:cNvPicPr>
            <a:picLocks noChangeAspect="1"/>
          </p:cNvPicPr>
          <p:nvPr/>
        </p:nvPicPr>
        <p:blipFill>
          <a:blip r:embed="rId9"/>
          <a:stretch>
            <a:fillRect/>
          </a:stretch>
        </p:blipFill>
        <p:spPr>
          <a:xfrm>
            <a:off x="4434840" y="4060338"/>
            <a:ext cx="3291840" cy="619853"/>
          </a:xfrm>
          <a:prstGeom prst="rect">
            <a:avLst/>
          </a:prstGeom>
        </p:spPr>
      </p:pic>
      <p:pic>
        <p:nvPicPr>
          <p:cNvPr id="41" name="Image 9" descr="m_L2-6/ka79d7f8fb6.png">    </p:cNvPr>
          <p:cNvPicPr>
            <a:picLocks noChangeAspect="1"/>
          </p:cNvPicPr>
          <p:nvPr/>
        </p:nvPicPr>
        <p:blipFill>
          <a:blip r:embed="rId10"/>
          <a:stretch>
            <a:fillRect/>
          </a:stretch>
        </p:blipFill>
        <p:spPr>
          <a:xfrm>
            <a:off x="5282489" y="4835639"/>
            <a:ext cx="1596542" cy="618866"/>
          </a:xfrm>
          <a:prstGeom prst="rect">
            <a:avLst/>
          </a:prstGeom>
        </p:spPr>
      </p:pic>
      <p:sp>
        <p:nvSpPr>
          <p:cNvPr id="42" name="Shape 29"/>
          <p:cNvSpPr/>
          <p:nvPr/>
        </p:nvSpPr>
        <p:spPr>
          <a:xfrm>
            <a:off x="804672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3" name="Text 30"/>
          <p:cNvSpPr txBox="1"/>
          <p:nvPr/>
        </p:nvSpPr>
        <p:spPr>
          <a:xfrm>
            <a:off x="827532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C</a:t>
            </a:r>
            <a:endParaRPr lang="en-US" sz="1100" dirty="0"/>
          </a:p>
        </p:txBody>
      </p:sp>
      <p:pic>
        <p:nvPicPr>
          <p:cNvPr id="44" name="Image 10" descr="m_L2-6/ka40dfdda4b.png">    </p:cNvPr>
          <p:cNvPicPr>
            <a:picLocks noChangeAspect="1"/>
          </p:cNvPicPr>
          <p:nvPr/>
        </p:nvPicPr>
        <p:blipFill>
          <a:blip r:embed="rId11"/>
          <a:stretch>
            <a:fillRect/>
          </a:stretch>
        </p:blipFill>
        <p:spPr>
          <a:xfrm>
            <a:off x="8454926" y="3566160"/>
            <a:ext cx="2841187" cy="338730"/>
          </a:xfrm>
          <a:prstGeom prst="rect">
            <a:avLst/>
          </a:prstGeom>
        </p:spPr>
      </p:pic>
      <p:pic>
        <p:nvPicPr>
          <p:cNvPr id="45" name="Image 11" descr="m_L2-6/k58419993b9.png">    </p:cNvPr>
          <p:cNvPicPr>
            <a:picLocks noChangeAspect="1"/>
          </p:cNvPicPr>
          <p:nvPr/>
        </p:nvPicPr>
        <p:blipFill>
          <a:blip r:embed="rId12"/>
          <a:stretch>
            <a:fillRect/>
          </a:stretch>
        </p:blipFill>
        <p:spPr>
          <a:xfrm>
            <a:off x="8229600" y="4060338"/>
            <a:ext cx="3291840" cy="643988"/>
          </a:xfrm>
          <a:prstGeom prst="rect">
            <a:avLst/>
          </a:prstGeom>
        </p:spPr>
      </p:pic>
      <p:pic>
        <p:nvPicPr>
          <p:cNvPr id="46" name="Image 12" descr="m_L2-6/k9d0ed2adfa.png">    </p:cNvPr>
          <p:cNvPicPr>
            <a:picLocks noChangeAspect="1"/>
          </p:cNvPicPr>
          <p:nvPr/>
        </p:nvPicPr>
        <p:blipFill>
          <a:blip r:embed="rId13"/>
          <a:stretch>
            <a:fillRect/>
          </a:stretch>
        </p:blipFill>
        <p:spPr>
          <a:xfrm>
            <a:off x="9199047" y="4859774"/>
            <a:ext cx="1352946" cy="27322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HSN.CN.C.7 · HSA.REI.B.4.A · HSA.REI.B.4.B</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8</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The discriminant with an unknown</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2-6/k5e1ed128b8.png">    </p:cNvPr>
          <p:cNvPicPr>
            <a:picLocks noChangeAspect="1"/>
          </p:cNvPicPr>
          <p:nvPr/>
        </p:nvPicPr>
        <p:blipFill>
          <a:blip r:embed="rId3"/>
          <a:stretch>
            <a:fillRect/>
          </a:stretch>
        </p:blipFill>
        <p:spPr>
          <a:xfrm>
            <a:off x="1969618" y="2187245"/>
            <a:ext cx="3236976" cy="288950"/>
          </a:xfrm>
          <a:prstGeom prst="rect">
            <a:avLst/>
          </a:prstGeom>
        </p:spPr>
      </p:pic>
      <p:pic>
        <p:nvPicPr>
          <p:cNvPr id="31" name="Image 3" descr="m_L2-6/k0d300f766a.png">    </p:cNvPr>
          <p:cNvPicPr>
            <a:picLocks noChangeAspect="1"/>
          </p:cNvPicPr>
          <p:nvPr/>
        </p:nvPicPr>
        <p:blipFill>
          <a:blip r:embed="rId4"/>
          <a:stretch>
            <a:fillRect/>
          </a:stretch>
        </p:blipFill>
        <p:spPr>
          <a:xfrm>
            <a:off x="5846674" y="2183587"/>
            <a:ext cx="4345229" cy="296266"/>
          </a:xfrm>
          <a:prstGeom prst="rect">
            <a:avLst/>
          </a:prstGeom>
        </p:spPr>
      </p:pic>
      <p:sp>
        <p:nvSpPr>
          <p:cNvPr id="32" name="Shape 25"/>
          <p:cNvSpPr/>
          <p:nvPr/>
        </p:nvSpPr>
        <p:spPr>
          <a:xfrm>
            <a:off x="457200" y="3108960"/>
            <a:ext cx="39319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3" name="Image 4" descr="figs/L2-6_discriminant.png">    </p:cNvPr>
          <p:cNvPicPr>
            <a:picLocks noChangeAspect="1"/>
          </p:cNvPicPr>
          <p:nvPr/>
        </p:nvPicPr>
        <p:blipFill>
          <a:blip r:embed="rId5"/>
          <a:stretch>
            <a:fillRect/>
          </a:stretch>
        </p:blipFill>
        <p:spPr>
          <a:xfrm>
            <a:off x="594360" y="3303549"/>
            <a:ext cx="3657600" cy="2765502"/>
          </a:xfrm>
          <a:prstGeom prst="rect">
            <a:avLst/>
          </a:prstGeom>
        </p:spPr>
      </p:pic>
      <p:sp>
        <p:nvSpPr>
          <p:cNvPr id="34" name="Shape 26"/>
          <p:cNvSpPr/>
          <p:nvPr/>
        </p:nvSpPr>
        <p:spPr>
          <a:xfrm>
            <a:off x="4526280" y="3108960"/>
            <a:ext cx="352044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5" name="Text 27"/>
          <p:cNvSpPr txBox="1"/>
          <p:nvPr/>
        </p:nvSpPr>
        <p:spPr>
          <a:xfrm>
            <a:off x="475488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6" name="Image 5" descr="m_L2-6/kc104757881.png">    </p:cNvPr>
          <p:cNvPicPr>
            <a:picLocks noChangeAspect="1"/>
          </p:cNvPicPr>
          <p:nvPr/>
        </p:nvPicPr>
        <p:blipFill>
          <a:blip r:embed="rId6"/>
          <a:stretch>
            <a:fillRect/>
          </a:stretch>
        </p:blipFill>
        <p:spPr>
          <a:xfrm>
            <a:off x="4709160" y="3566160"/>
            <a:ext cx="3154680" cy="282337"/>
          </a:xfrm>
          <a:prstGeom prst="rect">
            <a:avLst/>
          </a:prstGeom>
        </p:spPr>
      </p:pic>
      <p:pic>
        <p:nvPicPr>
          <p:cNvPr id="37" name="Image 6" descr="m_L2-6/k967c08aaa5.png">    </p:cNvPr>
          <p:cNvPicPr>
            <a:picLocks noChangeAspect="1"/>
          </p:cNvPicPr>
          <p:nvPr/>
        </p:nvPicPr>
        <p:blipFill>
          <a:blip r:embed="rId7"/>
          <a:stretch>
            <a:fillRect/>
          </a:stretch>
        </p:blipFill>
        <p:spPr>
          <a:xfrm>
            <a:off x="5270967" y="4003945"/>
            <a:ext cx="2031065" cy="283098"/>
          </a:xfrm>
          <a:prstGeom prst="rect">
            <a:avLst/>
          </a:prstGeom>
        </p:spPr>
      </p:pic>
      <p:pic>
        <p:nvPicPr>
          <p:cNvPr id="38" name="Image 7" descr="m_L2-6/kba90bbc9b2.png">    </p:cNvPr>
          <p:cNvPicPr>
            <a:picLocks noChangeAspect="1"/>
          </p:cNvPicPr>
          <p:nvPr/>
        </p:nvPicPr>
        <p:blipFill>
          <a:blip r:embed="rId8"/>
          <a:stretch>
            <a:fillRect/>
          </a:stretch>
        </p:blipFill>
        <p:spPr>
          <a:xfrm>
            <a:off x="5930981" y="4442491"/>
            <a:ext cx="711037" cy="260055"/>
          </a:xfrm>
          <a:prstGeom prst="rect">
            <a:avLst/>
          </a:prstGeom>
        </p:spPr>
      </p:pic>
      <p:sp>
        <p:nvSpPr>
          <p:cNvPr id="39" name="Shape 28"/>
          <p:cNvSpPr/>
          <p:nvPr/>
        </p:nvSpPr>
        <p:spPr>
          <a:xfrm>
            <a:off x="8183880" y="3108960"/>
            <a:ext cx="352044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0" name="Text 29"/>
          <p:cNvSpPr txBox="1"/>
          <p:nvPr/>
        </p:nvSpPr>
        <p:spPr>
          <a:xfrm>
            <a:off x="841248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41" name="Image 8" descr="m_L2-6/k6d44fd3381.png">    </p:cNvPr>
          <p:cNvPicPr>
            <a:picLocks noChangeAspect="1"/>
          </p:cNvPicPr>
          <p:nvPr/>
        </p:nvPicPr>
        <p:blipFill>
          <a:blip r:embed="rId9"/>
          <a:stretch>
            <a:fillRect/>
          </a:stretch>
        </p:blipFill>
        <p:spPr>
          <a:xfrm>
            <a:off x="8366760" y="3566160"/>
            <a:ext cx="3154680" cy="272627"/>
          </a:xfrm>
          <a:prstGeom prst="rect">
            <a:avLst/>
          </a:prstGeom>
        </p:spPr>
      </p:pic>
      <p:pic>
        <p:nvPicPr>
          <p:cNvPr id="42" name="Image 9" descr="m_L2-6/k48667a17e8.png">    </p:cNvPr>
          <p:cNvPicPr>
            <a:picLocks noChangeAspect="1"/>
          </p:cNvPicPr>
          <p:nvPr/>
        </p:nvPicPr>
        <p:blipFill>
          <a:blip r:embed="rId10"/>
          <a:stretch>
            <a:fillRect/>
          </a:stretch>
        </p:blipFill>
        <p:spPr>
          <a:xfrm>
            <a:off x="8941735" y="3994235"/>
            <a:ext cx="2004731" cy="322600"/>
          </a:xfrm>
          <a:prstGeom prst="rect">
            <a:avLst/>
          </a:prstGeom>
        </p:spPr>
      </p:pic>
      <p:pic>
        <p:nvPicPr>
          <p:cNvPr id="43" name="Image 10" descr="m_L2-6/k30b5d53093.png">    </p:cNvPr>
          <p:cNvPicPr>
            <a:picLocks noChangeAspect="1"/>
          </p:cNvPicPr>
          <p:nvPr/>
        </p:nvPicPr>
        <p:blipFill>
          <a:blip r:embed="rId11"/>
          <a:stretch>
            <a:fillRect/>
          </a:stretch>
        </p:blipFill>
        <p:spPr>
          <a:xfrm>
            <a:off x="8953256" y="4472283"/>
            <a:ext cx="1981688" cy="28309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HSN.CN.C.7 · HSA.REI.B.4.A · HSA.REI.B.4.B</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9</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329184" cy="0"/>
          </a:xfrm>
          <a:prstGeom prst="line">
            <a:avLst/>
          </a:prstGeom>
          <a:noFill/>
          <a:ln w="25400">
            <a:solidFill>
              <a:srgbClr val="17A199"/>
            </a:solidFill>
            <a:prstDash val="dash"/>
          </a:ln>
        </p:spPr>
      </p:sp>
      <p:sp>
        <p:nvSpPr>
          <p:cNvPr id="15" name="stn3"/>
          <p:cNvSpPr/>
          <p:nvPr/>
        </p:nvSpPr>
        <p:spPr>
          <a:xfrm>
            <a:off x="5358384" y="228600"/>
            <a:ext cx="457200" cy="457200"/>
          </a:xfrm>
          <a:prstGeom prst="ellipse">
            <a:avLst/>
          </a:prstGeom>
          <a:solidFill>
            <a:srgbClr val="E8762C"/>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path3"/>
          <p:cNvSpPr/>
          <p:nvPr/>
        </p:nvSpPr>
        <p:spPr>
          <a:xfrm>
            <a:off x="5833872" y="457200"/>
            <a:ext cx="32918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3  ·  PRACTICE  ·  12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Give it a go: Practice, Apply, Investigate</a:t>
            </a:r>
            <a:endParaRPr lang="en-US" sz="3000" dirty="0"/>
          </a:p>
        </p:txBody>
      </p:sp>
      <p:sp>
        <p:nvSpPr>
          <p:cNvPr id="29" name="Shape 24"/>
          <p:cNvSpPr/>
          <p:nvPr/>
        </p:nvSpPr>
        <p:spPr>
          <a:xfrm>
            <a:off x="457200" y="1828800"/>
            <a:ext cx="3611880" cy="777240"/>
          </a:xfrm>
          <a:prstGeom prst="roundRect">
            <a:avLst>
              <a:gd name="adj" fmla="val 14118"/>
            </a:avLst>
          </a:prstGeom>
          <a:solidFill>
            <a:srgbClr val="17A199"/>
          </a:solidFill>
          <a:ln w="12700">
            <a:solidFill>
              <a:srgbClr val="FFFFFF"/>
            </a:solidFill>
            <a:prstDash val="solid"/>
          </a:ln>
        </p:spPr>
      </p:sp>
      <p:sp>
        <p:nvSpPr>
          <p:cNvPr id="30" name="Text 25"/>
          <p:cNvSpPr txBox="1"/>
          <p:nvPr/>
        </p:nvSpPr>
        <p:spPr>
          <a:xfrm>
            <a:off x="68580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PRACTICE</a:t>
            </a:r>
            <a:endParaRPr lang="en-US" sz="2000" dirty="0"/>
          </a:p>
        </p:txBody>
      </p:sp>
      <p:sp>
        <p:nvSpPr>
          <p:cNvPr id="31" name="Text 26"/>
          <p:cNvSpPr txBox="1"/>
          <p:nvPr/>
        </p:nvSpPr>
        <p:spPr>
          <a:xfrm>
            <a:off x="68580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Secure the method</a:t>
            </a:r>
            <a:endParaRPr lang="en-US" sz="1300" dirty="0"/>
          </a:p>
        </p:txBody>
      </p:sp>
      <p:sp>
        <p:nvSpPr>
          <p:cNvPr id="32" name="Shape 27"/>
          <p:cNvSpPr/>
          <p:nvPr/>
        </p:nvSpPr>
        <p:spPr>
          <a:xfrm>
            <a:off x="45720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3" name="Image 2" descr="m_L2-6/k93edbb44c3.png">    </p:cNvPr>
          <p:cNvPicPr>
            <a:picLocks noChangeAspect="1"/>
          </p:cNvPicPr>
          <p:nvPr/>
        </p:nvPicPr>
        <p:blipFill>
          <a:blip r:embed="rId3"/>
          <a:stretch>
            <a:fillRect/>
          </a:stretch>
        </p:blipFill>
        <p:spPr>
          <a:xfrm>
            <a:off x="681228" y="2926080"/>
            <a:ext cx="3163824" cy="358445"/>
          </a:xfrm>
          <a:prstGeom prst="rect">
            <a:avLst/>
          </a:prstGeom>
        </p:spPr>
      </p:pic>
      <p:pic>
        <p:nvPicPr>
          <p:cNvPr id="34" name="Image 3" descr="m_L2-6/k82754b14db.png">    </p:cNvPr>
          <p:cNvPicPr>
            <a:picLocks noChangeAspect="1"/>
          </p:cNvPicPr>
          <p:nvPr/>
        </p:nvPicPr>
        <p:blipFill>
          <a:blip r:embed="rId4"/>
          <a:stretch>
            <a:fillRect/>
          </a:stretch>
        </p:blipFill>
        <p:spPr>
          <a:xfrm>
            <a:off x="571500" y="3558845"/>
            <a:ext cx="3383280" cy="379069"/>
          </a:xfrm>
          <a:prstGeom prst="rect">
            <a:avLst/>
          </a:prstGeom>
        </p:spPr>
      </p:pic>
      <p:sp>
        <p:nvSpPr>
          <p:cNvPr id="35" name="Text 28"/>
          <p:cNvSpPr txBox="1"/>
          <p:nvPr/>
        </p:nvSpPr>
        <p:spPr>
          <a:xfrm>
            <a:off x="68580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a, b and c are written with their signs, the discriminant is found first, and each real solution is checked by substitution.</a:t>
            </a:r>
            <a:endParaRPr lang="en-US" sz="1150" dirty="0"/>
          </a:p>
        </p:txBody>
      </p:sp>
      <p:sp>
        <p:nvSpPr>
          <p:cNvPr id="36" name="Shape 29"/>
          <p:cNvSpPr/>
          <p:nvPr/>
        </p:nvSpPr>
        <p:spPr>
          <a:xfrm>
            <a:off x="4251960" y="1828800"/>
            <a:ext cx="3611880" cy="777240"/>
          </a:xfrm>
          <a:prstGeom prst="roundRect">
            <a:avLst>
              <a:gd name="adj" fmla="val 14118"/>
            </a:avLst>
          </a:prstGeom>
          <a:solidFill>
            <a:srgbClr val="E8762C"/>
          </a:solidFill>
          <a:ln w="12700">
            <a:solidFill>
              <a:srgbClr val="FFFFFF"/>
            </a:solidFill>
            <a:prstDash val="solid"/>
          </a:ln>
        </p:spPr>
      </p:sp>
      <p:sp>
        <p:nvSpPr>
          <p:cNvPr id="37" name="Text 30"/>
          <p:cNvSpPr txBox="1"/>
          <p:nvPr/>
        </p:nvSpPr>
        <p:spPr>
          <a:xfrm>
            <a:off x="448056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APPLY</a:t>
            </a:r>
            <a:endParaRPr lang="en-US" sz="2000" dirty="0"/>
          </a:p>
        </p:txBody>
      </p:sp>
      <p:sp>
        <p:nvSpPr>
          <p:cNvPr id="38" name="Text 31"/>
          <p:cNvSpPr txBox="1"/>
          <p:nvPr/>
        </p:nvSpPr>
        <p:spPr>
          <a:xfrm>
            <a:off x="448056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Use it in context</a:t>
            </a:r>
            <a:endParaRPr lang="en-US" sz="1300" dirty="0"/>
          </a:p>
        </p:txBody>
      </p:sp>
      <p:sp>
        <p:nvSpPr>
          <p:cNvPr id="39" name="Shape 32"/>
          <p:cNvSpPr/>
          <p:nvPr/>
        </p:nvSpPr>
        <p:spPr>
          <a:xfrm>
            <a:off x="425196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40" name="Image 4" descr="m_L2-6/k5ec6cd726a.png">    </p:cNvPr>
          <p:cNvPicPr>
            <a:picLocks noChangeAspect="1"/>
          </p:cNvPicPr>
          <p:nvPr/>
        </p:nvPicPr>
        <p:blipFill>
          <a:blip r:embed="rId5"/>
          <a:stretch>
            <a:fillRect/>
          </a:stretch>
        </p:blipFill>
        <p:spPr>
          <a:xfrm>
            <a:off x="4475988" y="2926080"/>
            <a:ext cx="3163824" cy="358445"/>
          </a:xfrm>
          <a:prstGeom prst="rect">
            <a:avLst/>
          </a:prstGeom>
        </p:spPr>
      </p:pic>
      <p:pic>
        <p:nvPicPr>
          <p:cNvPr id="41" name="Image 5" descr="m_L2-6/k93829ec194.png">    </p:cNvPr>
          <p:cNvPicPr>
            <a:picLocks noChangeAspect="1"/>
          </p:cNvPicPr>
          <p:nvPr/>
        </p:nvPicPr>
        <p:blipFill>
          <a:blip r:embed="rId6"/>
          <a:stretch>
            <a:fillRect/>
          </a:stretch>
        </p:blipFill>
        <p:spPr>
          <a:xfrm>
            <a:off x="4479646" y="3558845"/>
            <a:ext cx="3156509" cy="358445"/>
          </a:xfrm>
          <a:prstGeom prst="rect">
            <a:avLst/>
          </a:prstGeom>
        </p:spPr>
      </p:pic>
      <p:sp>
        <p:nvSpPr>
          <p:cNvPr id="42" name="Text 33"/>
          <p:cNvSpPr txBox="1"/>
          <p:nvPr/>
        </p:nvSpPr>
        <p:spPr>
          <a:xfrm>
            <a:off x="448056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the answers are exact, the radical is simplified, every term of the numerator is divided by the denominator, and nonreal solutions are written in the form a ± bi.</a:t>
            </a:r>
            <a:endParaRPr lang="en-US" sz="1150" dirty="0"/>
          </a:p>
        </p:txBody>
      </p:sp>
      <p:sp>
        <p:nvSpPr>
          <p:cNvPr id="43" name="Shape 34"/>
          <p:cNvSpPr/>
          <p:nvPr/>
        </p:nvSpPr>
        <p:spPr>
          <a:xfrm>
            <a:off x="8046720" y="1828800"/>
            <a:ext cx="3611880" cy="777240"/>
          </a:xfrm>
          <a:prstGeom prst="roundRect">
            <a:avLst>
              <a:gd name="adj" fmla="val 14118"/>
            </a:avLst>
          </a:prstGeom>
          <a:solidFill>
            <a:srgbClr val="1F3864"/>
          </a:solidFill>
          <a:ln w="12700">
            <a:solidFill>
              <a:srgbClr val="FFFFFF"/>
            </a:solidFill>
            <a:prstDash val="solid"/>
          </a:ln>
        </p:spPr>
      </p:sp>
      <p:sp>
        <p:nvSpPr>
          <p:cNvPr id="44" name="Text 35"/>
          <p:cNvSpPr txBox="1"/>
          <p:nvPr/>
        </p:nvSpPr>
        <p:spPr>
          <a:xfrm>
            <a:off x="827532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INVESTIGATE</a:t>
            </a:r>
            <a:endParaRPr lang="en-US" sz="2000" dirty="0"/>
          </a:p>
        </p:txBody>
      </p:sp>
      <p:sp>
        <p:nvSpPr>
          <p:cNvPr id="45" name="Text 36"/>
          <p:cNvSpPr txBox="1"/>
          <p:nvPr/>
        </p:nvSpPr>
        <p:spPr>
          <a:xfrm>
            <a:off x="827532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Find out why</a:t>
            </a:r>
            <a:endParaRPr lang="en-US" sz="1300" dirty="0"/>
          </a:p>
        </p:txBody>
      </p:sp>
      <p:sp>
        <p:nvSpPr>
          <p:cNvPr id="46" name="Shape 37"/>
          <p:cNvSpPr/>
          <p:nvPr/>
        </p:nvSpPr>
        <p:spPr>
          <a:xfrm>
            <a:off x="804672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47" name="Image 6" descr="m_L2-6/k45f9bdaaba.png">    </p:cNvPr>
          <p:cNvPicPr>
            <a:picLocks noChangeAspect="1"/>
          </p:cNvPicPr>
          <p:nvPr/>
        </p:nvPicPr>
        <p:blipFill>
          <a:blip r:embed="rId7"/>
          <a:stretch>
            <a:fillRect/>
          </a:stretch>
        </p:blipFill>
        <p:spPr>
          <a:xfrm>
            <a:off x="8161020" y="2926080"/>
            <a:ext cx="3383280" cy="490907"/>
          </a:xfrm>
          <a:prstGeom prst="rect">
            <a:avLst/>
          </a:prstGeom>
        </p:spPr>
      </p:pic>
      <p:pic>
        <p:nvPicPr>
          <p:cNvPr id="48" name="Image 7" descr="m_L2-6/k2ab5de0aba.png">    </p:cNvPr>
          <p:cNvPicPr>
            <a:picLocks noChangeAspect="1"/>
          </p:cNvPicPr>
          <p:nvPr/>
        </p:nvPicPr>
        <p:blipFill>
          <a:blip r:embed="rId8"/>
          <a:stretch>
            <a:fillRect/>
          </a:stretch>
        </p:blipFill>
        <p:spPr>
          <a:xfrm>
            <a:off x="8161020" y="3691307"/>
            <a:ext cx="3383280" cy="619199"/>
          </a:xfrm>
          <a:prstGeom prst="rect">
            <a:avLst/>
          </a:prstGeom>
        </p:spPr>
      </p:pic>
      <p:sp>
        <p:nvSpPr>
          <p:cNvPr id="49" name="Text 38"/>
          <p:cNvSpPr txBox="1"/>
          <p:nvPr/>
        </p:nvSpPr>
        <p:spPr>
          <a:xfrm>
            <a:off x="827532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your argument names the discriminant, says what its value tells you about the solutions, and reaches an inequality for k.</a:t>
            </a:r>
            <a:endParaRPr lang="en-US" sz="11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HSN.CN.C.7 · HSA.REI.B.4.A · HSA.REI.B.4.B</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10</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329184" cy="0"/>
          </a:xfrm>
          <a:prstGeom prst="line">
            <a:avLst/>
          </a:prstGeom>
          <a:noFill/>
          <a:ln w="25400">
            <a:solidFill>
              <a:srgbClr val="17A199"/>
            </a:solidFill>
            <a:prstDash val="dash"/>
          </a:ln>
        </p:spPr>
      </p:sp>
      <p:sp>
        <p:nvSpPr>
          <p:cNvPr id="18" name="stn4"/>
          <p:cNvSpPr/>
          <p:nvPr/>
        </p:nvSpPr>
        <p:spPr>
          <a:xfrm>
            <a:off x="6071616" y="228600"/>
            <a:ext cx="457200" cy="457200"/>
          </a:xfrm>
          <a:prstGeom prst="ellipse">
            <a:avLst/>
          </a:prstGeom>
          <a:solidFill>
            <a:srgbClr val="E8762C"/>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path4"/>
          <p:cNvSpPr/>
          <p:nvPr/>
        </p:nvSpPr>
        <p:spPr>
          <a:xfrm>
            <a:off x="6547104" y="457200"/>
            <a:ext cx="32918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4  ·  PRODUCTION  ·  12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Production: Jeddah Season ticket price</a:t>
            </a:r>
            <a:endParaRPr lang="en-US" sz="3000" dirty="0"/>
          </a:p>
        </p:txBody>
      </p:sp>
      <p:sp>
        <p:nvSpPr>
          <p:cNvPr id="29" name="Shape 24"/>
          <p:cNvSpPr/>
          <p:nvPr/>
        </p:nvSpPr>
        <p:spPr>
          <a:xfrm>
            <a:off x="457200" y="1828800"/>
            <a:ext cx="5852160" cy="4434840"/>
          </a:xfrm>
          <a:prstGeom prst="roundRect">
            <a:avLst>
              <a:gd name="adj" fmla="val 247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Text 25"/>
          <p:cNvSpPr txBox="1"/>
          <p:nvPr/>
        </p:nvSpPr>
        <p:spPr>
          <a:xfrm>
            <a:off x="731520" y="192024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THE MODEL</a:t>
            </a:r>
            <a:endParaRPr lang="en-US" sz="1100" dirty="0"/>
          </a:p>
        </p:txBody>
      </p:sp>
      <p:sp>
        <p:nvSpPr>
          <p:cNvPr id="31" name="Text 26"/>
          <p:cNvSpPr txBox="1"/>
          <p:nvPr/>
        </p:nvSpPr>
        <p:spPr>
          <a:xfrm>
            <a:off x="731520" y="2194560"/>
            <a:ext cx="5303520" cy="1143000"/>
          </a:xfrm>
          <a:prstGeom prst="rect">
            <a:avLst/>
          </a:prstGeom>
          <a:noFill/>
          <a:ln/>
        </p:spPr>
        <p:txBody>
          <a:bodyPr wrap="square" lIns="0" tIns="0" rIns="0" bIns="0" rtlCol="0" anchor="t"/>
          <a:lstStyle/>
          <a:p>
            <a:pPr indent="0" marL="0">
              <a:buNone/>
            </a:pPr>
            <a:r>
              <a:rPr lang="en-US" sz="1500" dirty="0">
                <a:solidFill>
                  <a:srgbClr val="222E2D"/>
                </a:solidFill>
                <a:latin typeface="Calibri" pitchFamily="34" charset="0"/>
                <a:ea typeface="Calibri" pitchFamily="34" charset="-122"/>
                <a:cs typeface="Calibri" pitchFamily="34" charset="-120"/>
              </a:rPr>
              <a:t>Organisers of a Jeddah Season concert, part of the Vision 2030 entertainment programme, model the ticket revenue in riyals as a quadratic function of the ticket price in riyals, given below. These are model values, not real figures.</a:t>
            </a:r>
            <a:endParaRPr lang="en-US" sz="1500" dirty="0"/>
          </a:p>
        </p:txBody>
      </p:sp>
      <p:pic>
        <p:nvPicPr>
          <p:cNvPr id="32" name="Image 2" descr="m_L2-6/k4353fa10a9.png">    </p:cNvPr>
          <p:cNvPicPr>
            <a:picLocks noChangeAspect="1"/>
          </p:cNvPicPr>
          <p:nvPr/>
        </p:nvPicPr>
        <p:blipFill>
          <a:blip r:embed="rId3"/>
          <a:stretch>
            <a:fillRect/>
          </a:stretch>
        </p:blipFill>
        <p:spPr>
          <a:xfrm>
            <a:off x="1788566" y="3429000"/>
            <a:ext cx="3189427" cy="327721"/>
          </a:xfrm>
          <a:prstGeom prst="rect">
            <a:avLst/>
          </a:prstGeom>
        </p:spPr>
      </p:pic>
      <p:pic>
        <p:nvPicPr>
          <p:cNvPr id="33" name="Image 3" descr="m_L2-6/kb469d101b6.png">    </p:cNvPr>
          <p:cNvPicPr>
            <a:picLocks noChangeAspect="1"/>
          </p:cNvPicPr>
          <p:nvPr/>
        </p:nvPicPr>
        <p:blipFill>
          <a:blip r:embed="rId4"/>
          <a:stretch>
            <a:fillRect/>
          </a:stretch>
        </p:blipFill>
        <p:spPr>
          <a:xfrm>
            <a:off x="2003633" y="3866449"/>
            <a:ext cx="2759293" cy="304312"/>
          </a:xfrm>
          <a:prstGeom prst="rect">
            <a:avLst/>
          </a:prstGeom>
        </p:spPr>
      </p:pic>
      <p:sp>
        <p:nvSpPr>
          <p:cNvPr id="34" name="Text 27"/>
          <p:cNvSpPr txBox="1"/>
          <p:nvPr/>
        </p:nvSpPr>
        <p:spPr>
          <a:xfrm>
            <a:off x="731520" y="4417649"/>
            <a:ext cx="5303520" cy="1800271"/>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Find the ticket prices that give a revenue of 2 000 SAR, exactly and to the nearest 0.01 SAR.</a:t>
            </a:r>
            <a:endParaRPr lang="en-US" sz="1300" dirty="0"/>
          </a:p>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Show that a revenue of 4 000 SAR is possible at exactly one price, and state it.</a:t>
            </a:r>
            <a:endParaRPr lang="en-US" sz="1300" dirty="0"/>
          </a:p>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A sponsor asks for 5 000 SAR. Use the discriminant to explain why no price works.</a:t>
            </a:r>
            <a:endParaRPr lang="en-US" sz="1300" dirty="0"/>
          </a:p>
        </p:txBody>
      </p:sp>
      <p:sp>
        <p:nvSpPr>
          <p:cNvPr id="35" name="Shape 28"/>
          <p:cNvSpPr/>
          <p:nvPr/>
        </p:nvSpPr>
        <p:spPr>
          <a:xfrm>
            <a:off x="6492240" y="1828800"/>
            <a:ext cx="5212080" cy="4434840"/>
          </a:xfrm>
          <a:prstGeom prst="roundRect">
            <a:avLst>
              <a:gd name="adj" fmla="val 2474"/>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6" name="Text 29"/>
          <p:cNvSpPr txBox="1"/>
          <p:nvPr/>
        </p:nvSpPr>
        <p:spPr>
          <a:xfrm>
            <a:off x="6766560" y="192024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DONE WHEN</a:t>
            </a:r>
            <a:endParaRPr lang="en-US" sz="1100" dirty="0"/>
          </a:p>
        </p:txBody>
      </p:sp>
      <p:sp>
        <p:nvSpPr>
          <p:cNvPr id="37" name="Text 30"/>
          <p:cNvSpPr txBox="1"/>
          <p:nvPr/>
        </p:nvSpPr>
        <p:spPr>
          <a:xfrm>
            <a:off x="6766560" y="2286000"/>
            <a:ext cx="4663440" cy="292608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Each task rewrites the revenue equation as a quadratic equal to zero and writes a, b and c with their signs.</a:t>
            </a:r>
            <a:endParaRPr lang="en-US" sz="1400" dirty="0"/>
          </a:p>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The discriminant is calculated and its sign gives the number of prices.</a:t>
            </a:r>
            <a:endParaRPr lang="en-US" sz="1400" dirty="0"/>
          </a:p>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Task 1 gives two prices, exact and decimal, and one is checked by substitution.</a:t>
            </a:r>
            <a:endParaRPr lang="en-US" sz="1400" dirty="0"/>
          </a:p>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Task 3 ends with a sentence in context and says the numbers are model values.</a:t>
            </a:r>
            <a:endParaRPr lang="en-US" sz="1400" dirty="0"/>
          </a:p>
        </p:txBody>
      </p:sp>
      <p:sp>
        <p:nvSpPr>
          <p:cNvPr id="38" name="Text 31"/>
          <p:cNvSpPr txBox="1"/>
          <p:nvPr/>
        </p:nvSpPr>
        <p:spPr>
          <a:xfrm>
            <a:off x="6766560" y="5303520"/>
            <a:ext cx="4663440" cy="822960"/>
          </a:xfrm>
          <a:prstGeom prst="rect">
            <a:avLst/>
          </a:prstGeom>
          <a:noFill/>
          <a:ln/>
        </p:spPr>
        <p:txBody>
          <a:bodyPr wrap="square" lIns="0" tIns="0" rIns="0" bIns="0" rtlCol="0" anchor="t"/>
          <a:lstStyle/>
          <a:p>
            <a:pPr indent="0" marL="0">
              <a:buNone/>
            </a:pPr>
            <a:r>
              <a:rPr lang="en-US" sz="1250" i="1" dirty="0">
                <a:solidFill>
                  <a:srgbClr val="F0B323"/>
                </a:solidFill>
                <a:latin typeface="Calibri" pitchFamily="34" charset="0"/>
                <a:ea typeface="Calibri" pitchFamily="34" charset="-122"/>
                <a:cs typeface="Calibri" pitchFamily="34" charset="-120"/>
              </a:rPr>
              <a:t>Hint for solving: divide every term by 10 before you use the formula.</a:t>
            </a:r>
            <a:endParaRPr lang="en-US" sz="12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HSN.CN.C.7 · HSA.REI.B.4.A · HSA.REI.B.4.B</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11</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329184" cy="0"/>
          </a:xfrm>
          <a:prstGeom prst="line">
            <a:avLst/>
          </a:prstGeom>
          <a:noFill/>
          <a:ln w="25400">
            <a:solidFill>
              <a:srgbClr val="17A199"/>
            </a:solidFill>
            <a:prstDash val="dash"/>
          </a:ln>
        </p:spPr>
      </p:sp>
      <p:sp>
        <p:nvSpPr>
          <p:cNvPr id="21" name="stn5"/>
          <p:cNvSpPr/>
          <p:nvPr/>
        </p:nvSpPr>
        <p:spPr>
          <a:xfrm>
            <a:off x="6784848" y="228600"/>
            <a:ext cx="457200" cy="457200"/>
          </a:xfrm>
          <a:prstGeom prst="ellipse">
            <a:avLst/>
          </a:prstGeom>
          <a:solidFill>
            <a:srgbClr val="E8762C"/>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3" name="path5"/>
          <p:cNvSpPr/>
          <p:nvPr/>
        </p:nvSpPr>
        <p:spPr>
          <a:xfrm>
            <a:off x="7260336" y="457200"/>
            <a:ext cx="32918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5  ·  MASTERY GATE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Mastery Gate: three questions to pass</a:t>
            </a:r>
            <a:endParaRPr lang="en-US" sz="3000" dirty="0"/>
          </a:p>
        </p:txBody>
      </p:sp>
      <p:sp>
        <p:nvSpPr>
          <p:cNvPr id="29" name="Shape 24"/>
          <p:cNvSpPr/>
          <p:nvPr/>
        </p:nvSpPr>
        <p:spPr>
          <a:xfrm>
            <a:off x="45720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640080" y="2057400"/>
            <a:ext cx="502920" cy="502920"/>
          </a:xfrm>
          <a:prstGeom prst="ellipse">
            <a:avLst/>
          </a:prstGeom>
          <a:solidFill>
            <a:srgbClr val="E8762C"/>
          </a:solidFill>
          <a:ln w="12700">
            <a:solidFill>
              <a:srgbClr val="FFFFFF"/>
            </a:solidFill>
            <a:prstDash val="solid"/>
          </a:ln>
        </p:spPr>
      </p:sp>
      <p:sp>
        <p:nvSpPr>
          <p:cNvPr id="31" name="Text 26"/>
          <p:cNvSpPr txBox="1"/>
          <p:nvPr/>
        </p:nvSpPr>
        <p:spPr>
          <a:xfrm>
            <a:off x="64008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pic>
        <p:nvPicPr>
          <p:cNvPr id="32" name="Image 2" descr="m_L2-6/k32159aa013.png">    </p:cNvPr>
          <p:cNvPicPr>
            <a:picLocks noChangeAspect="1"/>
          </p:cNvPicPr>
          <p:nvPr/>
        </p:nvPicPr>
        <p:blipFill>
          <a:blip r:embed="rId3"/>
          <a:stretch>
            <a:fillRect/>
          </a:stretch>
        </p:blipFill>
        <p:spPr>
          <a:xfrm>
            <a:off x="685800" y="2743200"/>
            <a:ext cx="3200400" cy="647075"/>
          </a:xfrm>
          <a:prstGeom prst="rect">
            <a:avLst/>
          </a:prstGeom>
        </p:spPr>
      </p:pic>
      <p:sp>
        <p:nvSpPr>
          <p:cNvPr id="33" name="Shape 27"/>
          <p:cNvSpPr/>
          <p:nvPr/>
        </p:nvSpPr>
        <p:spPr>
          <a:xfrm>
            <a:off x="420624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4" name="Shape 28"/>
          <p:cNvSpPr/>
          <p:nvPr/>
        </p:nvSpPr>
        <p:spPr>
          <a:xfrm>
            <a:off x="4389120" y="2057400"/>
            <a:ext cx="502920" cy="502920"/>
          </a:xfrm>
          <a:prstGeom prst="ellipse">
            <a:avLst/>
          </a:prstGeom>
          <a:solidFill>
            <a:srgbClr val="E8762C"/>
          </a:solidFill>
          <a:ln w="12700">
            <a:solidFill>
              <a:srgbClr val="FFFFFF"/>
            </a:solidFill>
            <a:prstDash val="solid"/>
          </a:ln>
        </p:spPr>
      </p:sp>
      <p:sp>
        <p:nvSpPr>
          <p:cNvPr id="35" name="Text 29"/>
          <p:cNvSpPr txBox="1"/>
          <p:nvPr/>
        </p:nvSpPr>
        <p:spPr>
          <a:xfrm>
            <a:off x="438912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pic>
        <p:nvPicPr>
          <p:cNvPr id="36" name="Image 3" descr="m_L2-6/k89cadd53f0.png">    </p:cNvPr>
          <p:cNvPicPr>
            <a:picLocks noChangeAspect="1"/>
          </p:cNvPicPr>
          <p:nvPr/>
        </p:nvPicPr>
        <p:blipFill>
          <a:blip r:embed="rId4"/>
          <a:stretch>
            <a:fillRect/>
          </a:stretch>
        </p:blipFill>
        <p:spPr>
          <a:xfrm>
            <a:off x="4606930" y="2743200"/>
            <a:ext cx="2856220" cy="340523"/>
          </a:xfrm>
          <a:prstGeom prst="rect">
            <a:avLst/>
          </a:prstGeom>
        </p:spPr>
      </p:pic>
      <p:sp>
        <p:nvSpPr>
          <p:cNvPr id="37" name="Shape 30"/>
          <p:cNvSpPr/>
          <p:nvPr/>
        </p:nvSpPr>
        <p:spPr>
          <a:xfrm>
            <a:off x="795528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8" name="Shape 31"/>
          <p:cNvSpPr/>
          <p:nvPr/>
        </p:nvSpPr>
        <p:spPr>
          <a:xfrm>
            <a:off x="8138160" y="2057400"/>
            <a:ext cx="502920" cy="502920"/>
          </a:xfrm>
          <a:prstGeom prst="ellipse">
            <a:avLst/>
          </a:prstGeom>
          <a:solidFill>
            <a:srgbClr val="E8762C"/>
          </a:solidFill>
          <a:ln w="12700">
            <a:solidFill>
              <a:srgbClr val="FFFFFF"/>
            </a:solidFill>
            <a:prstDash val="solid"/>
          </a:ln>
        </p:spPr>
      </p:sp>
      <p:sp>
        <p:nvSpPr>
          <p:cNvPr id="39" name="Text 32"/>
          <p:cNvSpPr txBox="1"/>
          <p:nvPr/>
        </p:nvSpPr>
        <p:spPr>
          <a:xfrm>
            <a:off x="813816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pic>
        <p:nvPicPr>
          <p:cNvPr id="40" name="Image 4" descr="m_L2-6/k4166be4e2b.png">    </p:cNvPr>
          <p:cNvPicPr>
            <a:picLocks noChangeAspect="1"/>
          </p:cNvPicPr>
          <p:nvPr/>
        </p:nvPicPr>
        <p:blipFill>
          <a:blip r:embed="rId5"/>
          <a:stretch>
            <a:fillRect/>
          </a:stretch>
        </p:blipFill>
        <p:spPr>
          <a:xfrm>
            <a:off x="8284738" y="2743200"/>
            <a:ext cx="2998683" cy="340523"/>
          </a:xfrm>
          <a:prstGeom prst="rect">
            <a:avLst/>
          </a:prstGeom>
        </p:spPr>
      </p:pic>
      <p:sp>
        <p:nvSpPr>
          <p:cNvPr id="41" name="Shape 33"/>
          <p:cNvSpPr/>
          <p:nvPr/>
        </p:nvSpPr>
        <p:spPr>
          <a:xfrm>
            <a:off x="457200" y="4480560"/>
            <a:ext cx="11247120" cy="1554480"/>
          </a:xfrm>
          <a:prstGeom prst="roundRect">
            <a:avLst>
              <a:gd name="adj" fmla="val 7059"/>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2" name="Text 34"/>
          <p:cNvSpPr txBox="1"/>
          <p:nvPr/>
        </p:nvSpPr>
        <p:spPr>
          <a:xfrm>
            <a:off x="777240" y="4617720"/>
            <a:ext cx="3657600" cy="320040"/>
          </a:xfrm>
          <a:prstGeom prst="rect">
            <a:avLst/>
          </a:prstGeom>
          <a:noFill/>
          <a:ln/>
        </p:spPr>
        <p:txBody>
          <a:bodyPr wrap="square" lIns="0" tIns="0" rIns="0" bIns="0" rtlCol="0" anchor="t"/>
          <a:lstStyle/>
          <a:p>
            <a:pPr indent="0" marL="0">
              <a:buNone/>
            </a:pPr>
            <a:r>
              <a:rPr lang="en-US" sz="1400" b="1" dirty="0">
                <a:solidFill>
                  <a:srgbClr val="F0B323"/>
                </a:solidFill>
                <a:latin typeface="Calibri" pitchFamily="34" charset="0"/>
                <a:ea typeface="Calibri" pitchFamily="34" charset="-122"/>
                <a:cs typeface="Calibri" pitchFamily="34" charset="-120"/>
              </a:rPr>
              <a:t>Pass mark</a:t>
            </a:r>
            <a:endParaRPr lang="en-US" sz="1400" dirty="0"/>
          </a:p>
        </p:txBody>
      </p:sp>
      <p:sp>
        <p:nvSpPr>
          <p:cNvPr id="43" name="Text 35"/>
          <p:cNvSpPr txBox="1"/>
          <p:nvPr/>
        </p:nvSpPr>
        <p:spPr>
          <a:xfrm>
            <a:off x="777240" y="4983480"/>
            <a:ext cx="10607040" cy="91440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3 of 3 correct unlocks Station 6. Fewer than that: return to the slide for the question you missed, redo it, then re-take the gate.</a:t>
            </a:r>
            <a:endParaRPr lang="en-US" sz="18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HSN.CN.C.7 · HSA.REI.B.4.A · HSA.REI.B.4.B</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12</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329184" cy="0"/>
          </a:xfrm>
          <a:prstGeom prst="line">
            <a:avLst/>
          </a:prstGeom>
          <a:noFill/>
          <a:ln w="25400">
            <a:solidFill>
              <a:srgbClr val="17A199"/>
            </a:solidFill>
            <a:prstDash val="dash"/>
          </a:ln>
        </p:spPr>
      </p:sp>
      <p:sp>
        <p:nvSpPr>
          <p:cNvPr id="24" name="stn6"/>
          <p:cNvSpPr/>
          <p:nvPr/>
        </p:nvSpPr>
        <p:spPr>
          <a:xfrm>
            <a:off x="7498080" y="228600"/>
            <a:ext cx="457200" cy="457200"/>
          </a:xfrm>
          <a:prstGeom prst="ellipse">
            <a:avLst/>
          </a:prstGeom>
          <a:solidFill>
            <a:srgbClr val="E8762C"/>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6  ·  SMART PRODUCTION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Smart Production: make one, then check it</a:t>
            </a:r>
            <a:endParaRPr lang="en-US" sz="3000" dirty="0"/>
          </a:p>
        </p:txBody>
      </p:sp>
      <p:sp>
        <p:nvSpPr>
          <p:cNvPr id="29" name="Shape 24"/>
          <p:cNvSpPr/>
          <p:nvPr/>
        </p:nvSpPr>
        <p:spPr>
          <a:xfrm>
            <a:off x="457200" y="1828800"/>
            <a:ext cx="5577840" cy="4434840"/>
          </a:xfrm>
          <a:prstGeom prst="roundRect">
            <a:avLst>
              <a:gd name="adj" fmla="val 247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731520" y="2011680"/>
            <a:ext cx="2377440" cy="457200"/>
          </a:xfrm>
          <a:prstGeom prst="roundRect">
            <a:avLst>
              <a:gd name="adj" fmla="val 50000"/>
            </a:avLst>
          </a:prstGeom>
          <a:solidFill>
            <a:srgbClr val="17A199"/>
          </a:solidFill>
          <a:ln w="12700">
            <a:solidFill>
              <a:srgbClr val="FFFFFF"/>
            </a:solidFill>
            <a:prstDash val="solid"/>
          </a:ln>
        </p:spPr>
      </p:sp>
      <p:sp>
        <p:nvSpPr>
          <p:cNvPr id="31" name="Text 26"/>
          <p:cNvSpPr txBox="1"/>
          <p:nvPr/>
        </p:nvSpPr>
        <p:spPr>
          <a:xfrm>
            <a:off x="731520" y="2011680"/>
            <a:ext cx="237744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CREATE</a:t>
            </a:r>
            <a:endParaRPr lang="en-US" sz="1600" dirty="0"/>
          </a:p>
        </p:txBody>
      </p:sp>
      <p:sp>
        <p:nvSpPr>
          <p:cNvPr id="32" name="Text 27"/>
          <p:cNvSpPr txBox="1"/>
          <p:nvPr/>
        </p:nvSpPr>
        <p:spPr>
          <a:xfrm>
            <a:off x="731520" y="2697480"/>
            <a:ext cx="5029200" cy="246888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Write three quadratic equations of your own: one with a positive discriminant, one with a zero discriminant and one with a negative discriminant.</a:t>
            </a:r>
            <a:endParaRPr lang="en-US" sz="1500" dirty="0"/>
          </a:p>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Swap with a partner. Find the discriminant of each equation and solve it with the quadratic formula.</a:t>
            </a:r>
            <a:endParaRPr lang="en-US" sz="1500" dirty="0"/>
          </a:p>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Check one real solution by substitution, and say how the discriminant showed the type of solutions.</a:t>
            </a:r>
            <a:endParaRPr lang="en-US" sz="1500" dirty="0"/>
          </a:p>
        </p:txBody>
      </p:sp>
      <p:sp>
        <p:nvSpPr>
          <p:cNvPr id="33" name="Text 28"/>
          <p:cNvSpPr txBox="1"/>
          <p:nvPr/>
        </p:nvSpPr>
        <p:spPr>
          <a:xfrm>
            <a:off x="731520" y="5212080"/>
            <a:ext cx="5029200" cy="914400"/>
          </a:xfrm>
          <a:prstGeom prst="rect">
            <a:avLst/>
          </a:prstGeom>
          <a:noFill/>
          <a:ln/>
        </p:spPr>
        <p:txBody>
          <a:bodyPr wrap="square" lIns="0" tIns="0" rIns="0" bIns="0" rtlCol="0" anchor="t"/>
          <a:lstStyle/>
          <a:p>
            <a:pPr indent="0" marL="0">
              <a:buNone/>
            </a:pPr>
            <a:r>
              <a:rPr lang="en-US" sz="1400" dirty="0">
                <a:solidFill>
                  <a:srgbClr val="3F4B49"/>
                </a:solidFill>
                <a:latin typeface="Calibri" pitchFamily="34" charset="0"/>
                <a:ea typeface="Calibri" pitchFamily="34" charset="-122"/>
                <a:cs typeface="Calibri" pitchFamily="34" charset="-120"/>
              </a:rPr>
              <a:t>Done when: all three discriminants are correct, the solutions match their signs, and the check is written.</a:t>
            </a:r>
            <a:endParaRPr lang="en-US" sz="1400" dirty="0"/>
          </a:p>
        </p:txBody>
      </p:sp>
      <p:sp>
        <p:nvSpPr>
          <p:cNvPr id="34" name="Shape 29"/>
          <p:cNvSpPr/>
          <p:nvPr/>
        </p:nvSpPr>
        <p:spPr>
          <a:xfrm>
            <a:off x="6217920" y="1828800"/>
            <a:ext cx="5486400" cy="4434840"/>
          </a:xfrm>
          <a:prstGeom prst="roundRect">
            <a:avLst>
              <a:gd name="adj" fmla="val 2474"/>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5" name="Shape 30"/>
          <p:cNvSpPr/>
          <p:nvPr/>
        </p:nvSpPr>
        <p:spPr>
          <a:xfrm>
            <a:off x="6492240" y="2011680"/>
            <a:ext cx="2651760" cy="457200"/>
          </a:xfrm>
          <a:prstGeom prst="roundRect">
            <a:avLst>
              <a:gd name="adj" fmla="val 50000"/>
            </a:avLst>
          </a:prstGeom>
          <a:solidFill>
            <a:srgbClr val="F0B323"/>
          </a:solidFill>
          <a:ln w="12700">
            <a:solidFill>
              <a:srgbClr val="FFFFFF"/>
            </a:solidFill>
            <a:prstDash val="solid"/>
          </a:ln>
        </p:spPr>
      </p:sp>
      <p:sp>
        <p:nvSpPr>
          <p:cNvPr id="36" name="Text 31"/>
          <p:cNvSpPr txBox="1"/>
          <p:nvPr/>
        </p:nvSpPr>
        <p:spPr>
          <a:xfrm>
            <a:off x="6492240" y="2011680"/>
            <a:ext cx="2651760" cy="457200"/>
          </a:xfrm>
          <a:prstGeom prst="rect">
            <a:avLst/>
          </a:prstGeom>
          <a:noFill/>
          <a:ln/>
        </p:spPr>
        <p:txBody>
          <a:bodyPr wrap="square" lIns="0" tIns="0" rIns="0" bIns="0" rtlCol="0" anchor="ctr"/>
          <a:lstStyle/>
          <a:p>
            <a:pPr algn="ctr" indent="0" marL="0">
              <a:buNone/>
            </a:pPr>
            <a:r>
              <a:rPr lang="en-US" sz="1600" b="1" dirty="0">
                <a:solidFill>
                  <a:srgbClr val="222E2D"/>
                </a:solidFill>
                <a:latin typeface="Calibri" pitchFamily="34" charset="0"/>
                <a:ea typeface="Calibri" pitchFamily="34" charset="-122"/>
                <a:cs typeface="Calibri" pitchFamily="34" charset="-120"/>
              </a:rPr>
              <a:t>TIME TO CHECK</a:t>
            </a:r>
            <a:endParaRPr lang="en-US" sz="1600" dirty="0"/>
          </a:p>
        </p:txBody>
      </p:sp>
      <p:sp>
        <p:nvSpPr>
          <p:cNvPr id="37" name="Text 32"/>
          <p:cNvSpPr txBox="1"/>
          <p:nvPr/>
        </p:nvSpPr>
        <p:spPr>
          <a:xfrm>
            <a:off x="6492240" y="2697480"/>
            <a:ext cx="4937760" cy="82296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Exit ticket: write your answer on a sticky note and place it on the door.</a:t>
            </a:r>
            <a:endParaRPr lang="en-US" sz="1600" dirty="0"/>
          </a:p>
        </p:txBody>
      </p:sp>
      <p:sp>
        <p:nvSpPr>
          <p:cNvPr id="38" name="Shape 33"/>
          <p:cNvSpPr/>
          <p:nvPr/>
        </p:nvSpPr>
        <p:spPr>
          <a:xfrm>
            <a:off x="6492240" y="3611880"/>
            <a:ext cx="4937760" cy="1234440"/>
          </a:xfrm>
          <a:prstGeom prst="roundRect">
            <a:avLst>
              <a:gd name="adj" fmla="val 7407"/>
            </a:avLst>
          </a:prstGeom>
          <a:solidFill>
            <a:srgbClr val="FFFFFF"/>
          </a:solidFill>
          <a:ln w="12700">
            <a:solidFill>
              <a:srgbClr val="FFFFFF"/>
            </a:solidFill>
            <a:prstDash val="solid"/>
          </a:ln>
        </p:spPr>
      </p:sp>
      <p:pic>
        <p:nvPicPr>
          <p:cNvPr id="39" name="Image 2" descr="m_L2-6/ka453bc53c8.png">    </p:cNvPr>
          <p:cNvPicPr>
            <a:picLocks noChangeAspect="1"/>
          </p:cNvPicPr>
          <p:nvPr/>
        </p:nvPicPr>
        <p:blipFill>
          <a:blip r:embed="rId3"/>
          <a:stretch>
            <a:fillRect/>
          </a:stretch>
        </p:blipFill>
        <p:spPr>
          <a:xfrm>
            <a:off x="7142561" y="3703320"/>
            <a:ext cx="3637117" cy="277978"/>
          </a:xfrm>
          <a:prstGeom prst="rect">
            <a:avLst/>
          </a:prstGeom>
        </p:spPr>
      </p:pic>
      <p:pic>
        <p:nvPicPr>
          <p:cNvPr id="40" name="Image 3" descr="m_L2-6/k7c681919c4.png">    </p:cNvPr>
          <p:cNvPicPr>
            <a:picLocks noChangeAspect="1"/>
          </p:cNvPicPr>
          <p:nvPr/>
        </p:nvPicPr>
        <p:blipFill>
          <a:blip r:embed="rId4"/>
          <a:stretch>
            <a:fillRect/>
          </a:stretch>
        </p:blipFill>
        <p:spPr>
          <a:xfrm>
            <a:off x="8054035" y="4072738"/>
            <a:ext cx="1814170" cy="286756"/>
          </a:xfrm>
          <a:prstGeom prst="rect">
            <a:avLst/>
          </a:prstGeom>
        </p:spPr>
      </p:pic>
      <p:sp>
        <p:nvSpPr>
          <p:cNvPr id="41" name="Text 34"/>
          <p:cNvSpPr txBox="1"/>
          <p:nvPr/>
        </p:nvSpPr>
        <p:spPr>
          <a:xfrm>
            <a:off x="6492240" y="5074920"/>
            <a:ext cx="4937760" cy="822960"/>
          </a:xfrm>
          <a:prstGeom prst="rect">
            <a:avLst/>
          </a:prstGeom>
          <a:noFill/>
          <a:ln/>
        </p:spPr>
        <p:txBody>
          <a:bodyPr wrap="square" lIns="0" tIns="0" rIns="0" bIns="0" rtlCol="0" anchor="t"/>
          <a:lstStyle/>
          <a:p>
            <a:pPr indent="0" marL="0">
              <a:buNone/>
            </a:pPr>
            <a:r>
              <a:rPr lang="en-US" sz="1500" dirty="0">
                <a:solidFill>
                  <a:srgbClr val="BFD8D5"/>
                </a:solidFill>
                <a:latin typeface="Calibri" pitchFamily="34" charset="0"/>
                <a:ea typeface="Calibri" pitchFamily="34" charset="-122"/>
                <a:cs typeface="Calibri" pitchFamily="34" charset="-120"/>
              </a:rPr>
              <a:t>Next lesson: 2-7 Solving Linear-Quadratic Systems.</a:t>
            </a:r>
            <a:endParaRPr lang="en-US" sz="15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HSN.CN.C.7 · HSA.REI.B.4.A · HSA.REI.B.4.B</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13</a:t>
            </a:r>
            <a:endParaRPr lang="en-US" sz="1000" dirty="0"/>
          </a:p>
        </p:txBody>
      </p:sp>
      <p:sp>
        <p:nvSpPr>
          <p:cNvPr id="9" name="Text 5"/>
          <p:cNvSpPr txBox="1"/>
          <p:nvPr/>
        </p:nvSpPr>
        <p:spPr>
          <a:xfrm>
            <a:off x="457200" y="822960"/>
            <a:ext cx="11247120" cy="45720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Exam connections</a:t>
            </a:r>
            <a:endParaRPr lang="en-US" sz="3000" dirty="0"/>
          </a:p>
        </p:txBody>
      </p:sp>
      <p:sp>
        <p:nvSpPr>
          <p:cNvPr id="11" name="Shape 6"/>
          <p:cNvSpPr/>
          <p:nvPr/>
        </p:nvSpPr>
        <p:spPr>
          <a:xfrm>
            <a:off x="457200" y="1280160"/>
            <a:ext cx="3611880" cy="548640"/>
          </a:xfrm>
          <a:prstGeom prst="roundRect">
            <a:avLst>
              <a:gd name="adj" fmla="val 20000"/>
            </a:avLst>
          </a:prstGeom>
          <a:solidFill>
            <a:srgbClr val="17A199"/>
          </a:solidFill>
          <a:ln w="12700">
            <a:solidFill>
              <a:srgbClr val="FFFFFF"/>
            </a:solidFill>
            <a:prstDash val="solid"/>
          </a:ln>
        </p:spPr>
      </p:sp>
      <p:sp>
        <p:nvSpPr>
          <p:cNvPr id="12" name="Text 7"/>
          <p:cNvSpPr txBox="1"/>
          <p:nvPr/>
        </p:nvSpPr>
        <p:spPr>
          <a:xfrm>
            <a:off x="685800" y="1280160"/>
            <a:ext cx="31089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SAT</a:t>
            </a:r>
            <a:endParaRPr lang="en-US" sz="2000" dirty="0"/>
          </a:p>
        </p:txBody>
      </p:sp>
      <p:sp>
        <p:nvSpPr>
          <p:cNvPr id="13" name="Shape 8"/>
          <p:cNvSpPr/>
          <p:nvPr/>
        </p:nvSpPr>
        <p:spPr>
          <a:xfrm>
            <a:off x="457200" y="1920240"/>
            <a:ext cx="3611880" cy="438912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14" name="Image 2" descr="m_L2-6/kd38ac7890b.png">    </p:cNvPr>
          <p:cNvPicPr>
            <a:picLocks noChangeAspect="1"/>
          </p:cNvPicPr>
          <p:nvPr/>
        </p:nvPicPr>
        <p:blipFill>
          <a:blip r:embed="rId3"/>
          <a:stretch>
            <a:fillRect/>
          </a:stretch>
        </p:blipFill>
        <p:spPr>
          <a:xfrm>
            <a:off x="688543" y="2148840"/>
            <a:ext cx="3149194" cy="293522"/>
          </a:xfrm>
          <a:prstGeom prst="rect">
            <a:avLst/>
          </a:prstGeom>
        </p:spPr>
      </p:pic>
      <p:pic>
        <p:nvPicPr>
          <p:cNvPr id="15" name="Image 3" descr="m_L2-6/k8aa31f1f3e.png">    </p:cNvPr>
          <p:cNvPicPr>
            <a:picLocks noChangeAspect="1"/>
          </p:cNvPicPr>
          <p:nvPr/>
        </p:nvPicPr>
        <p:blipFill>
          <a:blip r:embed="rId4"/>
          <a:stretch>
            <a:fillRect/>
          </a:stretch>
        </p:blipFill>
        <p:spPr>
          <a:xfrm>
            <a:off x="1025957" y="2533802"/>
            <a:ext cx="2474366" cy="216713"/>
          </a:xfrm>
          <a:prstGeom prst="rect">
            <a:avLst/>
          </a:prstGeom>
        </p:spPr>
      </p:pic>
      <p:sp>
        <p:nvSpPr>
          <p:cNvPr id="16" name="Text 9"/>
          <p:cNvSpPr txBox="1"/>
          <p:nvPr/>
        </p:nvSpPr>
        <p:spPr>
          <a:xfrm>
            <a:off x="685800" y="3246120"/>
            <a:ext cx="18288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STEPS</a:t>
            </a:r>
            <a:endParaRPr lang="en-US" sz="1100" dirty="0"/>
          </a:p>
        </p:txBody>
      </p:sp>
      <p:sp>
        <p:nvSpPr>
          <p:cNvPr id="17" name="Text 10"/>
          <p:cNvSpPr txBox="1"/>
          <p:nvPr/>
        </p:nvSpPr>
        <p:spPr>
          <a:xfrm>
            <a:off x="685800" y="3566160"/>
            <a:ext cx="365760" cy="365760"/>
          </a:xfrm>
          <a:prstGeom prst="rect">
            <a:avLst/>
          </a:prstGeom>
          <a:noFill/>
          <a:ln/>
        </p:spPr>
        <p:txBody>
          <a:bodyPr wrap="square" lIns="0" tIns="0" rIns="0" bIns="0" rtlCol="0" anchor="t"/>
          <a:lstStyle/>
          <a:p>
            <a:pPr indent="0" marL="0">
              <a:buNone/>
            </a:pPr>
            <a:r>
              <a:rPr lang="en-US" sz="1600" b="1" dirty="0">
                <a:solidFill>
                  <a:srgbClr val="17A199"/>
                </a:solidFill>
                <a:latin typeface="Calibri" pitchFamily="34" charset="0"/>
                <a:ea typeface="Calibri" pitchFamily="34" charset="-122"/>
                <a:cs typeface="Calibri" pitchFamily="34" charset="-120"/>
              </a:rPr>
              <a:t>1</a:t>
            </a:r>
            <a:endParaRPr lang="en-US" sz="1600" dirty="0"/>
          </a:p>
        </p:txBody>
      </p:sp>
      <p:pic>
        <p:nvPicPr>
          <p:cNvPr id="18" name="Image 4" descr="m_L2-6/k0752fb68e0.png">    </p:cNvPr>
          <p:cNvPicPr>
            <a:picLocks noChangeAspect="1"/>
          </p:cNvPicPr>
          <p:nvPr/>
        </p:nvPicPr>
        <p:blipFill>
          <a:blip r:embed="rId5"/>
          <a:stretch>
            <a:fillRect/>
          </a:stretch>
        </p:blipFill>
        <p:spPr>
          <a:xfrm>
            <a:off x="1097280" y="3566160"/>
            <a:ext cx="2834640" cy="285503"/>
          </a:xfrm>
          <a:prstGeom prst="rect">
            <a:avLst/>
          </a:prstGeom>
        </p:spPr>
      </p:pic>
      <p:sp>
        <p:nvSpPr>
          <p:cNvPr id="19" name="Text 11"/>
          <p:cNvSpPr txBox="1"/>
          <p:nvPr/>
        </p:nvSpPr>
        <p:spPr>
          <a:xfrm>
            <a:off x="685800" y="4419600"/>
            <a:ext cx="365760" cy="365760"/>
          </a:xfrm>
          <a:prstGeom prst="rect">
            <a:avLst/>
          </a:prstGeom>
          <a:noFill/>
          <a:ln/>
        </p:spPr>
        <p:txBody>
          <a:bodyPr wrap="square" lIns="0" tIns="0" rIns="0" bIns="0" rtlCol="0" anchor="t"/>
          <a:lstStyle/>
          <a:p>
            <a:pPr indent="0" marL="0">
              <a:buNone/>
            </a:pPr>
            <a:r>
              <a:rPr lang="en-US" sz="1600" b="1" dirty="0">
                <a:solidFill>
                  <a:srgbClr val="17A199"/>
                </a:solidFill>
                <a:latin typeface="Calibri" pitchFamily="34" charset="0"/>
                <a:ea typeface="Calibri" pitchFamily="34" charset="-122"/>
                <a:cs typeface="Calibri" pitchFamily="34" charset="-120"/>
              </a:rPr>
              <a:t>2</a:t>
            </a:r>
            <a:endParaRPr lang="en-US" sz="1600" dirty="0"/>
          </a:p>
        </p:txBody>
      </p:sp>
      <p:pic>
        <p:nvPicPr>
          <p:cNvPr id="20" name="Image 5" descr="m_L2-6/k4834971620.png">    </p:cNvPr>
          <p:cNvPicPr>
            <a:picLocks noChangeAspect="1"/>
          </p:cNvPicPr>
          <p:nvPr/>
        </p:nvPicPr>
        <p:blipFill>
          <a:blip r:embed="rId6"/>
          <a:stretch>
            <a:fillRect/>
          </a:stretch>
        </p:blipFill>
        <p:spPr>
          <a:xfrm>
            <a:off x="1097280" y="4419600"/>
            <a:ext cx="1258214" cy="239939"/>
          </a:xfrm>
          <a:prstGeom prst="rect">
            <a:avLst/>
          </a:prstGeom>
        </p:spPr>
      </p:pic>
      <p:sp>
        <p:nvSpPr>
          <p:cNvPr id="21" name="Text 12"/>
          <p:cNvSpPr txBox="1"/>
          <p:nvPr/>
        </p:nvSpPr>
        <p:spPr>
          <a:xfrm>
            <a:off x="685800" y="5273040"/>
            <a:ext cx="365760" cy="365760"/>
          </a:xfrm>
          <a:prstGeom prst="rect">
            <a:avLst/>
          </a:prstGeom>
          <a:noFill/>
          <a:ln/>
        </p:spPr>
        <p:txBody>
          <a:bodyPr wrap="square" lIns="0" tIns="0" rIns="0" bIns="0" rtlCol="0" anchor="t"/>
          <a:lstStyle/>
          <a:p>
            <a:pPr indent="0" marL="0">
              <a:buNone/>
            </a:pPr>
            <a:r>
              <a:rPr lang="en-US" sz="1600" b="1" dirty="0">
                <a:solidFill>
                  <a:srgbClr val="17A199"/>
                </a:solidFill>
                <a:latin typeface="Calibri" pitchFamily="34" charset="0"/>
                <a:ea typeface="Calibri" pitchFamily="34" charset="-122"/>
                <a:cs typeface="Calibri" pitchFamily="34" charset="-120"/>
              </a:rPr>
              <a:t>3</a:t>
            </a:r>
            <a:endParaRPr lang="en-US" sz="1600" dirty="0"/>
          </a:p>
        </p:txBody>
      </p:sp>
      <p:pic>
        <p:nvPicPr>
          <p:cNvPr id="22" name="Image 6" descr="m_L2-6/k6618a84778.png">    </p:cNvPr>
          <p:cNvPicPr>
            <a:picLocks noChangeAspect="1"/>
          </p:cNvPicPr>
          <p:nvPr/>
        </p:nvPicPr>
        <p:blipFill>
          <a:blip r:embed="rId7"/>
          <a:stretch>
            <a:fillRect/>
          </a:stretch>
        </p:blipFill>
        <p:spPr>
          <a:xfrm>
            <a:off x="1097280" y="5273040"/>
            <a:ext cx="722742" cy="219456"/>
          </a:xfrm>
          <a:prstGeom prst="rect">
            <a:avLst/>
          </a:prstGeom>
        </p:spPr>
      </p:pic>
      <p:sp>
        <p:nvSpPr>
          <p:cNvPr id="23" name="Shape 13"/>
          <p:cNvSpPr/>
          <p:nvPr/>
        </p:nvSpPr>
        <p:spPr>
          <a:xfrm>
            <a:off x="4251960" y="1280160"/>
            <a:ext cx="3611880" cy="548640"/>
          </a:xfrm>
          <a:prstGeom prst="roundRect">
            <a:avLst>
              <a:gd name="adj" fmla="val 20000"/>
            </a:avLst>
          </a:prstGeom>
          <a:solidFill>
            <a:srgbClr val="E8762C"/>
          </a:solidFill>
          <a:ln w="12700">
            <a:solidFill>
              <a:srgbClr val="FFFFFF"/>
            </a:solidFill>
            <a:prstDash val="solid"/>
          </a:ln>
        </p:spPr>
      </p:sp>
      <p:sp>
        <p:nvSpPr>
          <p:cNvPr id="24" name="Text 14"/>
          <p:cNvSpPr txBox="1"/>
          <p:nvPr/>
        </p:nvSpPr>
        <p:spPr>
          <a:xfrm>
            <a:off x="4480560" y="1280160"/>
            <a:ext cx="31089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GAT</a:t>
            </a:r>
            <a:endParaRPr lang="en-US" sz="2000" dirty="0"/>
          </a:p>
        </p:txBody>
      </p:sp>
      <p:sp>
        <p:nvSpPr>
          <p:cNvPr id="25" name="Shape 15"/>
          <p:cNvSpPr/>
          <p:nvPr/>
        </p:nvSpPr>
        <p:spPr>
          <a:xfrm>
            <a:off x="4251960" y="1920240"/>
            <a:ext cx="3611880" cy="438912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26" name="Image 7" descr="m_L2-6/k68a07b1275.png">    </p:cNvPr>
          <p:cNvPicPr>
            <a:picLocks noChangeAspect="1"/>
          </p:cNvPicPr>
          <p:nvPr/>
        </p:nvPicPr>
        <p:blipFill>
          <a:blip r:embed="rId8"/>
          <a:stretch>
            <a:fillRect/>
          </a:stretch>
        </p:blipFill>
        <p:spPr>
          <a:xfrm>
            <a:off x="4724705" y="2148840"/>
            <a:ext cx="2666390" cy="260604"/>
          </a:xfrm>
          <a:prstGeom prst="rect">
            <a:avLst/>
          </a:prstGeom>
        </p:spPr>
      </p:pic>
      <p:pic>
        <p:nvPicPr>
          <p:cNvPr id="27" name="Image 8" descr="m_L2-6/k55c929ac3f.png">    </p:cNvPr>
          <p:cNvPicPr>
            <a:picLocks noChangeAspect="1"/>
          </p:cNvPicPr>
          <p:nvPr/>
        </p:nvPicPr>
        <p:blipFill>
          <a:blip r:embed="rId9"/>
          <a:stretch>
            <a:fillRect/>
          </a:stretch>
        </p:blipFill>
        <p:spPr>
          <a:xfrm>
            <a:off x="4743907" y="2500884"/>
            <a:ext cx="2627986" cy="608990"/>
          </a:xfrm>
          <a:prstGeom prst="rect">
            <a:avLst/>
          </a:prstGeom>
        </p:spPr>
      </p:pic>
      <p:sp>
        <p:nvSpPr>
          <p:cNvPr id="28" name="Text 16"/>
          <p:cNvSpPr txBox="1"/>
          <p:nvPr/>
        </p:nvSpPr>
        <p:spPr>
          <a:xfrm>
            <a:off x="4480560" y="3292754"/>
            <a:ext cx="18288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STEPS</a:t>
            </a:r>
            <a:endParaRPr lang="en-US" sz="1100" dirty="0"/>
          </a:p>
        </p:txBody>
      </p:sp>
      <p:sp>
        <p:nvSpPr>
          <p:cNvPr id="29" name="Text 17"/>
          <p:cNvSpPr txBox="1"/>
          <p:nvPr/>
        </p:nvSpPr>
        <p:spPr>
          <a:xfrm>
            <a:off x="4480560" y="3567074"/>
            <a:ext cx="365760" cy="365760"/>
          </a:xfrm>
          <a:prstGeom prst="rect">
            <a:avLst/>
          </a:prstGeom>
          <a:noFill/>
          <a:ln/>
        </p:spPr>
        <p:txBody>
          <a:bodyPr wrap="square" lIns="0" tIns="0" rIns="0" bIns="0" rtlCol="0" anchor="t"/>
          <a:lstStyle/>
          <a:p>
            <a:pPr indent="0" marL="0">
              <a:buNone/>
            </a:pPr>
            <a:r>
              <a:rPr lang="en-US" sz="1600" b="1" dirty="0">
                <a:solidFill>
                  <a:srgbClr val="E8762C"/>
                </a:solidFill>
                <a:latin typeface="Calibri" pitchFamily="34" charset="0"/>
                <a:ea typeface="Calibri" pitchFamily="34" charset="-122"/>
                <a:cs typeface="Calibri" pitchFamily="34" charset="-120"/>
              </a:rPr>
              <a:t>1</a:t>
            </a:r>
            <a:endParaRPr lang="en-US" sz="1600" dirty="0"/>
          </a:p>
        </p:txBody>
      </p:sp>
      <p:pic>
        <p:nvPicPr>
          <p:cNvPr id="30" name="Image 9" descr="m_L2-6/k55005c140b.png">    </p:cNvPr>
          <p:cNvPicPr>
            <a:picLocks noChangeAspect="1"/>
          </p:cNvPicPr>
          <p:nvPr/>
        </p:nvPicPr>
        <p:blipFill>
          <a:blip r:embed="rId10"/>
          <a:stretch>
            <a:fillRect/>
          </a:stretch>
        </p:blipFill>
        <p:spPr>
          <a:xfrm>
            <a:off x="4892040" y="3567074"/>
            <a:ext cx="2539837" cy="248717"/>
          </a:xfrm>
          <a:prstGeom prst="rect">
            <a:avLst/>
          </a:prstGeom>
        </p:spPr>
      </p:pic>
      <p:sp>
        <p:nvSpPr>
          <p:cNvPr id="31" name="Text 18"/>
          <p:cNvSpPr txBox="1"/>
          <p:nvPr/>
        </p:nvSpPr>
        <p:spPr>
          <a:xfrm>
            <a:off x="4480560" y="4420210"/>
            <a:ext cx="365760" cy="365760"/>
          </a:xfrm>
          <a:prstGeom prst="rect">
            <a:avLst/>
          </a:prstGeom>
          <a:noFill/>
          <a:ln/>
        </p:spPr>
        <p:txBody>
          <a:bodyPr wrap="square" lIns="0" tIns="0" rIns="0" bIns="0" rtlCol="0" anchor="t"/>
          <a:lstStyle/>
          <a:p>
            <a:pPr indent="0" marL="0">
              <a:buNone/>
            </a:pPr>
            <a:r>
              <a:rPr lang="en-US" sz="1600" b="1" dirty="0">
                <a:solidFill>
                  <a:srgbClr val="E8762C"/>
                </a:solidFill>
                <a:latin typeface="Calibri" pitchFamily="34" charset="0"/>
                <a:ea typeface="Calibri" pitchFamily="34" charset="-122"/>
                <a:cs typeface="Calibri" pitchFamily="34" charset="-120"/>
              </a:rPr>
              <a:t>2</a:t>
            </a:r>
            <a:endParaRPr lang="en-US" sz="1600" dirty="0"/>
          </a:p>
        </p:txBody>
      </p:sp>
      <p:pic>
        <p:nvPicPr>
          <p:cNvPr id="32" name="Image 10" descr="m_L2-6/kf9181366fe.png">    </p:cNvPr>
          <p:cNvPicPr>
            <a:picLocks noChangeAspect="1"/>
          </p:cNvPicPr>
          <p:nvPr/>
        </p:nvPicPr>
        <p:blipFill>
          <a:blip r:embed="rId11"/>
          <a:stretch>
            <a:fillRect/>
          </a:stretch>
        </p:blipFill>
        <p:spPr>
          <a:xfrm>
            <a:off x="4892040" y="4420210"/>
            <a:ext cx="2136038" cy="231160"/>
          </a:xfrm>
          <a:prstGeom prst="rect">
            <a:avLst/>
          </a:prstGeom>
        </p:spPr>
      </p:pic>
      <p:sp>
        <p:nvSpPr>
          <p:cNvPr id="33" name="Text 19"/>
          <p:cNvSpPr txBox="1"/>
          <p:nvPr/>
        </p:nvSpPr>
        <p:spPr>
          <a:xfrm>
            <a:off x="4480560" y="5273345"/>
            <a:ext cx="365760" cy="365760"/>
          </a:xfrm>
          <a:prstGeom prst="rect">
            <a:avLst/>
          </a:prstGeom>
          <a:noFill/>
          <a:ln/>
        </p:spPr>
        <p:txBody>
          <a:bodyPr wrap="square" lIns="0" tIns="0" rIns="0" bIns="0" rtlCol="0" anchor="t"/>
          <a:lstStyle/>
          <a:p>
            <a:pPr indent="0" marL="0">
              <a:buNone/>
            </a:pPr>
            <a:r>
              <a:rPr lang="en-US" sz="1600" b="1" dirty="0">
                <a:solidFill>
                  <a:srgbClr val="E8762C"/>
                </a:solidFill>
                <a:latin typeface="Calibri" pitchFamily="34" charset="0"/>
                <a:ea typeface="Calibri" pitchFamily="34" charset="-122"/>
                <a:cs typeface="Calibri" pitchFamily="34" charset="-120"/>
              </a:rPr>
              <a:t>3</a:t>
            </a:r>
            <a:endParaRPr lang="en-US" sz="1600" dirty="0"/>
          </a:p>
        </p:txBody>
      </p:sp>
      <p:pic>
        <p:nvPicPr>
          <p:cNvPr id="34" name="Image 11" descr="m_L2-6/k8c25065018.png">    </p:cNvPr>
          <p:cNvPicPr>
            <a:picLocks noChangeAspect="1"/>
          </p:cNvPicPr>
          <p:nvPr/>
        </p:nvPicPr>
        <p:blipFill>
          <a:blip r:embed="rId12"/>
          <a:stretch>
            <a:fillRect/>
          </a:stretch>
        </p:blipFill>
        <p:spPr>
          <a:xfrm>
            <a:off x="4892040" y="5273345"/>
            <a:ext cx="2212116" cy="275052"/>
          </a:xfrm>
          <a:prstGeom prst="rect">
            <a:avLst/>
          </a:prstGeom>
        </p:spPr>
      </p:pic>
      <p:sp>
        <p:nvSpPr>
          <p:cNvPr id="35" name="Shape 20"/>
          <p:cNvSpPr/>
          <p:nvPr/>
        </p:nvSpPr>
        <p:spPr>
          <a:xfrm>
            <a:off x="8046720" y="1280160"/>
            <a:ext cx="3611880" cy="548640"/>
          </a:xfrm>
          <a:prstGeom prst="roundRect">
            <a:avLst>
              <a:gd name="adj" fmla="val 20000"/>
            </a:avLst>
          </a:prstGeom>
          <a:solidFill>
            <a:srgbClr val="1F3864"/>
          </a:solidFill>
          <a:ln w="12700">
            <a:solidFill>
              <a:srgbClr val="FFFFFF"/>
            </a:solidFill>
            <a:prstDash val="solid"/>
          </a:ln>
        </p:spPr>
      </p:sp>
      <p:sp>
        <p:nvSpPr>
          <p:cNvPr id="36" name="Text 21"/>
          <p:cNvSpPr txBox="1"/>
          <p:nvPr/>
        </p:nvSpPr>
        <p:spPr>
          <a:xfrm>
            <a:off x="8275320" y="1280160"/>
            <a:ext cx="31089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SAAT</a:t>
            </a:r>
            <a:endParaRPr lang="en-US" sz="2000" dirty="0"/>
          </a:p>
        </p:txBody>
      </p:sp>
      <p:sp>
        <p:nvSpPr>
          <p:cNvPr id="37" name="Shape 22"/>
          <p:cNvSpPr/>
          <p:nvPr/>
        </p:nvSpPr>
        <p:spPr>
          <a:xfrm>
            <a:off x="8046720" y="1920240"/>
            <a:ext cx="3611880" cy="438912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8" name="Image 12" descr="m_L2-6/ka305ae89a5.png">    </p:cNvPr>
          <p:cNvPicPr>
            <a:picLocks noChangeAspect="1"/>
          </p:cNvPicPr>
          <p:nvPr/>
        </p:nvPicPr>
        <p:blipFill>
          <a:blip r:embed="rId13"/>
          <a:stretch>
            <a:fillRect/>
          </a:stretch>
        </p:blipFill>
        <p:spPr>
          <a:xfrm>
            <a:off x="8719718" y="2148840"/>
            <a:ext cx="2265883" cy="608990"/>
          </a:xfrm>
          <a:prstGeom prst="rect">
            <a:avLst/>
          </a:prstGeom>
        </p:spPr>
      </p:pic>
      <p:sp>
        <p:nvSpPr>
          <p:cNvPr id="39" name="Text 23"/>
          <p:cNvSpPr txBox="1"/>
          <p:nvPr/>
        </p:nvSpPr>
        <p:spPr>
          <a:xfrm>
            <a:off x="8275320" y="3246120"/>
            <a:ext cx="18288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STEPS</a:t>
            </a:r>
            <a:endParaRPr lang="en-US" sz="1100" dirty="0"/>
          </a:p>
        </p:txBody>
      </p:sp>
      <p:sp>
        <p:nvSpPr>
          <p:cNvPr id="40" name="Text 24"/>
          <p:cNvSpPr txBox="1"/>
          <p:nvPr/>
        </p:nvSpPr>
        <p:spPr>
          <a:xfrm>
            <a:off x="8275320" y="3566160"/>
            <a:ext cx="365760" cy="365760"/>
          </a:xfrm>
          <a:prstGeom prst="rect">
            <a:avLst/>
          </a:prstGeom>
          <a:noFill/>
          <a:ln/>
        </p:spPr>
        <p:txBody>
          <a:bodyPr wrap="square" lIns="0" tIns="0" rIns="0" bIns="0"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1</a:t>
            </a:r>
            <a:endParaRPr lang="en-US" sz="1600" dirty="0"/>
          </a:p>
        </p:txBody>
      </p:sp>
      <p:pic>
        <p:nvPicPr>
          <p:cNvPr id="41" name="Image 13" descr="m_L2-6/kab305adab1.png">    </p:cNvPr>
          <p:cNvPicPr>
            <a:picLocks noChangeAspect="1"/>
          </p:cNvPicPr>
          <p:nvPr/>
        </p:nvPicPr>
        <p:blipFill>
          <a:blip r:embed="rId14"/>
          <a:stretch>
            <a:fillRect/>
          </a:stretch>
        </p:blipFill>
        <p:spPr>
          <a:xfrm>
            <a:off x="8686800" y="3566160"/>
            <a:ext cx="1667866" cy="245791"/>
          </a:xfrm>
          <a:prstGeom prst="rect">
            <a:avLst/>
          </a:prstGeom>
        </p:spPr>
      </p:pic>
      <p:sp>
        <p:nvSpPr>
          <p:cNvPr id="42" name="Text 25"/>
          <p:cNvSpPr txBox="1"/>
          <p:nvPr/>
        </p:nvSpPr>
        <p:spPr>
          <a:xfrm>
            <a:off x="8275320" y="4434840"/>
            <a:ext cx="365760" cy="365760"/>
          </a:xfrm>
          <a:prstGeom prst="rect">
            <a:avLst/>
          </a:prstGeom>
          <a:noFill/>
          <a:ln/>
        </p:spPr>
        <p:txBody>
          <a:bodyPr wrap="square" lIns="0" tIns="0" rIns="0" bIns="0"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2</a:t>
            </a:r>
            <a:endParaRPr lang="en-US" sz="1600" dirty="0"/>
          </a:p>
        </p:txBody>
      </p:sp>
      <p:pic>
        <p:nvPicPr>
          <p:cNvPr id="43" name="Image 14" descr="m_L2-6/k43e053113a.png">    </p:cNvPr>
          <p:cNvPicPr>
            <a:picLocks noChangeAspect="1"/>
          </p:cNvPicPr>
          <p:nvPr/>
        </p:nvPicPr>
        <p:blipFill>
          <a:blip r:embed="rId15"/>
          <a:stretch>
            <a:fillRect/>
          </a:stretch>
        </p:blipFill>
        <p:spPr>
          <a:xfrm>
            <a:off x="8686800" y="4434840"/>
            <a:ext cx="1422075" cy="61447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4F4C"/>
        </a:solidFill>
      </p:bgPr>
    </p:bg>
    <p:spTree>
      <p:nvGrpSpPr>
        <p:cNvPr id="1" name=""/>
        <p:cNvGrpSpPr/>
        <p:nvPr/>
      </p:nvGrpSpPr>
      <p:grpSpPr>
        <a:xfrm>
          <a:off x="0" y="0"/>
          <a:ext cx="0" cy="0"/>
          <a:chOff x="0" y="0"/>
          <a:chExt cx="0" cy="0"/>
        </a:xfrm>
      </p:grpSpPr>
      <p:sp>
        <p:nvSpPr>
          <p:cNvPr id="2" name="Shape 0"/>
          <p:cNvSpPr/>
          <p:nvPr/>
        </p:nvSpPr>
        <p:spPr>
          <a:xfrm>
            <a:off x="-1097280" y="4572000"/>
            <a:ext cx="3474720" cy="3474720"/>
          </a:xfrm>
          <a:prstGeom prst="ellipse">
            <a:avLst/>
          </a:prstGeom>
          <a:solidFill>
            <a:srgbClr val="17A199">
              <a:alpha val="20000"/>
            </a:srgbClr>
          </a:solidFill>
          <a:ln w="12700">
            <a:solidFill>
              <a:srgbClr val="17A199">
                <a:alpha val="0"/>
              </a:srgbClr>
            </a:solidFill>
            <a:prstDash val="solid"/>
          </a:ln>
        </p:spPr>
      </p:sp>
      <p:sp>
        <p:nvSpPr>
          <p:cNvPr id="3" name="Shape 1"/>
          <p:cNvSpPr/>
          <p:nvPr/>
        </p:nvSpPr>
        <p:spPr>
          <a:xfrm>
            <a:off x="9875520" y="-1097280"/>
            <a:ext cx="3291840" cy="3291840"/>
          </a:xfrm>
          <a:prstGeom prst="ellipse">
            <a:avLst/>
          </a:prstGeom>
          <a:solidFill>
            <a:srgbClr val="F0B323">
              <a:alpha val="18000"/>
            </a:srgbClr>
          </a:solidFill>
          <a:ln w="12700">
            <a:solidFill>
              <a:srgbClr val="F0B323">
                <a:alpha val="0"/>
              </a:srgbClr>
            </a:solidFill>
            <a:prstDash val="solid"/>
          </a:ln>
        </p:spPr>
      </p:sp>
      <p:pic>
        <p:nvPicPr>
          <p:cNvPr id="4" name="Image 0" descr="../dept_logo_white.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_white.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548640" y="868680"/>
            <a:ext cx="109728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Journey complete</a:t>
            </a:r>
            <a:endParaRPr lang="en-US" sz="4000" dirty="0"/>
          </a:p>
        </p:txBody>
      </p:sp>
      <p:sp>
        <p:nvSpPr>
          <p:cNvPr id="7" name="path1"/>
          <p:cNvSpPr/>
          <p:nvPr/>
        </p:nvSpPr>
        <p:spPr>
          <a:xfrm flipV="1">
            <a:off x="1371600" y="3200400"/>
            <a:ext cx="1965960" cy="1097280"/>
          </a:xfrm>
          <a:prstGeom prst="line">
            <a:avLst/>
          </a:prstGeom>
          <a:noFill/>
          <a:ln w="38100">
            <a:solidFill>
              <a:srgbClr val="F0B323"/>
            </a:solidFill>
            <a:prstDash val="dash"/>
          </a:ln>
        </p:spPr>
      </p:sp>
      <p:sp>
        <p:nvSpPr>
          <p:cNvPr id="8" name="path2"/>
          <p:cNvSpPr/>
          <p:nvPr/>
        </p:nvSpPr>
        <p:spPr>
          <a:xfrm>
            <a:off x="3337560" y="3200400"/>
            <a:ext cx="1965960" cy="1097280"/>
          </a:xfrm>
          <a:prstGeom prst="line">
            <a:avLst/>
          </a:prstGeom>
          <a:noFill/>
          <a:ln w="38100">
            <a:solidFill>
              <a:srgbClr val="F0B323"/>
            </a:solidFill>
            <a:prstDash val="dash"/>
          </a:ln>
        </p:spPr>
      </p:sp>
      <p:sp>
        <p:nvSpPr>
          <p:cNvPr id="9" name="path3"/>
          <p:cNvSpPr/>
          <p:nvPr/>
        </p:nvSpPr>
        <p:spPr>
          <a:xfrm flipV="1">
            <a:off x="5303520" y="3200400"/>
            <a:ext cx="1965960" cy="1097280"/>
          </a:xfrm>
          <a:prstGeom prst="line">
            <a:avLst/>
          </a:prstGeom>
          <a:noFill/>
          <a:ln w="38100">
            <a:solidFill>
              <a:srgbClr val="F0B323"/>
            </a:solidFill>
            <a:prstDash val="dash"/>
          </a:ln>
        </p:spPr>
      </p:sp>
      <p:sp>
        <p:nvSpPr>
          <p:cNvPr id="10" name="path4"/>
          <p:cNvSpPr/>
          <p:nvPr/>
        </p:nvSpPr>
        <p:spPr>
          <a:xfrm>
            <a:off x="7269480" y="3200400"/>
            <a:ext cx="1965960" cy="1097280"/>
          </a:xfrm>
          <a:prstGeom prst="line">
            <a:avLst/>
          </a:prstGeom>
          <a:noFill/>
          <a:ln w="38100">
            <a:solidFill>
              <a:srgbClr val="F0B323"/>
            </a:solidFill>
            <a:prstDash val="dash"/>
          </a:ln>
        </p:spPr>
      </p:sp>
      <p:sp>
        <p:nvSpPr>
          <p:cNvPr id="11" name="path5"/>
          <p:cNvSpPr/>
          <p:nvPr/>
        </p:nvSpPr>
        <p:spPr>
          <a:xfrm flipV="1">
            <a:off x="9235440" y="3200400"/>
            <a:ext cx="1737360" cy="1097280"/>
          </a:xfrm>
          <a:prstGeom prst="line">
            <a:avLst/>
          </a:prstGeom>
          <a:noFill/>
          <a:ln w="38100">
            <a:solidFill>
              <a:srgbClr val="F0B323"/>
            </a:solidFill>
            <a:prstDash val="dash"/>
          </a:ln>
        </p:spPr>
      </p:sp>
      <p:sp>
        <p:nvSpPr>
          <p:cNvPr id="12" name="stn1"/>
          <p:cNvSpPr/>
          <p:nvPr/>
        </p:nvSpPr>
        <p:spPr>
          <a:xfrm>
            <a:off x="708660" y="3634740"/>
            <a:ext cx="1325880" cy="1325880"/>
          </a:xfrm>
          <a:prstGeom prst="ellipse">
            <a:avLst/>
          </a:prstGeom>
          <a:solidFill>
            <a:srgbClr val="F0B323"/>
          </a:solidFill>
          <a:ln w="38100">
            <a:solidFill>
              <a:srgbClr val="FFFFFF"/>
            </a:solidFill>
            <a:prstDash val="solid"/>
          </a:ln>
        </p:spPr>
      </p:sp>
      <p:sp>
        <p:nvSpPr>
          <p:cNvPr id="13" name="Text 9"/>
          <p:cNvSpPr txBox="1"/>
          <p:nvPr/>
        </p:nvSpPr>
        <p:spPr>
          <a:xfrm>
            <a:off x="100584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14" name="Text 10"/>
          <p:cNvSpPr txBox="1"/>
          <p:nvPr/>
        </p:nvSpPr>
        <p:spPr>
          <a:xfrm>
            <a:off x="41148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Diagnose</a:t>
            </a:r>
            <a:endParaRPr lang="en-US" sz="1600" dirty="0"/>
          </a:p>
        </p:txBody>
      </p:sp>
      <p:sp>
        <p:nvSpPr>
          <p:cNvPr id="15" name="stn2"/>
          <p:cNvSpPr/>
          <p:nvPr/>
        </p:nvSpPr>
        <p:spPr>
          <a:xfrm>
            <a:off x="2674620" y="2537460"/>
            <a:ext cx="1325880" cy="1325880"/>
          </a:xfrm>
          <a:prstGeom prst="ellipse">
            <a:avLst/>
          </a:prstGeom>
          <a:solidFill>
            <a:srgbClr val="F0B323"/>
          </a:solidFill>
          <a:ln w="38100">
            <a:solidFill>
              <a:srgbClr val="FFFFFF"/>
            </a:solidFill>
            <a:prstDash val="solid"/>
          </a:ln>
        </p:spPr>
      </p:sp>
      <p:sp>
        <p:nvSpPr>
          <p:cNvPr id="16" name="Text 12"/>
          <p:cNvSpPr txBox="1"/>
          <p:nvPr/>
        </p:nvSpPr>
        <p:spPr>
          <a:xfrm>
            <a:off x="297180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17" name="Text 13"/>
          <p:cNvSpPr txBox="1"/>
          <p:nvPr/>
        </p:nvSpPr>
        <p:spPr>
          <a:xfrm>
            <a:off x="237744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Targeted Instruction</a:t>
            </a:r>
            <a:endParaRPr lang="en-US" sz="1600" dirty="0"/>
          </a:p>
        </p:txBody>
      </p:sp>
      <p:sp>
        <p:nvSpPr>
          <p:cNvPr id="18" name="stn3"/>
          <p:cNvSpPr/>
          <p:nvPr/>
        </p:nvSpPr>
        <p:spPr>
          <a:xfrm>
            <a:off x="4640580" y="3634740"/>
            <a:ext cx="1325880" cy="1325880"/>
          </a:xfrm>
          <a:prstGeom prst="ellipse">
            <a:avLst/>
          </a:prstGeom>
          <a:solidFill>
            <a:srgbClr val="F0B323"/>
          </a:solidFill>
          <a:ln w="38100">
            <a:solidFill>
              <a:srgbClr val="FFFFFF"/>
            </a:solidFill>
            <a:prstDash val="solid"/>
          </a:ln>
        </p:spPr>
      </p:sp>
      <p:sp>
        <p:nvSpPr>
          <p:cNvPr id="19" name="Text 15"/>
          <p:cNvSpPr txBox="1"/>
          <p:nvPr/>
        </p:nvSpPr>
        <p:spPr>
          <a:xfrm>
            <a:off x="493776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0" name="Text 16"/>
          <p:cNvSpPr txBox="1"/>
          <p:nvPr/>
        </p:nvSpPr>
        <p:spPr>
          <a:xfrm>
            <a:off x="434340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Practice</a:t>
            </a:r>
            <a:endParaRPr lang="en-US" sz="1600" dirty="0"/>
          </a:p>
        </p:txBody>
      </p:sp>
      <p:sp>
        <p:nvSpPr>
          <p:cNvPr id="21" name="stn4"/>
          <p:cNvSpPr/>
          <p:nvPr/>
        </p:nvSpPr>
        <p:spPr>
          <a:xfrm>
            <a:off x="6606540" y="2537460"/>
            <a:ext cx="1325880" cy="1325880"/>
          </a:xfrm>
          <a:prstGeom prst="ellipse">
            <a:avLst/>
          </a:prstGeom>
          <a:solidFill>
            <a:srgbClr val="F0B323"/>
          </a:solidFill>
          <a:ln w="38100">
            <a:solidFill>
              <a:srgbClr val="FFFFFF"/>
            </a:solidFill>
            <a:prstDash val="solid"/>
          </a:ln>
        </p:spPr>
      </p:sp>
      <p:sp>
        <p:nvSpPr>
          <p:cNvPr id="22" name="Text 18"/>
          <p:cNvSpPr txBox="1"/>
          <p:nvPr/>
        </p:nvSpPr>
        <p:spPr>
          <a:xfrm>
            <a:off x="690372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3" name="Text 19"/>
          <p:cNvSpPr txBox="1"/>
          <p:nvPr/>
        </p:nvSpPr>
        <p:spPr>
          <a:xfrm>
            <a:off x="630936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Production</a:t>
            </a:r>
            <a:endParaRPr lang="en-US" sz="1600" dirty="0"/>
          </a:p>
        </p:txBody>
      </p:sp>
      <p:sp>
        <p:nvSpPr>
          <p:cNvPr id="24" name="stn5"/>
          <p:cNvSpPr/>
          <p:nvPr/>
        </p:nvSpPr>
        <p:spPr>
          <a:xfrm>
            <a:off x="8572500" y="3634740"/>
            <a:ext cx="1325880" cy="1325880"/>
          </a:xfrm>
          <a:prstGeom prst="ellipse">
            <a:avLst/>
          </a:prstGeom>
          <a:solidFill>
            <a:srgbClr val="F0B323"/>
          </a:solidFill>
          <a:ln w="38100">
            <a:solidFill>
              <a:srgbClr val="FFFFFF"/>
            </a:solidFill>
            <a:prstDash val="solid"/>
          </a:ln>
        </p:spPr>
      </p:sp>
      <p:sp>
        <p:nvSpPr>
          <p:cNvPr id="25" name="Text 21"/>
          <p:cNvSpPr txBox="1"/>
          <p:nvPr/>
        </p:nvSpPr>
        <p:spPr>
          <a:xfrm>
            <a:off x="886968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6" name="Text 22"/>
          <p:cNvSpPr txBox="1"/>
          <p:nvPr/>
        </p:nvSpPr>
        <p:spPr>
          <a:xfrm>
            <a:off x="827532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Mastery Gate</a:t>
            </a:r>
            <a:endParaRPr lang="en-US" sz="1600" dirty="0"/>
          </a:p>
        </p:txBody>
      </p:sp>
      <p:sp>
        <p:nvSpPr>
          <p:cNvPr id="27" name="stn6"/>
          <p:cNvSpPr/>
          <p:nvPr/>
        </p:nvSpPr>
        <p:spPr>
          <a:xfrm>
            <a:off x="10309860" y="2537460"/>
            <a:ext cx="1325880" cy="1325880"/>
          </a:xfrm>
          <a:prstGeom prst="ellipse">
            <a:avLst/>
          </a:prstGeom>
          <a:solidFill>
            <a:srgbClr val="F0B323"/>
          </a:solidFill>
          <a:ln w="38100">
            <a:solidFill>
              <a:srgbClr val="FFFFFF"/>
            </a:solidFill>
            <a:prstDash val="solid"/>
          </a:ln>
        </p:spPr>
      </p:sp>
      <p:sp>
        <p:nvSpPr>
          <p:cNvPr id="28" name="Text 24"/>
          <p:cNvSpPr txBox="1"/>
          <p:nvPr/>
        </p:nvSpPr>
        <p:spPr>
          <a:xfrm>
            <a:off x="1060704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9" name="Text 25"/>
          <p:cNvSpPr txBox="1"/>
          <p:nvPr/>
        </p:nvSpPr>
        <p:spPr>
          <a:xfrm>
            <a:off x="1001268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Smart Production</a:t>
            </a:r>
            <a:endParaRPr lang="en-US" sz="1600" dirty="0"/>
          </a:p>
        </p:txBody>
      </p:sp>
      <p:sp>
        <p:nvSpPr>
          <p:cNvPr id="30" name="Text 26"/>
          <p:cNvSpPr txBox="1"/>
          <p:nvPr/>
        </p:nvSpPr>
        <p:spPr>
          <a:xfrm>
            <a:off x="548640" y="5669280"/>
            <a:ext cx="11064240" cy="640080"/>
          </a:xfrm>
          <a:prstGeom prst="rect">
            <a:avLst/>
          </a:prstGeom>
          <a:noFill/>
          <a:ln/>
        </p:spPr>
        <p:txBody>
          <a:bodyPr wrap="square" lIns="0" tIns="0" rIns="0" bIns="0" rtlCol="0" anchor="ctr"/>
          <a:lstStyle/>
          <a:p>
            <a:pPr algn="ctr" indent="0" marL="0">
              <a:buNone/>
            </a:pPr>
            <a:r>
              <a:rPr lang="en-US" sz="1700" b="1" dirty="0">
                <a:solidFill>
                  <a:srgbClr val="F0B323"/>
                </a:solidFill>
                <a:latin typeface="Calibri" pitchFamily="34" charset="0"/>
                <a:ea typeface="Calibri" pitchFamily="34" charset="-122"/>
                <a:cs typeface="Calibri" pitchFamily="34" charset="-120"/>
              </a:rPr>
              <a:t>The discriminant b² − 4ac tells you how many solutions and of what type, and the quadratic formula then solves any quadratic, giving a ± bi when the discriminant is negative.</a:t>
            </a:r>
            <a:endParaRPr lang="en-US" sz="1700" dirty="0"/>
          </a:p>
        </p:txBody>
      </p:sp>
      <p:sp>
        <p:nvSpPr>
          <p:cNvPr id="31" name="Text 27"/>
          <p:cNvSpPr txBox="1"/>
          <p:nvPr/>
        </p:nvSpPr>
        <p:spPr>
          <a:xfrm>
            <a:off x="4023360" y="6492240"/>
            <a:ext cx="4114800" cy="228600"/>
          </a:xfrm>
          <a:prstGeom prst="rect">
            <a:avLst/>
          </a:prstGeom>
          <a:noFill/>
          <a:ln/>
        </p:spPr>
        <p:txBody>
          <a:bodyPr wrap="square" lIns="0" tIns="0" rIns="0" bIns="0" rtlCol="0" anchor="t"/>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2-6 The Quadratic Formula presentation</dc:title>
  <dc:subject>PptxGenJS Presentation</dc:subject>
  <dc:creator>Mr Malek Thiab</dc:creator>
  <cp:lastModifiedBy>Mr Malek Thiab</cp:lastModifiedBy>
  <cp:revision>1</cp:revision>
  <dcterms:created xsi:type="dcterms:W3CDTF">2026-10-13T04:31:28Z</dcterms:created>
  <dcterms:modified xsi:type="dcterms:W3CDTF">2026-10-13T04:31:28Z</dcterms:modified>
</cp:coreProperties>
</file>