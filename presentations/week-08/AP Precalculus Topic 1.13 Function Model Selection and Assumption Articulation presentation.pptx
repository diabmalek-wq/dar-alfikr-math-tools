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1.13: Function Model Selection.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(Choosing a function type from the data; Degree n and geometric contexts; Assumptions and restrictions), Practice (Practice, Apply, Investigate), Production (ticket revenue for a science fair),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function model, linear function, quadratic function, cubic function, polynomial function, nth differences, piecewise-defined function, assumption, domain restriction, range restriction.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(11 - 3)/(3 - 1) = 4. Q2 5 - 2 = 3, 10 - 5 = 5, 17 - 10 = 7: differences 3, 5, 7. Q3 2(20 - 4)^2 = 2(256) = 512.
Verbal misconceptions: 'slope is run over rise'; 'the differences must be equal for every data set'; '2(20 - 2(2))^2 = (2)(16)(2)' (the square applies to the bracket only).
Adaptive routing: if more than 30% miss Q1 or Q2, route to slide 5 (finding the type from differences). If Q3 is missed by more than 30%, route to slide 7 (restrictions).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LO 1.13.A). EK 1.13.A.1: 'Linear functions model data sets or aspects of contextual scenarios that demonstrate roughly constant rates of change.' EK 1.13.A.2: 'Quadratic functions model data sets or aspects of contextual scenarios that demonstrate roughly linear rates of change, or data sets that are roughly symmetric with a unique maximum or minimum value.'
Worked solutions: Example A: the inputs step by 1 and every output rises by 4, so the rate is constant and the model is linear; slope 4, y-intercept 3: y = 4x + 3. Example B: first differences 3, 7, 11, 15 are not constant, second differences 4, 4, 4 are, so the model is quadratic with 2a = 4, a = 2. Using (0, 2): c = 2; using (1, 5): 2 + b + 2 = 5, b = 1. So y = 2x^2 + x + 2; check x = 3: 18 + 3 + 2 = 23.
Verbal misconceptions: 'differences that change mean the data is not a function'; 'the second difference equals a' (it equals 2a for unit steps).
Adaptive routing: if more than 30% miss Gate Q1, return to this slide and tabulate the differences for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LO 1.13.A). EK 1.13.A.3: 'Geometric contexts involving area or two dimensions can often be modeled by quadratic functions. Geometric contexts involving volume or three dimensions can often be modeled by cubic functions.' EK 1.13.A.5: 'A polynomial function of degree n models data sets or contextual scenarios that demonstrate roughly constant nonzero nth differences.' EK 1.13.A.6: 'A polynomial function of degree n or less can be used to model a graph of n + 1 points with distinct input values.'
Worked solutions: Example A: the table is y = x^3 + x + 1. First differences 2, 8, 20, 38; second 6, 12, 18; third 6, 6. The third differences are constant, so the degree is 3. Example B: cutting squares of side x from a 20 by 20 sheet leaves a base of side 20 - 2x and height x, so V = x(20 - 2x)^2; expanding gives 4x^3 - 80x^2 + 400x, degree 3. Example C: n + 1 = 6 means n = 5, so some polynomial of degree at most 5 passes through all six points.
Verbal misconceptions: 'a polynomial through the points must be the true model' (fitting is not the same as explaining); 'six points need degree 6'.
Adaptive routing: if more than 30% miss Gate Q1 or Q3, return to this slide and redo Example A and Example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LO 1.13.B). EK 1.13.B.1: 'A model may have underlying assumptions about what is consistent in the model.' EK 1.13.B.2: 'A model may have underlying assumptions about how quantities change together.' EK 1.13.B.3: 'A model may require domain restrictions based on mathematical clues, contextual clues, or extreme values in the data set.' EK 1.13.B.4: 'A model may require range restrictions, such as rounding values, based on mathematical clues, contextual clues, or extreme values in the data set.' EK 1.13.A.7 (piecewise-defined functions) is quoted from the fetched CED text.
Worked solutions: Example A: the base side 20 - 2x must be positive, so x &lt; 10, and the height x must be positive: domain 0 &lt; x &lt; 10. Example B: tickets cannot be negative, so p &lt;= 120/7 (about 17.14); a count of tickets is a whole number, so the outputs are rounded: a range restriction. Example C: the fee rises at 0 per kilogram up to 1 kg and 2 per kilogram after, so the rate of change is not constant: use a piecewise-defined function.
Verbal misconceptions: 'a model is valid for every real x'; 'a restriction is only needed when the formula has a fraction or a root'.
Adaptive routing: if more than 30% miss Gate Q2, return to this slide and redo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first differences 3, 3, 3: linear with slope 3; y = 3x + 2. Apply: base side 12 - 2x &gt; 0 gives x &lt; 6 and height x &gt; 0: domain 0 &lt; x &lt; 6. Investigate: any n + 1 points with distinct inputs lie on some polynomial of degree n or less, so a fit through five points is always possible and says nothing about whether the context behaves that way; the model type needs a reason from the context (constant rate, area, volume).
Verbal misconceptions: 'a perfect fit proves the model'.
Adaptive routing: finished students move to Apply then Investigate; stuck students return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Solutions: first differences 18, 14, 10, 6, 2; second differences -4, -4, -4, -4: constant, so quadratic with 2a = -4 and a = -2. Using R(1) = 22: -2 + b + c = 22; R(2) = 40: -8 + 2b + c = 40; subtracting gives b = 24 and c = 0, so R(p) = -2p^2 + 24p. Check p = 6: -72 + 144 = 72. R(8) = -128 + 192 = 64 hundred dollars, 6400 dollars. The greatest revenue is at p = 6 (72 hundred dollars). Restriction: R &gt;= 0 needs 0 &lt;= p &lt;= 12, so p lies in [0, 12]. Assumption: for example, the number of buyers falls steadily as the price rises, and nothing else about the fair changes.
Verbal misconceptions: stopping at the first differences; reading 64 as 64 dollars (it is hundreds of dollars).
Adaptive routing: if students cannot start, send them to slide 5 Example B and the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first differences 2, 8, 20, 38; second 6, 12, 18; third 6, 6: degree 3. Q2 both w &gt; 0 and 20 - w &gt; 0, so the domain is 0 &lt; w &lt; 20. Q3 n + 1 = 7, so n = 6: degree at most 6.
Verbal misconceptions: Q1 'stop at the second differences and say quadratic'; Q2 'domain is all real numbers'; Q3 'degree 7'.
Adaptive routing: Q1 missed, route to slide 6 Example A; Q2 missed, route to slide 7 Example A; Q3 missed, route to slide 6 Example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Exit answer: first differences 1, 3, 5; second differences 2, 2: quadratic (y = x^2 + 1).
Verbal misconceptions: students say linear because the outputs increase; ask: are the first differences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Read the type from the differences, the geometry or the shape, then state the assumptions and the domain and range restrictions that make the model fit the context. Collect the Time to Check responses. Next lesson: Topic 1.14 Function Model Construction and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1.13</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Function Model</a:t>
            </a:r>
            <a:endParaRPr lang="en-US" sz="5000" dirty="0"/>
          </a:p>
          <a:p>
            <a:pPr indent="0" marL="0">
              <a:buNone/>
            </a:pPr>
            <a:r>
              <a:rPr lang="en-US" sz="5000" b="1" dirty="0">
                <a:solidFill>
                  <a:srgbClr val="1F3864"/>
                </a:solidFill>
                <a:latin typeface="Cambria" pitchFamily="34" charset="0"/>
                <a:ea typeface="Cambria" pitchFamily="34" charset="-122"/>
                <a:cs typeface="Cambria" pitchFamily="34" charset="-120"/>
              </a:rPr>
              <a:t>Selection</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13/k9f094bcf0c.png">    </p:cNvPr>
          <p:cNvPicPr>
            <a:picLocks noChangeAspect="1"/>
          </p:cNvPicPr>
          <p:nvPr/>
        </p:nvPicPr>
        <p:blipFill>
          <a:blip r:embed="rId4"/>
          <a:stretch>
            <a:fillRect/>
          </a:stretch>
        </p:blipFill>
        <p:spPr>
          <a:xfrm>
            <a:off x="8691372" y="3017520"/>
            <a:ext cx="2734056" cy="508772"/>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Identify an appropriate function type to construct a function model for a given scenario.</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Describe assumptions and restrictions related to building a function model.</a:t>
            </a:r>
            <a:endParaRPr lang="en-US" sz="1700" dirty="0"/>
          </a:p>
        </p:txBody>
      </p:sp>
      <p:sp>
        <p:nvSpPr>
          <p:cNvPr id="14" name="Shape 9"/>
          <p:cNvSpPr/>
          <p:nvPr/>
        </p:nvSpPr>
        <p:spPr>
          <a:xfrm>
            <a:off x="6400800" y="1280160"/>
            <a:ext cx="5303520" cy="2148840"/>
          </a:xfrm>
          <a:prstGeom prst="roundRect">
            <a:avLst>
              <a:gd name="adj" fmla="val 51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function model</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linear function</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quadratic function</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cubic function</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polynomial function</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nth differences</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piecewise-defined function</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assumption</a:t>
            </a:r>
            <a:endParaRPr lang="en-US" sz="1100" dirty="0"/>
          </a:p>
        </p:txBody>
      </p:sp>
      <p:sp>
        <p:nvSpPr>
          <p:cNvPr id="32" name="Shape 27"/>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3" name="Text 28"/>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domain restriction</a:t>
            </a:r>
            <a:endParaRPr lang="en-US" sz="1100" dirty="0"/>
          </a:p>
        </p:txBody>
      </p:sp>
      <p:sp>
        <p:nvSpPr>
          <p:cNvPr id="34" name="Shape 29"/>
          <p:cNvSpPr/>
          <p:nvPr/>
        </p:nvSpPr>
        <p:spPr>
          <a:xfrm>
            <a:off x="9189720" y="2898648"/>
            <a:ext cx="2468880" cy="265176"/>
          </a:xfrm>
          <a:prstGeom prst="roundRect">
            <a:avLst>
              <a:gd name="adj" fmla="val 48276"/>
            </a:avLst>
          </a:prstGeom>
          <a:solidFill>
            <a:srgbClr val="1F3864"/>
          </a:solidFill>
          <a:ln w="12700">
            <a:solidFill>
              <a:srgbClr val="FFFFFF"/>
            </a:solidFill>
            <a:prstDash val="solid"/>
          </a:ln>
        </p:spPr>
      </p:sp>
      <p:sp>
        <p:nvSpPr>
          <p:cNvPr id="35" name="Text 30"/>
          <p:cNvSpPr txBox="1"/>
          <p:nvPr/>
        </p:nvSpPr>
        <p:spPr>
          <a:xfrm>
            <a:off x="918972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range restriction</a:t>
            </a:r>
            <a:endParaRPr lang="en-US" sz="1100" dirty="0"/>
          </a:p>
        </p:txBody>
      </p:sp>
      <p:sp>
        <p:nvSpPr>
          <p:cNvPr id="36" name="Shape 31"/>
          <p:cNvSpPr/>
          <p:nvPr/>
        </p:nvSpPr>
        <p:spPr>
          <a:xfrm>
            <a:off x="6400800" y="3566160"/>
            <a:ext cx="5303520" cy="2743200"/>
          </a:xfrm>
          <a:prstGeom prst="roundRect">
            <a:avLst>
              <a:gd name="adj" fmla="val 4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7" name="Text 32"/>
          <p:cNvSpPr txBox="1"/>
          <p:nvPr/>
        </p:nvSpPr>
        <p:spPr>
          <a:xfrm>
            <a:off x="6675120" y="3639312"/>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8" name="Text 33"/>
          <p:cNvSpPr txBox="1"/>
          <p:nvPr/>
        </p:nvSpPr>
        <p:spPr>
          <a:xfrm>
            <a:off x="6675120" y="3931920"/>
            <a:ext cx="4846320" cy="2286000"/>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1.13.A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Identify an appropriate function type to construct a function model for a given scenario.</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LO 1.13.B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Describe assumptions and restrictions related to building a function model.</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3/k9ad730d566.png">    </p:cNvPr>
          <p:cNvPicPr>
            <a:picLocks noChangeAspect="1"/>
          </p:cNvPicPr>
          <p:nvPr/>
        </p:nvPicPr>
        <p:blipFill>
          <a:blip r:embed="rId3"/>
          <a:stretch>
            <a:fillRect/>
          </a:stretch>
        </p:blipFill>
        <p:spPr>
          <a:xfrm>
            <a:off x="594360" y="2697480"/>
            <a:ext cx="3383280" cy="310010"/>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3/k5abe77e560.png">    </p:cNvPr>
          <p:cNvPicPr>
            <a:picLocks noChangeAspect="1"/>
          </p:cNvPicPr>
          <p:nvPr/>
        </p:nvPicPr>
        <p:blipFill>
          <a:blip r:embed="rId4"/>
          <a:stretch>
            <a:fillRect/>
          </a:stretch>
        </p:blipFill>
        <p:spPr>
          <a:xfrm>
            <a:off x="4343400" y="2697480"/>
            <a:ext cx="3383280" cy="281446"/>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3/ke5132000e3.png">    </p:cNvPr>
          <p:cNvPicPr>
            <a:picLocks noChangeAspect="1"/>
          </p:cNvPicPr>
          <p:nvPr/>
        </p:nvPicPr>
        <p:blipFill>
          <a:blip r:embed="rId5"/>
          <a:stretch>
            <a:fillRect/>
          </a:stretch>
        </p:blipFill>
        <p:spPr>
          <a:xfrm>
            <a:off x="8092440" y="2697480"/>
            <a:ext cx="3383280" cy="346686"/>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what the differences tell you about the data.</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Choosing a function type from the data</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3/k4ba7912dc6.png">    </p:cNvPr>
          <p:cNvPicPr>
            <a:picLocks noChangeAspect="1"/>
          </p:cNvPicPr>
          <p:nvPr/>
        </p:nvPicPr>
        <p:blipFill>
          <a:blip r:embed="rId3"/>
          <a:stretch>
            <a:fillRect/>
          </a:stretch>
        </p:blipFill>
        <p:spPr>
          <a:xfrm>
            <a:off x="2569464" y="2157984"/>
            <a:ext cx="2878531" cy="347472"/>
          </a:xfrm>
          <a:prstGeom prst="rect">
            <a:avLst/>
          </a:prstGeom>
        </p:spPr>
      </p:pic>
      <p:pic>
        <p:nvPicPr>
          <p:cNvPr id="31" name="Image 3" descr="m_AP1-13/k97bddc8072.png">    </p:cNvPr>
          <p:cNvPicPr>
            <a:picLocks noChangeAspect="1"/>
          </p:cNvPicPr>
          <p:nvPr/>
        </p:nvPicPr>
        <p:blipFill>
          <a:blip r:embed="rId4"/>
          <a:stretch>
            <a:fillRect/>
          </a:stretch>
        </p:blipFill>
        <p:spPr>
          <a:xfrm>
            <a:off x="6088075" y="2136038"/>
            <a:ext cx="3503981" cy="391363"/>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AP1-13_models.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AP1-13/kbd7632892d.png">    </p:cNvPr>
          <p:cNvPicPr>
            <a:picLocks noChangeAspect="1"/>
          </p:cNvPicPr>
          <p:nvPr/>
        </p:nvPicPr>
        <p:blipFill>
          <a:blip r:embed="rId6"/>
          <a:stretch>
            <a:fillRect/>
          </a:stretch>
        </p:blipFill>
        <p:spPr>
          <a:xfrm>
            <a:off x="4874548" y="3566160"/>
            <a:ext cx="2823905" cy="767328"/>
          </a:xfrm>
          <a:prstGeom prst="rect">
            <a:avLst/>
          </a:prstGeom>
        </p:spPr>
      </p:pic>
      <p:pic>
        <p:nvPicPr>
          <p:cNvPr id="37" name="Image 6" descr="m_AP1-13/k8d436a1f5e.png">    </p:cNvPr>
          <p:cNvPicPr>
            <a:picLocks noChangeAspect="1"/>
          </p:cNvPicPr>
          <p:nvPr/>
        </p:nvPicPr>
        <p:blipFill>
          <a:blip r:embed="rId7"/>
          <a:stretch>
            <a:fillRect/>
          </a:stretch>
        </p:blipFill>
        <p:spPr>
          <a:xfrm>
            <a:off x="5315407" y="4488936"/>
            <a:ext cx="1942186" cy="309433"/>
          </a:xfrm>
          <a:prstGeom prst="rect">
            <a:avLst/>
          </a:prstGeom>
        </p:spPr>
      </p:pic>
      <p:pic>
        <p:nvPicPr>
          <p:cNvPr id="38" name="Image 7" descr="m_AP1-13/k3726bcfad2.png">    </p:cNvPr>
          <p:cNvPicPr>
            <a:picLocks noChangeAspect="1"/>
          </p:cNvPicPr>
          <p:nvPr/>
        </p:nvPicPr>
        <p:blipFill>
          <a:blip r:embed="rId8"/>
          <a:stretch>
            <a:fillRect/>
          </a:stretch>
        </p:blipFill>
        <p:spPr>
          <a:xfrm>
            <a:off x="5203485" y="4953817"/>
            <a:ext cx="2166031" cy="312725"/>
          </a:xfrm>
          <a:prstGeom prst="rect">
            <a:avLst/>
          </a:prstGeom>
        </p:spPr>
      </p:pic>
      <p:sp>
        <p:nvSpPr>
          <p:cNvPr id="39"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0"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1" name="Image 8" descr="m_AP1-13/k376ed77fb1.png">    </p:cNvPr>
          <p:cNvPicPr>
            <a:picLocks noChangeAspect="1"/>
          </p:cNvPicPr>
          <p:nvPr/>
        </p:nvPicPr>
        <p:blipFill>
          <a:blip r:embed="rId9"/>
          <a:stretch>
            <a:fillRect/>
          </a:stretch>
        </p:blipFill>
        <p:spPr>
          <a:xfrm>
            <a:off x="8734349" y="3566160"/>
            <a:ext cx="2419502" cy="767328"/>
          </a:xfrm>
          <a:prstGeom prst="rect">
            <a:avLst/>
          </a:prstGeom>
        </p:spPr>
      </p:pic>
      <p:pic>
        <p:nvPicPr>
          <p:cNvPr id="42" name="Image 9" descr="m_AP1-13/k3fcdcee4f1.png">    </p:cNvPr>
          <p:cNvPicPr>
            <a:picLocks noChangeAspect="1"/>
          </p:cNvPicPr>
          <p:nvPr/>
        </p:nvPicPr>
        <p:blipFill>
          <a:blip r:embed="rId10"/>
          <a:stretch>
            <a:fillRect/>
          </a:stretch>
        </p:blipFill>
        <p:spPr>
          <a:xfrm>
            <a:off x="8966424" y="4488936"/>
            <a:ext cx="1955353" cy="309433"/>
          </a:xfrm>
          <a:prstGeom prst="rect">
            <a:avLst/>
          </a:prstGeom>
        </p:spPr>
      </p:pic>
      <p:pic>
        <p:nvPicPr>
          <p:cNvPr id="43" name="Image 10" descr="m_AP1-13/kf17055ecbf.png">    </p:cNvPr>
          <p:cNvPicPr>
            <a:picLocks noChangeAspect="1"/>
          </p:cNvPicPr>
          <p:nvPr/>
        </p:nvPicPr>
        <p:blipFill>
          <a:blip r:embed="rId11"/>
          <a:stretch>
            <a:fillRect/>
          </a:stretch>
        </p:blipFill>
        <p:spPr>
          <a:xfrm>
            <a:off x="8406811" y="4953817"/>
            <a:ext cx="3074579" cy="352227"/>
          </a:xfrm>
          <a:prstGeom prst="rect">
            <a:avLst/>
          </a:prstGeom>
        </p:spPr>
      </p:pic>
      <p:pic>
        <p:nvPicPr>
          <p:cNvPr id="44" name="Image 11" descr="m_AP1-13/k90927cfd4b.png">    </p:cNvPr>
          <p:cNvPicPr>
            <a:picLocks noChangeAspect="1"/>
          </p:cNvPicPr>
          <p:nvPr/>
        </p:nvPicPr>
        <p:blipFill>
          <a:blip r:embed="rId12"/>
          <a:stretch>
            <a:fillRect/>
          </a:stretch>
        </p:blipFill>
        <p:spPr>
          <a:xfrm>
            <a:off x="8989466" y="5461492"/>
            <a:ext cx="1909267" cy="35222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Degree n and geometric contexts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3/k0db3b80b99.png">    </p:cNvPr>
          <p:cNvPicPr>
            <a:picLocks noChangeAspect="1"/>
          </p:cNvPicPr>
          <p:nvPr/>
        </p:nvPicPr>
        <p:blipFill>
          <a:blip r:embed="rId3"/>
          <a:stretch>
            <a:fillRect/>
          </a:stretch>
        </p:blipFill>
        <p:spPr>
          <a:xfrm>
            <a:off x="1256386" y="2156155"/>
            <a:ext cx="3397910" cy="351130"/>
          </a:xfrm>
          <a:prstGeom prst="rect">
            <a:avLst/>
          </a:prstGeom>
        </p:spPr>
      </p:pic>
      <p:pic>
        <p:nvPicPr>
          <p:cNvPr id="31" name="Image 3" descr="m_AP1-13/kddf1bb80aa.png">    </p:cNvPr>
          <p:cNvPicPr>
            <a:picLocks noChangeAspect="1"/>
          </p:cNvPicPr>
          <p:nvPr/>
        </p:nvPicPr>
        <p:blipFill>
          <a:blip r:embed="rId4"/>
          <a:stretch>
            <a:fillRect/>
          </a:stretch>
        </p:blipFill>
        <p:spPr>
          <a:xfrm>
            <a:off x="5294376" y="2157984"/>
            <a:ext cx="5610758" cy="347472"/>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13/kf0f7639cee.png">    </p:cNvPr>
          <p:cNvPicPr>
            <a:picLocks noChangeAspect="1"/>
          </p:cNvPicPr>
          <p:nvPr/>
        </p:nvPicPr>
        <p:blipFill>
          <a:blip r:embed="rId5"/>
          <a:stretch>
            <a:fillRect/>
          </a:stretch>
        </p:blipFill>
        <p:spPr>
          <a:xfrm>
            <a:off x="1076249" y="3566160"/>
            <a:ext cx="2419502" cy="767328"/>
          </a:xfrm>
          <a:prstGeom prst="rect">
            <a:avLst/>
          </a:prstGeom>
        </p:spPr>
      </p:pic>
      <p:pic>
        <p:nvPicPr>
          <p:cNvPr id="35" name="Image 5" descr="m_AP1-13/k50cb4296f2.png">    </p:cNvPr>
          <p:cNvPicPr>
            <a:picLocks noChangeAspect="1"/>
          </p:cNvPicPr>
          <p:nvPr/>
        </p:nvPicPr>
        <p:blipFill>
          <a:blip r:embed="rId6"/>
          <a:stretch>
            <a:fillRect/>
          </a:stretch>
        </p:blipFill>
        <p:spPr>
          <a:xfrm>
            <a:off x="1308324" y="4488936"/>
            <a:ext cx="1955353" cy="309433"/>
          </a:xfrm>
          <a:prstGeom prst="rect">
            <a:avLst/>
          </a:prstGeom>
        </p:spPr>
      </p:pic>
      <p:pic>
        <p:nvPicPr>
          <p:cNvPr id="36" name="Image 6" descr="m_AP1-13/kcbd1a8854f.png">    </p:cNvPr>
          <p:cNvPicPr>
            <a:picLocks noChangeAspect="1"/>
          </p:cNvPicPr>
          <p:nvPr/>
        </p:nvPicPr>
        <p:blipFill>
          <a:blip r:embed="rId7"/>
          <a:stretch>
            <a:fillRect/>
          </a:stretch>
        </p:blipFill>
        <p:spPr>
          <a:xfrm>
            <a:off x="666415" y="4953817"/>
            <a:ext cx="3239171" cy="352227"/>
          </a:xfrm>
          <a:prstGeom prst="rect">
            <a:avLst/>
          </a:prstGeom>
        </p:spPr>
      </p:pic>
      <p:pic>
        <p:nvPicPr>
          <p:cNvPr id="37" name="Image 7" descr="m_AP1-13/k34c9c4b204.png">    </p:cNvPr>
          <p:cNvPicPr>
            <a:picLocks noChangeAspect="1"/>
          </p:cNvPicPr>
          <p:nvPr/>
        </p:nvPicPr>
        <p:blipFill>
          <a:blip r:embed="rId8"/>
          <a:stretch>
            <a:fillRect/>
          </a:stretch>
        </p:blipFill>
        <p:spPr>
          <a:xfrm>
            <a:off x="957743" y="5461492"/>
            <a:ext cx="2656515" cy="352227"/>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13/k371341c51f.png">    </p:cNvPr>
          <p:cNvPicPr>
            <a:picLocks noChangeAspect="1"/>
          </p:cNvPicPr>
          <p:nvPr/>
        </p:nvPicPr>
        <p:blipFill>
          <a:blip r:embed="rId9"/>
          <a:stretch>
            <a:fillRect/>
          </a:stretch>
        </p:blipFill>
        <p:spPr>
          <a:xfrm>
            <a:off x="4876193" y="3566160"/>
            <a:ext cx="2409133" cy="767328"/>
          </a:xfrm>
          <a:prstGeom prst="rect">
            <a:avLst/>
          </a:prstGeom>
        </p:spPr>
      </p:pic>
      <p:pic>
        <p:nvPicPr>
          <p:cNvPr id="41" name="Image 9" descr="m_AP1-13/k86216ae4a6.png">    </p:cNvPr>
          <p:cNvPicPr>
            <a:picLocks noChangeAspect="1"/>
          </p:cNvPicPr>
          <p:nvPr/>
        </p:nvPicPr>
        <p:blipFill>
          <a:blip r:embed="rId10"/>
          <a:stretch>
            <a:fillRect/>
          </a:stretch>
        </p:blipFill>
        <p:spPr>
          <a:xfrm>
            <a:off x="4545117" y="4488936"/>
            <a:ext cx="3071287" cy="260055"/>
          </a:xfrm>
          <a:prstGeom prst="rect">
            <a:avLst/>
          </a:prstGeom>
        </p:spPr>
      </p:pic>
      <p:pic>
        <p:nvPicPr>
          <p:cNvPr id="42" name="Image 10" descr="m_AP1-13/k1438836dd0.png">    </p:cNvPr>
          <p:cNvPicPr>
            <a:picLocks noChangeAspect="1"/>
          </p:cNvPicPr>
          <p:nvPr/>
        </p:nvPicPr>
        <p:blipFill>
          <a:blip r:embed="rId11"/>
          <a:stretch>
            <a:fillRect/>
          </a:stretch>
        </p:blipFill>
        <p:spPr>
          <a:xfrm>
            <a:off x="4900635" y="4904439"/>
            <a:ext cx="2360249" cy="368686"/>
          </a:xfrm>
          <a:prstGeom prst="rect">
            <a:avLst/>
          </a:prstGeom>
        </p:spPr>
      </p:pic>
      <p:pic>
        <p:nvPicPr>
          <p:cNvPr id="43" name="Image 11" descr="m_AP1-13/k4aabcc4106.png">    </p:cNvPr>
          <p:cNvPicPr>
            <a:picLocks noChangeAspect="1"/>
          </p:cNvPicPr>
          <p:nvPr/>
        </p:nvPicPr>
        <p:blipFill>
          <a:blip r:embed="rId12"/>
          <a:stretch>
            <a:fillRect/>
          </a:stretch>
        </p:blipFill>
        <p:spPr>
          <a:xfrm>
            <a:off x="4759086" y="5428573"/>
            <a:ext cx="2643348" cy="312725"/>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AP1-13/k8bd74fdb60.png">    </p:cNvPr>
          <p:cNvPicPr>
            <a:picLocks noChangeAspect="1"/>
          </p:cNvPicPr>
          <p:nvPr/>
        </p:nvPicPr>
        <p:blipFill>
          <a:blip r:embed="rId13"/>
          <a:stretch>
            <a:fillRect/>
          </a:stretch>
        </p:blipFill>
        <p:spPr>
          <a:xfrm>
            <a:off x="8247541" y="3566160"/>
            <a:ext cx="3255959" cy="328361"/>
          </a:xfrm>
          <a:prstGeom prst="rect">
            <a:avLst/>
          </a:prstGeom>
        </p:spPr>
      </p:pic>
      <p:pic>
        <p:nvPicPr>
          <p:cNvPr id="47" name="Image 13" descr="m_AP1-13/k244c2b60d3.png">    </p:cNvPr>
          <p:cNvPicPr>
            <a:picLocks noChangeAspect="1"/>
          </p:cNvPicPr>
          <p:nvPr/>
        </p:nvPicPr>
        <p:blipFill>
          <a:blip r:embed="rId14"/>
          <a:stretch>
            <a:fillRect/>
          </a:stretch>
        </p:blipFill>
        <p:spPr>
          <a:xfrm>
            <a:off x="8743127" y="4049969"/>
            <a:ext cx="2264786" cy="266639"/>
          </a:xfrm>
          <a:prstGeom prst="rect">
            <a:avLst/>
          </a:prstGeom>
        </p:spPr>
      </p:pic>
      <p:pic>
        <p:nvPicPr>
          <p:cNvPr id="48" name="Image 14" descr="m_AP1-13/k8c5bc31e1f.png">    </p:cNvPr>
          <p:cNvPicPr>
            <a:picLocks noChangeAspect="1"/>
          </p:cNvPicPr>
          <p:nvPr/>
        </p:nvPicPr>
        <p:blipFill>
          <a:blip r:embed="rId15"/>
          <a:stretch>
            <a:fillRect/>
          </a:stretch>
        </p:blipFill>
        <p:spPr>
          <a:xfrm>
            <a:off x="8264164" y="4472056"/>
            <a:ext cx="3222711" cy="312725"/>
          </a:xfrm>
          <a:prstGeom prst="rect">
            <a:avLst/>
          </a:prstGeom>
        </p:spPr>
      </p:pic>
      <p:pic>
        <p:nvPicPr>
          <p:cNvPr id="49" name="Image 15" descr="m_AP1-13/k2323bfe074.png">    </p:cNvPr>
          <p:cNvPicPr>
            <a:picLocks noChangeAspect="1"/>
          </p:cNvPicPr>
          <p:nvPr/>
        </p:nvPicPr>
        <p:blipFill>
          <a:blip r:embed="rId16"/>
          <a:stretch>
            <a:fillRect/>
          </a:stretch>
        </p:blipFill>
        <p:spPr>
          <a:xfrm>
            <a:off x="8868217" y="4940229"/>
            <a:ext cx="2014606" cy="312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Assumptions and restrictions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3/ka912db5414.png">    </p:cNvPr>
          <p:cNvPicPr>
            <a:picLocks noChangeAspect="1"/>
          </p:cNvPicPr>
          <p:nvPr/>
        </p:nvPicPr>
        <p:blipFill>
          <a:blip r:embed="rId3"/>
          <a:stretch>
            <a:fillRect/>
          </a:stretch>
        </p:blipFill>
        <p:spPr>
          <a:xfrm>
            <a:off x="1863547" y="2157984"/>
            <a:ext cx="4209898" cy="347472"/>
          </a:xfrm>
          <a:prstGeom prst="rect">
            <a:avLst/>
          </a:prstGeom>
        </p:spPr>
      </p:pic>
      <p:pic>
        <p:nvPicPr>
          <p:cNvPr id="31" name="Image 3" descr="m_AP1-13/k6cced62184.png">    </p:cNvPr>
          <p:cNvPicPr>
            <a:picLocks noChangeAspect="1"/>
          </p:cNvPicPr>
          <p:nvPr/>
        </p:nvPicPr>
        <p:blipFill>
          <a:blip r:embed="rId4"/>
          <a:stretch>
            <a:fillRect/>
          </a:stretch>
        </p:blipFill>
        <p:spPr>
          <a:xfrm>
            <a:off x="6713525" y="2157984"/>
            <a:ext cx="3584448" cy="347472"/>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13/k1438836dd0.png">    </p:cNvPr>
          <p:cNvPicPr>
            <a:picLocks noChangeAspect="1"/>
          </p:cNvPicPr>
          <p:nvPr/>
        </p:nvPicPr>
        <p:blipFill>
          <a:blip r:embed="rId5"/>
          <a:stretch>
            <a:fillRect/>
          </a:stretch>
        </p:blipFill>
        <p:spPr>
          <a:xfrm>
            <a:off x="1046869" y="3566160"/>
            <a:ext cx="2478262" cy="387120"/>
          </a:xfrm>
          <a:prstGeom prst="rect">
            <a:avLst/>
          </a:prstGeom>
        </p:spPr>
      </p:pic>
      <p:pic>
        <p:nvPicPr>
          <p:cNvPr id="35" name="Image 5" descr="m_AP1-13/k52b1b5bca0.png">    </p:cNvPr>
          <p:cNvPicPr>
            <a:picLocks noChangeAspect="1"/>
          </p:cNvPicPr>
          <p:nvPr/>
        </p:nvPicPr>
        <p:blipFill>
          <a:blip r:embed="rId6"/>
          <a:stretch>
            <a:fillRect/>
          </a:stretch>
        </p:blipFill>
        <p:spPr>
          <a:xfrm>
            <a:off x="640080" y="4108728"/>
            <a:ext cx="3291840" cy="245959"/>
          </a:xfrm>
          <a:prstGeom prst="rect">
            <a:avLst/>
          </a:prstGeom>
        </p:spPr>
      </p:pic>
      <p:pic>
        <p:nvPicPr>
          <p:cNvPr id="36" name="Image 6" descr="m_AP1-13/ke79bd2ded3.png">    </p:cNvPr>
          <p:cNvPicPr>
            <a:picLocks noChangeAspect="1"/>
          </p:cNvPicPr>
          <p:nvPr/>
        </p:nvPicPr>
        <p:blipFill>
          <a:blip r:embed="rId7"/>
          <a:stretch>
            <a:fillRect/>
          </a:stretch>
        </p:blipFill>
        <p:spPr>
          <a:xfrm>
            <a:off x="1522293" y="4510135"/>
            <a:ext cx="1527414" cy="312725"/>
          </a:xfrm>
          <a:prstGeom prst="rect">
            <a:avLst/>
          </a:prstGeom>
        </p:spPr>
      </p:pic>
      <p:pic>
        <p:nvPicPr>
          <p:cNvPr id="37" name="Image 7" descr="m_AP1-13/k44fbc3e0c6.png">    </p:cNvPr>
          <p:cNvPicPr>
            <a:picLocks noChangeAspect="1"/>
          </p:cNvPicPr>
          <p:nvPr/>
        </p:nvPicPr>
        <p:blipFill>
          <a:blip r:embed="rId8"/>
          <a:stretch>
            <a:fillRect/>
          </a:stretch>
        </p:blipFill>
        <p:spPr>
          <a:xfrm>
            <a:off x="1138794" y="4978308"/>
            <a:ext cx="2294412" cy="266639"/>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13/k5c1dd6d894.png">    </p:cNvPr>
          <p:cNvPicPr>
            <a:picLocks noChangeAspect="1"/>
          </p:cNvPicPr>
          <p:nvPr/>
        </p:nvPicPr>
        <p:blipFill>
          <a:blip r:embed="rId9"/>
          <a:stretch>
            <a:fillRect/>
          </a:stretch>
        </p:blipFill>
        <p:spPr>
          <a:xfrm>
            <a:off x="4582397" y="3566160"/>
            <a:ext cx="2996727" cy="767328"/>
          </a:xfrm>
          <a:prstGeom prst="rect">
            <a:avLst/>
          </a:prstGeom>
        </p:spPr>
      </p:pic>
      <p:pic>
        <p:nvPicPr>
          <p:cNvPr id="41" name="Image 9" descr="m_AP1-13/k6b0dd80552.png">    </p:cNvPr>
          <p:cNvPicPr>
            <a:picLocks noChangeAspect="1"/>
          </p:cNvPicPr>
          <p:nvPr/>
        </p:nvPicPr>
        <p:blipFill>
          <a:blip r:embed="rId10"/>
          <a:stretch>
            <a:fillRect/>
          </a:stretch>
        </p:blipFill>
        <p:spPr>
          <a:xfrm>
            <a:off x="4838090" y="4488936"/>
            <a:ext cx="2485339" cy="618866"/>
          </a:xfrm>
          <a:prstGeom prst="rect">
            <a:avLst/>
          </a:prstGeom>
        </p:spPr>
      </p:pic>
      <p:pic>
        <p:nvPicPr>
          <p:cNvPr id="42" name="Image 10" descr="m_AP1-13/k163647d80f.png">    </p:cNvPr>
          <p:cNvPicPr>
            <a:picLocks noChangeAspect="1"/>
          </p:cNvPicPr>
          <p:nvPr/>
        </p:nvPicPr>
        <p:blipFill>
          <a:blip r:embed="rId11"/>
          <a:stretch>
            <a:fillRect/>
          </a:stretch>
        </p:blipFill>
        <p:spPr>
          <a:xfrm>
            <a:off x="4434840" y="5263250"/>
            <a:ext cx="3291840" cy="257991"/>
          </a:xfrm>
          <a:prstGeom prst="rect">
            <a:avLst/>
          </a:prstGeom>
        </p:spPr>
      </p:pic>
      <p:pic>
        <p:nvPicPr>
          <p:cNvPr id="43" name="Image 11" descr="m_AP1-13/kb8af69520d.png">    </p:cNvPr>
          <p:cNvPicPr>
            <a:picLocks noChangeAspect="1"/>
          </p:cNvPicPr>
          <p:nvPr/>
        </p:nvPicPr>
        <p:blipFill>
          <a:blip r:embed="rId12"/>
          <a:stretch>
            <a:fillRect/>
          </a:stretch>
        </p:blipFill>
        <p:spPr>
          <a:xfrm>
            <a:off x="5086624" y="5676689"/>
            <a:ext cx="1988271" cy="302849"/>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AP1-13/k18bca813e9.png">    </p:cNvPr>
          <p:cNvPicPr>
            <a:picLocks noChangeAspect="1"/>
          </p:cNvPicPr>
          <p:nvPr/>
        </p:nvPicPr>
        <p:blipFill>
          <a:blip r:embed="rId13"/>
          <a:stretch>
            <a:fillRect/>
          </a:stretch>
        </p:blipFill>
        <p:spPr>
          <a:xfrm>
            <a:off x="8427275" y="3566160"/>
            <a:ext cx="2896490" cy="767328"/>
          </a:xfrm>
          <a:prstGeom prst="rect">
            <a:avLst/>
          </a:prstGeom>
        </p:spPr>
      </p:pic>
      <p:pic>
        <p:nvPicPr>
          <p:cNvPr id="47" name="Image 13" descr="m_AP1-13/k2aecace554.png">    </p:cNvPr>
          <p:cNvPicPr>
            <a:picLocks noChangeAspect="1"/>
          </p:cNvPicPr>
          <p:nvPr/>
        </p:nvPicPr>
        <p:blipFill>
          <a:blip r:embed="rId14"/>
          <a:stretch>
            <a:fillRect/>
          </a:stretch>
        </p:blipFill>
        <p:spPr>
          <a:xfrm>
            <a:off x="8710209" y="4488936"/>
            <a:ext cx="2330623" cy="312725"/>
          </a:xfrm>
          <a:prstGeom prst="rect">
            <a:avLst/>
          </a:prstGeom>
        </p:spPr>
      </p:pic>
      <p:pic>
        <p:nvPicPr>
          <p:cNvPr id="48" name="Image 14" descr="m_AP1-13/kd556aba0ee.png">    </p:cNvPr>
          <p:cNvPicPr>
            <a:picLocks noChangeAspect="1"/>
          </p:cNvPicPr>
          <p:nvPr/>
        </p:nvPicPr>
        <p:blipFill>
          <a:blip r:embed="rId15"/>
          <a:stretch>
            <a:fillRect/>
          </a:stretch>
        </p:blipFill>
        <p:spPr>
          <a:xfrm>
            <a:off x="8229600" y="4957109"/>
            <a:ext cx="3291840" cy="253960"/>
          </a:xfrm>
          <a:prstGeom prst="rect">
            <a:avLst/>
          </a:prstGeom>
        </p:spPr>
      </p:pic>
      <p:pic>
        <p:nvPicPr>
          <p:cNvPr id="49" name="Image 15" descr="m_AP1-13/ka9f7d072ea.png">    </p:cNvPr>
          <p:cNvPicPr>
            <a:picLocks noChangeAspect="1"/>
          </p:cNvPicPr>
          <p:nvPr/>
        </p:nvPicPr>
        <p:blipFill>
          <a:blip r:embed="rId16"/>
          <a:stretch>
            <a:fillRect/>
          </a:stretch>
        </p:blipFill>
        <p:spPr>
          <a:xfrm>
            <a:off x="8446861" y="5366517"/>
            <a:ext cx="2857317" cy="312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13/k10fc90a493.png">    </p:cNvPr>
          <p:cNvPicPr>
            <a:picLocks noChangeAspect="1"/>
          </p:cNvPicPr>
          <p:nvPr/>
        </p:nvPicPr>
        <p:blipFill>
          <a:blip r:embed="rId3"/>
          <a:stretch>
            <a:fillRect/>
          </a:stretch>
        </p:blipFill>
        <p:spPr>
          <a:xfrm>
            <a:off x="1198778" y="2926080"/>
            <a:ext cx="2128723" cy="811987"/>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 name the function type from the differences and write its equation.</a:t>
            </a:r>
            <a:endParaRPr lang="en-US" sz="12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13/k59fca0c4ca.png">    </p:cNvPr>
          <p:cNvPicPr>
            <a:picLocks noChangeAspect="1"/>
          </p:cNvPicPr>
          <p:nvPr/>
        </p:nvPicPr>
        <p:blipFill>
          <a:blip r:embed="rId4"/>
          <a:stretch>
            <a:fillRect/>
          </a:stretch>
        </p:blipFill>
        <p:spPr>
          <a:xfrm>
            <a:off x="4366260" y="2926080"/>
            <a:ext cx="3383280" cy="495114"/>
          </a:xfrm>
          <a:prstGeom prst="rect">
            <a:avLst/>
          </a:prstGeom>
        </p:spPr>
      </p:pic>
      <p:sp>
        <p:nvSpPr>
          <p:cNvPr id="40"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 state the domain as an inequality and say which length forces each end.</a:t>
            </a:r>
            <a:endParaRPr lang="en-US" sz="1250" dirty="0"/>
          </a:p>
        </p:txBody>
      </p:sp>
      <p:sp>
        <p:nvSpPr>
          <p:cNvPr id="41"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2"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3"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4"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5" name="Image 4" descr="m_AP1-13/kdd8d8098f0.png">    </p:cNvPr>
          <p:cNvPicPr>
            <a:picLocks noChangeAspect="1"/>
          </p:cNvPicPr>
          <p:nvPr/>
        </p:nvPicPr>
        <p:blipFill>
          <a:blip r:embed="rId5"/>
          <a:stretch>
            <a:fillRect/>
          </a:stretch>
        </p:blipFill>
        <p:spPr>
          <a:xfrm>
            <a:off x="8161020" y="2926080"/>
            <a:ext cx="3383280" cy="440005"/>
          </a:xfrm>
          <a:prstGeom prst="rect">
            <a:avLst/>
          </a:prstGeom>
        </p:spPr>
      </p:pic>
      <p:sp>
        <p:nvSpPr>
          <p:cNvPr id="46"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your explanation separates fitting the data from justifying the model type.</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ticket revenue for a science fair</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school science fair sells tickets. The table gives the revenue R in hundreds of dollars, for each ticket price p in dollars. The numbers are model values for practice, not real data.</a:t>
            </a:r>
            <a:endParaRPr lang="en-US" sz="1500" dirty="0"/>
          </a:p>
        </p:txBody>
      </p:sp>
      <p:pic>
        <p:nvPicPr>
          <p:cNvPr id="32" name="Image 2" descr="m_AP1-13/kbf76c8fa6d.png">    </p:cNvPr>
          <p:cNvPicPr>
            <a:picLocks noChangeAspect="1"/>
          </p:cNvPicPr>
          <p:nvPr/>
        </p:nvPicPr>
        <p:blipFill>
          <a:blip r:embed="rId3"/>
          <a:stretch>
            <a:fillRect/>
          </a:stretch>
        </p:blipFill>
        <p:spPr>
          <a:xfrm>
            <a:off x="2054004" y="3429000"/>
            <a:ext cx="2658552" cy="642218"/>
          </a:xfrm>
          <a:prstGeom prst="rect">
            <a:avLst/>
          </a:prstGeom>
        </p:spPr>
      </p:pic>
      <p:pic>
        <p:nvPicPr>
          <p:cNvPr id="33" name="Image 3" descr="m_AP1-13/k6b59deeaa4.png">    </p:cNvPr>
          <p:cNvPicPr>
            <a:picLocks noChangeAspect="1"/>
          </p:cNvPicPr>
          <p:nvPr/>
        </p:nvPicPr>
        <p:blipFill>
          <a:blip r:embed="rId4"/>
          <a:stretch>
            <a:fillRect/>
          </a:stretch>
        </p:blipFill>
        <p:spPr>
          <a:xfrm>
            <a:off x="2891491" y="4179701"/>
            <a:ext cx="983577" cy="300859"/>
          </a:xfrm>
          <a:prstGeom prst="rect">
            <a:avLst/>
          </a:prstGeom>
        </p:spPr>
      </p:pic>
      <p:sp>
        <p:nvSpPr>
          <p:cNvPr id="34" name="Text 27"/>
          <p:cNvSpPr txBox="1"/>
          <p:nvPr/>
        </p:nvSpPr>
        <p:spPr>
          <a:xfrm>
            <a:off x="731520" y="4726203"/>
            <a:ext cx="5303520" cy="1491717"/>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first and second differences and choose the function type.</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equation of R and predict the revenue at a price of 8 dollars.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State a domain restriction and one assumption of the model.</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Both rows of differences are shown.</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equation is checked against two table values.</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prediction at 8 dollars is given with units.</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restriction and the assumption are each stated in a full sentence.</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the second differences are constant, so the model is quadratic: start from a quadratic with three unknown coefficients.</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3/k5923690657.png">    </p:cNvPr>
          <p:cNvPicPr>
            <a:picLocks noChangeAspect="1"/>
          </p:cNvPicPr>
          <p:nvPr/>
        </p:nvPicPr>
        <p:blipFill>
          <a:blip r:embed="rId3"/>
          <a:stretch>
            <a:fillRect/>
          </a:stretch>
        </p:blipFill>
        <p:spPr>
          <a:xfrm>
            <a:off x="1069848" y="2743200"/>
            <a:ext cx="2432304" cy="1118860"/>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3/k6a6e1260c4.png">    </p:cNvPr>
          <p:cNvPicPr>
            <a:picLocks noChangeAspect="1"/>
          </p:cNvPicPr>
          <p:nvPr/>
        </p:nvPicPr>
        <p:blipFill>
          <a:blip r:embed="rId4"/>
          <a:stretch>
            <a:fillRect/>
          </a:stretch>
        </p:blipFill>
        <p:spPr>
          <a:xfrm>
            <a:off x="4434840" y="2743200"/>
            <a:ext cx="3200400" cy="550340"/>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3/k3164f7e52f.png">    </p:cNvPr>
          <p:cNvPicPr>
            <a:picLocks noChangeAspect="1"/>
          </p:cNvPicPr>
          <p:nvPr/>
        </p:nvPicPr>
        <p:blipFill>
          <a:blip r:embed="rId5"/>
          <a:stretch>
            <a:fillRect/>
          </a:stretch>
        </p:blipFill>
        <p:spPr>
          <a:xfrm>
            <a:off x="8183880" y="2743200"/>
            <a:ext cx="3200400" cy="630985"/>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1.13.A · LO 1.13.B</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a real-life scenario that a quadratic model fits and explain why in one sentence.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one domain restriction and one assumption for your model.</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they check that the reason uses a rate of change, a shape or a geometric fact.</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the model type, the restriction and the assumption.</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13/k7a56eebeee.png">    </p:cNvPr>
          <p:cNvPicPr>
            <a:picLocks noChangeAspect="1"/>
          </p:cNvPicPr>
          <p:nvPr/>
        </p:nvPicPr>
        <p:blipFill>
          <a:blip r:embed="rId3"/>
          <a:stretch>
            <a:fillRect/>
          </a:stretch>
        </p:blipFill>
        <p:spPr>
          <a:xfrm>
            <a:off x="8078907" y="3703320"/>
            <a:ext cx="1764426" cy="942198"/>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1.14 Function Model Construction and Application.</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Read the type from the differences, the geometry or the shape, then state the assumptions and the domain and range restrictions that make the model fit the context.</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1.13 Function Model Selection and Assumption Articulation presentation</dc:title>
  <dc:subject>PptxGenJS Presentation</dc:subject>
  <dc:creator>Mr Malek Thiab</dc:creator>
  <cp:lastModifiedBy>Mr Malek Thiab</cp:lastModifiedBy>
  <cp:revision>1</cp:revision>
  <dcterms:created xsi:type="dcterms:W3CDTF">2026-10-13T04:32:33Z</dcterms:created>
  <dcterms:modified xsi:type="dcterms:W3CDTF">2026-10-13T04:32:33Z</dcterms:modified>
</cp:coreProperties>
</file>