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to Lesson 9-2: Circles.
Timing: 60 minutes (Diagnose 6, Targeted Instruction 18, Practice 12, Production 12, Mastery Gate 6, Smart Production 6). For a 40-minute class scale every station by two thirds.
The journey map on the next slide shows the six stations; in slideshow mode the Morph transition zooms the station circles into the breadcrumb at the top of every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whole map. Walk it left to right: Diagnose (what we already know), Targeted Instruction (The equation from the center and radius; Reading and writing circle equations; Completing the square for a circle; A line and a circle), Practice (Practice, Apply, Investigate), Production (Observation wheel on the Waterfront), Mastery Gate (three questions to pass), Smart Production (create, then Time to Check).
In slideshow mode the Morph transition animates these circles shrinking into the breadcrumb on later slides; without Morph the slides fade.
Ask the class which station they think will be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Read the objectives aloud one at a time and have students say which one they feel least sure about.
Vocabulary used today: Center, Circle, Diameter, radius.
Standards are listed on this slide.
The essential question and mathematical practices are not shown because they are not in the project documents; add them from the curriculum map if you want them displayed.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(Diagnose, 6 min, no calculator):
Answers. Q1: horizontal change 4, vertical change 3, distance √(16 + 9) = 5. Q2: half of 6 is 3 and 3² = 9, so x² + 6x = (x + 3)² − 9. Q3: (x + 4)(x − 2) = 0, so x = −4 or x = 2. Verbal misconceptions: Q1 students write 4 + 3 = 7 or forget the square root; Q2 students write (x + 3)² with no − 9, or (x + 6)²; Q3 students give x = 4 and x = −2 (sign flip). Adaptive routing: if &gt;30% miss Q1, rehearse the distance formula and go to slide 5 slowly; if &gt;30% miss Q2, spend two minutes on completing the square before slide 7; if &gt;30% miss Q3, factor on the board before slide 8. If all three are secure, move quickly through slide 5 and start the Investigate route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1 of 4):
Worked solutions (HSG.GPE.A.1). A CIRCLE is every point at the same distance, the RADIUS r, from a fixed point, the CENTER (h, k). For a point (x, y) on the circle, the horizontal and vertical gaps from the center are x − h and y − k; the Pythagorean Theorem gives (x − h)² + (y − k)² = r². Example A: center (−3, 2), r = 5: x − (−3) = x + 3 and y − 2, so (x + 3)² + (y − 2)² = 25. Notice the sign flips inside the brackets and the number on the right is r², not r. Example B: substitute (1, 5): (1 + 3)² + (5 − 2)² = 16 + 9 = 25, equal to r², so the point is ON the circle; the gaps 4 and 3 make a 3-4-5 triangle. If the left side were less than 25 the point would be inside; if more, outside. Link to the pre-session: the distance of 5 in Diagnose Q1 is the same 3-4-5 idea. Verbal misconceptions: writing 5 on the right instead of 25; copying the signs of the center (x − 3); forgetting that r² uses the radius, not the diameter. Adaptive routing: if &gt;30% write r instead of r², redo Example A and ask 'what is the distance squared?'; if &gt;30% copy the signs, say 'flip the sign inside the bracket' aloud. Gate Q2 routes to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2 of 4):
Worked solutions. Example A: read the center with the signs flipped: x − 4 gives h = 4 and y + 1 = y − (−1) gives k = −1, so the center is (4, −1). The right-hand side is r² = 20, so r = √20 = 2√5 ≈ 4.47. Example B: the diameter 14 means r = 7, so r² = 49. Center (2, −5): (x − 2)² + (y + 5)² = 49. Check the point (9, −5): 49 + 0 = 49 ✓ (7 units to the right of the center). Verbal misconceptions: reading the center as (−4, 1); leaving the radius as 20; using the diameter 14 as r, giving 196. Adaptive routing: if &gt;30% read the center wrongly, redo Example A with (x + 3)² + (y − 6)² = 9; if &gt;30% use the diameter as r, ask 'half of the diameter?' before substituting. Gate Q1 routes to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3 of 4):
Worked solutions (HSA.SSE.B.3 and HSG.GPE.A.1). Method: move the constant to the right, group the x terms and the y terms, add the square of half the coefficient to BOTH sides for each letter, then factor. Example A: x² + 8x + y² − 2y = 8. Half of 8 is 4, 4² = 16; half of −2 is −1, (−1)² = 1. Add 16 and 1 to both sides: (x + 4)² + (y − 1)² = 8 + 16 + 1 = 25. Center (−4, 1), r = 5. Check: the point (1, 1) satisfies the original equation, 1 + 1 + 8 − 2 − 8 = 0, and (1 + 4)² + 0 = 25 ✓. Example B: x² − 10x + y² + 6y = −18. Add 25 and 9: (x − 5)² + (y + 3)² = −18 + 34 = 16. Center (5, −3), r = 4. What if (gold strip): x² − 4x + y² + 6y = −13; add 4 and 9: (x − 2)² + (y + 3)² = −13 + 13 = 0. The radius is 0: the graph is the single point (2, −3). If the right side were negative there would be no graph at all. Verbal misconceptions: adding 16 only on the left; reading r as 25 instead of 5; dropping the sign of the constant when moving it across. Adaptive routing: if &gt;30% add on one side only, write the balance line 'what I add on the left I add on the right' and redo Example A; if &gt;30% give r = 25, ask them to take the square root. Gate Q3 routes to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4 of 4):
Worked solutions (HSA.REI.C.7: a linear equation and a quadratic equation in two variables). Substitute the line into the circle to get one quadratic in x. Example A: x² + (x + 2)² = 20 gives 2x² + 4x + 4 = 20, so 2x² + 4x − 16 = 0 and x² + 2x − 8 = 0, (x + 4)(x − 2) = 0, x = −4 or x = 2. Then y = x + 2 gives y = −2 or y = 4: the points (−4, −2) and (2, 4). Verify on the circle: 16 + 4 = 20 ✓ and 4 + 16 = 20 ✓; verify on the graph: the line cuts the circle at two points (a SECANT). Example B: x² + (x + 4)² = 8 gives 2x² + 8x + 16 = 8, so 2x² + 8x + 8 = 0, x² + 4x + 4 = 0, (x + 2)² = 0, a repeated root x = −2, y = 2. Check: 4 + 4 = 8 ✓. One point of contact: the line is TANGENT to the circle. What if (gold strip): x² + (x + 6)² = 8 gives 2x² + 12x + 28 = 0, x² + 6x + 14 = 0; the discriminant is 36 − 56 = −20, which is negative: no real solutions, the line misses the circle. Verbal misconceptions: substituting into the wrong equation; squaring (x + 2)² as x² + 4; stopping after finding x and not finding y; thinking a single repeated root is 'no answer'. Adaptive routing: if &gt;30% mis-square the bracket, expand (x + 2)² on the board; if &gt;30% forget y, ask 'which equation gives y?'. Gate Q3 and Exit 2 route to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(Practice, 12 min; tierless differentiation: students choose the starting column and may move across):
Answers. Practice 1: center (−6, 2), r = 6. Practice 2: (x + 2)² + (y − 7)² = 16. Apply 1 (a model radio mast near Jeddah, model values): distance² = (7 − 3)² + (1 + 2)² = 16 + 9 = 25 and 25 &lt; 36, so the town is inside the covered range (5 km from the mast). Apply 2: (x + 3)² + (y − 2)² = 12 + 9 + 4 = 25; center (−3, 2), r = 5. Investigate 1: the distance from (x, y) to (h, k) is r: √((x − h)² + (y − k)²) = r; square both sides: (x − h)² + (y − k)² = r². Investigate 2: x² + (2x + 5)² = 5 gives 5x² + 20x + 20 = 0, x² + 4x + 4 = 0, (x + 2)² = 0, x = −2, y = 1: one point, so tangent; check 4 + 1 = 5 ✓. Verbal misconceptions: Practice 1 giving center (6, −2); Practice 2 giving 4 on the right; Apply 1 comparing 25 with 6 instead of 36; Apply 2 adding 9 and 4 on one side only; Investigate 2 stopping at a quadratic with no conclusion. Adaptive routing: if &gt;30% miss Practice 1 or 2, route to slide 6; Apply 1, slide 5; Apply 2, slide 7; Investigate 1, slide 5; Investigate 2, slide 8. Students who finish Apply early move to Investigate.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(inside Station 3, 3 minutes, after the Practice work):
Compare and judge (3 min). Worked solutions. The same circle x² + y² + 4x − 2y − 4 = 0 three ways. Complete the square: x² + 4x + y² − 2y = 4; add 4 and 1: (x + 2)² + (y − 1)² = 9, center (−2, 1), r = 3. Center formula: the center is (−D/2, −E/2) with D = 4 and E = −2, giving (−2, 1); the radius is √(h² + k² − F) = √(4 + 1 + 4) = 3, with F = −4. Graph: the picture shows the center and radius 3 if the scale is fine. Claim: FALSE. The line y = x + 4 is tangent to x² + y² = 8 (slide 8 Example B) and is neither horizontal nor vertical. Spotlight: for (3, 3) and x² + y² = 8 gives 18 &gt; 8, so outside. What if (gold box): r becomes 2r, so r² becomes 4r² (four times), and the area πr² becomes 4πr²; for r = 3, r² = 9 becomes 36 and the radius 6. Verbal misconceptions: 'tangent lines are horizontal or vertical'; 'doubling the radius doubles r²'; 'the graph gives exact values'. Adaptive routing: if &gt;30% mark the claim TRUE, have them test y = x + 4 against x² + y² = 8; if teams finish early, ask which route they would use for x² + y² − 6x + 4y − 3 = 0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(Production, 12 min):
Model values only, not real data. Task 1: center (0, 35), r = 30, so x² + (y − 35)² = 900. The highest point is 35 + 30 = 65 m and the lowest is 35 − 30 = 5 m. Task 2: (18, 59): 324 + 576 = 900, ON. (10, 40): 100 + 25 = 125 &lt; 900, INSIDE. (30, 60): 900 + 625 = 1525 &gt; 900, OUTSIDE. Task 3: y = 11: x² + (11 − 35)² = x² + 576 = 900, so x² = 324 and x = ±18. The points are (−18, 11) and (18, 11), and the chord is 36 m long. For y = 5: x² + 900 = 900, so x² = 0, x = 0: one point (0, 5), a tangent at the lowest cabin, so a platform at y = 5 would just touch the wheel. What if (gold box): r = 25, center (0, 35): x² + (y − 35)² = 625; at y = 5: x² + 900 = 625 gives x² = −275, no solution: the platform at 5 m misses the wheel (its lowest point is now 10 m). Verbal misconceptions: using 30 instead of 900; using (y + 35) for a center at 35; thinking x = ±18 is one point; forgetting units. Adaptive routing: if &gt;30% cannot start Task 1, return to slide 5 Example A; if &gt;30% miss Task 2, slide 5 Example B; if &gt;30% miss Task 3, slide 8. Early finishers: the platform height at which the chord is 48 m (x = ±24, (y − 35)² = 324, y =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(Mastery Gate, 6 min, no calculator):
Answers. Q1: center (−6, 2), r = √28 = 2√7. Q2: r² = (6 − 3)² + (0 + 4)² = 9 + 16 = 25, so (x − 3)² + (y + 4)² = 25. Q3: x² − 12x + y² + 4y = −31; add 36 and 4: (x − 6)² + (y + 2)² = −31 + 40 = 9; center (6, −2), r = 3. Verbal misconceptions: Q1 giving center (6, −2) or r = 28; Q2 using 5 instead of 25 or the distance formula without squaring; Q3 adding 36 and 4 on the left only, or taking r = 9. Adaptive routing: Q1 missed, route to slide 6; Q2 missed, slide 5; Q3 missed, slide 7. If a student misses two or more, they join the teacher group for the Smart Production create step; students who get all three correct start the create step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(Smart Production, 6 min):
Exit ticket solutions. Exit 1: add 9 and 4: (x + 3)² + (y − 2)² = 12 + 9 + 4 = 25; center (−3, 2), r = 5. Exit 2: x² + (x − 2)² = 10 gives 2x² − 4x + 4 = 10, 2x² − 4x − 6 = 0, x² − 2x − 3 = 0, (x − 3)(x + 1) = 0: x = 3 or −1, giving (3, 1) and (−1, −3); check 9 + 1 = 10 and 1 + 9 = 10 ✓. Create step example: center (1, −2), r = 3: (x − 1)² + (y + 2)² = 9, expanded x² + y² − 2x + 4y − 4 = 0; the line y = 1 gives (x − 1)² + 9 = 9, x = 1: tangent at (1, 1). What if: r = 2 gives (x − 1)² + (y + 2)² = 4 and y = 1 then gives (x − 1)² = −5, no points. Verbal misconceptions: Exit 1 giving center (3, −2) or r = 25; Exit 2 expanding (x − 2)² as x² − 4. Adaptive routing: if &gt;30% miss Exit 1, retrieve slide 7 Example A next lesson; if &gt;30% miss Exit 2, retrieve slide 8 Example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each exam item is worked in numbered steps.
SAT (Advanced Math, circles): complete the square: (x² + 4x + 4) + (y² − 10y + 25) = −c + 29, so (x + 2)² + (y − 5)² = 29 − c. The radius is 6, so r² = 36 and 29 − c = 36, c = −7. Traps: setting 29 − c = 6 (using r instead of r²), giving c = 7, or 23. A student-produced-response grid answer is −7. GAT/Qudurat quantitative comparison (A is greater / B is greater / equal / cannot be determined): r² = 49, r = 7 &gt; 6, so A is greater. Trap: taking 49 as the radius. SAAT/Tahsili (four options, for example A (−4, 1), B (4, −1), C (8, −2), D (4, 1)): D = −8, E = 2, so the center is (−D/2, −E/2) = (4, −1): B. Trap: (−4, 1) from copying the signs of the equation. Adaptive routing: if &gt;30% miss the SAT item, return to slide 7 Example A; the GAT item, slide 6 Example A; the SAAT item, slide 7 Example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 station is checked off. Recap in one sentence: A circle is every point at a fixed distance r from its center; its equation comes from the Pythagorean Theorem, completing the square reveals the center and radius, and substituting a line into it shows how line and circle meet. Collect the Time to Check responses. Next lesson: 9-3 Ellipses.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1.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slideLayout" Target="../slideLayouts/slideLayout1.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image" Target="../media/image-14-17.png"/><Relationship Id="rId18" Type="http://schemas.openxmlformats.org/officeDocument/2006/relationships/slideLayout" Target="../slideLayouts/slideLayout1.xml"/><Relationship Id="rId1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6583680" y="1463040"/>
            <a:ext cx="7863840" cy="7863840"/>
          </a:xfrm>
          <a:prstGeom prst="ellipse">
            <a:avLst/>
          </a:prstGeom>
          <a:solidFill>
            <a:srgbClr val="0E4F4C"/>
          </a:solidFill>
          <a:ln w="12700">
            <a:solidFill>
              <a:srgbClr val="0E4F4C"/>
            </a:solidFill>
            <a:prstDash val="solid"/>
          </a:ln>
        </p:spPr>
      </p:sp>
      <p:sp>
        <p:nvSpPr>
          <p:cNvPr id="3" name="Shape 1"/>
          <p:cNvSpPr/>
          <p:nvPr/>
        </p:nvSpPr>
        <p:spPr>
          <a:xfrm>
            <a:off x="8595360" y="-1463040"/>
            <a:ext cx="3291840" cy="3291840"/>
          </a:xfrm>
          <a:prstGeom prst="ellipse">
            <a:avLst/>
          </a:prstGeom>
          <a:solidFill>
            <a:srgbClr val="F0B323">
              <a:alpha val="30000"/>
            </a:srgbClr>
          </a:solidFill>
          <a:ln w="12700">
            <a:solidFill>
              <a:srgbClr val="F0B323">
                <a:alpha val="0"/>
              </a:srgbClr>
            </a:solidFill>
            <a:prstDash val="solid"/>
          </a:ln>
        </p:spPr>
      </p:sp>
      <p:sp>
        <p:nvSpPr>
          <p:cNvPr id="4" name="Shape 2"/>
          <p:cNvSpPr/>
          <p:nvPr/>
        </p:nvSpPr>
        <p:spPr>
          <a:xfrm>
            <a:off x="-1280160" y="4023360"/>
            <a:ext cx="3291840" cy="3291840"/>
          </a:xfrm>
          <a:prstGeom prst="ellipse">
            <a:avLst/>
          </a:prstGeom>
          <a:solidFill>
            <a:srgbClr val="17A199">
              <a:alpha val="15000"/>
            </a:srgbClr>
          </a:solidFill>
          <a:ln w="12700">
            <a:solidFill>
              <a:srgbClr val="17A199">
                <a:alpha val="0"/>
              </a:srgbClr>
            </a:solidFill>
            <a:prstDash val="solid"/>
          </a:ln>
        </p:spPr>
      </p:sp>
      <p:pic>
        <p:nvPicPr>
          <p:cNvPr id="5"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6" name="Image 1" descr="../cognia_badge.png">    </p:cNvPr>
          <p:cNvPicPr>
            <a:picLocks noChangeAspect="1"/>
          </p:cNvPicPr>
          <p:nvPr/>
        </p:nvPicPr>
        <p:blipFill>
          <a:blip r:embed="rId2"/>
          <a:stretch>
            <a:fillRect/>
          </a:stretch>
        </p:blipFill>
        <p:spPr>
          <a:xfrm>
            <a:off x="4663440" y="91440"/>
            <a:ext cx="1188720" cy="891540"/>
          </a:xfrm>
          <a:prstGeom prst="rect">
            <a:avLst/>
          </a:prstGeom>
        </p:spPr>
      </p:pic>
      <p:pic>
        <p:nvPicPr>
          <p:cNvPr id="7" name="Image 2" descr="../school_logo.png">    </p:cNvPr>
          <p:cNvPicPr>
            <a:picLocks noChangeAspect="1"/>
          </p:cNvPicPr>
          <p:nvPr/>
        </p:nvPicPr>
        <p:blipFill>
          <a:blip r:embed="rId3"/>
          <a:stretch>
            <a:fillRect/>
          </a:stretch>
        </p:blipFill>
        <p:spPr>
          <a:xfrm>
            <a:off x="11292840" y="164592"/>
            <a:ext cx="566928" cy="566928"/>
          </a:xfrm>
          <a:prstGeom prst="rect">
            <a:avLst/>
          </a:prstGeom>
        </p:spPr>
      </p:pic>
      <p:sp>
        <p:nvSpPr>
          <p:cNvPr id="8" name="Text 3"/>
          <p:cNvSpPr txBox="1"/>
          <p:nvPr/>
        </p:nvSpPr>
        <p:spPr>
          <a:xfrm>
            <a:off x="640080" y="1828800"/>
            <a:ext cx="6400800" cy="274320"/>
          </a:xfrm>
          <a:prstGeom prst="rect">
            <a:avLst/>
          </a:prstGeom>
          <a:noFill/>
          <a:ln/>
        </p:spPr>
        <p:txBody>
          <a:bodyPr wrap="square" lIns="0" tIns="0" rIns="0" bIns="0" rtlCol="0" anchor="t"/>
          <a:lstStyle/>
          <a:p>
            <a:pPr indent="0" marL="0">
              <a:buNone/>
            </a:pPr>
            <a:r>
              <a:rPr lang="en-US" sz="1400" b="1" spc="300" kern="0" dirty="0">
                <a:solidFill>
                  <a:srgbClr val="E8762C"/>
                </a:solidFill>
                <a:latin typeface="Calibri" pitchFamily="34" charset="0"/>
                <a:ea typeface="Calibri" pitchFamily="34" charset="-122"/>
                <a:cs typeface="Calibri" pitchFamily="34" charset="-120"/>
              </a:rPr>
              <a:t>GRADE 11  ·  ALGEBRA II  ·  TOPIC 9</a:t>
            </a:r>
            <a:endParaRPr lang="en-US" sz="1400" dirty="0"/>
          </a:p>
        </p:txBody>
      </p:sp>
      <p:sp>
        <p:nvSpPr>
          <p:cNvPr id="9" name="Text 4"/>
          <p:cNvSpPr txBox="1"/>
          <p:nvPr/>
        </p:nvSpPr>
        <p:spPr>
          <a:xfrm>
            <a:off x="640080" y="2194560"/>
            <a:ext cx="5943600" cy="548640"/>
          </a:xfrm>
          <a:prstGeom prst="rect">
            <a:avLst/>
          </a:prstGeom>
          <a:noFill/>
          <a:ln/>
        </p:spPr>
        <p:txBody>
          <a:bodyPr wrap="square" lIns="0" tIns="0" rIns="0" bIns="0" rtlCol="0" anchor="t"/>
          <a:lstStyle/>
          <a:p>
            <a:pPr indent="0" marL="0">
              <a:buNone/>
            </a:pPr>
            <a:r>
              <a:rPr lang="en-US" sz="2600" b="1" dirty="0">
                <a:solidFill>
                  <a:srgbClr val="17A199"/>
                </a:solidFill>
                <a:latin typeface="Cambria" pitchFamily="34" charset="0"/>
                <a:ea typeface="Cambria" pitchFamily="34" charset="-122"/>
                <a:cs typeface="Cambria" pitchFamily="34" charset="-120"/>
              </a:rPr>
              <a:t>Lesson 9-2</a:t>
            </a:r>
            <a:endParaRPr lang="en-US" sz="2600" dirty="0"/>
          </a:p>
        </p:txBody>
      </p:sp>
      <p:sp>
        <p:nvSpPr>
          <p:cNvPr id="10" name="Text 5"/>
          <p:cNvSpPr txBox="1"/>
          <p:nvPr/>
        </p:nvSpPr>
        <p:spPr>
          <a:xfrm>
            <a:off x="640080" y="2743200"/>
            <a:ext cx="6035040" cy="1737360"/>
          </a:xfrm>
          <a:prstGeom prst="rect">
            <a:avLst/>
          </a:prstGeom>
          <a:noFill/>
          <a:ln/>
        </p:spPr>
        <p:txBody>
          <a:bodyPr wrap="square" lIns="0" tIns="0" rIns="0" bIns="0" rtlCol="0" anchor="t"/>
          <a:lstStyle/>
          <a:p>
            <a:pPr indent="0" marL="0">
              <a:buNone/>
            </a:pPr>
            <a:r>
              <a:rPr lang="en-US" sz="5000" b="1" dirty="0">
                <a:solidFill>
                  <a:srgbClr val="1F3864"/>
                </a:solidFill>
                <a:latin typeface="Cambria" pitchFamily="34" charset="0"/>
                <a:ea typeface="Cambria" pitchFamily="34" charset="-122"/>
                <a:cs typeface="Cambria" pitchFamily="34" charset="-120"/>
              </a:rPr>
              <a:t>Circles</a:t>
            </a:r>
            <a:endParaRPr lang="en-US" sz="5000" dirty="0"/>
          </a:p>
        </p:txBody>
      </p:sp>
      <p:sp>
        <p:nvSpPr>
          <p:cNvPr id="11" name="Text 6"/>
          <p:cNvSpPr txBox="1"/>
          <p:nvPr/>
        </p:nvSpPr>
        <p:spPr>
          <a:xfrm>
            <a:off x="640080" y="4572000"/>
            <a:ext cx="6035040" cy="365760"/>
          </a:xfrm>
          <a:prstGeom prst="rect">
            <a:avLst/>
          </a:prstGeom>
          <a:noFill/>
          <a:ln/>
        </p:spPr>
        <p:txBody>
          <a:bodyPr wrap="square" lIns="0" tIns="0" rIns="0" bIns="0" rtlCol="0" anchor="t"/>
          <a:lstStyle/>
          <a:p>
            <a:pPr indent="0" marL="0">
              <a:buNone/>
            </a:pPr>
            <a:r>
              <a:rPr lang="en-US" sz="1800" dirty="0">
                <a:solidFill>
                  <a:srgbClr val="222E2D"/>
                </a:solidFill>
                <a:latin typeface="Calibri" pitchFamily="34" charset="0"/>
                <a:ea typeface="Calibri" pitchFamily="34" charset="-122"/>
                <a:cs typeface="Calibri" pitchFamily="34" charset="-120"/>
              </a:rPr>
              <a:t>Conic Sections</a:t>
            </a:r>
            <a:endParaRPr lang="en-US" sz="1800" dirty="0"/>
          </a:p>
        </p:txBody>
      </p:sp>
      <p:sp>
        <p:nvSpPr>
          <p:cNvPr id="12" name="Text 7"/>
          <p:cNvSpPr txBox="1"/>
          <p:nvPr/>
        </p:nvSpPr>
        <p:spPr>
          <a:xfrm>
            <a:off x="640080" y="5074920"/>
            <a:ext cx="4572000" cy="365760"/>
          </a:xfrm>
          <a:prstGeom prst="rect">
            <a:avLst/>
          </a:prstGeom>
          <a:noFill/>
          <a:ln/>
        </p:spPr>
        <p:txBody>
          <a:bodyPr wrap="square" lIns="0" tIns="0" rIns="0" bIns="0" rtlCol="0" anchor="t"/>
          <a:lstStyle/>
          <a:p>
            <a:pPr indent="0" marL="0">
              <a:buNone/>
            </a:pPr>
            <a:r>
              <a:rPr lang="en-US" sz="1800" b="1" dirty="0">
                <a:solidFill>
                  <a:srgbClr val="222E2D"/>
                </a:solidFill>
                <a:latin typeface="Calibri" pitchFamily="34" charset="0"/>
                <a:ea typeface="Calibri" pitchFamily="34" charset="-122"/>
                <a:cs typeface="Calibri" pitchFamily="34" charset="-120"/>
              </a:rPr>
              <a:t>Mr Malek Thiab</a:t>
            </a:r>
            <a:endParaRPr lang="en-US" sz="1800" dirty="0"/>
          </a:p>
        </p:txBody>
      </p:sp>
      <p:pic>
        <p:nvPicPr>
          <p:cNvPr id="13" name="Image 3" descr="m_L9-2w10/k82b73908ce.png">    </p:cNvPr>
          <p:cNvPicPr>
            <a:picLocks noChangeAspect="1"/>
          </p:cNvPicPr>
          <p:nvPr/>
        </p:nvPicPr>
        <p:blipFill>
          <a:blip r:embed="rId4"/>
          <a:stretch>
            <a:fillRect/>
          </a:stretch>
        </p:blipFill>
        <p:spPr>
          <a:xfrm>
            <a:off x="8412480" y="3017520"/>
            <a:ext cx="3291840" cy="419916"/>
          </a:xfrm>
          <a:prstGeom prst="rect">
            <a:avLst/>
          </a:prstGeom>
        </p:spPr>
      </p:pic>
      <p:sp>
        <p:nvSpPr>
          <p:cNvPr id="14" name="Text 8"/>
          <p:cNvSpPr txBox="1"/>
          <p:nvPr/>
        </p:nvSpPr>
        <p:spPr>
          <a:xfrm>
            <a:off x="8138160" y="4160520"/>
            <a:ext cx="3840480" cy="365760"/>
          </a:xfrm>
          <a:prstGeom prst="rect">
            <a:avLst/>
          </a:prstGeom>
          <a:noFill/>
          <a:ln/>
        </p:spPr>
        <p:txBody>
          <a:bodyPr wrap="square" lIns="0" tIns="0" rIns="0" bIns="0"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Journey of 6 stations, 60 minutes</a:t>
            </a:r>
            <a:endParaRPr lang="en-US" sz="1600" dirty="0"/>
          </a:p>
        </p:txBody>
      </p:sp>
      <p:sp>
        <p:nvSpPr>
          <p:cNvPr id="15" name="Text 9"/>
          <p:cNvSpPr txBox="1"/>
          <p:nvPr/>
        </p:nvSpPr>
        <p:spPr>
          <a:xfrm>
            <a:off x="365760" y="6492240"/>
            <a:ext cx="5943600" cy="228600"/>
          </a:xfrm>
          <a:prstGeom prst="rect">
            <a:avLst/>
          </a:prstGeom>
          <a:noFill/>
          <a:ln/>
        </p:spPr>
        <p:txBody>
          <a:bodyPr wrap="square" lIns="0" tIns="0" rIns="0" bIns="0" rtlCol="0" anchor="t"/>
          <a:lstStyle/>
          <a:p>
            <a:pP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Today's journey</a:t>
            </a:r>
            <a:endParaRPr lang="en-US" sz="4000" dirty="0"/>
          </a:p>
        </p:txBody>
      </p:sp>
      <p:sp>
        <p:nvSpPr>
          <p:cNvPr id="7" name="Text 3"/>
          <p:cNvSpPr txBox="1"/>
          <p:nvPr/>
        </p:nvSpPr>
        <p:spPr>
          <a:xfrm>
            <a:off x="548640" y="1554480"/>
            <a:ext cx="10972800" cy="365760"/>
          </a:xfrm>
          <a:prstGeom prst="rect">
            <a:avLst/>
          </a:prstGeom>
          <a:noFill/>
          <a:ln/>
        </p:spPr>
        <p:txBody>
          <a:bodyPr wrap="square" lIns="0" tIns="0" rIns="0" bIns="0" rtlCol="0" anchor="t"/>
          <a:lstStyle/>
          <a:p>
            <a:pPr indent="0" marL="0">
              <a:buNone/>
            </a:pPr>
            <a:r>
              <a:rPr lang="en-US" sz="1800" dirty="0">
                <a:solidFill>
                  <a:srgbClr val="BFD8D5"/>
                </a:solidFill>
                <a:latin typeface="Calibri" pitchFamily="34" charset="0"/>
                <a:ea typeface="Calibri" pitchFamily="34" charset="-122"/>
                <a:cs typeface="Calibri" pitchFamily="34" charset="-120"/>
              </a:rPr>
              <a:t>Six stations. Each one zooms in as we arrive.</a:t>
            </a:r>
            <a:endParaRPr lang="en-US" sz="1800" dirty="0"/>
          </a:p>
        </p:txBody>
      </p:sp>
      <p:sp>
        <p:nvSpPr>
          <p:cNvPr id="8" name="path1"/>
          <p:cNvSpPr/>
          <p:nvPr/>
        </p:nvSpPr>
        <p:spPr>
          <a:xfrm flipV="1">
            <a:off x="1371600" y="3200400"/>
            <a:ext cx="1965960" cy="1097280"/>
          </a:xfrm>
          <a:prstGeom prst="line">
            <a:avLst/>
          </a:prstGeom>
          <a:noFill/>
          <a:ln w="38100">
            <a:solidFill>
              <a:srgbClr val="F0B323"/>
            </a:solidFill>
            <a:prstDash val="dash"/>
          </a:ln>
        </p:spPr>
      </p:sp>
      <p:sp>
        <p:nvSpPr>
          <p:cNvPr id="9" name="path2"/>
          <p:cNvSpPr/>
          <p:nvPr/>
        </p:nvSpPr>
        <p:spPr>
          <a:xfrm>
            <a:off x="3337560" y="3200400"/>
            <a:ext cx="1965960" cy="1097280"/>
          </a:xfrm>
          <a:prstGeom prst="line">
            <a:avLst/>
          </a:prstGeom>
          <a:noFill/>
          <a:ln w="38100">
            <a:solidFill>
              <a:srgbClr val="F0B323"/>
            </a:solidFill>
            <a:prstDash val="dash"/>
          </a:ln>
        </p:spPr>
      </p:sp>
      <p:sp>
        <p:nvSpPr>
          <p:cNvPr id="10" name="path3"/>
          <p:cNvSpPr/>
          <p:nvPr/>
        </p:nvSpPr>
        <p:spPr>
          <a:xfrm flipV="1">
            <a:off x="5303520" y="3200400"/>
            <a:ext cx="1965960" cy="1097280"/>
          </a:xfrm>
          <a:prstGeom prst="line">
            <a:avLst/>
          </a:prstGeom>
          <a:noFill/>
          <a:ln w="38100">
            <a:solidFill>
              <a:srgbClr val="F0B323"/>
            </a:solidFill>
            <a:prstDash val="dash"/>
          </a:ln>
        </p:spPr>
      </p:sp>
      <p:sp>
        <p:nvSpPr>
          <p:cNvPr id="11" name="path4"/>
          <p:cNvSpPr/>
          <p:nvPr/>
        </p:nvSpPr>
        <p:spPr>
          <a:xfrm>
            <a:off x="7269480" y="3200400"/>
            <a:ext cx="1965960" cy="1097280"/>
          </a:xfrm>
          <a:prstGeom prst="line">
            <a:avLst/>
          </a:prstGeom>
          <a:noFill/>
          <a:ln w="38100">
            <a:solidFill>
              <a:srgbClr val="F0B323"/>
            </a:solidFill>
            <a:prstDash val="dash"/>
          </a:ln>
        </p:spPr>
      </p:sp>
      <p:sp>
        <p:nvSpPr>
          <p:cNvPr id="12" name="path5"/>
          <p:cNvSpPr/>
          <p:nvPr/>
        </p:nvSpPr>
        <p:spPr>
          <a:xfrm flipV="1">
            <a:off x="9235440" y="3200400"/>
            <a:ext cx="1737360" cy="1097280"/>
          </a:xfrm>
          <a:prstGeom prst="line">
            <a:avLst/>
          </a:prstGeom>
          <a:noFill/>
          <a:ln w="38100">
            <a:solidFill>
              <a:srgbClr val="F0B323"/>
            </a:solidFill>
            <a:prstDash val="dash"/>
          </a:ln>
        </p:spPr>
      </p:sp>
      <p:sp>
        <p:nvSpPr>
          <p:cNvPr id="13" name="stn1"/>
          <p:cNvSpPr/>
          <p:nvPr/>
        </p:nvSpPr>
        <p:spPr>
          <a:xfrm>
            <a:off x="708660" y="3634740"/>
            <a:ext cx="1325880" cy="1325880"/>
          </a:xfrm>
          <a:prstGeom prst="ellipse">
            <a:avLst/>
          </a:prstGeom>
          <a:solidFill>
            <a:srgbClr val="E8762C"/>
          </a:solidFill>
          <a:ln w="38100">
            <a:solidFill>
              <a:srgbClr val="FFFFFF"/>
            </a:solidFill>
            <a:prstDash val="solid"/>
          </a:ln>
        </p:spPr>
      </p:sp>
      <p:sp>
        <p:nvSpPr>
          <p:cNvPr id="14" name="Text 10"/>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5" name="Text 11"/>
          <p:cNvSpPr txBox="1"/>
          <p:nvPr/>
        </p:nvSpPr>
        <p:spPr>
          <a:xfrm>
            <a:off x="41148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Diagnose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16" name="stn2"/>
          <p:cNvSpPr/>
          <p:nvPr/>
        </p:nvSpPr>
        <p:spPr>
          <a:xfrm>
            <a:off x="2674620" y="2537460"/>
            <a:ext cx="1325880" cy="1325880"/>
          </a:xfrm>
          <a:prstGeom prst="ellipse">
            <a:avLst/>
          </a:prstGeom>
          <a:solidFill>
            <a:srgbClr val="17A199"/>
          </a:solidFill>
          <a:ln w="38100">
            <a:solidFill>
              <a:srgbClr val="FFFFFF"/>
            </a:solidFill>
            <a:prstDash val="solid"/>
          </a:ln>
        </p:spPr>
      </p:sp>
      <p:sp>
        <p:nvSpPr>
          <p:cNvPr id="17" name="Text 13"/>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8" name="Text 14"/>
          <p:cNvSpPr txBox="1"/>
          <p:nvPr/>
        </p:nvSpPr>
        <p:spPr>
          <a:xfrm>
            <a:off x="237744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Targeted Instruction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18 min</a:t>
            </a:r>
            <a:endParaRPr lang="en-US" sz="1700" dirty="0"/>
          </a:p>
        </p:txBody>
      </p:sp>
      <p:sp>
        <p:nvSpPr>
          <p:cNvPr id="19" name="stn3"/>
          <p:cNvSpPr/>
          <p:nvPr/>
        </p:nvSpPr>
        <p:spPr>
          <a:xfrm>
            <a:off x="4640580" y="3634740"/>
            <a:ext cx="1325880" cy="1325880"/>
          </a:xfrm>
          <a:prstGeom prst="ellipse">
            <a:avLst/>
          </a:prstGeom>
          <a:solidFill>
            <a:srgbClr val="17A199"/>
          </a:solidFill>
          <a:ln w="38100">
            <a:solidFill>
              <a:srgbClr val="FFFFFF"/>
            </a:solidFill>
            <a:prstDash val="solid"/>
          </a:ln>
        </p:spPr>
      </p:sp>
      <p:sp>
        <p:nvSpPr>
          <p:cNvPr id="20" name="Text 16"/>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1" name="Text 17"/>
          <p:cNvSpPr txBox="1"/>
          <p:nvPr/>
        </p:nvSpPr>
        <p:spPr>
          <a:xfrm>
            <a:off x="434340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Practice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2" name="stn4"/>
          <p:cNvSpPr/>
          <p:nvPr/>
        </p:nvSpPr>
        <p:spPr>
          <a:xfrm>
            <a:off x="6606540" y="2537460"/>
            <a:ext cx="1325880" cy="1325880"/>
          </a:xfrm>
          <a:prstGeom prst="ellipse">
            <a:avLst/>
          </a:prstGeom>
          <a:solidFill>
            <a:srgbClr val="17A199"/>
          </a:solidFill>
          <a:ln w="38100">
            <a:solidFill>
              <a:srgbClr val="FFFFFF"/>
            </a:solidFill>
            <a:prstDash val="solid"/>
          </a:ln>
        </p:spPr>
      </p:sp>
      <p:sp>
        <p:nvSpPr>
          <p:cNvPr id="23" name="Text 19"/>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24" name="Text 20"/>
          <p:cNvSpPr txBox="1"/>
          <p:nvPr/>
        </p:nvSpPr>
        <p:spPr>
          <a:xfrm>
            <a:off x="630936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5" name="stn5"/>
          <p:cNvSpPr/>
          <p:nvPr/>
        </p:nvSpPr>
        <p:spPr>
          <a:xfrm>
            <a:off x="8572500" y="3634740"/>
            <a:ext cx="1325880" cy="1325880"/>
          </a:xfrm>
          <a:prstGeom prst="ellipse">
            <a:avLst/>
          </a:prstGeom>
          <a:solidFill>
            <a:srgbClr val="17A199"/>
          </a:solidFill>
          <a:ln w="38100">
            <a:solidFill>
              <a:srgbClr val="FFFFFF"/>
            </a:solidFill>
            <a:prstDash val="solid"/>
          </a:ln>
        </p:spPr>
      </p:sp>
      <p:sp>
        <p:nvSpPr>
          <p:cNvPr id="26" name="Text 22"/>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27" name="Text 23"/>
          <p:cNvSpPr txBox="1"/>
          <p:nvPr/>
        </p:nvSpPr>
        <p:spPr>
          <a:xfrm>
            <a:off x="827532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Mastery Gate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28" name="stn6"/>
          <p:cNvSpPr/>
          <p:nvPr/>
        </p:nvSpPr>
        <p:spPr>
          <a:xfrm>
            <a:off x="10309860" y="2537460"/>
            <a:ext cx="1325880" cy="1325880"/>
          </a:xfrm>
          <a:prstGeom prst="ellipse">
            <a:avLst/>
          </a:prstGeom>
          <a:solidFill>
            <a:srgbClr val="17A199"/>
          </a:solidFill>
          <a:ln w="38100">
            <a:solidFill>
              <a:srgbClr val="FFFFFF"/>
            </a:solidFill>
            <a:prstDash val="solid"/>
          </a:ln>
        </p:spPr>
      </p:sp>
      <p:sp>
        <p:nvSpPr>
          <p:cNvPr id="29" name="Text 25"/>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30" name="Text 26"/>
          <p:cNvSpPr txBox="1"/>
          <p:nvPr/>
        </p:nvSpPr>
        <p:spPr>
          <a:xfrm>
            <a:off x="1001268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Smart 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HSA.SSE.B.3 · HSA.REI.C.7 · HSG.GPE.A.1</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What we are learning</a:t>
            </a:r>
            <a:endParaRPr lang="en-US" sz="3000" dirty="0"/>
          </a:p>
        </p:txBody>
      </p:sp>
      <p:sp>
        <p:nvSpPr>
          <p:cNvPr id="11" name="Shape 6"/>
          <p:cNvSpPr/>
          <p:nvPr/>
        </p:nvSpPr>
        <p:spPr>
          <a:xfrm>
            <a:off x="457200" y="1280160"/>
            <a:ext cx="5760720" cy="5029200"/>
          </a:xfrm>
          <a:prstGeom prst="roundRect">
            <a:avLst>
              <a:gd name="adj" fmla="val 218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OBJECTIVES</a:t>
            </a:r>
            <a:endParaRPr lang="en-US" sz="1100" dirty="0"/>
          </a:p>
        </p:txBody>
      </p:sp>
      <p:sp>
        <p:nvSpPr>
          <p:cNvPr id="13" name="Text 8"/>
          <p:cNvSpPr txBox="1"/>
          <p:nvPr/>
        </p:nvSpPr>
        <p:spPr>
          <a:xfrm>
            <a:off x="731520" y="1691640"/>
            <a:ext cx="5303520" cy="44805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600" dirty="0">
                <a:solidFill>
                  <a:srgbClr val="222E2D"/>
                </a:solidFill>
                <a:latin typeface="Calibri" pitchFamily="34" charset="0"/>
                <a:ea typeface="Calibri" pitchFamily="34" charset="-122"/>
                <a:cs typeface="Calibri" pitchFamily="34" charset="-120"/>
              </a:rPr>
              <a:t>Derive the equation of a circle given its center and radius.</a:t>
            </a:r>
            <a:endParaRPr lang="en-US" sz="1600" dirty="0"/>
          </a:p>
          <a:p>
            <a:pPr marL="342900" indent="-342900">
              <a:spcAft>
                <a:spcPts val="900"/>
              </a:spcAft>
              <a:buSzPct val="100000"/>
              <a:buFont typeface="+mj-lt"/>
              <a:buAutoNum type="arabicPeriod" startAt="1"/>
            </a:pPr>
            <a:r>
              <a:rPr lang="en-US" sz="1600" dirty="0">
                <a:solidFill>
                  <a:srgbClr val="222E2D"/>
                </a:solidFill>
                <a:latin typeface="Calibri" pitchFamily="34" charset="0"/>
                <a:ea typeface="Calibri" pitchFamily="34" charset="-122"/>
                <a:cs typeface="Calibri" pitchFamily="34" charset="-120"/>
              </a:rPr>
              <a:t>Complete the square to find the center and radius of a circle.</a:t>
            </a:r>
            <a:endParaRPr lang="en-US" sz="1600" dirty="0"/>
          </a:p>
          <a:p>
            <a:pPr marL="342900" indent="-342900">
              <a:spcAft>
                <a:spcPts val="900"/>
              </a:spcAft>
              <a:buSzPct val="100000"/>
              <a:buFont typeface="+mj-lt"/>
              <a:buAutoNum type="arabicPeriod" startAt="1"/>
            </a:pPr>
            <a:r>
              <a:rPr lang="en-US" sz="1600" dirty="0">
                <a:solidFill>
                  <a:srgbClr val="222E2D"/>
                </a:solidFill>
                <a:latin typeface="Calibri" pitchFamily="34" charset="0"/>
                <a:ea typeface="Calibri" pitchFamily="34" charset="-122"/>
                <a:cs typeface="Calibri" pitchFamily="34" charset="-120"/>
              </a:rPr>
              <a:t>Determine the relative positions of a circle and a line in the plane.</a:t>
            </a:r>
            <a:endParaRPr lang="en-US" sz="1600" dirty="0"/>
          </a:p>
          <a:p>
            <a:pPr marL="342900" indent="-342900">
              <a:spcAft>
                <a:spcPts val="900"/>
              </a:spcAft>
              <a:buSzPct val="100000"/>
              <a:buFont typeface="+mj-lt"/>
              <a:buAutoNum type="arabicPeriod" startAt="1"/>
            </a:pPr>
            <a:r>
              <a:rPr lang="en-US" sz="1600" dirty="0">
                <a:solidFill>
                  <a:srgbClr val="222E2D"/>
                </a:solidFill>
                <a:latin typeface="Calibri" pitchFamily="34" charset="0"/>
                <a:ea typeface="Calibri" pitchFamily="34" charset="-122"/>
                <a:cs typeface="Calibri" pitchFamily="34" charset="-120"/>
              </a:rPr>
              <a:t>Solve a system of equations with one linear equation and one equation of a circle algebraically and verify the solution by graphing.</a:t>
            </a:r>
            <a:endParaRPr lang="en-US" sz="1600" dirty="0"/>
          </a:p>
        </p:txBody>
      </p:sp>
      <p:sp>
        <p:nvSpPr>
          <p:cNvPr id="14" name="Shape 9"/>
          <p:cNvSpPr/>
          <p:nvPr/>
        </p:nvSpPr>
        <p:spPr>
          <a:xfrm>
            <a:off x="6400800" y="1280160"/>
            <a:ext cx="5303520" cy="1243584"/>
          </a:xfrm>
          <a:prstGeom prst="roundRect">
            <a:avLst>
              <a:gd name="adj" fmla="val 882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5" name="Text 10"/>
          <p:cNvSpPr txBox="1"/>
          <p:nvPr/>
        </p:nvSpPr>
        <p:spPr>
          <a:xfrm>
            <a:off x="66751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VOCABULARY</a:t>
            </a:r>
            <a:endParaRPr lang="en-US" sz="1100" dirty="0"/>
          </a:p>
        </p:txBody>
      </p:sp>
      <p:sp>
        <p:nvSpPr>
          <p:cNvPr id="16" name="Shape 11"/>
          <p:cNvSpPr/>
          <p:nvPr/>
        </p:nvSpPr>
        <p:spPr>
          <a:xfrm>
            <a:off x="6629400" y="1691640"/>
            <a:ext cx="2468880" cy="265176"/>
          </a:xfrm>
          <a:prstGeom prst="roundRect">
            <a:avLst>
              <a:gd name="adj" fmla="val 48276"/>
            </a:avLst>
          </a:prstGeom>
          <a:solidFill>
            <a:srgbClr val="17A199"/>
          </a:solidFill>
          <a:ln w="12700">
            <a:solidFill>
              <a:srgbClr val="FFFFFF"/>
            </a:solidFill>
            <a:prstDash val="solid"/>
          </a:ln>
        </p:spPr>
      </p:sp>
      <p:sp>
        <p:nvSpPr>
          <p:cNvPr id="17" name="Text 12"/>
          <p:cNvSpPr txBox="1"/>
          <p:nvPr/>
        </p:nvSpPr>
        <p:spPr>
          <a:xfrm>
            <a:off x="662940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Center</a:t>
            </a:r>
            <a:endParaRPr lang="en-US" sz="1100" dirty="0"/>
          </a:p>
        </p:txBody>
      </p:sp>
      <p:sp>
        <p:nvSpPr>
          <p:cNvPr id="18" name="Shape 13"/>
          <p:cNvSpPr/>
          <p:nvPr/>
        </p:nvSpPr>
        <p:spPr>
          <a:xfrm>
            <a:off x="9189720" y="1691640"/>
            <a:ext cx="2468880" cy="265176"/>
          </a:xfrm>
          <a:prstGeom prst="roundRect">
            <a:avLst>
              <a:gd name="adj" fmla="val 48276"/>
            </a:avLst>
          </a:prstGeom>
          <a:solidFill>
            <a:srgbClr val="17A199"/>
          </a:solidFill>
          <a:ln w="12700">
            <a:solidFill>
              <a:srgbClr val="FFFFFF"/>
            </a:solidFill>
            <a:prstDash val="solid"/>
          </a:ln>
        </p:spPr>
      </p:sp>
      <p:sp>
        <p:nvSpPr>
          <p:cNvPr id="19" name="Text 14"/>
          <p:cNvSpPr txBox="1"/>
          <p:nvPr/>
        </p:nvSpPr>
        <p:spPr>
          <a:xfrm>
            <a:off x="918972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Circle</a:t>
            </a:r>
            <a:endParaRPr lang="en-US" sz="1100" dirty="0"/>
          </a:p>
        </p:txBody>
      </p:sp>
      <p:sp>
        <p:nvSpPr>
          <p:cNvPr id="20" name="Shape 15"/>
          <p:cNvSpPr/>
          <p:nvPr/>
        </p:nvSpPr>
        <p:spPr>
          <a:xfrm>
            <a:off x="6629400" y="1993392"/>
            <a:ext cx="2468880" cy="265176"/>
          </a:xfrm>
          <a:prstGeom prst="roundRect">
            <a:avLst>
              <a:gd name="adj" fmla="val 48276"/>
            </a:avLst>
          </a:prstGeom>
          <a:solidFill>
            <a:srgbClr val="1F3864"/>
          </a:solidFill>
          <a:ln w="12700">
            <a:solidFill>
              <a:srgbClr val="FFFFFF"/>
            </a:solidFill>
            <a:prstDash val="solid"/>
          </a:ln>
        </p:spPr>
      </p:sp>
      <p:sp>
        <p:nvSpPr>
          <p:cNvPr id="21" name="Text 16"/>
          <p:cNvSpPr txBox="1"/>
          <p:nvPr/>
        </p:nvSpPr>
        <p:spPr>
          <a:xfrm>
            <a:off x="662940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Diameter</a:t>
            </a:r>
            <a:endParaRPr lang="en-US" sz="1100" dirty="0"/>
          </a:p>
        </p:txBody>
      </p:sp>
      <p:sp>
        <p:nvSpPr>
          <p:cNvPr id="22" name="Shape 17"/>
          <p:cNvSpPr/>
          <p:nvPr/>
        </p:nvSpPr>
        <p:spPr>
          <a:xfrm>
            <a:off x="9189720" y="1993392"/>
            <a:ext cx="2468880" cy="265176"/>
          </a:xfrm>
          <a:prstGeom prst="roundRect">
            <a:avLst>
              <a:gd name="adj" fmla="val 48276"/>
            </a:avLst>
          </a:prstGeom>
          <a:solidFill>
            <a:srgbClr val="1F3864"/>
          </a:solidFill>
          <a:ln w="12700">
            <a:solidFill>
              <a:srgbClr val="FFFFFF"/>
            </a:solidFill>
            <a:prstDash val="solid"/>
          </a:ln>
        </p:spPr>
      </p:sp>
      <p:sp>
        <p:nvSpPr>
          <p:cNvPr id="23" name="Text 18"/>
          <p:cNvSpPr txBox="1"/>
          <p:nvPr/>
        </p:nvSpPr>
        <p:spPr>
          <a:xfrm>
            <a:off x="918972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radius</a:t>
            </a:r>
            <a:endParaRPr lang="en-US" sz="1100" dirty="0"/>
          </a:p>
        </p:txBody>
      </p:sp>
      <p:sp>
        <p:nvSpPr>
          <p:cNvPr id="24" name="Shape 19"/>
          <p:cNvSpPr/>
          <p:nvPr/>
        </p:nvSpPr>
        <p:spPr>
          <a:xfrm>
            <a:off x="6400800" y="2660904"/>
            <a:ext cx="5303520" cy="3648456"/>
          </a:xfrm>
          <a:prstGeom prst="roundRect">
            <a:avLst>
              <a:gd name="adj" fmla="val 300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25" name="Text 20"/>
          <p:cNvSpPr txBox="1"/>
          <p:nvPr/>
        </p:nvSpPr>
        <p:spPr>
          <a:xfrm>
            <a:off x="6675120" y="2734056"/>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STANDARDS</a:t>
            </a:r>
            <a:endParaRPr lang="en-US" sz="1100" dirty="0"/>
          </a:p>
        </p:txBody>
      </p:sp>
      <p:sp>
        <p:nvSpPr>
          <p:cNvPr id="26" name="Text 21"/>
          <p:cNvSpPr txBox="1"/>
          <p:nvPr/>
        </p:nvSpPr>
        <p:spPr>
          <a:xfrm>
            <a:off x="6675120" y="3026664"/>
            <a:ext cx="4846320" cy="3191256"/>
          </a:xfrm>
          <a:prstGeom prst="rect">
            <a:avLst/>
          </a:prstGeom>
          <a:noFill/>
          <a:ln/>
        </p:spPr>
        <p:txBody>
          <a:bodyPr wrap="square" lIns="0" tIns="0" rIns="0" bIns="0" rtlCol="0" anchor="t"/>
          <a:lstStyle/>
          <a:p>
            <a:pPr indent="0" marL="0">
              <a:buNone/>
            </a:pPr>
            <a:r>
              <a:rPr lang="en-US" sz="1050" b="1" dirty="0">
                <a:solidFill>
                  <a:srgbClr val="222E2D"/>
                </a:solidFill>
                <a:latin typeface="Calibri" pitchFamily="34" charset="0"/>
                <a:ea typeface="Calibri" pitchFamily="34" charset="-122"/>
                <a:cs typeface="Calibri" pitchFamily="34" charset="-120"/>
              </a:rPr>
              <a:t>HSA.SSE.B.3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Choose and produce an equivalent form of an expression to reveal and explain properties of the quantity represented by the expression.</a:t>
            </a:r>
            <a:endParaRPr lang="en-US" sz="1050" dirty="0"/>
          </a:p>
          <a:p>
            <a:pPr indent="0" marL="0">
              <a:buNone/>
            </a:pPr>
            <a:r>
              <a:rPr lang="en-US" sz="1050" b="1" dirty="0">
                <a:solidFill>
                  <a:srgbClr val="222E2D"/>
                </a:solidFill>
                <a:latin typeface="Calibri" pitchFamily="34" charset="0"/>
                <a:ea typeface="Calibri" pitchFamily="34" charset="-122"/>
                <a:cs typeface="Calibri" pitchFamily="34" charset="-120"/>
              </a:rPr>
              <a:t>HSA.REI.C.7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Solve a simple system consisting of a linear equation and a quadratic equation in two variables algebraically and graphically.</a:t>
            </a:r>
            <a:endParaRPr lang="en-US" sz="1050" dirty="0"/>
          </a:p>
          <a:p>
            <a:pPr indent="0" marL="0">
              <a:buNone/>
            </a:pPr>
            <a:r>
              <a:rPr lang="en-US" sz="1050" b="1" dirty="0">
                <a:solidFill>
                  <a:srgbClr val="222E2D"/>
                </a:solidFill>
                <a:latin typeface="Calibri" pitchFamily="34" charset="0"/>
                <a:ea typeface="Calibri" pitchFamily="34" charset="-122"/>
                <a:cs typeface="Calibri" pitchFamily="34" charset="-120"/>
              </a:rPr>
              <a:t>HSG.GPE.A.1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Derive the equation of a circle of given center and radius using the Pythagorean Theorem; complete the square to find the center and radius of a circle given by an equation.</a:t>
            </a:r>
            <a:endParaRPr lang="en-US" sz="10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HSA.SSE.B.3 · HSA.REI.C.7 · HSG.GPE.A.1</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4</a:t>
            </a:r>
            <a:endParaRPr lang="en-US" sz="1000" dirty="0"/>
          </a:p>
        </p:txBody>
      </p:sp>
      <p:sp>
        <p:nvSpPr>
          <p:cNvPr id="9" name="stn1"/>
          <p:cNvSpPr/>
          <p:nvPr/>
        </p:nvSpPr>
        <p:spPr>
          <a:xfrm>
            <a:off x="3931920" y="228600"/>
            <a:ext cx="457200" cy="457200"/>
          </a:xfrm>
          <a:prstGeom prst="ellipse">
            <a:avLst/>
          </a:prstGeom>
          <a:solidFill>
            <a:srgbClr val="E8762C"/>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path1"/>
          <p:cNvSpPr/>
          <p:nvPr/>
        </p:nvSpPr>
        <p:spPr>
          <a:xfrm>
            <a:off x="4407408" y="457200"/>
            <a:ext cx="32918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1  ·  DIAGNOSE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Start here: three quick checks</a:t>
            </a:r>
            <a:endParaRPr lang="en-US" sz="3000" dirty="0"/>
          </a:p>
        </p:txBody>
      </p:sp>
      <p:sp>
        <p:nvSpPr>
          <p:cNvPr id="29" name="Shape 24"/>
          <p:cNvSpPr/>
          <p:nvPr/>
        </p:nvSpPr>
        <p:spPr>
          <a:xfrm>
            <a:off x="45720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17A199"/>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9-2w10/k2742e3c1f0.png">    </p:cNvPr>
          <p:cNvPicPr>
            <a:picLocks noChangeAspect="1"/>
          </p:cNvPicPr>
          <p:nvPr/>
        </p:nvPicPr>
        <p:blipFill>
          <a:blip r:embed="rId3"/>
          <a:stretch>
            <a:fillRect/>
          </a:stretch>
        </p:blipFill>
        <p:spPr>
          <a:xfrm>
            <a:off x="594360" y="2697480"/>
            <a:ext cx="3383280" cy="225697"/>
          </a:xfrm>
          <a:prstGeom prst="rect">
            <a:avLst/>
          </a:prstGeom>
        </p:spPr>
      </p:pic>
      <p:sp>
        <p:nvSpPr>
          <p:cNvPr id="33" name="Shape 27"/>
          <p:cNvSpPr/>
          <p:nvPr/>
        </p:nvSpPr>
        <p:spPr>
          <a:xfrm>
            <a:off x="420624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17A199"/>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9-2w10/k43c7531585.png">    </p:cNvPr>
          <p:cNvPicPr>
            <a:picLocks noChangeAspect="1"/>
          </p:cNvPicPr>
          <p:nvPr/>
        </p:nvPicPr>
        <p:blipFill>
          <a:blip r:embed="rId4"/>
          <a:stretch>
            <a:fillRect/>
          </a:stretch>
        </p:blipFill>
        <p:spPr>
          <a:xfrm>
            <a:off x="4343400" y="2697480"/>
            <a:ext cx="3383280" cy="356135"/>
          </a:xfrm>
          <a:prstGeom prst="rect">
            <a:avLst/>
          </a:prstGeom>
        </p:spPr>
      </p:pic>
      <p:sp>
        <p:nvSpPr>
          <p:cNvPr id="37" name="Shape 30"/>
          <p:cNvSpPr/>
          <p:nvPr/>
        </p:nvSpPr>
        <p:spPr>
          <a:xfrm>
            <a:off x="795528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17A199"/>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9-2w10/k43023b74b2.png">    </p:cNvPr>
          <p:cNvPicPr>
            <a:picLocks noChangeAspect="1"/>
          </p:cNvPicPr>
          <p:nvPr/>
        </p:nvPicPr>
        <p:blipFill>
          <a:blip r:embed="rId5"/>
          <a:stretch>
            <a:fillRect/>
          </a:stretch>
        </p:blipFill>
        <p:spPr>
          <a:xfrm>
            <a:off x="8335670" y="2697480"/>
            <a:ext cx="2896819" cy="358445"/>
          </a:xfrm>
          <a:prstGeom prst="rect">
            <a:avLst/>
          </a:prstGeom>
        </p:spPr>
      </p:pic>
      <p:sp>
        <p:nvSpPr>
          <p:cNvPr id="41" name="Shape 33"/>
          <p:cNvSpPr/>
          <p:nvPr/>
        </p:nvSpPr>
        <p:spPr>
          <a:xfrm>
            <a:off x="457200" y="4434840"/>
            <a:ext cx="11247120" cy="1463040"/>
          </a:xfrm>
          <a:prstGeom prst="roundRect">
            <a:avLst>
              <a:gd name="adj" fmla="val 75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57200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Done when</a:t>
            </a:r>
            <a:endParaRPr lang="en-US" sz="1400" dirty="0"/>
          </a:p>
        </p:txBody>
      </p:sp>
      <p:sp>
        <p:nvSpPr>
          <p:cNvPr id="43" name="Text 35"/>
          <p:cNvSpPr txBox="1"/>
          <p:nvPr/>
        </p:nvSpPr>
        <p:spPr>
          <a:xfrm>
            <a:off x="777240" y="4937760"/>
            <a:ext cx="10607040" cy="8229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All three answers are written without a calculator, and you can say which of the three skills a circle equation needs first.</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HSA.SSE.B.3 · HSA.REI.C.7 · HSG.GPE.A.1</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5</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The equation from the center and radius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9-2w10/k82b73908ce.png">    </p:cNvPr>
          <p:cNvPicPr>
            <a:picLocks noChangeAspect="1"/>
          </p:cNvPicPr>
          <p:nvPr/>
        </p:nvPicPr>
        <p:blipFill>
          <a:blip r:embed="rId3"/>
          <a:stretch>
            <a:fillRect/>
          </a:stretch>
        </p:blipFill>
        <p:spPr>
          <a:xfrm>
            <a:off x="1567282" y="2126894"/>
            <a:ext cx="3211373" cy="409651"/>
          </a:xfrm>
          <a:prstGeom prst="rect">
            <a:avLst/>
          </a:prstGeom>
        </p:spPr>
      </p:pic>
      <p:pic>
        <p:nvPicPr>
          <p:cNvPr id="31" name="Image 3" descr="m_L9-2w10/ka2b4d070f1.png">    </p:cNvPr>
          <p:cNvPicPr>
            <a:picLocks noChangeAspect="1"/>
          </p:cNvPicPr>
          <p:nvPr/>
        </p:nvPicPr>
        <p:blipFill>
          <a:blip r:embed="rId4"/>
          <a:stretch>
            <a:fillRect/>
          </a:stretch>
        </p:blipFill>
        <p:spPr>
          <a:xfrm>
            <a:off x="5418734" y="2141525"/>
            <a:ext cx="5175504" cy="380390"/>
          </a:xfrm>
          <a:prstGeom prst="rect">
            <a:avLst/>
          </a:prstGeom>
        </p:spPr>
      </p:pic>
      <p:sp>
        <p:nvSpPr>
          <p:cNvPr id="32" name="Shape 25"/>
          <p:cNvSpPr/>
          <p:nvPr/>
        </p:nvSpPr>
        <p:spPr>
          <a:xfrm>
            <a:off x="457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9-2w10/k14a0f8745e.png">    </p:cNvPr>
          <p:cNvPicPr>
            <a:picLocks noChangeAspect="1"/>
          </p:cNvPicPr>
          <p:nvPr/>
        </p:nvPicPr>
        <p:blipFill>
          <a:blip r:embed="rId5"/>
          <a:stretch>
            <a:fillRect/>
          </a:stretch>
        </p:blipFill>
        <p:spPr>
          <a:xfrm>
            <a:off x="1823405" y="3520440"/>
            <a:ext cx="2799710" cy="359469"/>
          </a:xfrm>
          <a:prstGeom prst="rect">
            <a:avLst/>
          </a:prstGeom>
        </p:spPr>
      </p:pic>
      <p:pic>
        <p:nvPicPr>
          <p:cNvPr id="35" name="Image 5" descr="m_L9-2w10/k0ac8f4d66f.png">    </p:cNvPr>
          <p:cNvPicPr>
            <a:picLocks noChangeAspect="1"/>
          </p:cNvPicPr>
          <p:nvPr/>
        </p:nvPicPr>
        <p:blipFill>
          <a:blip r:embed="rId6"/>
          <a:stretch>
            <a:fillRect/>
          </a:stretch>
        </p:blipFill>
        <p:spPr>
          <a:xfrm>
            <a:off x="1781434" y="3998781"/>
            <a:ext cx="2883652" cy="368686"/>
          </a:xfrm>
          <a:prstGeom prst="rect">
            <a:avLst/>
          </a:prstGeom>
        </p:spPr>
      </p:pic>
      <p:sp>
        <p:nvSpPr>
          <p:cNvPr id="36" name="Shape 27"/>
          <p:cNvSpPr/>
          <p:nvPr/>
        </p:nvSpPr>
        <p:spPr>
          <a:xfrm>
            <a:off x="6172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7" name="Text 28"/>
          <p:cNvSpPr txBox="1"/>
          <p:nvPr/>
        </p:nvSpPr>
        <p:spPr>
          <a:xfrm>
            <a:off x="6400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8" name="Image 6" descr="m_L9-2w10/kcd9dac22f1.png">    </p:cNvPr>
          <p:cNvPicPr>
            <a:picLocks noChangeAspect="1"/>
          </p:cNvPicPr>
          <p:nvPr/>
        </p:nvPicPr>
        <p:blipFill>
          <a:blip r:embed="rId7"/>
          <a:stretch>
            <a:fillRect/>
          </a:stretch>
        </p:blipFill>
        <p:spPr>
          <a:xfrm>
            <a:off x="7533220" y="3520440"/>
            <a:ext cx="2810079" cy="359469"/>
          </a:xfrm>
          <a:prstGeom prst="rect">
            <a:avLst/>
          </a:prstGeom>
        </p:spPr>
      </p:pic>
      <p:pic>
        <p:nvPicPr>
          <p:cNvPr id="39" name="Image 7" descr="m_L9-2w10/kdc8c0d5bb8.png">    </p:cNvPr>
          <p:cNvPicPr>
            <a:picLocks noChangeAspect="1"/>
          </p:cNvPicPr>
          <p:nvPr/>
        </p:nvPicPr>
        <p:blipFill>
          <a:blip r:embed="rId8"/>
          <a:stretch>
            <a:fillRect/>
          </a:stretch>
        </p:blipFill>
        <p:spPr>
          <a:xfrm>
            <a:off x="7822326" y="3998781"/>
            <a:ext cx="2231868" cy="368686"/>
          </a:xfrm>
          <a:prstGeom prst="rect">
            <a:avLst/>
          </a:prstGeom>
        </p:spPr>
      </p:pic>
      <p:pic>
        <p:nvPicPr>
          <p:cNvPr id="40" name="Image 8" descr="m_L9-2w10/k4669258e53.png">    </p:cNvPr>
          <p:cNvPicPr>
            <a:picLocks noChangeAspect="1"/>
          </p:cNvPicPr>
          <p:nvPr/>
        </p:nvPicPr>
        <p:blipFill>
          <a:blip r:embed="rId9"/>
          <a:stretch>
            <a:fillRect/>
          </a:stretch>
        </p:blipFill>
        <p:spPr>
          <a:xfrm>
            <a:off x="8065922" y="4486339"/>
            <a:ext cx="1744675" cy="27980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HSA.SSE.B.3 · HSA.REI.C.7 · HSG.GPE.A.1</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6</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Reading and writing circle equations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9-2w10/k2d4ed7eac3.png">    </p:cNvPr>
          <p:cNvPicPr>
            <a:picLocks noChangeAspect="1"/>
          </p:cNvPicPr>
          <p:nvPr/>
        </p:nvPicPr>
        <p:blipFill>
          <a:blip r:embed="rId3"/>
          <a:stretch>
            <a:fillRect/>
          </a:stretch>
        </p:blipFill>
        <p:spPr>
          <a:xfrm>
            <a:off x="3099816" y="2104949"/>
            <a:ext cx="3313786" cy="453542"/>
          </a:xfrm>
          <a:prstGeom prst="rect">
            <a:avLst/>
          </a:prstGeom>
        </p:spPr>
      </p:pic>
      <p:pic>
        <p:nvPicPr>
          <p:cNvPr id="31" name="Image 3" descr="m_L9-2w10/k70e29386cf.png">    </p:cNvPr>
          <p:cNvPicPr>
            <a:picLocks noChangeAspect="1"/>
          </p:cNvPicPr>
          <p:nvPr/>
        </p:nvPicPr>
        <p:blipFill>
          <a:blip r:embed="rId4"/>
          <a:stretch>
            <a:fillRect/>
          </a:stretch>
        </p:blipFill>
        <p:spPr>
          <a:xfrm>
            <a:off x="7053682" y="2187245"/>
            <a:ext cx="2008022" cy="288950"/>
          </a:xfrm>
          <a:prstGeom prst="rect">
            <a:avLst/>
          </a:prstGeom>
        </p:spPr>
      </p:pic>
      <p:sp>
        <p:nvSpPr>
          <p:cNvPr id="32" name="Shape 25"/>
          <p:cNvSpPr/>
          <p:nvPr/>
        </p:nvSpPr>
        <p:spPr>
          <a:xfrm>
            <a:off x="457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9-2w10/k68cd140e8f.png">    </p:cNvPr>
          <p:cNvPicPr>
            <a:picLocks noChangeAspect="1"/>
          </p:cNvPicPr>
          <p:nvPr/>
        </p:nvPicPr>
        <p:blipFill>
          <a:blip r:embed="rId5"/>
          <a:stretch>
            <a:fillRect/>
          </a:stretch>
        </p:blipFill>
        <p:spPr>
          <a:xfrm>
            <a:off x="1709343" y="3520440"/>
            <a:ext cx="3027834" cy="387120"/>
          </a:xfrm>
          <a:prstGeom prst="rect">
            <a:avLst/>
          </a:prstGeom>
        </p:spPr>
      </p:pic>
      <p:pic>
        <p:nvPicPr>
          <p:cNvPr id="35" name="Image 5" descr="m_L9-2w10/ka56ec947e7.png">    </p:cNvPr>
          <p:cNvPicPr>
            <a:picLocks noChangeAspect="1"/>
          </p:cNvPicPr>
          <p:nvPr/>
        </p:nvPicPr>
        <p:blipFill>
          <a:blip r:embed="rId6"/>
          <a:stretch>
            <a:fillRect/>
          </a:stretch>
        </p:blipFill>
        <p:spPr>
          <a:xfrm>
            <a:off x="2387133" y="4026432"/>
            <a:ext cx="1672255" cy="342351"/>
          </a:xfrm>
          <a:prstGeom prst="rect">
            <a:avLst/>
          </a:prstGeom>
        </p:spPr>
      </p:pic>
      <p:pic>
        <p:nvPicPr>
          <p:cNvPr id="36" name="Image 6" descr="m_L9-2w10/ke9c0ebef8f.png">    </p:cNvPr>
          <p:cNvPicPr>
            <a:picLocks noChangeAspect="1"/>
          </p:cNvPicPr>
          <p:nvPr/>
        </p:nvPicPr>
        <p:blipFill>
          <a:blip r:embed="rId7"/>
          <a:stretch>
            <a:fillRect/>
          </a:stretch>
        </p:blipFill>
        <p:spPr>
          <a:xfrm>
            <a:off x="2268626" y="4487656"/>
            <a:ext cx="1909267" cy="355519"/>
          </a:xfrm>
          <a:prstGeom prst="rect">
            <a:avLst/>
          </a:prstGeom>
        </p:spPr>
      </p:pic>
      <p:sp>
        <p:nvSpPr>
          <p:cNvPr id="37" name="Shape 27"/>
          <p:cNvSpPr/>
          <p:nvPr/>
        </p:nvSpPr>
        <p:spPr>
          <a:xfrm>
            <a:off x="6172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6400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9-2w10/kd100456dba.png">    </p:cNvPr>
          <p:cNvPicPr>
            <a:picLocks noChangeAspect="1"/>
          </p:cNvPicPr>
          <p:nvPr/>
        </p:nvPicPr>
        <p:blipFill>
          <a:blip r:embed="rId8"/>
          <a:stretch>
            <a:fillRect/>
          </a:stretch>
        </p:blipFill>
        <p:spPr>
          <a:xfrm>
            <a:off x="7185849" y="3520440"/>
            <a:ext cx="3504822" cy="359469"/>
          </a:xfrm>
          <a:prstGeom prst="rect">
            <a:avLst/>
          </a:prstGeom>
        </p:spPr>
      </p:pic>
      <p:pic>
        <p:nvPicPr>
          <p:cNvPr id="40" name="Image 8" descr="m_L9-2w10/k01d6866279.png">    </p:cNvPr>
          <p:cNvPicPr>
            <a:picLocks noChangeAspect="1"/>
          </p:cNvPicPr>
          <p:nvPr/>
        </p:nvPicPr>
        <p:blipFill>
          <a:blip r:embed="rId9"/>
          <a:stretch>
            <a:fillRect/>
          </a:stretch>
        </p:blipFill>
        <p:spPr>
          <a:xfrm>
            <a:off x="8011607" y="3998781"/>
            <a:ext cx="1853306" cy="352227"/>
          </a:xfrm>
          <a:prstGeom prst="rect">
            <a:avLst/>
          </a:prstGeom>
        </p:spPr>
      </p:pic>
      <p:pic>
        <p:nvPicPr>
          <p:cNvPr id="41" name="Image 9" descr="m_L9-2w10/k29f315ddba.png">    </p:cNvPr>
          <p:cNvPicPr>
            <a:picLocks noChangeAspect="1"/>
          </p:cNvPicPr>
          <p:nvPr/>
        </p:nvPicPr>
        <p:blipFill>
          <a:blip r:embed="rId10"/>
          <a:stretch>
            <a:fillRect/>
          </a:stretch>
        </p:blipFill>
        <p:spPr>
          <a:xfrm>
            <a:off x="7496434" y="4469880"/>
            <a:ext cx="2883652" cy="36868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HSA.SSE.B.3 · HSA.REI.C.7 · HSG.GPE.A.1</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7</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Completing the square for a circle</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9-2w10/kf5bbd50065.png">    </p:cNvPr>
          <p:cNvPicPr>
            <a:picLocks noChangeAspect="1"/>
          </p:cNvPicPr>
          <p:nvPr/>
        </p:nvPicPr>
        <p:blipFill>
          <a:blip r:embed="rId3"/>
          <a:stretch>
            <a:fillRect/>
          </a:stretch>
        </p:blipFill>
        <p:spPr>
          <a:xfrm>
            <a:off x="1682848" y="1920240"/>
            <a:ext cx="3548575" cy="822960"/>
          </a:xfrm>
          <a:prstGeom prst="rect">
            <a:avLst/>
          </a:prstGeom>
        </p:spPr>
      </p:pic>
      <p:pic>
        <p:nvPicPr>
          <p:cNvPr id="31" name="Image 3" descr="m_L9-2w10/k4cd0132f6f.png">    </p:cNvPr>
          <p:cNvPicPr>
            <a:picLocks noChangeAspect="1"/>
          </p:cNvPicPr>
          <p:nvPr/>
        </p:nvPicPr>
        <p:blipFill>
          <a:blip r:embed="rId4"/>
          <a:stretch>
            <a:fillRect/>
          </a:stretch>
        </p:blipFill>
        <p:spPr>
          <a:xfrm>
            <a:off x="5871503" y="2192802"/>
            <a:ext cx="4607169" cy="277837"/>
          </a:xfrm>
          <a:prstGeom prst="rect">
            <a:avLst/>
          </a:prstGeom>
        </p:spPr>
      </p:pic>
      <p:sp>
        <p:nvSpPr>
          <p:cNvPr id="32" name="Shape 25"/>
          <p:cNvSpPr/>
          <p:nvPr/>
        </p:nvSpPr>
        <p:spPr>
          <a:xfrm>
            <a:off x="457200" y="3108960"/>
            <a:ext cx="5532120" cy="2331720"/>
          </a:xfrm>
          <a:prstGeom prst="roundRect">
            <a:avLst>
              <a:gd name="adj" fmla="val 4706"/>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9-2w10/k43c534f7af.png">    </p:cNvPr>
          <p:cNvPicPr>
            <a:picLocks noChangeAspect="1"/>
          </p:cNvPicPr>
          <p:nvPr/>
        </p:nvPicPr>
        <p:blipFill>
          <a:blip r:embed="rId5"/>
          <a:stretch>
            <a:fillRect/>
          </a:stretch>
        </p:blipFill>
        <p:spPr>
          <a:xfrm>
            <a:off x="1598737" y="3520440"/>
            <a:ext cx="3249046" cy="369838"/>
          </a:xfrm>
          <a:prstGeom prst="rect">
            <a:avLst/>
          </a:prstGeom>
        </p:spPr>
      </p:pic>
      <p:pic>
        <p:nvPicPr>
          <p:cNvPr id="35" name="Image 5" descr="m_L9-2w10/kf38125c441.png">    </p:cNvPr>
          <p:cNvPicPr>
            <a:picLocks noChangeAspect="1"/>
          </p:cNvPicPr>
          <p:nvPr/>
        </p:nvPicPr>
        <p:blipFill>
          <a:blip r:embed="rId6"/>
          <a:stretch>
            <a:fillRect/>
          </a:stretch>
        </p:blipFill>
        <p:spPr>
          <a:xfrm>
            <a:off x="642457" y="4009150"/>
            <a:ext cx="5161605" cy="368686"/>
          </a:xfrm>
          <a:prstGeom prst="rect">
            <a:avLst/>
          </a:prstGeom>
        </p:spPr>
      </p:pic>
      <p:pic>
        <p:nvPicPr>
          <p:cNvPr id="36" name="Image 6" descr="m_L9-2w10/k72814f060e.png">    </p:cNvPr>
          <p:cNvPicPr>
            <a:picLocks noChangeAspect="1"/>
          </p:cNvPicPr>
          <p:nvPr/>
        </p:nvPicPr>
        <p:blipFill>
          <a:blip r:embed="rId7"/>
          <a:stretch>
            <a:fillRect/>
          </a:stretch>
        </p:blipFill>
        <p:spPr>
          <a:xfrm>
            <a:off x="706648" y="4496708"/>
            <a:ext cx="5033223" cy="368686"/>
          </a:xfrm>
          <a:prstGeom prst="rect">
            <a:avLst/>
          </a:prstGeom>
        </p:spPr>
      </p:pic>
      <p:sp>
        <p:nvSpPr>
          <p:cNvPr id="37" name="Shape 27"/>
          <p:cNvSpPr/>
          <p:nvPr/>
        </p:nvSpPr>
        <p:spPr>
          <a:xfrm>
            <a:off x="6172200" y="3108960"/>
            <a:ext cx="5532120" cy="2331720"/>
          </a:xfrm>
          <a:prstGeom prst="roundRect">
            <a:avLst>
              <a:gd name="adj" fmla="val 4706"/>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6400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9-2w10/k43daefb90d.png">    </p:cNvPr>
          <p:cNvPicPr>
            <a:picLocks noChangeAspect="1"/>
          </p:cNvPicPr>
          <p:nvPr/>
        </p:nvPicPr>
        <p:blipFill>
          <a:blip r:embed="rId8"/>
          <a:stretch>
            <a:fillRect/>
          </a:stretch>
        </p:blipFill>
        <p:spPr>
          <a:xfrm>
            <a:off x="7175480" y="3520440"/>
            <a:ext cx="3525561" cy="369838"/>
          </a:xfrm>
          <a:prstGeom prst="rect">
            <a:avLst/>
          </a:prstGeom>
        </p:spPr>
      </p:pic>
      <p:pic>
        <p:nvPicPr>
          <p:cNvPr id="40" name="Image 8" descr="m_L9-2w10/k0711242589.png">    </p:cNvPr>
          <p:cNvPicPr>
            <a:picLocks noChangeAspect="1"/>
          </p:cNvPicPr>
          <p:nvPr/>
        </p:nvPicPr>
        <p:blipFill>
          <a:blip r:embed="rId9"/>
          <a:stretch>
            <a:fillRect/>
          </a:stretch>
        </p:blipFill>
        <p:spPr>
          <a:xfrm>
            <a:off x="6355080" y="4009150"/>
            <a:ext cx="5166360" cy="337592"/>
          </a:xfrm>
          <a:prstGeom prst="rect">
            <a:avLst/>
          </a:prstGeom>
        </p:spPr>
      </p:pic>
      <p:pic>
        <p:nvPicPr>
          <p:cNvPr id="41" name="Image 9" descr="m_L9-2w10/kd94d02ffd0.png">    </p:cNvPr>
          <p:cNvPicPr>
            <a:picLocks noChangeAspect="1"/>
          </p:cNvPicPr>
          <p:nvPr/>
        </p:nvPicPr>
        <p:blipFill>
          <a:blip r:embed="rId10"/>
          <a:stretch>
            <a:fillRect/>
          </a:stretch>
        </p:blipFill>
        <p:spPr>
          <a:xfrm>
            <a:off x="6421648" y="4465614"/>
            <a:ext cx="5033223" cy="368686"/>
          </a:xfrm>
          <a:prstGeom prst="rect">
            <a:avLst/>
          </a:prstGeom>
        </p:spPr>
      </p:pic>
      <p:sp>
        <p:nvSpPr>
          <p:cNvPr id="42" name="Shape 29"/>
          <p:cNvSpPr/>
          <p:nvPr/>
        </p:nvSpPr>
        <p:spPr>
          <a:xfrm>
            <a:off x="457200" y="5532120"/>
            <a:ext cx="11247120" cy="731520"/>
          </a:xfrm>
          <a:prstGeom prst="roundRect">
            <a:avLst>
              <a:gd name="adj" fmla="val 15000"/>
            </a:avLst>
          </a:prstGeom>
          <a:solidFill>
            <a:srgbClr val="FFF1C9"/>
          </a:solidFill>
          <a:ln w="28575">
            <a:solidFill>
              <a:srgbClr val="F0B323"/>
            </a:solidFill>
            <a:prstDash val="solid"/>
          </a:ln>
          <a:effectLst>
            <a:outerShdw sx="100000" sy="100000" kx="0" ky="0" algn="bl" rotWithShape="0" blurRad="101600" dist="25400" dir="5400000">
              <a:srgbClr val="000000">
                <a:alpha val="15000"/>
              </a:srgbClr>
            </a:outerShdw>
          </a:effectLst>
        </p:spPr>
      </p:sp>
      <p:sp>
        <p:nvSpPr>
          <p:cNvPr id="43" name="Text 30"/>
          <p:cNvSpPr txBox="1"/>
          <p:nvPr/>
        </p:nvSpPr>
        <p:spPr>
          <a:xfrm>
            <a:off x="685800" y="5532120"/>
            <a:ext cx="1463040" cy="731520"/>
          </a:xfrm>
          <a:prstGeom prst="rect">
            <a:avLst/>
          </a:prstGeom>
          <a:noFill/>
          <a:ln/>
        </p:spPr>
        <p:txBody>
          <a:bodyPr wrap="square" lIns="0" tIns="0" rIns="0" bIns="0" rtlCol="0" anchor="ctr"/>
          <a:lstStyle/>
          <a:p>
            <a:pPr indent="0" marL="0">
              <a:buNone/>
            </a:pPr>
            <a:r>
              <a:rPr lang="en-US" sz="1200" b="1" spc="200" kern="0" dirty="0">
                <a:solidFill>
                  <a:srgbClr val="E8762C"/>
                </a:solidFill>
                <a:latin typeface="Calibri" pitchFamily="34" charset="0"/>
                <a:ea typeface="Calibri" pitchFamily="34" charset="-122"/>
                <a:cs typeface="Calibri" pitchFamily="34" charset="-120"/>
              </a:rPr>
              <a:t>WHAT IF...?</a:t>
            </a:r>
            <a:endParaRPr lang="en-US" sz="1200" dirty="0"/>
          </a:p>
        </p:txBody>
      </p:sp>
      <p:sp>
        <p:nvSpPr>
          <p:cNvPr id="44" name="Text 31"/>
          <p:cNvSpPr txBox="1"/>
          <p:nvPr/>
        </p:nvSpPr>
        <p:spPr>
          <a:xfrm>
            <a:off x="2194560" y="5532120"/>
            <a:ext cx="6309360" cy="731520"/>
          </a:xfrm>
          <a:prstGeom prst="rect">
            <a:avLst/>
          </a:prstGeom>
          <a:noFill/>
          <a:ln/>
        </p:spPr>
        <p:txBody>
          <a:bodyPr wrap="square" lIns="0" tIns="0" rIns="0" bIns="0" rtlCol="0" anchor="ctr"/>
          <a:lstStyle/>
          <a:p>
            <a:pPr indent="0" marL="0">
              <a:buNone/>
            </a:pPr>
            <a:r>
              <a:rPr lang="en-US" sz="1400" dirty="0">
                <a:solidFill>
                  <a:srgbClr val="222E2D"/>
                </a:solidFill>
                <a:latin typeface="Calibri" pitchFamily="34" charset="0"/>
                <a:ea typeface="Calibri" pitchFamily="34" charset="-122"/>
                <a:cs typeface="Calibri" pitchFamily="34" charset="-120"/>
              </a:rPr>
              <a:t>What if the constant is 13 in x² + y² − 4x + 6y + 13 = 0? Predict the radius, then complete the square.</a:t>
            </a:r>
            <a:endParaRPr lang="en-US" sz="1400" dirty="0"/>
          </a:p>
        </p:txBody>
      </p:sp>
      <p:pic>
        <p:nvPicPr>
          <p:cNvPr id="45" name="Image 10" descr="m_L9-2w10/k215cb80a16.png">    </p:cNvPr>
          <p:cNvPicPr>
            <a:picLocks noChangeAspect="1"/>
          </p:cNvPicPr>
          <p:nvPr/>
        </p:nvPicPr>
        <p:blipFill>
          <a:blip r:embed="rId11"/>
          <a:stretch>
            <a:fillRect/>
          </a:stretch>
        </p:blipFill>
        <p:spPr>
          <a:xfrm>
            <a:off x="8790127" y="5751119"/>
            <a:ext cx="2685593" cy="29352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HSA.SSE.B.3 · HSA.REI.C.7 · HSG.GPE.A.1</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8</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A line and a circle</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9-2w10/ke80e5fea47.png">    </p:cNvPr>
          <p:cNvPicPr>
            <a:picLocks noChangeAspect="1"/>
          </p:cNvPicPr>
          <p:nvPr/>
        </p:nvPicPr>
        <p:blipFill>
          <a:blip r:embed="rId3"/>
          <a:stretch>
            <a:fillRect/>
          </a:stretch>
        </p:blipFill>
        <p:spPr>
          <a:xfrm>
            <a:off x="731520" y="2192167"/>
            <a:ext cx="4186584" cy="279106"/>
          </a:xfrm>
          <a:prstGeom prst="rect">
            <a:avLst/>
          </a:prstGeom>
        </p:spPr>
      </p:pic>
      <p:pic>
        <p:nvPicPr>
          <p:cNvPr id="31" name="Image 3" descr="m_L9-2w10/k929c2a4cc2.png">    </p:cNvPr>
          <p:cNvPicPr>
            <a:picLocks noChangeAspect="1"/>
          </p:cNvPicPr>
          <p:nvPr/>
        </p:nvPicPr>
        <p:blipFill>
          <a:blip r:embed="rId4"/>
          <a:stretch>
            <a:fillRect/>
          </a:stretch>
        </p:blipFill>
        <p:spPr>
          <a:xfrm>
            <a:off x="5558184" y="2163903"/>
            <a:ext cx="5871816" cy="335633"/>
          </a:xfrm>
          <a:prstGeom prst="rect">
            <a:avLst/>
          </a:prstGeom>
        </p:spPr>
      </p:pic>
      <p:sp>
        <p:nvSpPr>
          <p:cNvPr id="32" name="Shape 25"/>
          <p:cNvSpPr/>
          <p:nvPr/>
        </p:nvSpPr>
        <p:spPr>
          <a:xfrm>
            <a:off x="457200" y="3108960"/>
            <a:ext cx="5532120" cy="2331720"/>
          </a:xfrm>
          <a:prstGeom prst="roundRect">
            <a:avLst>
              <a:gd name="adj" fmla="val 4706"/>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9-2w10/kf7724b494b.png">    </p:cNvPr>
          <p:cNvPicPr>
            <a:picLocks noChangeAspect="1"/>
          </p:cNvPicPr>
          <p:nvPr/>
        </p:nvPicPr>
        <p:blipFill>
          <a:blip r:embed="rId5"/>
          <a:stretch>
            <a:fillRect/>
          </a:stretch>
        </p:blipFill>
        <p:spPr>
          <a:xfrm>
            <a:off x="1674778" y="3520440"/>
            <a:ext cx="3096963" cy="369838"/>
          </a:xfrm>
          <a:prstGeom prst="rect">
            <a:avLst/>
          </a:prstGeom>
        </p:spPr>
      </p:pic>
      <p:pic>
        <p:nvPicPr>
          <p:cNvPr id="35" name="Image 5" descr="m_L9-2w10/kbbcd956a81.png">    </p:cNvPr>
          <p:cNvPicPr>
            <a:picLocks noChangeAspect="1"/>
          </p:cNvPicPr>
          <p:nvPr/>
        </p:nvPicPr>
        <p:blipFill>
          <a:blip r:embed="rId6"/>
          <a:stretch>
            <a:fillRect/>
          </a:stretch>
        </p:blipFill>
        <p:spPr>
          <a:xfrm>
            <a:off x="892637" y="4009150"/>
            <a:ext cx="4661245" cy="368686"/>
          </a:xfrm>
          <a:prstGeom prst="rect">
            <a:avLst/>
          </a:prstGeom>
        </p:spPr>
      </p:pic>
      <p:pic>
        <p:nvPicPr>
          <p:cNvPr id="36" name="Image 6" descr="m_L9-2w10/k7b3c3e3955.png">    </p:cNvPr>
          <p:cNvPicPr>
            <a:picLocks noChangeAspect="1"/>
          </p:cNvPicPr>
          <p:nvPr/>
        </p:nvPicPr>
        <p:blipFill>
          <a:blip r:embed="rId7"/>
          <a:stretch>
            <a:fillRect/>
          </a:stretch>
        </p:blipFill>
        <p:spPr>
          <a:xfrm>
            <a:off x="2076054" y="4496708"/>
            <a:ext cx="2294412" cy="342351"/>
          </a:xfrm>
          <a:prstGeom prst="rect">
            <a:avLst/>
          </a:prstGeom>
        </p:spPr>
      </p:pic>
      <p:sp>
        <p:nvSpPr>
          <p:cNvPr id="37" name="Shape 27"/>
          <p:cNvSpPr/>
          <p:nvPr/>
        </p:nvSpPr>
        <p:spPr>
          <a:xfrm>
            <a:off x="6172200" y="3108960"/>
            <a:ext cx="5532120" cy="2331720"/>
          </a:xfrm>
          <a:prstGeom prst="roundRect">
            <a:avLst>
              <a:gd name="adj" fmla="val 4706"/>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6400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9-2w10/kb383849478.png">    </p:cNvPr>
          <p:cNvPicPr>
            <a:picLocks noChangeAspect="1"/>
          </p:cNvPicPr>
          <p:nvPr/>
        </p:nvPicPr>
        <p:blipFill>
          <a:blip r:embed="rId8"/>
          <a:stretch>
            <a:fillRect/>
          </a:stretch>
        </p:blipFill>
        <p:spPr>
          <a:xfrm>
            <a:off x="7460635" y="3520440"/>
            <a:ext cx="2955249" cy="369838"/>
          </a:xfrm>
          <a:prstGeom prst="rect">
            <a:avLst/>
          </a:prstGeom>
        </p:spPr>
      </p:pic>
      <p:pic>
        <p:nvPicPr>
          <p:cNvPr id="40" name="Image 8" descr="m_L9-2w10/kac641c8f24.png">    </p:cNvPr>
          <p:cNvPicPr>
            <a:picLocks noChangeAspect="1"/>
          </p:cNvPicPr>
          <p:nvPr/>
        </p:nvPicPr>
        <p:blipFill>
          <a:blip r:embed="rId9"/>
          <a:stretch>
            <a:fillRect/>
          </a:stretch>
        </p:blipFill>
        <p:spPr>
          <a:xfrm>
            <a:off x="6880860" y="4009150"/>
            <a:ext cx="4114800" cy="368686"/>
          </a:xfrm>
          <a:prstGeom prst="rect">
            <a:avLst/>
          </a:prstGeom>
        </p:spPr>
      </p:pic>
      <p:pic>
        <p:nvPicPr>
          <p:cNvPr id="41" name="Image 9" descr="m_L9-2w10/k04f7509747.png">    </p:cNvPr>
          <p:cNvPicPr>
            <a:picLocks noChangeAspect="1"/>
          </p:cNvPicPr>
          <p:nvPr/>
        </p:nvPicPr>
        <p:blipFill>
          <a:blip r:embed="rId10"/>
          <a:stretch>
            <a:fillRect/>
          </a:stretch>
        </p:blipFill>
        <p:spPr>
          <a:xfrm>
            <a:off x="7303861" y="4496708"/>
            <a:ext cx="3268797" cy="342351"/>
          </a:xfrm>
          <a:prstGeom prst="rect">
            <a:avLst/>
          </a:prstGeom>
        </p:spPr>
      </p:pic>
      <p:sp>
        <p:nvSpPr>
          <p:cNvPr id="42" name="Shape 29"/>
          <p:cNvSpPr/>
          <p:nvPr/>
        </p:nvSpPr>
        <p:spPr>
          <a:xfrm>
            <a:off x="457200" y="5532120"/>
            <a:ext cx="11247120" cy="731520"/>
          </a:xfrm>
          <a:prstGeom prst="roundRect">
            <a:avLst>
              <a:gd name="adj" fmla="val 15000"/>
            </a:avLst>
          </a:prstGeom>
          <a:solidFill>
            <a:srgbClr val="FFF1C9"/>
          </a:solidFill>
          <a:ln w="28575">
            <a:solidFill>
              <a:srgbClr val="F0B323"/>
            </a:solidFill>
            <a:prstDash val="solid"/>
          </a:ln>
          <a:effectLst>
            <a:outerShdw sx="100000" sy="100000" kx="0" ky="0" algn="bl" rotWithShape="0" blurRad="101600" dist="25400" dir="5400000">
              <a:srgbClr val="000000">
                <a:alpha val="15000"/>
              </a:srgbClr>
            </a:outerShdw>
          </a:effectLst>
        </p:spPr>
      </p:sp>
      <p:sp>
        <p:nvSpPr>
          <p:cNvPr id="43" name="Text 30"/>
          <p:cNvSpPr txBox="1"/>
          <p:nvPr/>
        </p:nvSpPr>
        <p:spPr>
          <a:xfrm>
            <a:off x="685800" y="5532120"/>
            <a:ext cx="1463040" cy="731520"/>
          </a:xfrm>
          <a:prstGeom prst="rect">
            <a:avLst/>
          </a:prstGeom>
          <a:noFill/>
          <a:ln/>
        </p:spPr>
        <p:txBody>
          <a:bodyPr wrap="square" lIns="0" tIns="0" rIns="0" bIns="0" rtlCol="0" anchor="ctr"/>
          <a:lstStyle/>
          <a:p>
            <a:pPr indent="0" marL="0">
              <a:buNone/>
            </a:pPr>
            <a:r>
              <a:rPr lang="en-US" sz="1200" b="1" spc="200" kern="0" dirty="0">
                <a:solidFill>
                  <a:srgbClr val="E8762C"/>
                </a:solidFill>
                <a:latin typeface="Calibri" pitchFamily="34" charset="0"/>
                <a:ea typeface="Calibri" pitchFamily="34" charset="-122"/>
                <a:cs typeface="Calibri" pitchFamily="34" charset="-120"/>
              </a:rPr>
              <a:t>WHAT IF...?</a:t>
            </a:r>
            <a:endParaRPr lang="en-US" sz="1200" dirty="0"/>
          </a:p>
        </p:txBody>
      </p:sp>
      <p:sp>
        <p:nvSpPr>
          <p:cNvPr id="44" name="Text 31"/>
          <p:cNvSpPr txBox="1"/>
          <p:nvPr/>
        </p:nvSpPr>
        <p:spPr>
          <a:xfrm>
            <a:off x="2194560" y="5532120"/>
            <a:ext cx="6309360" cy="731520"/>
          </a:xfrm>
          <a:prstGeom prst="rect">
            <a:avLst/>
          </a:prstGeom>
          <a:noFill/>
          <a:ln/>
        </p:spPr>
        <p:txBody>
          <a:bodyPr wrap="square" lIns="0" tIns="0" rIns="0" bIns="0" rtlCol="0" anchor="ctr"/>
          <a:lstStyle/>
          <a:p>
            <a:pPr indent="0" marL="0">
              <a:buNone/>
            </a:pPr>
            <a:r>
              <a:rPr lang="en-US" sz="1400" dirty="0">
                <a:solidFill>
                  <a:srgbClr val="222E2D"/>
                </a:solidFill>
                <a:latin typeface="Calibri" pitchFamily="34" charset="0"/>
                <a:ea typeface="Calibri" pitchFamily="34" charset="-122"/>
                <a:cs typeface="Calibri" pitchFamily="34" charset="-120"/>
              </a:rPr>
              <a:t>What if the line is y = x + 6 with the same circle x² + y² = 8? Predict how many points, then look at the discriminant.</a:t>
            </a:r>
            <a:endParaRPr lang="en-US" sz="1400" dirty="0"/>
          </a:p>
        </p:txBody>
      </p:sp>
      <p:pic>
        <p:nvPicPr>
          <p:cNvPr id="45" name="Image 10" descr="m_L9-2w10/k2069078748.png">    </p:cNvPr>
          <p:cNvPicPr>
            <a:picLocks noChangeAspect="1"/>
          </p:cNvPicPr>
          <p:nvPr/>
        </p:nvPicPr>
        <p:blipFill>
          <a:blip r:embed="rId11"/>
          <a:stretch>
            <a:fillRect/>
          </a:stretch>
        </p:blipFill>
        <p:spPr>
          <a:xfrm>
            <a:off x="9739274" y="5744261"/>
            <a:ext cx="1736446" cy="30723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HSA.SSE.B.3 · HSA.REI.C.7 · HSG.GPE.A.1</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9</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329184" cy="0"/>
          </a:xfrm>
          <a:prstGeom prst="line">
            <a:avLst/>
          </a:prstGeom>
          <a:noFill/>
          <a:ln w="25400">
            <a:solidFill>
              <a:srgbClr val="17A199"/>
            </a:solidFill>
            <a:prstDash val="dash"/>
          </a:ln>
        </p:spPr>
      </p:sp>
      <p:sp>
        <p:nvSpPr>
          <p:cNvPr id="15" name="stn3"/>
          <p:cNvSpPr/>
          <p:nvPr/>
        </p:nvSpPr>
        <p:spPr>
          <a:xfrm>
            <a:off x="535838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5833872" y="457200"/>
            <a:ext cx="32918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PRACTICE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Give it a go: Practice, Apply, Investigate</a:t>
            </a:r>
            <a:endParaRPr lang="en-US" sz="3000" dirty="0"/>
          </a:p>
        </p:txBody>
      </p:sp>
      <p:sp>
        <p:nvSpPr>
          <p:cNvPr id="29" name="Shape 24"/>
          <p:cNvSpPr/>
          <p:nvPr/>
        </p:nvSpPr>
        <p:spPr>
          <a:xfrm>
            <a:off x="457200" y="1828800"/>
            <a:ext cx="3611880" cy="777240"/>
          </a:xfrm>
          <a:prstGeom prst="roundRect">
            <a:avLst>
              <a:gd name="adj" fmla="val 14118"/>
            </a:avLst>
          </a:prstGeom>
          <a:solidFill>
            <a:srgbClr val="17A199"/>
          </a:solidFill>
          <a:ln w="12700">
            <a:solidFill>
              <a:srgbClr val="FFFFFF"/>
            </a:solidFill>
            <a:prstDash val="solid"/>
          </a:ln>
        </p:spPr>
      </p:sp>
      <p:sp>
        <p:nvSpPr>
          <p:cNvPr id="30" name="Text 25"/>
          <p:cNvSpPr txBox="1"/>
          <p:nvPr/>
        </p:nvSpPr>
        <p:spPr>
          <a:xfrm>
            <a:off x="68580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PRACTICE</a:t>
            </a:r>
            <a:endParaRPr lang="en-US" sz="2000" dirty="0"/>
          </a:p>
        </p:txBody>
      </p:sp>
      <p:sp>
        <p:nvSpPr>
          <p:cNvPr id="31" name="Text 26"/>
          <p:cNvSpPr txBox="1"/>
          <p:nvPr/>
        </p:nvSpPr>
        <p:spPr>
          <a:xfrm>
            <a:off x="68580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Secure the method</a:t>
            </a:r>
            <a:endParaRPr lang="en-US" sz="1300" dirty="0"/>
          </a:p>
        </p:txBody>
      </p:sp>
      <p:sp>
        <p:nvSpPr>
          <p:cNvPr id="32" name="Shape 27"/>
          <p:cNvSpPr/>
          <p:nvPr/>
        </p:nvSpPr>
        <p:spPr>
          <a:xfrm>
            <a:off x="45720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2" descr="m_L9-2w10/kce83d46f85.png">    </p:cNvPr>
          <p:cNvPicPr>
            <a:picLocks noChangeAspect="1"/>
          </p:cNvPicPr>
          <p:nvPr/>
        </p:nvPicPr>
        <p:blipFill>
          <a:blip r:embed="rId3"/>
          <a:stretch>
            <a:fillRect/>
          </a:stretch>
        </p:blipFill>
        <p:spPr>
          <a:xfrm>
            <a:off x="571500" y="2926080"/>
            <a:ext cx="3383280" cy="794802"/>
          </a:xfrm>
          <a:prstGeom prst="rect">
            <a:avLst/>
          </a:prstGeom>
        </p:spPr>
      </p:pic>
      <p:pic>
        <p:nvPicPr>
          <p:cNvPr id="34" name="Image 3" descr="m_L9-2w10/keb0219797e.png">    </p:cNvPr>
          <p:cNvPicPr>
            <a:picLocks noChangeAspect="1"/>
          </p:cNvPicPr>
          <p:nvPr/>
        </p:nvPicPr>
        <p:blipFill>
          <a:blip r:embed="rId4"/>
          <a:stretch>
            <a:fillRect/>
          </a:stretch>
        </p:blipFill>
        <p:spPr>
          <a:xfrm>
            <a:off x="613562" y="3995202"/>
            <a:ext cx="3299155" cy="811987"/>
          </a:xfrm>
          <a:prstGeom prst="rect">
            <a:avLst/>
          </a:prstGeom>
        </p:spPr>
      </p:pic>
      <p:sp>
        <p:nvSpPr>
          <p:cNvPr id="35" name="Text 28"/>
          <p:cNvSpPr txBox="1"/>
          <p:nvPr/>
        </p:nvSpPr>
        <p:spPr>
          <a:xfrm>
            <a:off x="68580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the center is read with the signs flipped, the right-hand side is treated as r², and the equation is checked with one point.</a:t>
            </a:r>
            <a:endParaRPr lang="en-US" sz="1150" dirty="0"/>
          </a:p>
        </p:txBody>
      </p:sp>
      <p:sp>
        <p:nvSpPr>
          <p:cNvPr id="36" name="Shape 29"/>
          <p:cNvSpPr/>
          <p:nvPr/>
        </p:nvSpPr>
        <p:spPr>
          <a:xfrm>
            <a:off x="4251960" y="1828800"/>
            <a:ext cx="3611880" cy="777240"/>
          </a:xfrm>
          <a:prstGeom prst="roundRect">
            <a:avLst>
              <a:gd name="adj" fmla="val 14118"/>
            </a:avLst>
          </a:prstGeom>
          <a:solidFill>
            <a:srgbClr val="E8762C"/>
          </a:solidFill>
          <a:ln w="12700">
            <a:solidFill>
              <a:srgbClr val="FFFFFF"/>
            </a:solidFill>
            <a:prstDash val="solid"/>
          </a:ln>
        </p:spPr>
      </p:sp>
      <p:sp>
        <p:nvSpPr>
          <p:cNvPr id="37" name="Text 30"/>
          <p:cNvSpPr txBox="1"/>
          <p:nvPr/>
        </p:nvSpPr>
        <p:spPr>
          <a:xfrm>
            <a:off x="448056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APPLY</a:t>
            </a:r>
            <a:endParaRPr lang="en-US" sz="2000" dirty="0"/>
          </a:p>
        </p:txBody>
      </p:sp>
      <p:sp>
        <p:nvSpPr>
          <p:cNvPr id="38" name="Text 31"/>
          <p:cNvSpPr txBox="1"/>
          <p:nvPr/>
        </p:nvSpPr>
        <p:spPr>
          <a:xfrm>
            <a:off x="448056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it in context</a:t>
            </a:r>
            <a:endParaRPr lang="en-US" sz="1300" dirty="0"/>
          </a:p>
        </p:txBody>
      </p:sp>
      <p:sp>
        <p:nvSpPr>
          <p:cNvPr id="39" name="Shape 32"/>
          <p:cNvSpPr/>
          <p:nvPr/>
        </p:nvSpPr>
        <p:spPr>
          <a:xfrm>
            <a:off x="425196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0" name="Image 4" descr="m_L9-2w10/kcf22b8a95d.png">    </p:cNvPr>
          <p:cNvPicPr>
            <a:picLocks noChangeAspect="1"/>
          </p:cNvPicPr>
          <p:nvPr/>
        </p:nvPicPr>
        <p:blipFill>
          <a:blip r:embed="rId5"/>
          <a:stretch>
            <a:fillRect/>
          </a:stretch>
        </p:blipFill>
        <p:spPr>
          <a:xfrm>
            <a:off x="4366260" y="2926080"/>
            <a:ext cx="3383280" cy="476579"/>
          </a:xfrm>
          <a:prstGeom prst="rect">
            <a:avLst/>
          </a:prstGeom>
        </p:spPr>
      </p:pic>
      <p:pic>
        <p:nvPicPr>
          <p:cNvPr id="41" name="Image 5" descr="m_L9-2w10/k3de0eb198e.png">    </p:cNvPr>
          <p:cNvPicPr>
            <a:picLocks noChangeAspect="1"/>
          </p:cNvPicPr>
          <p:nvPr/>
        </p:nvPicPr>
        <p:blipFill>
          <a:blip r:embed="rId6"/>
          <a:stretch>
            <a:fillRect/>
          </a:stretch>
        </p:blipFill>
        <p:spPr>
          <a:xfrm>
            <a:off x="4366260" y="3676979"/>
            <a:ext cx="3383280" cy="715322"/>
          </a:xfrm>
          <a:prstGeom prst="rect">
            <a:avLst/>
          </a:prstGeom>
        </p:spPr>
      </p:pic>
      <p:sp>
        <p:nvSpPr>
          <p:cNvPr id="42" name="Text 33"/>
          <p:cNvSpPr txBox="1"/>
          <p:nvPr/>
        </p:nvSpPr>
        <p:spPr>
          <a:xfrm>
            <a:off x="448056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the center is placed first, the radius comes from r², and each answer says what it means in the context.</a:t>
            </a:r>
            <a:endParaRPr lang="en-US" sz="1150" dirty="0"/>
          </a:p>
        </p:txBody>
      </p:sp>
      <p:sp>
        <p:nvSpPr>
          <p:cNvPr id="43" name="Shape 34"/>
          <p:cNvSpPr/>
          <p:nvPr/>
        </p:nvSpPr>
        <p:spPr>
          <a:xfrm>
            <a:off x="8046720" y="1828800"/>
            <a:ext cx="3611880" cy="777240"/>
          </a:xfrm>
          <a:prstGeom prst="roundRect">
            <a:avLst>
              <a:gd name="adj" fmla="val 14118"/>
            </a:avLst>
          </a:prstGeom>
          <a:solidFill>
            <a:srgbClr val="1F3864"/>
          </a:solidFill>
          <a:ln w="12700">
            <a:solidFill>
              <a:srgbClr val="FFFFFF"/>
            </a:solidFill>
            <a:prstDash val="solid"/>
          </a:ln>
        </p:spPr>
      </p:sp>
      <p:sp>
        <p:nvSpPr>
          <p:cNvPr id="44" name="Text 35"/>
          <p:cNvSpPr txBox="1"/>
          <p:nvPr/>
        </p:nvSpPr>
        <p:spPr>
          <a:xfrm>
            <a:off x="827532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INVESTIGATE</a:t>
            </a:r>
            <a:endParaRPr lang="en-US" sz="2000" dirty="0"/>
          </a:p>
        </p:txBody>
      </p:sp>
      <p:sp>
        <p:nvSpPr>
          <p:cNvPr id="45" name="Text 36"/>
          <p:cNvSpPr txBox="1"/>
          <p:nvPr/>
        </p:nvSpPr>
        <p:spPr>
          <a:xfrm>
            <a:off x="827532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Find out why</a:t>
            </a:r>
            <a:endParaRPr lang="en-US" sz="1300" dirty="0"/>
          </a:p>
        </p:txBody>
      </p:sp>
      <p:sp>
        <p:nvSpPr>
          <p:cNvPr id="46" name="Shape 37"/>
          <p:cNvSpPr/>
          <p:nvPr/>
        </p:nvSpPr>
        <p:spPr>
          <a:xfrm>
            <a:off x="804672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7" name="Image 6" descr="m_L9-2w10/kb8816c881f.png">    </p:cNvPr>
          <p:cNvPicPr>
            <a:picLocks noChangeAspect="1"/>
          </p:cNvPicPr>
          <p:nvPr/>
        </p:nvPicPr>
        <p:blipFill>
          <a:blip r:embed="rId7"/>
          <a:stretch>
            <a:fillRect/>
          </a:stretch>
        </p:blipFill>
        <p:spPr>
          <a:xfrm>
            <a:off x="8161020" y="2926080"/>
            <a:ext cx="3383280" cy="572040"/>
          </a:xfrm>
          <a:prstGeom prst="rect">
            <a:avLst/>
          </a:prstGeom>
        </p:spPr>
      </p:pic>
      <p:pic>
        <p:nvPicPr>
          <p:cNvPr id="48" name="Image 7" descr="m_L9-2w10/k1876a447a1.png">    </p:cNvPr>
          <p:cNvPicPr>
            <a:picLocks noChangeAspect="1"/>
          </p:cNvPicPr>
          <p:nvPr/>
        </p:nvPicPr>
        <p:blipFill>
          <a:blip r:embed="rId8"/>
          <a:stretch>
            <a:fillRect/>
          </a:stretch>
        </p:blipFill>
        <p:spPr>
          <a:xfrm>
            <a:off x="8161020" y="3772440"/>
            <a:ext cx="3383280" cy="646932"/>
          </a:xfrm>
          <a:prstGeom prst="rect">
            <a:avLst/>
          </a:prstGeom>
        </p:spPr>
      </p:pic>
      <p:sp>
        <p:nvSpPr>
          <p:cNvPr id="49" name="Text 38"/>
          <p:cNvSpPr txBox="1"/>
          <p:nvPr/>
        </p:nvSpPr>
        <p:spPr>
          <a:xfrm>
            <a:off x="827532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your argument starts from the distance formula or from one repeated solution, and every step stays balanced.</a:t>
            </a:r>
            <a:endParaRPr lang="en-US" sz="11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HSA.SSE.B.3 · HSA.REI.C.7 · HSG.GPE.A.1</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10</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329184" cy="0"/>
          </a:xfrm>
          <a:prstGeom prst="line">
            <a:avLst/>
          </a:prstGeom>
          <a:noFill/>
          <a:ln w="25400">
            <a:solidFill>
              <a:srgbClr val="17A199"/>
            </a:solidFill>
            <a:prstDash val="dash"/>
          </a:ln>
        </p:spPr>
      </p:sp>
      <p:sp>
        <p:nvSpPr>
          <p:cNvPr id="15" name="stn3"/>
          <p:cNvSpPr/>
          <p:nvPr/>
        </p:nvSpPr>
        <p:spPr>
          <a:xfrm>
            <a:off x="535838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5833872" y="457200"/>
            <a:ext cx="32918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PRACTICE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Which route? Judge the claim</a:t>
            </a:r>
            <a:endParaRPr lang="en-US" sz="3000" dirty="0"/>
          </a:p>
        </p:txBody>
      </p:sp>
      <p:sp>
        <p:nvSpPr>
          <p:cNvPr id="29" name="Shape 24"/>
          <p:cNvSpPr/>
          <p:nvPr/>
        </p:nvSpPr>
        <p:spPr>
          <a:xfrm>
            <a:off x="457200" y="1783080"/>
            <a:ext cx="2377440" cy="2560320"/>
          </a:xfrm>
          <a:prstGeom prst="roundRect">
            <a:avLst>
              <a:gd name="adj" fmla="val 4615"/>
            </a:avLst>
          </a:prstGeom>
          <a:solidFill>
            <a:srgbClr val="FFFFFF"/>
          </a:solidFill>
          <a:ln w="15875">
            <a:solidFill>
              <a:srgbClr val="17A199"/>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594360" y="1874520"/>
            <a:ext cx="2103120" cy="365760"/>
          </a:xfrm>
          <a:prstGeom prst="roundRect">
            <a:avLst>
              <a:gd name="adj" fmla="val 50000"/>
            </a:avLst>
          </a:prstGeom>
          <a:solidFill>
            <a:srgbClr val="17A199"/>
          </a:solidFill>
          <a:ln w="12700">
            <a:solidFill>
              <a:srgbClr val="FFFFFF"/>
            </a:solidFill>
            <a:prstDash val="solid"/>
          </a:ln>
        </p:spPr>
      </p:sp>
      <p:sp>
        <p:nvSpPr>
          <p:cNvPr id="31" name="Text 26"/>
          <p:cNvSpPr txBox="1"/>
          <p:nvPr/>
        </p:nvSpPr>
        <p:spPr>
          <a:xfrm>
            <a:off x="594360" y="1874520"/>
            <a:ext cx="21031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COMPLETE THE SQUARE</a:t>
            </a:r>
            <a:endParaRPr lang="en-US" sz="1300" dirty="0"/>
          </a:p>
        </p:txBody>
      </p:sp>
      <p:pic>
        <p:nvPicPr>
          <p:cNvPr id="32" name="Image 2" descr="m_L9-2w10/k014ffef704.png">    </p:cNvPr>
          <p:cNvPicPr>
            <a:picLocks noChangeAspect="1"/>
          </p:cNvPicPr>
          <p:nvPr/>
        </p:nvPicPr>
        <p:blipFill>
          <a:blip r:embed="rId3"/>
          <a:stretch>
            <a:fillRect/>
          </a:stretch>
        </p:blipFill>
        <p:spPr>
          <a:xfrm>
            <a:off x="653339" y="2377440"/>
            <a:ext cx="1985162" cy="266273"/>
          </a:xfrm>
          <a:prstGeom prst="rect">
            <a:avLst/>
          </a:prstGeom>
        </p:spPr>
      </p:pic>
      <p:sp>
        <p:nvSpPr>
          <p:cNvPr id="33" name="Text 27"/>
          <p:cNvSpPr txBox="1"/>
          <p:nvPr/>
        </p:nvSpPr>
        <p:spPr>
          <a:xfrm>
            <a:off x="594360" y="3017520"/>
            <a:ext cx="2103120" cy="640080"/>
          </a:xfrm>
          <a:prstGeom prst="rect">
            <a:avLst/>
          </a:prstGeom>
          <a:noFill/>
          <a:ln/>
        </p:spPr>
        <p:txBody>
          <a:bodyPr wrap="square" lIns="0" tIns="0" rIns="0" bIns="0" rtlCol="0" anchor="t"/>
          <a:lstStyle/>
          <a:p>
            <a:pPr indent="0" marL="0">
              <a:buNone/>
            </a:pPr>
            <a:r>
              <a:rPr lang="en-US" sz="1150" b="1" dirty="0">
                <a:solidFill>
                  <a:srgbClr val="17A199"/>
                </a:solidFill>
                <a:latin typeface="Calibri" pitchFamily="34" charset="0"/>
                <a:ea typeface="Calibri" pitchFamily="34" charset="-122"/>
                <a:cs typeface="Calibri" pitchFamily="34" charset="-120"/>
              </a:rPr>
              <a:t>+  </a:t>
            </a:r>
            <a:pPr indent="0" marL="0">
              <a:buNone/>
            </a:pPr>
            <a:r>
              <a:rPr lang="en-US" sz="1150" dirty="0">
                <a:solidFill>
                  <a:srgbClr val="222E2D"/>
                </a:solidFill>
                <a:latin typeface="Calibri" pitchFamily="34" charset="0"/>
                <a:ea typeface="Calibri" pitchFamily="34" charset="-122"/>
                <a:cs typeface="Calibri" pitchFamily="34" charset="-120"/>
              </a:rPr>
              <a:t>Exact: gives center and radius together.</a:t>
            </a:r>
            <a:endParaRPr lang="en-US" sz="1150" dirty="0"/>
          </a:p>
        </p:txBody>
      </p:sp>
      <p:sp>
        <p:nvSpPr>
          <p:cNvPr id="34" name="Text 28"/>
          <p:cNvSpPr txBox="1"/>
          <p:nvPr/>
        </p:nvSpPr>
        <p:spPr>
          <a:xfrm>
            <a:off x="594360" y="3657600"/>
            <a:ext cx="2103120" cy="640080"/>
          </a:xfrm>
          <a:prstGeom prst="rect">
            <a:avLst/>
          </a:prstGeom>
          <a:noFill/>
          <a:ln/>
        </p:spPr>
        <p:txBody>
          <a:bodyPr wrap="square" lIns="0" tIns="0" rIns="0" bIns="0" rtlCol="0" anchor="t"/>
          <a:lstStyle/>
          <a:p>
            <a:pPr indent="0" marL="0">
              <a:buNone/>
            </a:pPr>
            <a:r>
              <a:rPr lang="en-US" sz="1150" b="1" dirty="0">
                <a:solidFill>
                  <a:srgbClr val="E8762C"/>
                </a:solidFill>
                <a:latin typeface="Calibri" pitchFamily="34" charset="0"/>
                <a:ea typeface="Calibri" pitchFamily="34" charset="-122"/>
                <a:cs typeface="Calibri" pitchFamily="34" charset="-120"/>
              </a:rPr>
              <a:t>−  </a:t>
            </a:r>
            <a:pPr indent="0" marL="0">
              <a:buNone/>
            </a:pPr>
            <a:r>
              <a:rPr lang="en-US" sz="1150" dirty="0">
                <a:solidFill>
                  <a:srgbClr val="222E2D"/>
                </a:solidFill>
                <a:latin typeface="Calibri" pitchFamily="34" charset="0"/>
                <a:ea typeface="Calibri" pitchFamily="34" charset="-122"/>
                <a:cs typeface="Calibri" pitchFamily="34" charset="-120"/>
              </a:rPr>
              <a:t>Adding to one side only spoils it.</a:t>
            </a:r>
            <a:endParaRPr lang="en-US" sz="1150" dirty="0"/>
          </a:p>
        </p:txBody>
      </p:sp>
      <p:sp>
        <p:nvSpPr>
          <p:cNvPr id="35" name="Shape 29"/>
          <p:cNvSpPr/>
          <p:nvPr/>
        </p:nvSpPr>
        <p:spPr>
          <a:xfrm>
            <a:off x="2971800" y="1783080"/>
            <a:ext cx="2377440" cy="2560320"/>
          </a:xfrm>
          <a:prstGeom prst="roundRect">
            <a:avLst>
              <a:gd name="adj" fmla="val 4615"/>
            </a:avLst>
          </a:prstGeom>
          <a:solidFill>
            <a:srgbClr val="FFFFFF"/>
          </a:solidFill>
          <a:ln w="15875">
            <a:solidFill>
              <a:srgbClr val="1F3864"/>
            </a:solidFill>
            <a:prstDash val="solid"/>
          </a:ln>
          <a:effectLst>
            <a:outerShdw sx="100000" sy="100000" kx="0" ky="0" algn="bl" rotWithShape="0" blurRad="101600" dist="25400" dir="5400000">
              <a:srgbClr val="000000">
                <a:alpha val="15000"/>
              </a:srgbClr>
            </a:outerShdw>
          </a:effectLst>
        </p:spPr>
      </p:sp>
      <p:sp>
        <p:nvSpPr>
          <p:cNvPr id="36" name="Shape 30"/>
          <p:cNvSpPr/>
          <p:nvPr/>
        </p:nvSpPr>
        <p:spPr>
          <a:xfrm>
            <a:off x="3108960" y="1874520"/>
            <a:ext cx="2103120" cy="365760"/>
          </a:xfrm>
          <a:prstGeom prst="roundRect">
            <a:avLst>
              <a:gd name="adj" fmla="val 50000"/>
            </a:avLst>
          </a:prstGeom>
          <a:solidFill>
            <a:srgbClr val="1F3864"/>
          </a:solidFill>
          <a:ln w="12700">
            <a:solidFill>
              <a:srgbClr val="FFFFFF"/>
            </a:solidFill>
            <a:prstDash val="solid"/>
          </a:ln>
        </p:spPr>
      </p:sp>
      <p:sp>
        <p:nvSpPr>
          <p:cNvPr id="37" name="Text 31"/>
          <p:cNvSpPr txBox="1"/>
          <p:nvPr/>
        </p:nvSpPr>
        <p:spPr>
          <a:xfrm>
            <a:off x="3108960" y="1874520"/>
            <a:ext cx="21031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CENTER FORMULA</a:t>
            </a:r>
            <a:endParaRPr lang="en-US" sz="1300" dirty="0"/>
          </a:p>
        </p:txBody>
      </p:sp>
      <p:pic>
        <p:nvPicPr>
          <p:cNvPr id="38" name="Image 3" descr="m_L9-2w10/k7cfdb4f555.png">    </p:cNvPr>
          <p:cNvPicPr>
            <a:picLocks noChangeAspect="1"/>
          </p:cNvPicPr>
          <p:nvPr/>
        </p:nvPicPr>
        <p:blipFill>
          <a:blip r:embed="rId4"/>
          <a:stretch>
            <a:fillRect/>
          </a:stretch>
        </p:blipFill>
        <p:spPr>
          <a:xfrm>
            <a:off x="3171505" y="2377440"/>
            <a:ext cx="1978030" cy="525414"/>
          </a:xfrm>
          <a:prstGeom prst="rect">
            <a:avLst/>
          </a:prstGeom>
        </p:spPr>
      </p:pic>
      <p:sp>
        <p:nvSpPr>
          <p:cNvPr id="39" name="Text 32"/>
          <p:cNvSpPr txBox="1"/>
          <p:nvPr/>
        </p:nvSpPr>
        <p:spPr>
          <a:xfrm>
            <a:off x="3108960" y="3017520"/>
            <a:ext cx="2103120" cy="640080"/>
          </a:xfrm>
          <a:prstGeom prst="rect">
            <a:avLst/>
          </a:prstGeom>
          <a:noFill/>
          <a:ln/>
        </p:spPr>
        <p:txBody>
          <a:bodyPr wrap="square" lIns="0" tIns="0" rIns="0" bIns="0" rtlCol="0" anchor="t"/>
          <a:lstStyle/>
          <a:p>
            <a:pPr indent="0" marL="0">
              <a:buNone/>
            </a:pPr>
            <a:r>
              <a:rPr lang="en-US" sz="1150" b="1" dirty="0">
                <a:solidFill>
                  <a:srgbClr val="17A199"/>
                </a:solidFill>
                <a:latin typeface="Calibri" pitchFamily="34" charset="0"/>
                <a:ea typeface="Calibri" pitchFamily="34" charset="-122"/>
                <a:cs typeface="Calibri" pitchFamily="34" charset="-120"/>
              </a:rPr>
              <a:t>+  </a:t>
            </a:r>
            <a:pPr indent="0" marL="0">
              <a:buNone/>
            </a:pPr>
            <a:r>
              <a:rPr lang="en-US" sz="1150" dirty="0">
                <a:solidFill>
                  <a:srgbClr val="222E2D"/>
                </a:solidFill>
                <a:latin typeface="Calibri" pitchFamily="34" charset="0"/>
                <a:ea typeface="Calibri" pitchFamily="34" charset="-122"/>
                <a:cs typeface="Calibri" pitchFamily="34" charset="-120"/>
              </a:rPr>
              <a:t>Quick for the center.</a:t>
            </a:r>
            <a:endParaRPr lang="en-US" sz="1150" dirty="0"/>
          </a:p>
        </p:txBody>
      </p:sp>
      <p:sp>
        <p:nvSpPr>
          <p:cNvPr id="40" name="Text 33"/>
          <p:cNvSpPr txBox="1"/>
          <p:nvPr/>
        </p:nvSpPr>
        <p:spPr>
          <a:xfrm>
            <a:off x="3108960" y="3657600"/>
            <a:ext cx="2103120" cy="640080"/>
          </a:xfrm>
          <a:prstGeom prst="rect">
            <a:avLst/>
          </a:prstGeom>
          <a:noFill/>
          <a:ln/>
        </p:spPr>
        <p:txBody>
          <a:bodyPr wrap="square" lIns="0" tIns="0" rIns="0" bIns="0" rtlCol="0" anchor="t"/>
          <a:lstStyle/>
          <a:p>
            <a:pPr indent="0" marL="0">
              <a:buNone/>
            </a:pPr>
            <a:r>
              <a:rPr lang="en-US" sz="1150" b="1" dirty="0">
                <a:solidFill>
                  <a:srgbClr val="E8762C"/>
                </a:solidFill>
                <a:latin typeface="Calibri" pitchFamily="34" charset="0"/>
                <a:ea typeface="Calibri" pitchFamily="34" charset="-122"/>
                <a:cs typeface="Calibri" pitchFamily="34" charset="-120"/>
              </a:rPr>
              <a:t>−  </a:t>
            </a:r>
            <a:pPr indent="0" marL="0">
              <a:buNone/>
            </a:pPr>
            <a:r>
              <a:rPr lang="en-US" sz="1150" dirty="0">
                <a:solidFill>
                  <a:srgbClr val="222E2D"/>
                </a:solidFill>
                <a:latin typeface="Calibri" pitchFamily="34" charset="0"/>
                <a:ea typeface="Calibri" pitchFamily="34" charset="-122"/>
                <a:cs typeface="Calibri" pitchFamily="34" charset="-120"/>
              </a:rPr>
              <a:t>Radius still needs a formula.</a:t>
            </a:r>
            <a:endParaRPr lang="en-US" sz="1150" dirty="0"/>
          </a:p>
        </p:txBody>
      </p:sp>
      <p:sp>
        <p:nvSpPr>
          <p:cNvPr id="41" name="Shape 34"/>
          <p:cNvSpPr/>
          <p:nvPr/>
        </p:nvSpPr>
        <p:spPr>
          <a:xfrm>
            <a:off x="5486400" y="1783080"/>
            <a:ext cx="2377440" cy="2560320"/>
          </a:xfrm>
          <a:prstGeom prst="roundRect">
            <a:avLst>
              <a:gd name="adj" fmla="val 4615"/>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42" name="Shape 35"/>
          <p:cNvSpPr/>
          <p:nvPr/>
        </p:nvSpPr>
        <p:spPr>
          <a:xfrm>
            <a:off x="5623560" y="1874520"/>
            <a:ext cx="2103120" cy="365760"/>
          </a:xfrm>
          <a:prstGeom prst="roundRect">
            <a:avLst>
              <a:gd name="adj" fmla="val 50000"/>
            </a:avLst>
          </a:prstGeom>
          <a:solidFill>
            <a:srgbClr val="E8762C"/>
          </a:solidFill>
          <a:ln w="12700">
            <a:solidFill>
              <a:srgbClr val="FFFFFF"/>
            </a:solidFill>
            <a:prstDash val="solid"/>
          </a:ln>
        </p:spPr>
      </p:sp>
      <p:sp>
        <p:nvSpPr>
          <p:cNvPr id="43" name="Text 36"/>
          <p:cNvSpPr txBox="1"/>
          <p:nvPr/>
        </p:nvSpPr>
        <p:spPr>
          <a:xfrm>
            <a:off x="5623560" y="1874520"/>
            <a:ext cx="21031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GRAPH OR TECHNOLOGY</a:t>
            </a:r>
            <a:endParaRPr lang="en-US" sz="1300" dirty="0"/>
          </a:p>
        </p:txBody>
      </p:sp>
      <p:pic>
        <p:nvPicPr>
          <p:cNvPr id="44" name="Image 4" descr="m_L9-2w10/k228700bc29.png">    </p:cNvPr>
          <p:cNvPicPr>
            <a:picLocks noChangeAspect="1"/>
          </p:cNvPicPr>
          <p:nvPr/>
        </p:nvPicPr>
        <p:blipFill>
          <a:blip r:embed="rId5"/>
          <a:stretch>
            <a:fillRect/>
          </a:stretch>
        </p:blipFill>
        <p:spPr>
          <a:xfrm>
            <a:off x="5766938" y="2377440"/>
            <a:ext cx="1816364" cy="247254"/>
          </a:xfrm>
          <a:prstGeom prst="rect">
            <a:avLst/>
          </a:prstGeom>
        </p:spPr>
      </p:pic>
      <p:sp>
        <p:nvSpPr>
          <p:cNvPr id="45" name="Text 37"/>
          <p:cNvSpPr txBox="1"/>
          <p:nvPr/>
        </p:nvSpPr>
        <p:spPr>
          <a:xfrm>
            <a:off x="5623560" y="3017520"/>
            <a:ext cx="2103120" cy="640080"/>
          </a:xfrm>
          <a:prstGeom prst="rect">
            <a:avLst/>
          </a:prstGeom>
          <a:noFill/>
          <a:ln/>
        </p:spPr>
        <p:txBody>
          <a:bodyPr wrap="square" lIns="0" tIns="0" rIns="0" bIns="0" rtlCol="0" anchor="t"/>
          <a:lstStyle/>
          <a:p>
            <a:pPr indent="0" marL="0">
              <a:buNone/>
            </a:pPr>
            <a:r>
              <a:rPr lang="en-US" sz="1150" b="1" dirty="0">
                <a:solidFill>
                  <a:srgbClr val="17A199"/>
                </a:solidFill>
                <a:latin typeface="Calibri" pitchFamily="34" charset="0"/>
                <a:ea typeface="Calibri" pitchFamily="34" charset="-122"/>
                <a:cs typeface="Calibri" pitchFamily="34" charset="-120"/>
              </a:rPr>
              <a:t>+  </a:t>
            </a:r>
            <a:pPr indent="0" marL="0">
              <a:buNone/>
            </a:pPr>
            <a:r>
              <a:rPr lang="en-US" sz="1150" dirty="0">
                <a:solidFill>
                  <a:srgbClr val="222E2D"/>
                </a:solidFill>
                <a:latin typeface="Calibri" pitchFamily="34" charset="0"/>
                <a:ea typeface="Calibri" pitchFamily="34" charset="-122"/>
                <a:cs typeface="Calibri" pitchFamily="34" charset="-120"/>
              </a:rPr>
              <a:t>Shows the whole circle.</a:t>
            </a:r>
            <a:endParaRPr lang="en-US" sz="1150" dirty="0"/>
          </a:p>
        </p:txBody>
      </p:sp>
      <p:sp>
        <p:nvSpPr>
          <p:cNvPr id="46" name="Text 38"/>
          <p:cNvSpPr txBox="1"/>
          <p:nvPr/>
        </p:nvSpPr>
        <p:spPr>
          <a:xfrm>
            <a:off x="5623560" y="3657600"/>
            <a:ext cx="2103120" cy="640080"/>
          </a:xfrm>
          <a:prstGeom prst="rect">
            <a:avLst/>
          </a:prstGeom>
          <a:noFill/>
          <a:ln/>
        </p:spPr>
        <p:txBody>
          <a:bodyPr wrap="square" lIns="0" tIns="0" rIns="0" bIns="0" rtlCol="0" anchor="t"/>
          <a:lstStyle/>
          <a:p>
            <a:pPr indent="0" marL="0">
              <a:buNone/>
            </a:pPr>
            <a:r>
              <a:rPr lang="en-US" sz="1150" b="1" dirty="0">
                <a:solidFill>
                  <a:srgbClr val="E8762C"/>
                </a:solidFill>
                <a:latin typeface="Calibri" pitchFamily="34" charset="0"/>
                <a:ea typeface="Calibri" pitchFamily="34" charset="-122"/>
                <a:cs typeface="Calibri" pitchFamily="34" charset="-120"/>
              </a:rPr>
              <a:t>−  </a:t>
            </a:r>
            <a:pPr indent="0" marL="0">
              <a:buNone/>
            </a:pPr>
            <a:r>
              <a:rPr lang="en-US" sz="1150" dirty="0">
                <a:solidFill>
                  <a:srgbClr val="222E2D"/>
                </a:solidFill>
                <a:latin typeface="Calibri" pitchFamily="34" charset="0"/>
                <a:ea typeface="Calibri" pitchFamily="34" charset="-122"/>
                <a:cs typeface="Calibri" pitchFamily="34" charset="-120"/>
              </a:rPr>
              <a:t>Exact values are hard to read.</a:t>
            </a:r>
            <a:endParaRPr lang="en-US" sz="1150" dirty="0"/>
          </a:p>
        </p:txBody>
      </p:sp>
      <p:sp>
        <p:nvSpPr>
          <p:cNvPr id="47" name="Shape 39"/>
          <p:cNvSpPr/>
          <p:nvPr/>
        </p:nvSpPr>
        <p:spPr>
          <a:xfrm>
            <a:off x="8001000" y="1783080"/>
            <a:ext cx="3703320" cy="2560320"/>
          </a:xfrm>
          <a:prstGeom prst="roundRect">
            <a:avLst>
              <a:gd name="adj" fmla="val 4286"/>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48" name="Text 40"/>
          <p:cNvSpPr txBox="1"/>
          <p:nvPr/>
        </p:nvSpPr>
        <p:spPr>
          <a:xfrm>
            <a:off x="8229600" y="1874520"/>
            <a:ext cx="32004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JUDGE THE CLAIM</a:t>
            </a:r>
            <a:endParaRPr lang="en-US" sz="1100" dirty="0"/>
          </a:p>
        </p:txBody>
      </p:sp>
      <p:sp>
        <p:nvSpPr>
          <p:cNvPr id="49" name="Text 41"/>
          <p:cNvSpPr txBox="1"/>
          <p:nvPr/>
        </p:nvSpPr>
        <p:spPr>
          <a:xfrm>
            <a:off x="8229600" y="2148840"/>
            <a:ext cx="3291840" cy="868680"/>
          </a:xfrm>
          <a:prstGeom prst="rect">
            <a:avLst/>
          </a:prstGeom>
          <a:noFill/>
          <a:ln/>
        </p:spPr>
        <p:txBody>
          <a:bodyPr wrap="square" lIns="0" tIns="0" rIns="0" bIns="0" rtlCol="0" anchor="t"/>
          <a:lstStyle/>
          <a:p>
            <a:pPr indent="0" marL="0">
              <a:buNone/>
            </a:pPr>
            <a:r>
              <a:rPr lang="en-US" sz="1400" b="1" dirty="0">
                <a:solidFill>
                  <a:srgbClr val="1F3864"/>
                </a:solidFill>
                <a:latin typeface="Calibri" pitchFamily="34" charset="0"/>
                <a:ea typeface="Calibri" pitchFamily="34" charset="-122"/>
                <a:cs typeface="Calibri" pitchFamily="34" charset="-120"/>
              </a:rPr>
              <a:t>A line that meets a circle at exactly one point must be horizontal or vertical.</a:t>
            </a:r>
            <a:endParaRPr lang="en-US" sz="1400" dirty="0"/>
          </a:p>
        </p:txBody>
      </p:sp>
      <p:sp>
        <p:nvSpPr>
          <p:cNvPr id="50" name="Shape 42"/>
          <p:cNvSpPr/>
          <p:nvPr/>
        </p:nvSpPr>
        <p:spPr>
          <a:xfrm>
            <a:off x="8229600" y="3063240"/>
            <a:ext cx="1024128" cy="310896"/>
          </a:xfrm>
          <a:prstGeom prst="roundRect">
            <a:avLst>
              <a:gd name="adj" fmla="val 50000"/>
            </a:avLst>
          </a:prstGeom>
          <a:solidFill>
            <a:srgbClr val="FFFFFF"/>
          </a:solidFill>
          <a:ln w="19050">
            <a:solidFill>
              <a:srgbClr val="1F3864"/>
            </a:solidFill>
            <a:prstDash val="solid"/>
          </a:ln>
        </p:spPr>
      </p:sp>
      <p:sp>
        <p:nvSpPr>
          <p:cNvPr id="51" name="Text 43"/>
          <p:cNvSpPr txBox="1"/>
          <p:nvPr/>
        </p:nvSpPr>
        <p:spPr>
          <a:xfrm>
            <a:off x="8229600" y="3063240"/>
            <a:ext cx="1024128" cy="310896"/>
          </a:xfrm>
          <a:prstGeom prst="rect">
            <a:avLst/>
          </a:prstGeom>
          <a:noFill/>
          <a:ln/>
        </p:spPr>
        <p:txBody>
          <a:bodyPr wrap="square" lIns="0" tIns="0" rIns="0" bIns="0" rtlCol="0" anchor="ctr"/>
          <a:lstStyle/>
          <a:p>
            <a:pPr algn="ctr" indent="0" marL="0">
              <a:buNone/>
            </a:pPr>
            <a:r>
              <a:rPr lang="en-US" sz="950" b="1" dirty="0">
                <a:solidFill>
                  <a:srgbClr val="1F3864"/>
                </a:solidFill>
                <a:latin typeface="Calibri" pitchFamily="34" charset="0"/>
                <a:ea typeface="Calibri" pitchFamily="34" charset="-122"/>
                <a:cs typeface="Calibri" pitchFamily="34" charset="-120"/>
              </a:rPr>
              <a:t>TRUE</a:t>
            </a:r>
            <a:endParaRPr lang="en-US" sz="950" dirty="0"/>
          </a:p>
        </p:txBody>
      </p:sp>
      <p:sp>
        <p:nvSpPr>
          <p:cNvPr id="52" name="Shape 44"/>
          <p:cNvSpPr/>
          <p:nvPr/>
        </p:nvSpPr>
        <p:spPr>
          <a:xfrm>
            <a:off x="9326880" y="3063240"/>
            <a:ext cx="1024128" cy="310896"/>
          </a:xfrm>
          <a:prstGeom prst="roundRect">
            <a:avLst>
              <a:gd name="adj" fmla="val 50000"/>
            </a:avLst>
          </a:prstGeom>
          <a:solidFill>
            <a:srgbClr val="FFFFFF"/>
          </a:solidFill>
          <a:ln w="19050">
            <a:solidFill>
              <a:srgbClr val="1F3864"/>
            </a:solidFill>
            <a:prstDash val="solid"/>
          </a:ln>
        </p:spPr>
      </p:sp>
      <p:sp>
        <p:nvSpPr>
          <p:cNvPr id="53" name="Text 45"/>
          <p:cNvSpPr txBox="1"/>
          <p:nvPr/>
        </p:nvSpPr>
        <p:spPr>
          <a:xfrm>
            <a:off x="9326880" y="3063240"/>
            <a:ext cx="1024128" cy="310896"/>
          </a:xfrm>
          <a:prstGeom prst="rect">
            <a:avLst/>
          </a:prstGeom>
          <a:noFill/>
          <a:ln/>
        </p:spPr>
        <p:txBody>
          <a:bodyPr wrap="square" lIns="0" tIns="0" rIns="0" bIns="0" rtlCol="0" anchor="ctr"/>
          <a:lstStyle/>
          <a:p>
            <a:pPr algn="ctr" indent="0" marL="0">
              <a:buNone/>
            </a:pPr>
            <a:r>
              <a:rPr lang="en-US" sz="950" b="1" dirty="0">
                <a:solidFill>
                  <a:srgbClr val="1F3864"/>
                </a:solidFill>
                <a:latin typeface="Calibri" pitchFamily="34" charset="0"/>
                <a:ea typeface="Calibri" pitchFamily="34" charset="-122"/>
                <a:cs typeface="Calibri" pitchFamily="34" charset="-120"/>
              </a:rPr>
              <a:t>FALSE</a:t>
            </a:r>
            <a:endParaRPr lang="en-US" sz="950" dirty="0"/>
          </a:p>
        </p:txBody>
      </p:sp>
      <p:sp>
        <p:nvSpPr>
          <p:cNvPr id="54" name="Shape 46"/>
          <p:cNvSpPr/>
          <p:nvPr/>
        </p:nvSpPr>
        <p:spPr>
          <a:xfrm>
            <a:off x="10424160" y="3063240"/>
            <a:ext cx="1024128" cy="310896"/>
          </a:xfrm>
          <a:prstGeom prst="roundRect">
            <a:avLst>
              <a:gd name="adj" fmla="val 50000"/>
            </a:avLst>
          </a:prstGeom>
          <a:solidFill>
            <a:srgbClr val="FFFFFF"/>
          </a:solidFill>
          <a:ln w="19050">
            <a:solidFill>
              <a:srgbClr val="1F3864"/>
            </a:solidFill>
            <a:prstDash val="solid"/>
          </a:ln>
        </p:spPr>
      </p:sp>
      <p:sp>
        <p:nvSpPr>
          <p:cNvPr id="55" name="Text 47"/>
          <p:cNvSpPr txBox="1"/>
          <p:nvPr/>
        </p:nvSpPr>
        <p:spPr>
          <a:xfrm>
            <a:off x="10424160" y="3063240"/>
            <a:ext cx="1024128" cy="310896"/>
          </a:xfrm>
          <a:prstGeom prst="rect">
            <a:avLst/>
          </a:prstGeom>
          <a:noFill/>
          <a:ln/>
        </p:spPr>
        <p:txBody>
          <a:bodyPr wrap="square" lIns="0" tIns="0" rIns="0" bIns="0" rtlCol="0" anchor="ctr"/>
          <a:lstStyle/>
          <a:p>
            <a:pPr algn="ctr" indent="0" marL="0">
              <a:buNone/>
            </a:pPr>
            <a:r>
              <a:rPr lang="en-US" sz="950" b="1" dirty="0">
                <a:solidFill>
                  <a:srgbClr val="1F3864"/>
                </a:solidFill>
                <a:latin typeface="Calibri" pitchFamily="34" charset="0"/>
                <a:ea typeface="Calibri" pitchFamily="34" charset="-122"/>
                <a:cs typeface="Calibri" pitchFamily="34" charset="-120"/>
              </a:rPr>
              <a:t>SOMETIMES</a:t>
            </a:r>
            <a:endParaRPr lang="en-US" sz="950" dirty="0"/>
          </a:p>
        </p:txBody>
      </p:sp>
      <p:sp>
        <p:nvSpPr>
          <p:cNvPr id="56" name="Shape 48"/>
          <p:cNvSpPr/>
          <p:nvPr/>
        </p:nvSpPr>
        <p:spPr>
          <a:xfrm>
            <a:off x="8183880" y="3493008"/>
            <a:ext cx="3337560" cy="749808"/>
          </a:xfrm>
          <a:prstGeom prst="roundRect">
            <a:avLst>
              <a:gd name="adj" fmla="val 12195"/>
            </a:avLst>
          </a:prstGeom>
          <a:solidFill>
            <a:srgbClr val="FFF1C9"/>
          </a:solidFill>
          <a:ln w="19050">
            <a:solidFill>
              <a:srgbClr val="F0B323"/>
            </a:solidFill>
            <a:prstDash val="solid"/>
          </a:ln>
        </p:spPr>
      </p:sp>
      <p:sp>
        <p:nvSpPr>
          <p:cNvPr id="57" name="Text 49"/>
          <p:cNvSpPr txBox="1"/>
          <p:nvPr/>
        </p:nvSpPr>
        <p:spPr>
          <a:xfrm>
            <a:off x="8275320" y="3529584"/>
            <a:ext cx="3154680" cy="676656"/>
          </a:xfrm>
          <a:prstGeom prst="rect">
            <a:avLst/>
          </a:prstGeom>
          <a:noFill/>
          <a:ln/>
        </p:spPr>
        <p:txBody>
          <a:bodyPr wrap="square" lIns="0" tIns="0" rIns="0" bIns="0" rtlCol="0" anchor="ctr"/>
          <a:lstStyle/>
          <a:p>
            <a:pPr indent="0" marL="0">
              <a:buNone/>
            </a:pPr>
            <a:r>
              <a:rPr lang="en-US" sz="900" b="1" spc="100" kern="0" dirty="0">
                <a:solidFill>
                  <a:srgbClr val="E8762C"/>
                </a:solidFill>
                <a:latin typeface="Calibri" pitchFamily="34" charset="0"/>
                <a:ea typeface="Calibri" pitchFamily="34" charset="-122"/>
                <a:cs typeface="Calibri" pitchFamily="34" charset="-120"/>
              </a:rPr>
              <a:t>CHECK THE ASSUMPTION  </a:t>
            </a:r>
            <a:endParaRPr lang="en-US" sz="1600" dirty="0"/>
          </a:p>
          <a:p>
            <a:pPr indent="0" marL="0">
              <a:buNone/>
            </a:pPr>
            <a:r>
              <a:rPr lang="en-US" sz="1150" dirty="0">
                <a:solidFill>
                  <a:srgbClr val="222E2D"/>
                </a:solidFill>
                <a:latin typeface="Calibri" pitchFamily="34" charset="0"/>
                <a:ea typeface="Calibri" pitchFamily="34" charset="-122"/>
                <a:cs typeface="Calibri" pitchFamily="34" charset="-120"/>
              </a:rPr>
              <a:t>Did you test a line that is neither horizontal nor vertical?</a:t>
            </a:r>
            <a:endParaRPr lang="en-US" sz="1600" dirty="0"/>
          </a:p>
        </p:txBody>
      </p:sp>
      <p:sp>
        <p:nvSpPr>
          <p:cNvPr id="58" name="Shape 50"/>
          <p:cNvSpPr/>
          <p:nvPr/>
        </p:nvSpPr>
        <p:spPr>
          <a:xfrm>
            <a:off x="457200" y="4526280"/>
            <a:ext cx="5623560" cy="1737360"/>
          </a:xfrm>
          <a:prstGeom prst="roundRect">
            <a:avLst>
              <a:gd name="adj" fmla="val 6316"/>
            </a:avLst>
          </a:prstGeom>
          <a:solidFill>
            <a:srgbClr val="F0B323"/>
          </a:solidFill>
          <a:ln w="25400">
            <a:solidFill>
              <a:srgbClr val="FFFFFF"/>
            </a:solidFill>
            <a:prstDash val="solid"/>
          </a:ln>
          <a:effectLst>
            <a:outerShdw sx="100000" sy="100000" kx="0" ky="0" algn="bl" rotWithShape="0" blurRad="101600" dist="25400" dir="5400000">
              <a:srgbClr val="000000">
                <a:alpha val="15000"/>
              </a:srgbClr>
            </a:outerShdw>
          </a:effectLst>
        </p:spPr>
      </p:sp>
      <p:sp>
        <p:nvSpPr>
          <p:cNvPr id="59" name="Text 51"/>
          <p:cNvSpPr txBox="1"/>
          <p:nvPr/>
        </p:nvSpPr>
        <p:spPr>
          <a:xfrm>
            <a:off x="731520" y="4599432"/>
            <a:ext cx="5120640" cy="274320"/>
          </a:xfrm>
          <a:prstGeom prst="rect">
            <a:avLst/>
          </a:prstGeom>
          <a:noFill/>
          <a:ln/>
        </p:spPr>
        <p:txBody>
          <a:bodyPr wrap="square" lIns="0" tIns="0" rIns="0" bIns="0" rtlCol="0" anchor="t"/>
          <a:lstStyle/>
          <a:p>
            <a:pPr indent="0" marL="0">
              <a:buNone/>
            </a:pPr>
            <a:r>
              <a:rPr lang="en-US" sz="1200" b="1" spc="100" kern="0" dirty="0">
                <a:solidFill>
                  <a:srgbClr val="0E4F4C"/>
                </a:solidFill>
                <a:latin typeface="Calibri" pitchFamily="34" charset="0"/>
                <a:ea typeface="Calibri" pitchFamily="34" charset="-122"/>
                <a:cs typeface="Calibri" pitchFamily="34" charset="-120"/>
              </a:rPr>
              <a:t>SPOTLIGHT: STEAL THIS SHORTCUT</a:t>
            </a:r>
            <a:endParaRPr lang="en-US" sz="1200" dirty="0"/>
          </a:p>
        </p:txBody>
      </p:sp>
      <p:sp>
        <p:nvSpPr>
          <p:cNvPr id="60" name="Text 52"/>
          <p:cNvSpPr txBox="1"/>
          <p:nvPr/>
        </p:nvSpPr>
        <p:spPr>
          <a:xfrm>
            <a:off x="731520" y="4919472"/>
            <a:ext cx="5074920" cy="685800"/>
          </a:xfrm>
          <a:prstGeom prst="rect">
            <a:avLst/>
          </a:prstGeom>
          <a:noFill/>
          <a:ln/>
        </p:spPr>
        <p:txBody>
          <a:bodyPr wrap="square" lIns="0" tIns="0" rIns="0" bIns="0" rtlCol="0" anchor="t"/>
          <a:lstStyle/>
          <a:p>
            <a:pPr indent="0" marL="0">
              <a:buNone/>
            </a:pPr>
            <a:r>
              <a:rPr lang="en-US" sz="1350" dirty="0">
                <a:solidFill>
                  <a:srgbClr val="222E2D"/>
                </a:solidFill>
                <a:latin typeface="Calibri" pitchFamily="34" charset="0"/>
                <a:ea typeface="Calibri" pitchFamily="34" charset="-122"/>
                <a:cs typeface="Calibri" pitchFamily="34" charset="-120"/>
              </a:rPr>
              <a:t>To place a point, substitute it into the left side. Smaller than r² means inside, equal means on, larger means outside.</a:t>
            </a:r>
            <a:endParaRPr lang="en-US" sz="1350" dirty="0"/>
          </a:p>
        </p:txBody>
      </p:sp>
      <p:sp>
        <p:nvSpPr>
          <p:cNvPr id="61" name="Shape 53"/>
          <p:cNvSpPr/>
          <p:nvPr/>
        </p:nvSpPr>
        <p:spPr>
          <a:xfrm>
            <a:off x="731520" y="5669280"/>
            <a:ext cx="5074920" cy="502920"/>
          </a:xfrm>
          <a:prstGeom prst="roundRect">
            <a:avLst>
              <a:gd name="adj" fmla="val 18182"/>
            </a:avLst>
          </a:prstGeom>
          <a:solidFill>
            <a:srgbClr val="FFFFFF"/>
          </a:solidFill>
          <a:ln w="12700">
            <a:solidFill>
              <a:srgbClr val="FFFFFF"/>
            </a:solidFill>
            <a:prstDash val="solid"/>
          </a:ln>
        </p:spPr>
      </p:sp>
      <p:pic>
        <p:nvPicPr>
          <p:cNvPr id="62" name="Image 5" descr="m_L9-2w10/k9c1edde75b.png">    </p:cNvPr>
          <p:cNvPicPr>
            <a:picLocks noChangeAspect="1"/>
          </p:cNvPicPr>
          <p:nvPr/>
        </p:nvPicPr>
        <p:blipFill>
          <a:blip r:embed="rId6"/>
          <a:stretch>
            <a:fillRect/>
          </a:stretch>
        </p:blipFill>
        <p:spPr>
          <a:xfrm>
            <a:off x="2283623" y="5715000"/>
            <a:ext cx="1970715" cy="245791"/>
          </a:xfrm>
          <a:prstGeom prst="rect">
            <a:avLst/>
          </a:prstGeom>
        </p:spPr>
      </p:pic>
      <p:sp>
        <p:nvSpPr>
          <p:cNvPr id="63" name="Shape 54"/>
          <p:cNvSpPr/>
          <p:nvPr/>
        </p:nvSpPr>
        <p:spPr>
          <a:xfrm>
            <a:off x="6263640" y="4526280"/>
            <a:ext cx="5440680" cy="1737360"/>
          </a:xfrm>
          <a:prstGeom prst="roundRect">
            <a:avLst>
              <a:gd name="adj" fmla="val 6316"/>
            </a:avLst>
          </a:prstGeom>
          <a:solidFill>
            <a:srgbClr val="FFF1C9"/>
          </a:solidFill>
          <a:ln w="28575">
            <a:solidFill>
              <a:srgbClr val="F0B323"/>
            </a:solidFill>
            <a:prstDash val="solid"/>
          </a:ln>
          <a:effectLst>
            <a:outerShdw sx="100000" sy="100000" kx="0" ky="0" algn="bl" rotWithShape="0" blurRad="101600" dist="25400" dir="5400000">
              <a:srgbClr val="000000">
                <a:alpha val="15000"/>
              </a:srgbClr>
            </a:outerShdw>
          </a:effectLst>
        </p:spPr>
      </p:sp>
      <p:sp>
        <p:nvSpPr>
          <p:cNvPr id="64" name="Text 55"/>
          <p:cNvSpPr txBox="1"/>
          <p:nvPr/>
        </p:nvSpPr>
        <p:spPr>
          <a:xfrm>
            <a:off x="6492240" y="4617720"/>
            <a:ext cx="2743200" cy="256032"/>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WHAT IF...?</a:t>
            </a:r>
            <a:endParaRPr lang="en-US" sz="1200" dirty="0"/>
          </a:p>
        </p:txBody>
      </p:sp>
      <p:sp>
        <p:nvSpPr>
          <p:cNvPr id="65" name="Text 56"/>
          <p:cNvSpPr txBox="1"/>
          <p:nvPr/>
        </p:nvSpPr>
        <p:spPr>
          <a:xfrm>
            <a:off x="6492240" y="4910328"/>
            <a:ext cx="4983480" cy="1280160"/>
          </a:xfrm>
          <a:prstGeom prst="rect">
            <a:avLst/>
          </a:prstGeom>
          <a:noFill/>
          <a:ln/>
        </p:spPr>
        <p:txBody>
          <a:bodyPr wrap="square" lIns="0" tIns="0" rIns="0" bIns="0" rtlCol="0" anchor="t"/>
          <a:lstStyle/>
          <a:p>
            <a:pPr indent="0" marL="0">
              <a:buNone/>
            </a:pPr>
            <a:r>
              <a:rPr lang="en-US" sz="1400" dirty="0">
                <a:solidFill>
                  <a:srgbClr val="222E2D"/>
                </a:solidFill>
                <a:latin typeface="Calibri" pitchFamily="34" charset="0"/>
                <a:ea typeface="Calibri" pitchFamily="34" charset="-122"/>
                <a:cs typeface="Calibri" pitchFamily="34" charset="-120"/>
              </a:rPr>
              <a:t>What if the radius doubles and the center stays the same? Predict what happens to r² and to the area, then test with r = 3.</a:t>
            </a:r>
            <a:endParaRPr lang="en-US" sz="1400" dirty="0"/>
          </a:p>
        </p:txBody>
      </p:sp>
      <p:pic>
        <p:nvPicPr>
          <p:cNvPr id="66" name="Image 6" descr="m_L9-2w10/k20c62a834d.png">    </p:cNvPr>
          <p:cNvPicPr>
            <a:picLocks noChangeAspect="1"/>
          </p:cNvPicPr>
          <p:nvPr/>
        </p:nvPicPr>
        <p:blipFill>
          <a:blip r:embed="rId7"/>
          <a:stretch>
            <a:fillRect/>
          </a:stretch>
        </p:blipFill>
        <p:spPr>
          <a:xfrm>
            <a:off x="6492240" y="5760720"/>
            <a:ext cx="688726" cy="1920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HSA.SSE.B.3 · HSA.REI.C.7 · HSG.GPE.A.1</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11</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329184" cy="0"/>
          </a:xfrm>
          <a:prstGeom prst="line">
            <a:avLst/>
          </a:prstGeom>
          <a:noFill/>
          <a:ln w="25400">
            <a:solidFill>
              <a:srgbClr val="17A199"/>
            </a:solidFill>
            <a:prstDash val="dash"/>
          </a:ln>
        </p:spPr>
      </p:sp>
      <p:sp>
        <p:nvSpPr>
          <p:cNvPr id="18" name="stn4"/>
          <p:cNvSpPr/>
          <p:nvPr/>
        </p:nvSpPr>
        <p:spPr>
          <a:xfrm>
            <a:off x="6071616" y="228600"/>
            <a:ext cx="457200" cy="457200"/>
          </a:xfrm>
          <a:prstGeom prst="ellipse">
            <a:avLst/>
          </a:prstGeom>
          <a:solidFill>
            <a:srgbClr val="E8762C"/>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path4"/>
          <p:cNvSpPr/>
          <p:nvPr/>
        </p:nvSpPr>
        <p:spPr>
          <a:xfrm>
            <a:off x="6547104" y="457200"/>
            <a:ext cx="32918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4  ·  PRODUCTION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Production: Observation wheel on the Waterfront</a:t>
            </a:r>
            <a:endParaRPr lang="en-US" sz="3000" dirty="0"/>
          </a:p>
        </p:txBody>
      </p:sp>
      <p:sp>
        <p:nvSpPr>
          <p:cNvPr id="29" name="Shape 24"/>
          <p:cNvSpPr/>
          <p:nvPr/>
        </p:nvSpPr>
        <p:spPr>
          <a:xfrm>
            <a:off x="457200" y="1828800"/>
            <a:ext cx="585216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Text 25"/>
          <p:cNvSpPr txBox="1"/>
          <p:nvPr/>
        </p:nvSpPr>
        <p:spPr>
          <a:xfrm>
            <a:off x="73152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THE MODEL</a:t>
            </a:r>
            <a:endParaRPr lang="en-US" sz="1100" dirty="0"/>
          </a:p>
        </p:txBody>
      </p:sp>
      <p:sp>
        <p:nvSpPr>
          <p:cNvPr id="31" name="Text 26"/>
          <p:cNvSpPr txBox="1"/>
          <p:nvPr/>
        </p:nvSpPr>
        <p:spPr>
          <a:xfrm>
            <a:off x="731520" y="2194560"/>
            <a:ext cx="5303520" cy="1143000"/>
          </a:xfrm>
          <a:prstGeom prst="rect">
            <a:avLst/>
          </a:prstGeom>
          <a:noFill/>
          <a:ln/>
        </p:spPr>
        <p:txBody>
          <a:bodyPr wrap="square" lIns="0" tIns="0" rIns="0" bIns="0" rtlCol="0" anchor="t"/>
          <a:lstStyle/>
          <a:p>
            <a:pPr indent="0" marL="0">
              <a:buNone/>
            </a:pPr>
            <a:r>
              <a:rPr lang="en-US" sz="1500" dirty="0">
                <a:solidFill>
                  <a:srgbClr val="222E2D"/>
                </a:solidFill>
                <a:latin typeface="Calibri" pitchFamily="34" charset="0"/>
                <a:ea typeface="Calibri" pitchFamily="34" charset="-122"/>
                <a:cs typeface="Calibri" pitchFamily="34" charset="-120"/>
              </a:rPr>
              <a:t>A model observation wheel on the Jeddah Waterfront (model values only, not real data) has its center 35 m above the ground and a radius of 30 m. Use coordinates with the ground as y = 0 and the center at (0, 35).</a:t>
            </a:r>
            <a:endParaRPr lang="en-US" sz="1500" dirty="0"/>
          </a:p>
        </p:txBody>
      </p:sp>
      <p:pic>
        <p:nvPicPr>
          <p:cNvPr id="32" name="Image 2" descr="m_L9-2w10/k8045e8eac6.png">    </p:cNvPr>
          <p:cNvPicPr>
            <a:picLocks noChangeAspect="1"/>
          </p:cNvPicPr>
          <p:nvPr/>
        </p:nvPicPr>
        <p:blipFill>
          <a:blip r:embed="rId3"/>
          <a:stretch>
            <a:fillRect/>
          </a:stretch>
        </p:blipFill>
        <p:spPr>
          <a:xfrm>
            <a:off x="2205533" y="3429000"/>
            <a:ext cx="2355494" cy="304312"/>
          </a:xfrm>
          <a:prstGeom prst="rect">
            <a:avLst/>
          </a:prstGeom>
        </p:spPr>
      </p:pic>
      <p:pic>
        <p:nvPicPr>
          <p:cNvPr id="33" name="Image 3" descr="m_L9-2w10/k06092e5ce2.png">    </p:cNvPr>
          <p:cNvPicPr>
            <a:picLocks noChangeAspect="1"/>
          </p:cNvPicPr>
          <p:nvPr/>
        </p:nvPicPr>
        <p:blipFill>
          <a:blip r:embed="rId4"/>
          <a:stretch>
            <a:fillRect/>
          </a:stretch>
        </p:blipFill>
        <p:spPr>
          <a:xfrm>
            <a:off x="2281611" y="3843040"/>
            <a:ext cx="2203338" cy="327721"/>
          </a:xfrm>
          <a:prstGeom prst="rect">
            <a:avLst/>
          </a:prstGeom>
        </p:spPr>
      </p:pic>
      <p:sp>
        <p:nvSpPr>
          <p:cNvPr id="34" name="Text 27"/>
          <p:cNvSpPr txBox="1"/>
          <p:nvPr/>
        </p:nvSpPr>
        <p:spPr>
          <a:xfrm>
            <a:off x="731520" y="4417649"/>
            <a:ext cx="5303520" cy="1800271"/>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Write the equation of the wheel. Find the highest and lowest heights of a cabin above the ground.</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Classify the points (18, 59), (10, 40) and (30, 60) as on, inside or outside the wheel.</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A boarding platform lies along y = 11. Find where it meets the wheel and the length of the chord. What happens along y = 5?</a:t>
            </a:r>
            <a:endParaRPr lang="en-US" sz="1300" dirty="0"/>
          </a:p>
        </p:txBody>
      </p:sp>
      <p:sp>
        <p:nvSpPr>
          <p:cNvPr id="35" name="Shape 28"/>
          <p:cNvSpPr/>
          <p:nvPr/>
        </p:nvSpPr>
        <p:spPr>
          <a:xfrm>
            <a:off x="6492240" y="1828800"/>
            <a:ext cx="521208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6" name="Text 29"/>
          <p:cNvSpPr txBox="1"/>
          <p:nvPr/>
        </p:nvSpPr>
        <p:spPr>
          <a:xfrm>
            <a:off x="676656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DONE WHEN</a:t>
            </a:r>
            <a:endParaRPr lang="en-US" sz="1100" dirty="0"/>
          </a:p>
        </p:txBody>
      </p:sp>
      <p:sp>
        <p:nvSpPr>
          <p:cNvPr id="37" name="Text 30"/>
          <p:cNvSpPr txBox="1"/>
          <p:nvPr/>
        </p:nvSpPr>
        <p:spPr>
          <a:xfrm>
            <a:off x="6766560" y="2240280"/>
            <a:ext cx="4663440" cy="21031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The equation x² + (y − 35)² = 900 is written, with the highest height 65 m and the lowest 5 m.</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The points are classified using the left-hand side: 900 on, 125 inside, 1525 outside.</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The platform y = 11 gives x = ±18 and a chord of 36 m.</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The line y = 5 gives x² = 0, one point, and is explained as tangent at the lowest cabin.</a:t>
            </a:r>
            <a:endParaRPr lang="en-US" sz="1200" dirty="0"/>
          </a:p>
        </p:txBody>
      </p:sp>
      <p:sp>
        <p:nvSpPr>
          <p:cNvPr id="38" name="Text 31"/>
          <p:cNvSpPr txBox="1"/>
          <p:nvPr/>
        </p:nvSpPr>
        <p:spPr>
          <a:xfrm>
            <a:off x="6766560" y="4389120"/>
            <a:ext cx="4663440" cy="548640"/>
          </a:xfrm>
          <a:prstGeom prst="rect">
            <a:avLst/>
          </a:prstGeom>
          <a:noFill/>
          <a:ln/>
        </p:spPr>
        <p:txBody>
          <a:bodyPr wrap="square" lIns="0" tIns="0" rIns="0" bIns="0" rtlCol="0" anchor="t"/>
          <a:lstStyle/>
          <a:p>
            <a:pPr indent="0" marL="0">
              <a:buNone/>
            </a:pPr>
            <a:r>
              <a:rPr lang="en-US" sz="1150" i="1" dirty="0">
                <a:solidFill>
                  <a:srgbClr val="F0B323"/>
                </a:solidFill>
                <a:latin typeface="Calibri" pitchFamily="34" charset="0"/>
                <a:ea typeface="Calibri" pitchFamily="34" charset="-122"/>
                <a:cs typeface="Calibri" pitchFamily="34" charset="-120"/>
              </a:rPr>
              <a:t>Hint for solving: substitute the line into the circle and solve for x.</a:t>
            </a:r>
            <a:endParaRPr lang="en-US" sz="1150" dirty="0"/>
          </a:p>
        </p:txBody>
      </p:sp>
      <p:sp>
        <p:nvSpPr>
          <p:cNvPr id="39" name="Shape 32"/>
          <p:cNvSpPr/>
          <p:nvPr/>
        </p:nvSpPr>
        <p:spPr>
          <a:xfrm>
            <a:off x="6675120" y="5029200"/>
            <a:ext cx="4846320" cy="1143000"/>
          </a:xfrm>
          <a:prstGeom prst="roundRect">
            <a:avLst>
              <a:gd name="adj" fmla="val 8000"/>
            </a:avLst>
          </a:prstGeom>
          <a:solidFill>
            <a:srgbClr val="FFF1C9"/>
          </a:solidFill>
          <a:ln w="25400">
            <a:solidFill>
              <a:srgbClr val="F0B323"/>
            </a:solidFill>
            <a:prstDash val="solid"/>
          </a:ln>
        </p:spPr>
      </p:sp>
      <p:sp>
        <p:nvSpPr>
          <p:cNvPr id="40" name="Text 33"/>
          <p:cNvSpPr txBox="1"/>
          <p:nvPr/>
        </p:nvSpPr>
        <p:spPr>
          <a:xfrm>
            <a:off x="6812280" y="5047488"/>
            <a:ext cx="4572000" cy="1097280"/>
          </a:xfrm>
          <a:prstGeom prst="rect">
            <a:avLst/>
          </a:prstGeom>
          <a:noFill/>
          <a:ln/>
        </p:spPr>
        <p:txBody>
          <a:bodyPr wrap="square" lIns="0" tIns="0" rIns="0" bIns="0" rtlCol="0" anchor="ctr"/>
          <a:lstStyle/>
          <a:p>
            <a:pPr indent="0" marL="0">
              <a:buNone/>
            </a:pPr>
            <a:r>
              <a:rPr lang="en-US" sz="1100" b="1" spc="200" kern="0" dirty="0">
                <a:solidFill>
                  <a:srgbClr val="E8762C"/>
                </a:solidFill>
                <a:latin typeface="Calibri" pitchFamily="34" charset="0"/>
                <a:ea typeface="Calibri" pitchFamily="34" charset="-122"/>
                <a:cs typeface="Calibri" pitchFamily="34" charset="-120"/>
              </a:rPr>
              <a:t>WHAT IF...?  </a:t>
            </a:r>
            <a:endParaRPr lang="en-US" sz="1600" dirty="0"/>
          </a:p>
          <a:p>
            <a:pPr indent="0" marL="0">
              <a:buNone/>
            </a:pPr>
            <a:r>
              <a:rPr lang="en-US" sz="1300" dirty="0">
                <a:solidFill>
                  <a:srgbClr val="222E2D"/>
                </a:solidFill>
                <a:latin typeface="Calibri" pitchFamily="34" charset="0"/>
                <a:ea typeface="Calibri" pitchFamily="34" charset="-122"/>
                <a:cs typeface="Calibri" pitchFamily="34" charset="-120"/>
              </a:rPr>
              <a:t>What if the radius is 25 m with the same center? Predict whether the line y = 5 still touches the wheel, then test it.</a:t>
            </a:r>
            <a:endParaRPr lang="en-US" sz="16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HSA.SSE.B.3 · HSA.REI.C.7 · HSG.GPE.A.1</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12</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329184" cy="0"/>
          </a:xfrm>
          <a:prstGeom prst="line">
            <a:avLst/>
          </a:prstGeom>
          <a:noFill/>
          <a:ln w="25400">
            <a:solidFill>
              <a:srgbClr val="17A199"/>
            </a:solidFill>
            <a:prstDash val="dash"/>
          </a:ln>
        </p:spPr>
      </p:sp>
      <p:sp>
        <p:nvSpPr>
          <p:cNvPr id="21" name="stn5"/>
          <p:cNvSpPr/>
          <p:nvPr/>
        </p:nvSpPr>
        <p:spPr>
          <a:xfrm>
            <a:off x="6784848" y="228600"/>
            <a:ext cx="457200" cy="457200"/>
          </a:xfrm>
          <a:prstGeom prst="ellipse">
            <a:avLst/>
          </a:prstGeom>
          <a:solidFill>
            <a:srgbClr val="E8762C"/>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path5"/>
          <p:cNvSpPr/>
          <p:nvPr/>
        </p:nvSpPr>
        <p:spPr>
          <a:xfrm>
            <a:off x="7260336" y="457200"/>
            <a:ext cx="32918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5  ·  MASTERY GATE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Mastery Gate: three questions to pass</a:t>
            </a:r>
            <a:endParaRPr lang="en-US" sz="3000" dirty="0"/>
          </a:p>
        </p:txBody>
      </p:sp>
      <p:sp>
        <p:nvSpPr>
          <p:cNvPr id="29" name="Shape 24"/>
          <p:cNvSpPr/>
          <p:nvPr/>
        </p:nvSpPr>
        <p:spPr>
          <a:xfrm>
            <a:off x="45720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E8762C"/>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9-2w10/k0de34531c9.png">    </p:cNvPr>
          <p:cNvPicPr>
            <a:picLocks noChangeAspect="1"/>
          </p:cNvPicPr>
          <p:nvPr/>
        </p:nvPicPr>
        <p:blipFill>
          <a:blip r:embed="rId3"/>
          <a:stretch>
            <a:fillRect/>
          </a:stretch>
        </p:blipFill>
        <p:spPr>
          <a:xfrm>
            <a:off x="685800" y="2743200"/>
            <a:ext cx="3200400" cy="751840"/>
          </a:xfrm>
          <a:prstGeom prst="rect">
            <a:avLst/>
          </a:prstGeom>
        </p:spPr>
      </p:pic>
      <p:sp>
        <p:nvSpPr>
          <p:cNvPr id="33" name="Shape 27"/>
          <p:cNvSpPr/>
          <p:nvPr/>
        </p:nvSpPr>
        <p:spPr>
          <a:xfrm>
            <a:off x="420624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E8762C"/>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9-2w10/kf8d26fa01e.png">    </p:cNvPr>
          <p:cNvPicPr>
            <a:picLocks noChangeAspect="1"/>
          </p:cNvPicPr>
          <p:nvPr/>
        </p:nvPicPr>
        <p:blipFill>
          <a:blip r:embed="rId4"/>
          <a:stretch>
            <a:fillRect/>
          </a:stretch>
        </p:blipFill>
        <p:spPr>
          <a:xfrm>
            <a:off x="4434840" y="2743200"/>
            <a:ext cx="3200400" cy="605186"/>
          </a:xfrm>
          <a:prstGeom prst="rect">
            <a:avLst/>
          </a:prstGeom>
        </p:spPr>
      </p:pic>
      <p:sp>
        <p:nvSpPr>
          <p:cNvPr id="37" name="Shape 30"/>
          <p:cNvSpPr/>
          <p:nvPr/>
        </p:nvSpPr>
        <p:spPr>
          <a:xfrm>
            <a:off x="795528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E8762C"/>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9-2w10/kbee91c7d56.png">    </p:cNvPr>
          <p:cNvPicPr>
            <a:picLocks noChangeAspect="1"/>
          </p:cNvPicPr>
          <p:nvPr/>
        </p:nvPicPr>
        <p:blipFill>
          <a:blip r:embed="rId5"/>
          <a:stretch>
            <a:fillRect/>
          </a:stretch>
        </p:blipFill>
        <p:spPr>
          <a:xfrm>
            <a:off x="8183880" y="2743200"/>
            <a:ext cx="3200400" cy="652423"/>
          </a:xfrm>
          <a:prstGeom prst="rect">
            <a:avLst/>
          </a:prstGeom>
        </p:spPr>
      </p:pic>
      <p:sp>
        <p:nvSpPr>
          <p:cNvPr id="41" name="Shape 33"/>
          <p:cNvSpPr/>
          <p:nvPr/>
        </p:nvSpPr>
        <p:spPr>
          <a:xfrm>
            <a:off x="457200" y="4480560"/>
            <a:ext cx="11247120" cy="1554480"/>
          </a:xfrm>
          <a:prstGeom prst="roundRect">
            <a:avLst>
              <a:gd name="adj" fmla="val 705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61772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Pass mark</a:t>
            </a:r>
            <a:endParaRPr lang="en-US" sz="1400" dirty="0"/>
          </a:p>
        </p:txBody>
      </p:sp>
      <p:sp>
        <p:nvSpPr>
          <p:cNvPr id="43" name="Text 35"/>
          <p:cNvSpPr txBox="1"/>
          <p:nvPr/>
        </p:nvSpPr>
        <p:spPr>
          <a:xfrm>
            <a:off x="777240" y="4983480"/>
            <a:ext cx="1060704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3 of 3 correct unlocks Station 6. Fewer than that: return to the slide for the question you missed, redo it, then re-take the gate.</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HSA.SSE.B.3 · HSA.REI.C.7 · HSG.GPE.A.1</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13</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329184" cy="0"/>
          </a:xfrm>
          <a:prstGeom prst="line">
            <a:avLst/>
          </a:prstGeom>
          <a:noFill/>
          <a:ln w="25400">
            <a:solidFill>
              <a:srgbClr val="17A199"/>
            </a:solidFill>
            <a:prstDash val="dash"/>
          </a:ln>
        </p:spPr>
      </p:sp>
      <p:sp>
        <p:nvSpPr>
          <p:cNvPr id="24" name="stn6"/>
          <p:cNvSpPr/>
          <p:nvPr/>
        </p:nvSpPr>
        <p:spPr>
          <a:xfrm>
            <a:off x="7498080" y="228600"/>
            <a:ext cx="457200" cy="457200"/>
          </a:xfrm>
          <a:prstGeom prst="ellipse">
            <a:avLst/>
          </a:prstGeom>
          <a:solidFill>
            <a:srgbClr val="E8762C"/>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6  ·  SMART PRODUCTION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Smart Production: make one, then check it</a:t>
            </a:r>
            <a:endParaRPr lang="en-US" sz="3000" dirty="0"/>
          </a:p>
        </p:txBody>
      </p:sp>
      <p:sp>
        <p:nvSpPr>
          <p:cNvPr id="29" name="Shape 24"/>
          <p:cNvSpPr/>
          <p:nvPr/>
        </p:nvSpPr>
        <p:spPr>
          <a:xfrm>
            <a:off x="457200" y="1828800"/>
            <a:ext cx="557784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731520" y="2011680"/>
            <a:ext cx="2377440" cy="457200"/>
          </a:xfrm>
          <a:prstGeom prst="roundRect">
            <a:avLst>
              <a:gd name="adj" fmla="val 50000"/>
            </a:avLst>
          </a:prstGeom>
          <a:solidFill>
            <a:srgbClr val="17A199"/>
          </a:solidFill>
          <a:ln w="12700">
            <a:solidFill>
              <a:srgbClr val="FFFFFF"/>
            </a:solidFill>
            <a:prstDash val="solid"/>
          </a:ln>
        </p:spPr>
      </p:sp>
      <p:sp>
        <p:nvSpPr>
          <p:cNvPr id="31" name="Text 26"/>
          <p:cNvSpPr txBox="1"/>
          <p:nvPr/>
        </p:nvSpPr>
        <p:spPr>
          <a:xfrm>
            <a:off x="731520" y="2011680"/>
            <a:ext cx="23774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CREATE</a:t>
            </a:r>
            <a:endParaRPr lang="en-US" sz="1600" dirty="0"/>
          </a:p>
        </p:txBody>
      </p:sp>
      <p:sp>
        <p:nvSpPr>
          <p:cNvPr id="32" name="Text 27"/>
          <p:cNvSpPr txBox="1"/>
          <p:nvPr/>
        </p:nvSpPr>
        <p:spPr>
          <a:xfrm>
            <a:off x="731520" y="2697480"/>
            <a:ext cx="5029200" cy="24688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Choose a center (h, k) and a radius r. Write the equation, then expand it to the form x² + y² + Dx + Ey + F = 0.</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Swap with a partner: complete the square on their expanded equation and check you recover the center and radius.</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Add a line of your choice and find how many points it shares with the circle. Then add a What if...? question (change the radius) and test your prediction.</a:t>
            </a:r>
            <a:endParaRPr lang="en-US" sz="1500" dirty="0"/>
          </a:p>
        </p:txBody>
      </p:sp>
      <p:sp>
        <p:nvSpPr>
          <p:cNvPr id="33" name="Text 28"/>
          <p:cNvSpPr txBox="1"/>
          <p:nvPr/>
        </p:nvSpPr>
        <p:spPr>
          <a:xfrm>
            <a:off x="731520" y="5212080"/>
            <a:ext cx="5029200" cy="914400"/>
          </a:xfrm>
          <a:prstGeom prst="rect">
            <a:avLst/>
          </a:prstGeom>
          <a:noFill/>
          <a:ln/>
        </p:spPr>
        <p:txBody>
          <a:bodyPr wrap="square" lIns="0" tIns="0" rIns="0" bIns="0" rtlCol="0" anchor="t"/>
          <a:lstStyle/>
          <a:p>
            <a:pPr indent="0" marL="0">
              <a:buNone/>
            </a:pPr>
            <a:r>
              <a:rPr lang="en-US" sz="1400" dirty="0">
                <a:solidFill>
                  <a:srgbClr val="3F4B49"/>
                </a:solidFill>
                <a:latin typeface="Calibri" pitchFamily="34" charset="0"/>
                <a:ea typeface="Calibri" pitchFamily="34" charset="-122"/>
                <a:cs typeface="Calibri" pitchFamily="34" charset="-120"/>
              </a:rPr>
              <a:t>Done when: your equation and expanded form agree, your partner recovers the same center and radius, and your What if...? question has a prediction and a test.</a:t>
            </a:r>
            <a:endParaRPr lang="en-US" sz="1400" dirty="0"/>
          </a:p>
        </p:txBody>
      </p:sp>
      <p:sp>
        <p:nvSpPr>
          <p:cNvPr id="34" name="Shape 29"/>
          <p:cNvSpPr/>
          <p:nvPr/>
        </p:nvSpPr>
        <p:spPr>
          <a:xfrm>
            <a:off x="6217920" y="1828800"/>
            <a:ext cx="548640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Shape 30"/>
          <p:cNvSpPr/>
          <p:nvPr/>
        </p:nvSpPr>
        <p:spPr>
          <a:xfrm>
            <a:off x="6492240" y="2011680"/>
            <a:ext cx="2651760" cy="457200"/>
          </a:xfrm>
          <a:prstGeom prst="roundRect">
            <a:avLst>
              <a:gd name="adj" fmla="val 50000"/>
            </a:avLst>
          </a:prstGeom>
          <a:solidFill>
            <a:srgbClr val="F0B323"/>
          </a:solidFill>
          <a:ln w="12700">
            <a:solidFill>
              <a:srgbClr val="FFFFFF"/>
            </a:solidFill>
            <a:prstDash val="solid"/>
          </a:ln>
        </p:spPr>
      </p:sp>
      <p:sp>
        <p:nvSpPr>
          <p:cNvPr id="36" name="Text 31"/>
          <p:cNvSpPr txBox="1"/>
          <p:nvPr/>
        </p:nvSpPr>
        <p:spPr>
          <a:xfrm>
            <a:off x="6492240" y="2011680"/>
            <a:ext cx="2651760" cy="457200"/>
          </a:xfrm>
          <a:prstGeom prst="rect">
            <a:avLst/>
          </a:prstGeom>
          <a:noFill/>
          <a:ln/>
        </p:spPr>
        <p:txBody>
          <a:bodyPr wrap="square" lIns="0" tIns="0" rIns="0" bIns="0" rtlCol="0" anchor="ctr"/>
          <a:lstStyle/>
          <a:p>
            <a:pPr algn="ctr" indent="0" marL="0">
              <a:buNone/>
            </a:pPr>
            <a:r>
              <a:rPr lang="en-US" sz="1600" b="1" dirty="0">
                <a:solidFill>
                  <a:srgbClr val="222E2D"/>
                </a:solidFill>
                <a:latin typeface="Calibri" pitchFamily="34" charset="0"/>
                <a:ea typeface="Calibri" pitchFamily="34" charset="-122"/>
                <a:cs typeface="Calibri" pitchFamily="34" charset="-120"/>
              </a:rPr>
              <a:t>TIME TO CHECK</a:t>
            </a:r>
            <a:endParaRPr lang="en-US" sz="1600" dirty="0"/>
          </a:p>
        </p:txBody>
      </p:sp>
      <p:sp>
        <p:nvSpPr>
          <p:cNvPr id="37" name="Text 32"/>
          <p:cNvSpPr txBox="1"/>
          <p:nvPr/>
        </p:nvSpPr>
        <p:spPr>
          <a:xfrm>
            <a:off x="6492240" y="2697480"/>
            <a:ext cx="4937760" cy="8229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Exit ticket: write your answer on a sticky note and place it on the door.</a:t>
            </a:r>
            <a:endParaRPr lang="en-US" sz="1600" dirty="0"/>
          </a:p>
        </p:txBody>
      </p:sp>
      <p:sp>
        <p:nvSpPr>
          <p:cNvPr id="38" name="Shape 33"/>
          <p:cNvSpPr/>
          <p:nvPr/>
        </p:nvSpPr>
        <p:spPr>
          <a:xfrm>
            <a:off x="6492240" y="3611880"/>
            <a:ext cx="4937760" cy="1234440"/>
          </a:xfrm>
          <a:prstGeom prst="roundRect">
            <a:avLst>
              <a:gd name="adj" fmla="val 7407"/>
            </a:avLst>
          </a:prstGeom>
          <a:solidFill>
            <a:srgbClr val="FFFFFF"/>
          </a:solidFill>
          <a:ln w="12700">
            <a:solidFill>
              <a:srgbClr val="FFFFFF"/>
            </a:solidFill>
            <a:prstDash val="solid"/>
          </a:ln>
        </p:spPr>
      </p:sp>
      <p:pic>
        <p:nvPicPr>
          <p:cNvPr id="39" name="Image 2" descr="m_L9-2w10/k3de0eb198e.png">    </p:cNvPr>
          <p:cNvPicPr>
            <a:picLocks noChangeAspect="1"/>
          </p:cNvPicPr>
          <p:nvPr/>
        </p:nvPicPr>
        <p:blipFill>
          <a:blip r:embed="rId3"/>
          <a:stretch>
            <a:fillRect/>
          </a:stretch>
        </p:blipFill>
        <p:spPr>
          <a:xfrm>
            <a:off x="7799481" y="3703320"/>
            <a:ext cx="2323278" cy="491207"/>
          </a:xfrm>
          <a:prstGeom prst="rect">
            <a:avLst/>
          </a:prstGeom>
        </p:spPr>
      </p:pic>
      <p:pic>
        <p:nvPicPr>
          <p:cNvPr id="40" name="Image 3" descr="m_L9-2w10/k1172c02a4c.png">    </p:cNvPr>
          <p:cNvPicPr>
            <a:picLocks noChangeAspect="1"/>
          </p:cNvPicPr>
          <p:nvPr/>
        </p:nvPicPr>
        <p:blipFill>
          <a:blip r:embed="rId4"/>
          <a:stretch>
            <a:fillRect/>
          </a:stretch>
        </p:blipFill>
        <p:spPr>
          <a:xfrm>
            <a:off x="8133590" y="4263673"/>
            <a:ext cx="1655059" cy="491207"/>
          </a:xfrm>
          <a:prstGeom prst="rect">
            <a:avLst/>
          </a:prstGeom>
        </p:spPr>
      </p:pic>
      <p:sp>
        <p:nvSpPr>
          <p:cNvPr id="41" name="Text 34"/>
          <p:cNvSpPr txBox="1"/>
          <p:nvPr/>
        </p:nvSpPr>
        <p:spPr>
          <a:xfrm>
            <a:off x="6492240" y="5074920"/>
            <a:ext cx="4937760" cy="822960"/>
          </a:xfrm>
          <a:prstGeom prst="rect">
            <a:avLst/>
          </a:prstGeom>
          <a:noFill/>
          <a:ln/>
        </p:spPr>
        <p:txBody>
          <a:bodyPr wrap="square" lIns="0" tIns="0" rIns="0" bIns="0" rtlCol="0" anchor="t"/>
          <a:lstStyle/>
          <a:p>
            <a:pPr indent="0" marL="0">
              <a:buNone/>
            </a:pPr>
            <a:r>
              <a:rPr lang="en-US" sz="1500" dirty="0">
                <a:solidFill>
                  <a:srgbClr val="BFD8D5"/>
                </a:solidFill>
                <a:latin typeface="Calibri" pitchFamily="34" charset="0"/>
                <a:ea typeface="Calibri" pitchFamily="34" charset="-122"/>
                <a:cs typeface="Calibri" pitchFamily="34" charset="-120"/>
              </a:rPr>
              <a:t>Next lesson: 9-3 Ellipses.</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HSA.SSE.B.3 · HSA.REI.C.7 · HSG.GPE.A.1</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14</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Exam connections</a:t>
            </a:r>
            <a:endParaRPr lang="en-US" sz="3000" dirty="0"/>
          </a:p>
        </p:txBody>
      </p:sp>
      <p:sp>
        <p:nvSpPr>
          <p:cNvPr id="11" name="Shape 6"/>
          <p:cNvSpPr/>
          <p:nvPr/>
        </p:nvSpPr>
        <p:spPr>
          <a:xfrm>
            <a:off x="457200" y="1280160"/>
            <a:ext cx="3611880" cy="548640"/>
          </a:xfrm>
          <a:prstGeom prst="roundRect">
            <a:avLst>
              <a:gd name="adj" fmla="val 20000"/>
            </a:avLst>
          </a:prstGeom>
          <a:solidFill>
            <a:srgbClr val="17A199"/>
          </a:solidFill>
          <a:ln w="12700">
            <a:solidFill>
              <a:srgbClr val="FFFFFF"/>
            </a:solidFill>
            <a:prstDash val="solid"/>
          </a:ln>
        </p:spPr>
      </p:sp>
      <p:sp>
        <p:nvSpPr>
          <p:cNvPr id="12" name="Text 7"/>
          <p:cNvSpPr txBox="1"/>
          <p:nvPr/>
        </p:nvSpPr>
        <p:spPr>
          <a:xfrm>
            <a:off x="68580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SAT</a:t>
            </a:r>
            <a:endParaRPr lang="en-US" sz="2000" dirty="0"/>
          </a:p>
        </p:txBody>
      </p:sp>
      <p:sp>
        <p:nvSpPr>
          <p:cNvPr id="13" name="Shape 8"/>
          <p:cNvSpPr/>
          <p:nvPr/>
        </p:nvSpPr>
        <p:spPr>
          <a:xfrm>
            <a:off x="45720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14" name="Image 2" descr="m_L9-2w10/kb99fb05b26.png">    </p:cNvPr>
          <p:cNvPicPr>
            <a:picLocks noChangeAspect="1"/>
          </p:cNvPicPr>
          <p:nvPr/>
        </p:nvPicPr>
        <p:blipFill>
          <a:blip r:embed="rId3"/>
          <a:stretch>
            <a:fillRect/>
          </a:stretch>
        </p:blipFill>
        <p:spPr>
          <a:xfrm>
            <a:off x="594360" y="2148840"/>
            <a:ext cx="3337560" cy="202678"/>
          </a:xfrm>
          <a:prstGeom prst="rect">
            <a:avLst/>
          </a:prstGeom>
        </p:spPr>
      </p:pic>
      <p:pic>
        <p:nvPicPr>
          <p:cNvPr id="15" name="Image 3" descr="m_L9-2w10/kfe57c6c8dd.png">    </p:cNvPr>
          <p:cNvPicPr>
            <a:picLocks noChangeAspect="1"/>
          </p:cNvPicPr>
          <p:nvPr/>
        </p:nvPicPr>
        <p:blipFill>
          <a:blip r:embed="rId4"/>
          <a:stretch>
            <a:fillRect/>
          </a:stretch>
        </p:blipFill>
        <p:spPr>
          <a:xfrm>
            <a:off x="1101395" y="2442958"/>
            <a:ext cx="2323490" cy="216713"/>
          </a:xfrm>
          <a:prstGeom prst="rect">
            <a:avLst/>
          </a:prstGeom>
        </p:spPr>
      </p:pic>
      <p:sp>
        <p:nvSpPr>
          <p:cNvPr id="16" name="Text 9"/>
          <p:cNvSpPr txBox="1"/>
          <p:nvPr/>
        </p:nvSpPr>
        <p:spPr>
          <a:xfrm>
            <a:off x="68580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17" name="Text 10"/>
          <p:cNvSpPr txBox="1"/>
          <p:nvPr/>
        </p:nvSpPr>
        <p:spPr>
          <a:xfrm>
            <a:off x="685800" y="356616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1</a:t>
            </a:r>
            <a:endParaRPr lang="en-US" sz="1600" dirty="0"/>
          </a:p>
        </p:txBody>
      </p:sp>
      <p:pic>
        <p:nvPicPr>
          <p:cNvPr id="18" name="Image 4" descr="m_L9-2w10/k5fcd15f918.png">    </p:cNvPr>
          <p:cNvPicPr>
            <a:picLocks noChangeAspect="1"/>
          </p:cNvPicPr>
          <p:nvPr/>
        </p:nvPicPr>
        <p:blipFill>
          <a:blip r:embed="rId5"/>
          <a:stretch>
            <a:fillRect/>
          </a:stretch>
        </p:blipFill>
        <p:spPr>
          <a:xfrm>
            <a:off x="1097280" y="3566160"/>
            <a:ext cx="2834640" cy="313715"/>
          </a:xfrm>
          <a:prstGeom prst="rect">
            <a:avLst/>
          </a:prstGeom>
        </p:spPr>
      </p:pic>
      <p:sp>
        <p:nvSpPr>
          <p:cNvPr id="19" name="Text 11"/>
          <p:cNvSpPr txBox="1"/>
          <p:nvPr/>
        </p:nvSpPr>
        <p:spPr>
          <a:xfrm>
            <a:off x="685800" y="441960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2</a:t>
            </a:r>
            <a:endParaRPr lang="en-US" sz="1600" dirty="0"/>
          </a:p>
        </p:txBody>
      </p:sp>
      <p:pic>
        <p:nvPicPr>
          <p:cNvPr id="20" name="Image 5" descr="m_L9-2w10/k4a7ca0a892.png">    </p:cNvPr>
          <p:cNvPicPr>
            <a:picLocks noChangeAspect="1"/>
          </p:cNvPicPr>
          <p:nvPr/>
        </p:nvPicPr>
        <p:blipFill>
          <a:blip r:embed="rId6"/>
          <a:stretch>
            <a:fillRect/>
          </a:stretch>
        </p:blipFill>
        <p:spPr>
          <a:xfrm>
            <a:off x="1097280" y="4419600"/>
            <a:ext cx="1258214" cy="239939"/>
          </a:xfrm>
          <a:prstGeom prst="rect">
            <a:avLst/>
          </a:prstGeom>
        </p:spPr>
      </p:pic>
      <p:sp>
        <p:nvSpPr>
          <p:cNvPr id="21" name="Text 12"/>
          <p:cNvSpPr txBox="1"/>
          <p:nvPr/>
        </p:nvSpPr>
        <p:spPr>
          <a:xfrm>
            <a:off x="685800" y="527304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3</a:t>
            </a:r>
            <a:endParaRPr lang="en-US" sz="1600" dirty="0"/>
          </a:p>
        </p:txBody>
      </p:sp>
      <p:pic>
        <p:nvPicPr>
          <p:cNvPr id="22" name="Image 6" descr="m_L9-2w10/k4758425449.png">    </p:cNvPr>
          <p:cNvPicPr>
            <a:picLocks noChangeAspect="1"/>
          </p:cNvPicPr>
          <p:nvPr/>
        </p:nvPicPr>
        <p:blipFill>
          <a:blip r:embed="rId7"/>
          <a:stretch>
            <a:fillRect/>
          </a:stretch>
        </p:blipFill>
        <p:spPr>
          <a:xfrm>
            <a:off x="1097280" y="5273040"/>
            <a:ext cx="792968" cy="239939"/>
          </a:xfrm>
          <a:prstGeom prst="rect">
            <a:avLst/>
          </a:prstGeom>
        </p:spPr>
      </p:pic>
      <p:sp>
        <p:nvSpPr>
          <p:cNvPr id="23" name="Shape 13"/>
          <p:cNvSpPr/>
          <p:nvPr/>
        </p:nvSpPr>
        <p:spPr>
          <a:xfrm>
            <a:off x="4251960" y="1280160"/>
            <a:ext cx="3611880" cy="548640"/>
          </a:xfrm>
          <a:prstGeom prst="roundRect">
            <a:avLst>
              <a:gd name="adj" fmla="val 20000"/>
            </a:avLst>
          </a:prstGeom>
          <a:solidFill>
            <a:srgbClr val="E8762C"/>
          </a:solidFill>
          <a:ln w="12700">
            <a:solidFill>
              <a:srgbClr val="FFFFFF"/>
            </a:solidFill>
            <a:prstDash val="solid"/>
          </a:ln>
        </p:spPr>
      </p:sp>
      <p:sp>
        <p:nvSpPr>
          <p:cNvPr id="24" name="Text 14"/>
          <p:cNvSpPr txBox="1"/>
          <p:nvPr/>
        </p:nvSpPr>
        <p:spPr>
          <a:xfrm>
            <a:off x="448056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GAT</a:t>
            </a:r>
            <a:endParaRPr lang="en-US" sz="2000" dirty="0"/>
          </a:p>
        </p:txBody>
      </p:sp>
      <p:sp>
        <p:nvSpPr>
          <p:cNvPr id="25" name="Shape 15"/>
          <p:cNvSpPr/>
          <p:nvPr/>
        </p:nvSpPr>
        <p:spPr>
          <a:xfrm>
            <a:off x="425196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26" name="Image 7" descr="m_L9-2w10/k68a07b1275.png">    </p:cNvPr>
          <p:cNvPicPr>
            <a:picLocks noChangeAspect="1"/>
          </p:cNvPicPr>
          <p:nvPr/>
        </p:nvPicPr>
        <p:blipFill>
          <a:blip r:embed="rId8"/>
          <a:stretch>
            <a:fillRect/>
          </a:stretch>
        </p:blipFill>
        <p:spPr>
          <a:xfrm>
            <a:off x="4724705" y="2148840"/>
            <a:ext cx="2666390" cy="260604"/>
          </a:xfrm>
          <a:prstGeom prst="rect">
            <a:avLst/>
          </a:prstGeom>
        </p:spPr>
      </p:pic>
      <p:pic>
        <p:nvPicPr>
          <p:cNvPr id="27" name="Image 8" descr="m_L9-2w10/k6f498ccdea.png">    </p:cNvPr>
          <p:cNvPicPr>
            <a:picLocks noChangeAspect="1"/>
          </p:cNvPicPr>
          <p:nvPr/>
        </p:nvPicPr>
        <p:blipFill>
          <a:blip r:embed="rId9"/>
          <a:stretch>
            <a:fillRect/>
          </a:stretch>
        </p:blipFill>
        <p:spPr>
          <a:xfrm>
            <a:off x="4389120" y="2500884"/>
            <a:ext cx="3337560" cy="531901"/>
          </a:xfrm>
          <a:prstGeom prst="rect">
            <a:avLst/>
          </a:prstGeom>
        </p:spPr>
      </p:pic>
      <p:sp>
        <p:nvSpPr>
          <p:cNvPr id="28" name="Text 16"/>
          <p:cNvSpPr txBox="1"/>
          <p:nvPr/>
        </p:nvSpPr>
        <p:spPr>
          <a:xfrm>
            <a:off x="448056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29" name="Text 17"/>
          <p:cNvSpPr txBox="1"/>
          <p:nvPr/>
        </p:nvSpPr>
        <p:spPr>
          <a:xfrm>
            <a:off x="4480560" y="356616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1</a:t>
            </a:r>
            <a:endParaRPr lang="en-US" sz="1600" dirty="0"/>
          </a:p>
        </p:txBody>
      </p:sp>
      <p:pic>
        <p:nvPicPr>
          <p:cNvPr id="30" name="Image 9" descr="m_L9-2w10/k232296f8cf.png">    </p:cNvPr>
          <p:cNvPicPr>
            <a:picLocks noChangeAspect="1"/>
          </p:cNvPicPr>
          <p:nvPr/>
        </p:nvPicPr>
        <p:blipFill>
          <a:blip r:embed="rId10"/>
          <a:stretch>
            <a:fillRect/>
          </a:stretch>
        </p:blipFill>
        <p:spPr>
          <a:xfrm>
            <a:off x="4892040" y="3566160"/>
            <a:ext cx="831007" cy="266273"/>
          </a:xfrm>
          <a:prstGeom prst="rect">
            <a:avLst/>
          </a:prstGeom>
        </p:spPr>
      </p:pic>
      <p:sp>
        <p:nvSpPr>
          <p:cNvPr id="31" name="Text 18"/>
          <p:cNvSpPr txBox="1"/>
          <p:nvPr/>
        </p:nvSpPr>
        <p:spPr>
          <a:xfrm>
            <a:off x="4480560" y="441960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2</a:t>
            </a:r>
            <a:endParaRPr lang="en-US" sz="1600" dirty="0"/>
          </a:p>
        </p:txBody>
      </p:sp>
      <p:pic>
        <p:nvPicPr>
          <p:cNvPr id="32" name="Image 10" descr="m_L9-2w10/kda278bbfdc.png">    </p:cNvPr>
          <p:cNvPicPr>
            <a:picLocks noChangeAspect="1"/>
          </p:cNvPicPr>
          <p:nvPr/>
        </p:nvPicPr>
        <p:blipFill>
          <a:blip r:embed="rId11"/>
          <a:stretch>
            <a:fillRect/>
          </a:stretch>
        </p:blipFill>
        <p:spPr>
          <a:xfrm>
            <a:off x="4892040" y="4419600"/>
            <a:ext cx="614477" cy="219456"/>
          </a:xfrm>
          <a:prstGeom prst="rect">
            <a:avLst/>
          </a:prstGeom>
        </p:spPr>
      </p:pic>
      <p:sp>
        <p:nvSpPr>
          <p:cNvPr id="33" name="Text 19"/>
          <p:cNvSpPr txBox="1"/>
          <p:nvPr/>
        </p:nvSpPr>
        <p:spPr>
          <a:xfrm>
            <a:off x="4480560" y="527304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3</a:t>
            </a:r>
            <a:endParaRPr lang="en-US" sz="1600" dirty="0"/>
          </a:p>
        </p:txBody>
      </p:sp>
      <p:pic>
        <p:nvPicPr>
          <p:cNvPr id="34" name="Image 11" descr="m_L9-2w10/k3c42b0f89b.png">    </p:cNvPr>
          <p:cNvPicPr>
            <a:picLocks noChangeAspect="1"/>
          </p:cNvPicPr>
          <p:nvPr/>
        </p:nvPicPr>
        <p:blipFill>
          <a:blip r:embed="rId12"/>
          <a:stretch>
            <a:fillRect/>
          </a:stretch>
        </p:blipFill>
        <p:spPr>
          <a:xfrm>
            <a:off x="4892040" y="5273040"/>
            <a:ext cx="2220895" cy="275052"/>
          </a:xfrm>
          <a:prstGeom prst="rect">
            <a:avLst/>
          </a:prstGeom>
        </p:spPr>
      </p:pic>
      <p:sp>
        <p:nvSpPr>
          <p:cNvPr id="35" name="Shape 20"/>
          <p:cNvSpPr/>
          <p:nvPr/>
        </p:nvSpPr>
        <p:spPr>
          <a:xfrm>
            <a:off x="8046720" y="1280160"/>
            <a:ext cx="3611880" cy="548640"/>
          </a:xfrm>
          <a:prstGeom prst="roundRect">
            <a:avLst>
              <a:gd name="adj" fmla="val 20000"/>
            </a:avLst>
          </a:prstGeom>
          <a:solidFill>
            <a:srgbClr val="1F3864"/>
          </a:solidFill>
          <a:ln w="12700">
            <a:solidFill>
              <a:srgbClr val="FFFFFF"/>
            </a:solidFill>
            <a:prstDash val="solid"/>
          </a:ln>
        </p:spPr>
      </p:sp>
      <p:sp>
        <p:nvSpPr>
          <p:cNvPr id="36" name="Text 21"/>
          <p:cNvSpPr txBox="1"/>
          <p:nvPr/>
        </p:nvSpPr>
        <p:spPr>
          <a:xfrm>
            <a:off x="827532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SAAT</a:t>
            </a:r>
            <a:endParaRPr lang="en-US" sz="2000" dirty="0"/>
          </a:p>
        </p:txBody>
      </p:sp>
      <p:sp>
        <p:nvSpPr>
          <p:cNvPr id="37" name="Shape 22"/>
          <p:cNvSpPr/>
          <p:nvPr/>
        </p:nvSpPr>
        <p:spPr>
          <a:xfrm>
            <a:off x="804672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8" name="Image 12" descr="m_L9-2w10/ka746fd9d48.png">    </p:cNvPr>
          <p:cNvPicPr>
            <a:picLocks noChangeAspect="1"/>
          </p:cNvPicPr>
          <p:nvPr/>
        </p:nvPicPr>
        <p:blipFill>
          <a:blip r:embed="rId13"/>
          <a:stretch>
            <a:fillRect/>
          </a:stretch>
        </p:blipFill>
        <p:spPr>
          <a:xfrm>
            <a:off x="8689543" y="2148840"/>
            <a:ext cx="2326234" cy="216713"/>
          </a:xfrm>
          <a:prstGeom prst="rect">
            <a:avLst/>
          </a:prstGeom>
        </p:spPr>
      </p:pic>
      <p:pic>
        <p:nvPicPr>
          <p:cNvPr id="39" name="Image 13" descr="m_L9-2w10/k544f315eb6.png">    </p:cNvPr>
          <p:cNvPicPr>
            <a:picLocks noChangeAspect="1"/>
          </p:cNvPicPr>
          <p:nvPr/>
        </p:nvPicPr>
        <p:blipFill>
          <a:blip r:embed="rId14"/>
          <a:stretch>
            <a:fillRect/>
          </a:stretch>
        </p:blipFill>
        <p:spPr>
          <a:xfrm>
            <a:off x="8420710" y="2456993"/>
            <a:ext cx="2863901" cy="293522"/>
          </a:xfrm>
          <a:prstGeom prst="rect">
            <a:avLst/>
          </a:prstGeom>
        </p:spPr>
      </p:pic>
      <p:sp>
        <p:nvSpPr>
          <p:cNvPr id="40" name="Text 23"/>
          <p:cNvSpPr txBox="1"/>
          <p:nvPr/>
        </p:nvSpPr>
        <p:spPr>
          <a:xfrm>
            <a:off x="827532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41" name="Text 24"/>
          <p:cNvSpPr txBox="1"/>
          <p:nvPr/>
        </p:nvSpPr>
        <p:spPr>
          <a:xfrm>
            <a:off x="8275320" y="356616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1</a:t>
            </a:r>
            <a:endParaRPr lang="en-US" sz="1600" dirty="0"/>
          </a:p>
        </p:txBody>
      </p:sp>
      <p:pic>
        <p:nvPicPr>
          <p:cNvPr id="42" name="Image 14" descr="m_L9-2w10/k0d51deea24.png">    </p:cNvPr>
          <p:cNvPicPr>
            <a:picLocks noChangeAspect="1"/>
          </p:cNvPicPr>
          <p:nvPr/>
        </p:nvPicPr>
        <p:blipFill>
          <a:blip r:embed="rId15"/>
          <a:stretch>
            <a:fillRect/>
          </a:stretch>
        </p:blipFill>
        <p:spPr>
          <a:xfrm>
            <a:off x="8686800" y="3566160"/>
            <a:ext cx="2834640" cy="312687"/>
          </a:xfrm>
          <a:prstGeom prst="rect">
            <a:avLst/>
          </a:prstGeom>
        </p:spPr>
      </p:pic>
      <p:sp>
        <p:nvSpPr>
          <p:cNvPr id="43" name="Text 25"/>
          <p:cNvSpPr txBox="1"/>
          <p:nvPr/>
        </p:nvSpPr>
        <p:spPr>
          <a:xfrm>
            <a:off x="8275320" y="441960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2</a:t>
            </a:r>
            <a:endParaRPr lang="en-US" sz="1600" dirty="0"/>
          </a:p>
        </p:txBody>
      </p:sp>
      <p:pic>
        <p:nvPicPr>
          <p:cNvPr id="44" name="Image 15" descr="m_L9-2w10/k68cd140e8f.png">    </p:cNvPr>
          <p:cNvPicPr>
            <a:picLocks noChangeAspect="1"/>
          </p:cNvPicPr>
          <p:nvPr/>
        </p:nvPicPr>
        <p:blipFill>
          <a:blip r:embed="rId16"/>
          <a:stretch>
            <a:fillRect/>
          </a:stretch>
        </p:blipFill>
        <p:spPr>
          <a:xfrm>
            <a:off x="8686800" y="4419600"/>
            <a:ext cx="2563246" cy="327721"/>
          </a:xfrm>
          <a:prstGeom prst="rect">
            <a:avLst/>
          </a:prstGeom>
        </p:spPr>
      </p:pic>
      <p:sp>
        <p:nvSpPr>
          <p:cNvPr id="45" name="Text 26"/>
          <p:cNvSpPr txBox="1"/>
          <p:nvPr/>
        </p:nvSpPr>
        <p:spPr>
          <a:xfrm>
            <a:off x="8275320" y="527304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3</a:t>
            </a:r>
            <a:endParaRPr lang="en-US" sz="1600" dirty="0"/>
          </a:p>
        </p:txBody>
      </p:sp>
      <p:pic>
        <p:nvPicPr>
          <p:cNvPr id="46" name="Image 16" descr="m_L9-2w10/ka56ec947e7.png">    </p:cNvPr>
          <p:cNvPicPr>
            <a:picLocks noChangeAspect="1"/>
          </p:cNvPicPr>
          <p:nvPr/>
        </p:nvPicPr>
        <p:blipFill>
          <a:blip r:embed="rId17"/>
          <a:stretch>
            <a:fillRect/>
          </a:stretch>
        </p:blipFill>
        <p:spPr>
          <a:xfrm>
            <a:off x="8686800" y="5273040"/>
            <a:ext cx="1486449" cy="30431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Journey complete</a:t>
            </a:r>
            <a:endParaRPr lang="en-US" sz="4000" dirty="0"/>
          </a:p>
        </p:txBody>
      </p:sp>
      <p:sp>
        <p:nvSpPr>
          <p:cNvPr id="7" name="path1"/>
          <p:cNvSpPr/>
          <p:nvPr/>
        </p:nvSpPr>
        <p:spPr>
          <a:xfrm flipV="1">
            <a:off x="1371600" y="3200400"/>
            <a:ext cx="1965960" cy="1097280"/>
          </a:xfrm>
          <a:prstGeom prst="line">
            <a:avLst/>
          </a:prstGeom>
          <a:noFill/>
          <a:ln w="38100">
            <a:solidFill>
              <a:srgbClr val="F0B323"/>
            </a:solidFill>
            <a:prstDash val="dash"/>
          </a:ln>
        </p:spPr>
      </p:sp>
      <p:sp>
        <p:nvSpPr>
          <p:cNvPr id="8" name="path2"/>
          <p:cNvSpPr/>
          <p:nvPr/>
        </p:nvSpPr>
        <p:spPr>
          <a:xfrm>
            <a:off x="3337560" y="3200400"/>
            <a:ext cx="1965960" cy="1097280"/>
          </a:xfrm>
          <a:prstGeom prst="line">
            <a:avLst/>
          </a:prstGeom>
          <a:noFill/>
          <a:ln w="38100">
            <a:solidFill>
              <a:srgbClr val="F0B323"/>
            </a:solidFill>
            <a:prstDash val="dash"/>
          </a:ln>
        </p:spPr>
      </p:sp>
      <p:sp>
        <p:nvSpPr>
          <p:cNvPr id="9" name="path3"/>
          <p:cNvSpPr/>
          <p:nvPr/>
        </p:nvSpPr>
        <p:spPr>
          <a:xfrm flipV="1">
            <a:off x="5303520" y="3200400"/>
            <a:ext cx="1965960" cy="1097280"/>
          </a:xfrm>
          <a:prstGeom prst="line">
            <a:avLst/>
          </a:prstGeom>
          <a:noFill/>
          <a:ln w="38100">
            <a:solidFill>
              <a:srgbClr val="F0B323"/>
            </a:solidFill>
            <a:prstDash val="dash"/>
          </a:ln>
        </p:spPr>
      </p:sp>
      <p:sp>
        <p:nvSpPr>
          <p:cNvPr id="10" name="path4"/>
          <p:cNvSpPr/>
          <p:nvPr/>
        </p:nvSpPr>
        <p:spPr>
          <a:xfrm>
            <a:off x="7269480" y="3200400"/>
            <a:ext cx="1965960" cy="1097280"/>
          </a:xfrm>
          <a:prstGeom prst="line">
            <a:avLst/>
          </a:prstGeom>
          <a:noFill/>
          <a:ln w="38100">
            <a:solidFill>
              <a:srgbClr val="F0B323"/>
            </a:solidFill>
            <a:prstDash val="dash"/>
          </a:ln>
        </p:spPr>
      </p:sp>
      <p:sp>
        <p:nvSpPr>
          <p:cNvPr id="11" name="path5"/>
          <p:cNvSpPr/>
          <p:nvPr/>
        </p:nvSpPr>
        <p:spPr>
          <a:xfrm flipV="1">
            <a:off x="9235440" y="3200400"/>
            <a:ext cx="1737360" cy="1097280"/>
          </a:xfrm>
          <a:prstGeom prst="line">
            <a:avLst/>
          </a:prstGeom>
          <a:noFill/>
          <a:ln w="38100">
            <a:solidFill>
              <a:srgbClr val="F0B323"/>
            </a:solidFill>
            <a:prstDash val="dash"/>
          </a:ln>
        </p:spPr>
      </p:sp>
      <p:sp>
        <p:nvSpPr>
          <p:cNvPr id="12" name="stn1"/>
          <p:cNvSpPr/>
          <p:nvPr/>
        </p:nvSpPr>
        <p:spPr>
          <a:xfrm>
            <a:off x="708660" y="3634740"/>
            <a:ext cx="1325880" cy="1325880"/>
          </a:xfrm>
          <a:prstGeom prst="ellipse">
            <a:avLst/>
          </a:prstGeom>
          <a:solidFill>
            <a:srgbClr val="F0B323"/>
          </a:solidFill>
          <a:ln w="38100">
            <a:solidFill>
              <a:srgbClr val="FFFFFF"/>
            </a:solidFill>
            <a:prstDash val="solid"/>
          </a:ln>
        </p:spPr>
      </p:sp>
      <p:sp>
        <p:nvSpPr>
          <p:cNvPr id="13" name="Text 9"/>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4" name="Text 10"/>
          <p:cNvSpPr txBox="1"/>
          <p:nvPr/>
        </p:nvSpPr>
        <p:spPr>
          <a:xfrm>
            <a:off x="41148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Diagnose</a:t>
            </a:r>
            <a:endParaRPr lang="en-US" sz="1600" dirty="0"/>
          </a:p>
        </p:txBody>
      </p:sp>
      <p:sp>
        <p:nvSpPr>
          <p:cNvPr id="15" name="stn2"/>
          <p:cNvSpPr/>
          <p:nvPr/>
        </p:nvSpPr>
        <p:spPr>
          <a:xfrm>
            <a:off x="2674620" y="2537460"/>
            <a:ext cx="1325880" cy="1325880"/>
          </a:xfrm>
          <a:prstGeom prst="ellipse">
            <a:avLst/>
          </a:prstGeom>
          <a:solidFill>
            <a:srgbClr val="F0B323"/>
          </a:solidFill>
          <a:ln w="38100">
            <a:solidFill>
              <a:srgbClr val="FFFFFF"/>
            </a:solidFill>
            <a:prstDash val="solid"/>
          </a:ln>
        </p:spPr>
      </p:sp>
      <p:sp>
        <p:nvSpPr>
          <p:cNvPr id="16" name="Text 12"/>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7" name="Text 13"/>
          <p:cNvSpPr txBox="1"/>
          <p:nvPr/>
        </p:nvSpPr>
        <p:spPr>
          <a:xfrm>
            <a:off x="237744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Targeted Instruction</a:t>
            </a:r>
            <a:endParaRPr lang="en-US" sz="1600" dirty="0"/>
          </a:p>
        </p:txBody>
      </p:sp>
      <p:sp>
        <p:nvSpPr>
          <p:cNvPr id="18" name="stn3"/>
          <p:cNvSpPr/>
          <p:nvPr/>
        </p:nvSpPr>
        <p:spPr>
          <a:xfrm>
            <a:off x="4640580" y="3634740"/>
            <a:ext cx="1325880" cy="1325880"/>
          </a:xfrm>
          <a:prstGeom prst="ellipse">
            <a:avLst/>
          </a:prstGeom>
          <a:solidFill>
            <a:srgbClr val="F0B323"/>
          </a:solidFill>
          <a:ln w="38100">
            <a:solidFill>
              <a:srgbClr val="FFFFFF"/>
            </a:solidFill>
            <a:prstDash val="solid"/>
          </a:ln>
        </p:spPr>
      </p:sp>
      <p:sp>
        <p:nvSpPr>
          <p:cNvPr id="19" name="Text 15"/>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0" name="Text 16"/>
          <p:cNvSpPr txBox="1"/>
          <p:nvPr/>
        </p:nvSpPr>
        <p:spPr>
          <a:xfrm>
            <a:off x="434340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Practice</a:t>
            </a:r>
            <a:endParaRPr lang="en-US" sz="1600" dirty="0"/>
          </a:p>
        </p:txBody>
      </p:sp>
      <p:sp>
        <p:nvSpPr>
          <p:cNvPr id="21" name="stn4"/>
          <p:cNvSpPr/>
          <p:nvPr/>
        </p:nvSpPr>
        <p:spPr>
          <a:xfrm>
            <a:off x="6606540" y="2537460"/>
            <a:ext cx="1325880" cy="1325880"/>
          </a:xfrm>
          <a:prstGeom prst="ellipse">
            <a:avLst/>
          </a:prstGeom>
          <a:solidFill>
            <a:srgbClr val="F0B323"/>
          </a:solidFill>
          <a:ln w="38100">
            <a:solidFill>
              <a:srgbClr val="FFFFFF"/>
            </a:solidFill>
            <a:prstDash val="solid"/>
          </a:ln>
        </p:spPr>
      </p:sp>
      <p:sp>
        <p:nvSpPr>
          <p:cNvPr id="22" name="Text 18"/>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3" name="Text 19"/>
          <p:cNvSpPr txBox="1"/>
          <p:nvPr/>
        </p:nvSpPr>
        <p:spPr>
          <a:xfrm>
            <a:off x="630936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Production</a:t>
            </a:r>
            <a:endParaRPr lang="en-US" sz="1600" dirty="0"/>
          </a:p>
        </p:txBody>
      </p:sp>
      <p:sp>
        <p:nvSpPr>
          <p:cNvPr id="24" name="stn5"/>
          <p:cNvSpPr/>
          <p:nvPr/>
        </p:nvSpPr>
        <p:spPr>
          <a:xfrm>
            <a:off x="8572500" y="3634740"/>
            <a:ext cx="1325880" cy="1325880"/>
          </a:xfrm>
          <a:prstGeom prst="ellipse">
            <a:avLst/>
          </a:prstGeom>
          <a:solidFill>
            <a:srgbClr val="F0B323"/>
          </a:solidFill>
          <a:ln w="38100">
            <a:solidFill>
              <a:srgbClr val="FFFFFF"/>
            </a:solidFill>
            <a:prstDash val="solid"/>
          </a:ln>
        </p:spPr>
      </p:sp>
      <p:sp>
        <p:nvSpPr>
          <p:cNvPr id="25" name="Text 21"/>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6" name="Text 22"/>
          <p:cNvSpPr txBox="1"/>
          <p:nvPr/>
        </p:nvSpPr>
        <p:spPr>
          <a:xfrm>
            <a:off x="827532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Mastery Gate</a:t>
            </a:r>
            <a:endParaRPr lang="en-US" sz="1600" dirty="0"/>
          </a:p>
        </p:txBody>
      </p:sp>
      <p:sp>
        <p:nvSpPr>
          <p:cNvPr id="27" name="stn6"/>
          <p:cNvSpPr/>
          <p:nvPr/>
        </p:nvSpPr>
        <p:spPr>
          <a:xfrm>
            <a:off x="10309860" y="2537460"/>
            <a:ext cx="1325880" cy="1325880"/>
          </a:xfrm>
          <a:prstGeom prst="ellipse">
            <a:avLst/>
          </a:prstGeom>
          <a:solidFill>
            <a:srgbClr val="F0B323"/>
          </a:solidFill>
          <a:ln w="38100">
            <a:solidFill>
              <a:srgbClr val="FFFFFF"/>
            </a:solidFill>
            <a:prstDash val="solid"/>
          </a:ln>
        </p:spPr>
      </p:sp>
      <p:sp>
        <p:nvSpPr>
          <p:cNvPr id="28" name="Text 24"/>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9" name="Text 25"/>
          <p:cNvSpPr txBox="1"/>
          <p:nvPr/>
        </p:nvSpPr>
        <p:spPr>
          <a:xfrm>
            <a:off x="1001268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Smart Production</a:t>
            </a:r>
            <a:endParaRPr lang="en-US" sz="1600" dirty="0"/>
          </a:p>
        </p:txBody>
      </p:sp>
      <p:sp>
        <p:nvSpPr>
          <p:cNvPr id="30" name="Text 26"/>
          <p:cNvSpPr txBox="1"/>
          <p:nvPr/>
        </p:nvSpPr>
        <p:spPr>
          <a:xfrm>
            <a:off x="548640" y="5669280"/>
            <a:ext cx="11064240" cy="640080"/>
          </a:xfrm>
          <a:prstGeom prst="rect">
            <a:avLst/>
          </a:prstGeom>
          <a:noFill/>
          <a:ln/>
        </p:spPr>
        <p:txBody>
          <a:bodyPr wrap="square" lIns="0" tIns="0" rIns="0" bIns="0" rtlCol="0" anchor="ctr"/>
          <a:lstStyle/>
          <a:p>
            <a:pPr algn="ctr" indent="0" marL="0">
              <a:buNone/>
            </a:pPr>
            <a:r>
              <a:rPr lang="en-US" sz="1700" b="1" dirty="0">
                <a:solidFill>
                  <a:srgbClr val="F0B323"/>
                </a:solidFill>
                <a:latin typeface="Calibri" pitchFamily="34" charset="0"/>
                <a:ea typeface="Calibri" pitchFamily="34" charset="-122"/>
                <a:cs typeface="Calibri" pitchFamily="34" charset="-120"/>
              </a:rPr>
              <a:t>A circle is every point at a fixed distance r from its center; its equation comes from the Pythagorean Theorem, completing the square reveals the center and radius, and substituting a line into it shows how line and circle meet.</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9-2 Circles presentation</dc:title>
  <dc:subject>PptxGenJS Presentation</dc:subject>
  <dc:creator>Mr Malek Thiab</dc:creator>
  <cp:lastModifiedBy>Mr Malek Thiab</cp:lastModifiedBy>
  <cp:revision>1</cp:revision>
  <dcterms:created xsi:type="dcterms:W3CDTF">2026-10-29T04:26:47Z</dcterms:created>
  <dcterms:modified xsi:type="dcterms:W3CDTF">2026-10-29T04:26:47Z</dcterms:modified>
</cp:coreProperties>
</file>