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Welcome to Lesson 3-3: Identities with Polynomials.
Timing: 60 minutes (Diagnose 6, Targeted Instruction 18, Practice 12, Production 12, Mastery Gate 6, Smart Production 6). For a 40-minute class scale every station by two thirds.
The journey map on the next slide shows the six stations; in slideshow mode the Morph transition zooms the station circles into the breadcrumb at the top of every later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This is the whole map. Walk it left to right: Diagnose (what we already know), Targeted Instruction (Squares and the difference of squares; Proving an identity; Factoring with identities; Pascal's triangle and the binomial theorem), Practice (Practice, Apply, Investigate), Production (Date orchard and pond), Mastery Gate (three questions to pass), Smart Production (create, then Time to Check).
In slideshow mode the Morph transition animates these circles shrinking into the breadcrumb on later slides; without Morph the slides fade.
Ask the class which station they think will be hardest.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Read the objectives aloud one at a time and have students say which one they feel least sure about.
Vocabulary used today: Binomial Coefficient, binomial theorem, Identity, Pascal’s triangle.
Standards are listed on this slide.
The essential question and mathematical practices are not shown because they are not in the project documents; add them from the curriculum map if you want them displayed.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(Diagnose, 6 min, no calculator):
Answers. Q1: x² + 6x + 6x + 36 = x² + 12x + 36. Q2: x² + 5x − 5x − 25 = x² − 25 (the middle terms cancel). Q3: (2 + 3)² = 25 but 2² + 3² = 13, so the statement is false for these numbers; one counter-example is enough. Verbal misconceptions: Q1 students write x² + 36 (forgetting the two middle products); Q2 students write x² − 10x − 25 or x² + 25; Q3 students say 'it works because squaring is distributive'. Adaptive routing: if &gt;30% miss Q1, expand with a 2 by 2 area grid before slide 5; if &gt;30% miss Q2, show the cancelling middle terms in colour and go to slide 5 slowly; if &gt;30% accept Q3, test two more pairs of numbers aloud and go to slide 6. If all three are secure, move quickly through slide 5 and start the Investigate route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(Targeted Instruction, block 1 of 4):
Worked solutions (HSA.SSE.A.2: use the structure of an expression). An IDENTITY is an equation that is true for every value of its variables, unlike an equation such as x + 2 = 5 which is true for one. Square of a binomial: square the first term, double the product of the two terms, square the last term; the sign of the middle term follows the bracket. Example A: (4x + 5)²: (4x)² = 16x²; 2 × 4x × 5 = 40x; 5² = 25, so 16x² + 40x + 25. Check at x = 1: (4 + 5)² = 81 and 16 + 40 + 25 = 81. Example B: (3x − 7)(3x + 7): the outer and inner products cancel, leaving (3x)² − 7² = 9x² − 49. Check at x = 2: (6 − 7)(6 + 7) = −13 and 36 − 49 = −13. Link to the pre-session: the area grid for (x + 6)² has the same four parts. Verbal misconceptions: 'the square of a sum is the sum of the squares' (missing the 2ab); writing (4x)² as 4x²; the wrong sign on the middle term of a difference; a difference of squares written as (a − b)². Adaptive routing: if &gt;30% write 4x² for (4x)², redo Example A with the area grid; if &gt;30% miss the middle term, ask them to test x = 1 as the check; Gate Q1 routes to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(Targeted Instruction, block 2 of 4):
Worked solutions (HSA.APR.C.4: prove polynomial identities and use them to describe numerical relationships). To PROVE an identity, start from one side, expand carefully and show it becomes the other side for every value. Example A: expand (a + b)² = a² + 2ab + b² and (a − b)² = a² − 2ab + b². Subtract: the a² and b² terms cancel and 2ab − (−2ab) = 4ab. So the left side equals 4ab, the right side, for all a and b. Testing a few numbers is evidence, not proof. Example B uses the identity numerically: 83² − 17² = (83 − 17)(83 + 17) = 66 × 100 = 6600. Check: 6889 − 289 = 6600. What if (gold strip): 83² − 17² is exactly the difference of squares, so factor, do not square. Verbal misconceptions: 'checking one number proves the identity'; losing the minus sign when subtracting a bracket (−(a² − 2ab + b²) keeps changing every sign); using the identity but then multiplying the numbers the long way. Adaptive routing: if &gt;30% lose the sign when subtracting the bracket, write the minus outside the bracket and distribute it line by line; if &gt;30% say one number proves it, run a counter-example such as a² + b² = (a + b)² at a = 1, b = 1. Gate Q1 and Practice Investigate 1 link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(Targeted Instruction, block 3 of 4):
Worked solutions. Factoring runs the identities backwards. Example A: 49x² = (7x)² and 36y² = (6y)², two perfect squares with a minus between them, so (7x − 6y)(7x + 6y). Check by expanding: 49x² + 42xy − 42xy − 36y² ✓. Example B: 9x² = (3x)² and 25 = 5²; the middle term 30x equals 2 × 3x × 5, and it is negative, so the square is (3x − 5)². Check at x = 1: 9 − 30 + 25 = 4 and (3 − 5)² = 4 ✓. Test for a perfect-square trinomial: first and last terms are squares and the middle term is exactly twice the product of their roots. Verbal misconceptions: factoring a sum of squares, 49x² + 36y², as (7x + 6y)² (it does not factor over the real numbers this way); forgetting the 2 in the middle-term test; choosing (3x + 5)² when the middle term is negative. Adaptive routing: if &gt;30% factor a sum of squares, test (x + 1)² against x² + 1 at x = 1; if &gt;30% miss the sign, ask what the middle term of (3x − 5)² is before choosing. Gate Q2 routes to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(Targeted Instruction, block 4 of 4):
Worked solutions ((+)HSA.APR.C.5). Pascal's triangle: each number is the sum of the two above it; row n lists the BINOMIAL COEFFICIENTS for (x + y)ⁿ (row 0 is 1, row 1 is 1 1, row 2 is 1 2 1, row 3 is 1 3 3 1, row 4 is 1 4 6 4 1, row 5 is 1 5 10 10 5 1). The binomial theorem: the powers of x go down and the powers of y go up, and each term is coefficient × x^(n−k) × y^k. Example A: (2x + 1)³ uses row 3: (2x)³ = 8x³; 3 × (2x)² × 1 = 12x²; 3 × 2x × 1 = 6x; 1. Result 8x³ + 12x² + 6x + 1. Check at x = 1: 3³ = 27 and 8 + 12 + 6 + 1 = 27 ✓. Example B: put y = −4: the signs alternate: x³ − 12x² + 48x − 64. Check at x = 1: (−3)³ = −27 and 1 − 12 + 48 − 64 = −27 ✓. What if (gold strip): row 5 is 1 5 10 10 5 1 and y = 2: x⁵ + 10x⁴ + 40x³ + 80x² + 80x + 32. Check at x = 1: 3⁵ = 243 and 1 + 10 + 40 + 80 + 80 + 32 = 243 ✓. Verbal misconceptions: forgetting to raise the coefficient 2 in (2x) to the power; losing the alternating signs; using the wrong row (row n, not row n + 1, when counting from 0). Adaptive routing: if &gt;30% mis-square the 2x, write (2x)² = 4x² on the board; if &gt;30% lose the signs, put the negative number in brackets before powering. Gate Q3 routes to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(Practice, 12 min; tierless differentiation: students choose the starting column and may move across):
Answers. Practice 1: (5x − 3)² = 25x² − 30x + 9. Practice 2: 4x² − 121 = (2x − 11)(2x + 11). Apply 1 (a model football pitch for a Jeddah school, model values): area = (x + 3)² = x² + 6x + 9; at x = 17 the side is 20 m and the area is 400 m²; check 289 + 102 + 9 = 400. Apply 2: 102 × 98 = (100 + 2)(100 − 2) = 10000 − 4 = 9996. Investigate 1: (a² + 2ab + b²) + (a² − 2ab + b²) = 2a² + 2b² (the 2ab terms cancel). Investigate 2: n² + (n + 1)² + n²(n + 1)² = n² + n² + 2n + 1 + n⁴ + 2n³ + n² = n⁴ + 2n³ + 3n² + 2n + 1 = (n² + n + 1)²; check n = 2: 4 + 9 + 36 = 49 = 7². Verbal misconceptions: Practice 1 writing 25x² + 9 or the sign of 30x wrong; Practice 2 writing (2x − 11)² ; Apply 1 stopping at x² + 9; Apply 2 multiplying 102 × 98 the long way and slipping; Investigate 1 stopping after expanding without simplifying; Investigate 2 assuming it is true after one test. Adaptive routing: if &gt;30% miss Practice 1, route to slide 5; Practice 2, slide 7; Apply 1, slide 5; Apply 2, slide 6; Investigate 1 and 2, slide 6. Students who finish Apply early move to Investigate.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(inside Station 3, 3 minutes, after the Practice work):
Compare and judge (3 min). Worked solutions. (x + 2)³ three ways. Multiply out: (x + 2)(x² + 4x + 4) = x³ + 4x² + 4x + 2x² + 8x + 8 = x³ + 6x² + 12x + 8. Pascal row 3: 1 3 3 1 gives x³ + 3(2)x² + 3(4)x + 8 = x³ + 6x² + 12x + 8. Binomial theorem: coefficient of x^(3−k) is C(3,k) × 2^k: 1, 3 × 2 = 6, 3 × 4 = 12, 8. All agree. Claim: FALSE. Take a = b = 1: (1 + 1)³ = 8 but 1³ + 1³ = 2. One pair of numbers is enough to disprove. The missing terms are 3a²b + 3ab². Spotlight: row 4 is 1 4 6 4 1, symmetric. What if (gold box): (x − 2)³ = x³ − 6x² + 12x − 8; the signs alternate because 2 is raised to an odd or even power with a minus sign. Check at x = 1: (−1)³ = −1 and 1 − 6 + 12 − 8 = −1 ✓. Verbal misconceptions: 'a cube of a sum splits into two cubes'; 'Pascal is only for adding'; losing the sign for y = −2. Adaptive routing: if &gt;30% mark the claim TRUE, have them evaluate at a = 2, b = 1; if teams finish early, ask which route they would use for (x + 2)⁸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(Production, 12 min):
Model values only, not real data. Task 1: (x + 5)² = x² + 10x + 25; (x − 5)² = x² − 10x + 25. Planted area = (x² + 10x + 25) − (x² − 10x + 25) = 20x. Task 2: difference of squares with a = x + 5, b = x − 5: (a − b)(a + b) = (10)(2x) = 20x. For x = 40: 20 × 40 = 800 m²; check: 45² − 35² = 2025 − 1225 = 800 ✓. Task 3: 20x = 1200 so x = 60; orchard side 65 m, pond side 55 m; check 4225 − 3025 = 1200 ✓. What if (gold box): a = x + 5, b = x − 3: a − b = 8, a + b = 2x + 2, so the area is 16x + 16, which is not a multiple of x. Verbal misconceptions: expanding (x − 5)² as x² − 25; subtracting only the first terms; forgetting the units; answering x = 60 m as the orchard side. Adaptive routing: if &gt;30% cannot start Task 1, return to slide 5 Example A; if &gt;30% miss Task 2, slide 6 Example B; if &gt;30% miss Task 3, ask them to write 20x = 1200 and solve it. Early finishers: the planted area when the pond side is (x − 2).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(Mastery Gate, 6 min, no calculator):
Answers. Q1: 25x² − 40x + 16. Q2: (9x − 4)(9x + 4). Q3: row 3 is 1 3 3 1: (2x)³ − 3(2x)²(1) + 3(2x)(1)² − 1 = 8x³ − 12x² + 6x − 1; check at x = 1: 1 and 8 − 12 + 6 − 1 = 1 ✓. Verbal misconceptions: Q1 giving 25x² + 16 or +40x; Q2 writing (9x − 4)²; Q3 writing 2x³ or dropping alternating signs. Adaptive routing: Q1 missed, route to slide 5; Q2 missed, slide 7; Q3 missed, slide 8. If a student misses two or more, they join the teacher group for the Smart Production create step; students who get all three correct start the create step immediately.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(Smart Production, 6 min):
Exit ticket solutions. Exit 1: 9x² − 12x + 4. Exit 2: 25x² = (5x)², 4 = 2², and 20x = 2 × 5x × 2, so (5x + 2)². Create step example: a = 5, b = 2: 49 and 9; difference 40 = 4 × 5 × 2 ✓. What if: changing the power to a cube, (a + b)³ − (a − b)³ = 6a²b + 2b³; at a = 5, b = 2: 343 − 27 = 316 and 6 × 25 × 2 + 16 = 316 ✓. Verbal misconceptions: Exit 1 giving 9x² + 4; Exit 2 giving (5x + 2)(5x − 2). Adaptive routing: if &gt;30% miss Exit 1, retrieve slide 5 Example A next lesson; if &gt;30% miss Exit 2, retrieve slide 7 Example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each exam item is worked in numbered steps.
SAT (Advanced Math, equivalent forms): (x + y)² = x² + 2xy + y², so 49 = 29 + 2xy and xy = 10. Traps: answering 20 (2xy), 49 − 29 = 20 without halving, or 5. A student-produced-response grid answer is 10. GAT/Qudurat quantitative comparison (A is greater / B is greater / equal / cannot be determined): 63² − 37² = (63 − 37)(63 + 37) = 26 × 100 = 2600, which is more than 2500, so A is greater. Trap: estimating 63² and 37² separately. SAAT/Tahsili (four options, for example A 5, B 8, C 35, D 45): the difference of squares gives 40 = 5(x + y), so x + y = 8: B. Trap: 40 − 5 = 35 or 40 + 5 = 45. Adaptive routing: if &gt;30% miss the SAT item, return to slide 5 Example A; the GAT item, slide 6 Example B; the SAAT item, slide 5 Example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Every station is checked off. Recap in one sentence: An identity is true for every value of its variables; the square and difference-of-squares identities let us expand and factor quickly, and Pascal's triangle gives the coefficients of any power of a binomial. Collect the Time to Check responses. Next lesson: 3-4 Dividing Polynomials.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slideLayout" Target="../slideLayouts/slideLayout1.xml"/><Relationship Id="rId1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slideLayout" Target="../slideLayouts/slideLayout1.xml"/><Relationship Id="rId1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slideLayout" Target="../slideLayouts/slideLayout1.xml"/><Relationship Id="rId1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slideLayout" Target="../slideLayouts/slideLayout1.xml"/><Relationship Id="rId1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1.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slideLayout" Target="../slideLayouts/slideLayout1.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image" Target="../media/image-14-10.png"/><Relationship Id="rId11" Type="http://schemas.openxmlformats.org/officeDocument/2006/relationships/image" Target="../media/image-14-11.png"/><Relationship Id="rId12" Type="http://schemas.openxmlformats.org/officeDocument/2006/relationships/image" Target="../media/image-14-12.png"/><Relationship Id="rId13" Type="http://schemas.openxmlformats.org/officeDocument/2006/relationships/image" Target="../media/image-14-13.png"/><Relationship Id="rId14" Type="http://schemas.openxmlformats.org/officeDocument/2006/relationships/image" Target="../media/image-14-14.png"/><Relationship Id="rId15" Type="http://schemas.openxmlformats.org/officeDocument/2006/relationships/image" Target="../media/image-14-15.png"/><Relationship Id="rId16" Type="http://schemas.openxmlformats.org/officeDocument/2006/relationships/image" Target="../media/image-14-16.png"/><Relationship Id="rId17" Type="http://schemas.openxmlformats.org/officeDocument/2006/relationships/image" Target="../media/image-14-17.png"/><Relationship Id="rId18" Type="http://schemas.openxmlformats.org/officeDocument/2006/relationships/slideLayout" Target="../slideLayouts/slideLayout1.xml"/><Relationship Id="rId19"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6583680" y="1463040"/>
            <a:ext cx="7863840" cy="7863840"/>
          </a:xfrm>
          <a:prstGeom prst="ellipse">
            <a:avLst/>
          </a:prstGeom>
          <a:solidFill>
            <a:srgbClr val="0E4F4C"/>
          </a:solidFill>
          <a:ln w="12700">
            <a:solidFill>
              <a:srgbClr val="0E4F4C"/>
            </a:solidFill>
            <a:prstDash val="solid"/>
          </a:ln>
        </p:spPr>
      </p:sp>
      <p:sp>
        <p:nvSpPr>
          <p:cNvPr id="3" name="Shape 1"/>
          <p:cNvSpPr/>
          <p:nvPr/>
        </p:nvSpPr>
        <p:spPr>
          <a:xfrm>
            <a:off x="8595360" y="-1463040"/>
            <a:ext cx="3291840" cy="3291840"/>
          </a:xfrm>
          <a:prstGeom prst="ellipse">
            <a:avLst/>
          </a:prstGeom>
          <a:solidFill>
            <a:srgbClr val="F0B323">
              <a:alpha val="30000"/>
            </a:srgbClr>
          </a:solidFill>
          <a:ln w="12700">
            <a:solidFill>
              <a:srgbClr val="F0B323">
                <a:alpha val="0"/>
              </a:srgbClr>
            </a:solidFill>
            <a:prstDash val="solid"/>
          </a:ln>
        </p:spPr>
      </p:sp>
      <p:sp>
        <p:nvSpPr>
          <p:cNvPr id="4" name="Shape 2"/>
          <p:cNvSpPr/>
          <p:nvPr/>
        </p:nvSpPr>
        <p:spPr>
          <a:xfrm>
            <a:off x="-1280160" y="4023360"/>
            <a:ext cx="3291840" cy="3291840"/>
          </a:xfrm>
          <a:prstGeom prst="ellipse">
            <a:avLst/>
          </a:prstGeom>
          <a:solidFill>
            <a:srgbClr val="17A199">
              <a:alpha val="15000"/>
            </a:srgbClr>
          </a:solidFill>
          <a:ln w="12700">
            <a:solidFill>
              <a:srgbClr val="17A199">
                <a:alpha val="0"/>
              </a:srgbClr>
            </a:solidFill>
            <a:prstDash val="solid"/>
          </a:ln>
        </p:spPr>
      </p:sp>
      <p:pic>
        <p:nvPicPr>
          <p:cNvPr id="5"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6" name="Image 1" descr="../cognia_badge.png">    </p:cNvPr>
          <p:cNvPicPr>
            <a:picLocks noChangeAspect="1"/>
          </p:cNvPicPr>
          <p:nvPr/>
        </p:nvPicPr>
        <p:blipFill>
          <a:blip r:embed="rId2"/>
          <a:stretch>
            <a:fillRect/>
          </a:stretch>
        </p:blipFill>
        <p:spPr>
          <a:xfrm>
            <a:off x="4663440" y="91440"/>
            <a:ext cx="1188720" cy="891540"/>
          </a:xfrm>
          <a:prstGeom prst="rect">
            <a:avLst/>
          </a:prstGeom>
        </p:spPr>
      </p:pic>
      <p:pic>
        <p:nvPicPr>
          <p:cNvPr id="7" name="Image 2" descr="../school_logo.png">    </p:cNvPr>
          <p:cNvPicPr>
            <a:picLocks noChangeAspect="1"/>
          </p:cNvPicPr>
          <p:nvPr/>
        </p:nvPicPr>
        <p:blipFill>
          <a:blip r:embed="rId3"/>
          <a:stretch>
            <a:fillRect/>
          </a:stretch>
        </p:blipFill>
        <p:spPr>
          <a:xfrm>
            <a:off x="11292840" y="164592"/>
            <a:ext cx="566928" cy="566928"/>
          </a:xfrm>
          <a:prstGeom prst="rect">
            <a:avLst/>
          </a:prstGeom>
        </p:spPr>
      </p:pic>
      <p:sp>
        <p:nvSpPr>
          <p:cNvPr id="8" name="Text 3"/>
          <p:cNvSpPr txBox="1"/>
          <p:nvPr/>
        </p:nvSpPr>
        <p:spPr>
          <a:xfrm>
            <a:off x="640080" y="1828800"/>
            <a:ext cx="6400800" cy="274320"/>
          </a:xfrm>
          <a:prstGeom prst="rect">
            <a:avLst/>
          </a:prstGeom>
          <a:noFill/>
          <a:ln/>
        </p:spPr>
        <p:txBody>
          <a:bodyPr wrap="square" lIns="0" tIns="0" rIns="0" bIns="0" rtlCol="0" anchor="t"/>
          <a:lstStyle/>
          <a:p>
            <a:pPr indent="0" marL="0">
              <a:buNone/>
            </a:pPr>
            <a:r>
              <a:rPr lang="en-US" sz="1400" b="1" spc="300" kern="0" dirty="0">
                <a:solidFill>
                  <a:srgbClr val="E8762C"/>
                </a:solidFill>
                <a:latin typeface="Calibri" pitchFamily="34" charset="0"/>
                <a:ea typeface="Calibri" pitchFamily="34" charset="-122"/>
                <a:cs typeface="Calibri" pitchFamily="34" charset="-120"/>
              </a:rPr>
              <a:t>GRADE 10  ·  ALGEBRA II  ·  TOPIC 3</a:t>
            </a:r>
            <a:endParaRPr lang="en-US" sz="1400" dirty="0"/>
          </a:p>
        </p:txBody>
      </p:sp>
      <p:sp>
        <p:nvSpPr>
          <p:cNvPr id="9" name="Text 4"/>
          <p:cNvSpPr txBox="1"/>
          <p:nvPr/>
        </p:nvSpPr>
        <p:spPr>
          <a:xfrm>
            <a:off x="640080" y="2194560"/>
            <a:ext cx="5943600" cy="548640"/>
          </a:xfrm>
          <a:prstGeom prst="rect">
            <a:avLst/>
          </a:prstGeom>
          <a:noFill/>
          <a:ln/>
        </p:spPr>
        <p:txBody>
          <a:bodyPr wrap="square" lIns="0" tIns="0" rIns="0" bIns="0" rtlCol="0" anchor="t"/>
          <a:lstStyle/>
          <a:p>
            <a:pPr indent="0" marL="0">
              <a:buNone/>
            </a:pPr>
            <a:r>
              <a:rPr lang="en-US" sz="2600" b="1" dirty="0">
                <a:solidFill>
                  <a:srgbClr val="17A199"/>
                </a:solidFill>
                <a:latin typeface="Cambria" pitchFamily="34" charset="0"/>
                <a:ea typeface="Cambria" pitchFamily="34" charset="-122"/>
                <a:cs typeface="Cambria" pitchFamily="34" charset="-120"/>
              </a:rPr>
              <a:t>Lesson 3-3</a:t>
            </a:r>
            <a:endParaRPr lang="en-US" sz="2600" dirty="0"/>
          </a:p>
        </p:txBody>
      </p:sp>
      <p:sp>
        <p:nvSpPr>
          <p:cNvPr id="10" name="Text 5"/>
          <p:cNvSpPr txBox="1"/>
          <p:nvPr/>
        </p:nvSpPr>
        <p:spPr>
          <a:xfrm>
            <a:off x="640080" y="2743200"/>
            <a:ext cx="6035040" cy="1737360"/>
          </a:xfrm>
          <a:prstGeom prst="rect">
            <a:avLst/>
          </a:prstGeom>
          <a:noFill/>
          <a:ln/>
        </p:spPr>
        <p:txBody>
          <a:bodyPr wrap="square" lIns="0" tIns="0" rIns="0" bIns="0" rtlCol="0" anchor="t"/>
          <a:lstStyle/>
          <a:p>
            <a:pPr indent="0" marL="0">
              <a:buNone/>
            </a:pPr>
            <a:r>
              <a:rPr lang="en-US" sz="4400" b="1" dirty="0">
                <a:solidFill>
                  <a:srgbClr val="1F3864"/>
                </a:solidFill>
                <a:latin typeface="Cambria" pitchFamily="34" charset="0"/>
                <a:ea typeface="Cambria" pitchFamily="34" charset="-122"/>
                <a:cs typeface="Cambria" pitchFamily="34" charset="-120"/>
              </a:rPr>
              <a:t>Identities with</a:t>
            </a:r>
            <a:endParaRPr lang="en-US" sz="4400" dirty="0"/>
          </a:p>
          <a:p>
            <a:pPr indent="0" marL="0">
              <a:buNone/>
            </a:pPr>
            <a:r>
              <a:rPr lang="en-US" sz="4400" b="1" dirty="0">
                <a:solidFill>
                  <a:srgbClr val="1F3864"/>
                </a:solidFill>
                <a:latin typeface="Cambria" pitchFamily="34" charset="0"/>
                <a:ea typeface="Cambria" pitchFamily="34" charset="-122"/>
                <a:cs typeface="Cambria" pitchFamily="34" charset="-120"/>
              </a:rPr>
              <a:t>Polynomials</a:t>
            </a:r>
            <a:endParaRPr lang="en-US" sz="4400" dirty="0"/>
          </a:p>
        </p:txBody>
      </p:sp>
      <p:sp>
        <p:nvSpPr>
          <p:cNvPr id="11" name="Text 6"/>
          <p:cNvSpPr txBox="1"/>
          <p:nvPr/>
        </p:nvSpPr>
        <p:spPr>
          <a:xfrm>
            <a:off x="640080" y="4572000"/>
            <a:ext cx="6035040" cy="365760"/>
          </a:xfrm>
          <a:prstGeom prst="rect">
            <a:avLst/>
          </a:prstGeom>
          <a:noFill/>
          <a:ln/>
        </p:spPr>
        <p:txBody>
          <a:bodyPr wrap="square" lIns="0" tIns="0" rIns="0" bIns="0" rtlCol="0" anchor="t"/>
          <a:lstStyle/>
          <a:p>
            <a:pPr indent="0" marL="0">
              <a:buNone/>
            </a:pPr>
            <a:r>
              <a:rPr lang="en-US" sz="1800" dirty="0">
                <a:solidFill>
                  <a:srgbClr val="222E2D"/>
                </a:solidFill>
                <a:latin typeface="Calibri" pitchFamily="34" charset="0"/>
                <a:ea typeface="Calibri" pitchFamily="34" charset="-122"/>
                <a:cs typeface="Calibri" pitchFamily="34" charset="-120"/>
              </a:rPr>
              <a:t>Polynomial Functions</a:t>
            </a:r>
            <a:endParaRPr lang="en-US" sz="1800" dirty="0"/>
          </a:p>
        </p:txBody>
      </p:sp>
      <p:sp>
        <p:nvSpPr>
          <p:cNvPr id="12" name="Text 7"/>
          <p:cNvSpPr txBox="1"/>
          <p:nvPr/>
        </p:nvSpPr>
        <p:spPr>
          <a:xfrm>
            <a:off x="640080" y="5074920"/>
            <a:ext cx="4572000" cy="365760"/>
          </a:xfrm>
          <a:prstGeom prst="rect">
            <a:avLst/>
          </a:prstGeom>
          <a:noFill/>
          <a:ln/>
        </p:spPr>
        <p:txBody>
          <a:bodyPr wrap="square" lIns="0" tIns="0" rIns="0" bIns="0" rtlCol="0" anchor="t"/>
          <a:lstStyle/>
          <a:p>
            <a:pPr indent="0" marL="0">
              <a:buNone/>
            </a:pPr>
            <a:r>
              <a:rPr lang="en-US" sz="1800" b="1" dirty="0">
                <a:solidFill>
                  <a:srgbClr val="222E2D"/>
                </a:solidFill>
                <a:latin typeface="Calibri" pitchFamily="34" charset="0"/>
                <a:ea typeface="Calibri" pitchFamily="34" charset="-122"/>
                <a:cs typeface="Calibri" pitchFamily="34" charset="-120"/>
              </a:rPr>
              <a:t>Mr Malek Thiab</a:t>
            </a:r>
            <a:endParaRPr lang="en-US" sz="1800" dirty="0"/>
          </a:p>
        </p:txBody>
      </p:sp>
      <p:pic>
        <p:nvPicPr>
          <p:cNvPr id="13" name="Image 3" descr="m_L3-3w10/kd1a7bad492.png">    </p:cNvPr>
          <p:cNvPicPr>
            <a:picLocks noChangeAspect="1"/>
          </p:cNvPicPr>
          <p:nvPr/>
        </p:nvPicPr>
        <p:blipFill>
          <a:blip r:embed="rId4"/>
          <a:stretch>
            <a:fillRect/>
          </a:stretch>
        </p:blipFill>
        <p:spPr>
          <a:xfrm>
            <a:off x="8412480" y="3017520"/>
            <a:ext cx="3291840" cy="426227"/>
          </a:xfrm>
          <a:prstGeom prst="rect">
            <a:avLst/>
          </a:prstGeom>
        </p:spPr>
      </p:pic>
      <p:sp>
        <p:nvSpPr>
          <p:cNvPr id="14" name="Text 8"/>
          <p:cNvSpPr txBox="1"/>
          <p:nvPr/>
        </p:nvSpPr>
        <p:spPr>
          <a:xfrm>
            <a:off x="8138160" y="4160520"/>
            <a:ext cx="3840480" cy="365760"/>
          </a:xfrm>
          <a:prstGeom prst="rect">
            <a:avLst/>
          </a:prstGeom>
          <a:noFill/>
          <a:ln/>
        </p:spPr>
        <p:txBody>
          <a:bodyPr wrap="square" lIns="0" tIns="0" rIns="0" bIns="0" rtlCol="0" anchor="t"/>
          <a:lstStyle/>
          <a:p>
            <a:pPr algn="ctr" indent="0" marL="0">
              <a:buNone/>
            </a:pPr>
            <a:r>
              <a:rPr lang="en-US" sz="1600" dirty="0">
                <a:solidFill>
                  <a:srgbClr val="FFFFFF"/>
                </a:solidFill>
                <a:latin typeface="Calibri" pitchFamily="34" charset="0"/>
                <a:ea typeface="Calibri" pitchFamily="34" charset="-122"/>
                <a:cs typeface="Calibri" pitchFamily="34" charset="-120"/>
              </a:rPr>
              <a:t>Journey of 6 stations, 60 minutes</a:t>
            </a:r>
            <a:endParaRPr lang="en-US" sz="1600" dirty="0"/>
          </a:p>
        </p:txBody>
      </p:sp>
      <p:sp>
        <p:nvSpPr>
          <p:cNvPr id="15" name="Text 9"/>
          <p:cNvSpPr txBox="1"/>
          <p:nvPr/>
        </p:nvSpPr>
        <p:spPr>
          <a:xfrm>
            <a:off x="365760" y="6492240"/>
            <a:ext cx="5943600" cy="228600"/>
          </a:xfrm>
          <a:prstGeom prst="rect">
            <a:avLst/>
          </a:prstGeom>
          <a:noFill/>
          <a:ln/>
        </p:spPr>
        <p:txBody>
          <a:bodyPr wrap="square" lIns="0" tIns="0" rIns="0" bIns="0" rtlCol="0" anchor="t"/>
          <a:lstStyle/>
          <a:p>
            <a:pPr indent="0" marL="0">
              <a:buNone/>
            </a:pPr>
            <a:r>
              <a:rPr lang="en-US" sz="1000" b="1" spc="300" kern="0" dirty="0">
                <a:solidFill>
                  <a:srgbClr val="1F3864"/>
                </a:solidFill>
                <a:latin typeface="Calibri" pitchFamily="34" charset="0"/>
                <a:ea typeface="Calibri" pitchFamily="34" charset="-122"/>
                <a:cs typeface="Calibri" pitchFamily="34" charset="-120"/>
              </a:rPr>
              <a:t>FAITH, RIGHTEOUSNESS AND WISDOM</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4F4C"/>
        </a:solidFill>
      </p:bgPr>
    </p:bg>
    <p:spTree>
      <p:nvGrpSpPr>
        <p:cNvPr id="1" name=""/>
        <p:cNvGrpSpPr/>
        <p:nvPr/>
      </p:nvGrpSpPr>
      <p:grpSpPr>
        <a:xfrm>
          <a:off x="0" y="0"/>
          <a:ext cx="0" cy="0"/>
          <a:chOff x="0" y="0"/>
          <a:chExt cx="0" cy="0"/>
        </a:xfrm>
      </p:grpSpPr>
      <p:sp>
        <p:nvSpPr>
          <p:cNvPr id="2" name="Shape 0"/>
          <p:cNvSpPr/>
          <p:nvPr/>
        </p:nvSpPr>
        <p:spPr>
          <a:xfrm>
            <a:off x="-1097280" y="4572000"/>
            <a:ext cx="3474720" cy="3474720"/>
          </a:xfrm>
          <a:prstGeom prst="ellipse">
            <a:avLst/>
          </a:prstGeom>
          <a:solidFill>
            <a:srgbClr val="17A199">
              <a:alpha val="20000"/>
            </a:srgbClr>
          </a:solidFill>
          <a:ln w="12700">
            <a:solidFill>
              <a:srgbClr val="17A199">
                <a:alpha val="0"/>
              </a:srgbClr>
            </a:solidFill>
            <a:prstDash val="solid"/>
          </a:ln>
        </p:spPr>
      </p:sp>
      <p:sp>
        <p:nvSpPr>
          <p:cNvPr id="3" name="Shape 1"/>
          <p:cNvSpPr/>
          <p:nvPr/>
        </p:nvSpPr>
        <p:spPr>
          <a:xfrm>
            <a:off x="9875520" y="-1097280"/>
            <a:ext cx="3291840" cy="3291840"/>
          </a:xfrm>
          <a:prstGeom prst="ellipse">
            <a:avLst/>
          </a:prstGeom>
          <a:solidFill>
            <a:srgbClr val="F0B323">
              <a:alpha val="18000"/>
            </a:srgbClr>
          </a:solidFill>
          <a:ln w="12700">
            <a:solidFill>
              <a:srgbClr val="F0B323">
                <a:alpha val="0"/>
              </a:srgbClr>
            </a:solidFill>
            <a:prstDash val="solid"/>
          </a:ln>
        </p:spPr>
      </p:sp>
      <p:pic>
        <p:nvPicPr>
          <p:cNvPr id="4" name="Image 0" descr="../dept_logo_white.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_white.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548640" y="868680"/>
            <a:ext cx="10972800" cy="73152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Today's journey</a:t>
            </a:r>
            <a:endParaRPr lang="en-US" sz="4000" dirty="0"/>
          </a:p>
        </p:txBody>
      </p:sp>
      <p:sp>
        <p:nvSpPr>
          <p:cNvPr id="7" name="Text 3"/>
          <p:cNvSpPr txBox="1"/>
          <p:nvPr/>
        </p:nvSpPr>
        <p:spPr>
          <a:xfrm>
            <a:off x="548640" y="1554480"/>
            <a:ext cx="10972800" cy="365760"/>
          </a:xfrm>
          <a:prstGeom prst="rect">
            <a:avLst/>
          </a:prstGeom>
          <a:noFill/>
          <a:ln/>
        </p:spPr>
        <p:txBody>
          <a:bodyPr wrap="square" lIns="0" tIns="0" rIns="0" bIns="0" rtlCol="0" anchor="t"/>
          <a:lstStyle/>
          <a:p>
            <a:pPr indent="0" marL="0">
              <a:buNone/>
            </a:pPr>
            <a:r>
              <a:rPr lang="en-US" sz="1800" dirty="0">
                <a:solidFill>
                  <a:srgbClr val="BFD8D5"/>
                </a:solidFill>
                <a:latin typeface="Calibri" pitchFamily="34" charset="0"/>
                <a:ea typeface="Calibri" pitchFamily="34" charset="-122"/>
                <a:cs typeface="Calibri" pitchFamily="34" charset="-120"/>
              </a:rPr>
              <a:t>Six stations. Each one zooms in as we arrive.</a:t>
            </a:r>
            <a:endParaRPr lang="en-US" sz="1800" dirty="0"/>
          </a:p>
        </p:txBody>
      </p:sp>
      <p:sp>
        <p:nvSpPr>
          <p:cNvPr id="8" name="path1"/>
          <p:cNvSpPr/>
          <p:nvPr/>
        </p:nvSpPr>
        <p:spPr>
          <a:xfrm flipV="1">
            <a:off x="1371600" y="3200400"/>
            <a:ext cx="1965960" cy="1097280"/>
          </a:xfrm>
          <a:prstGeom prst="line">
            <a:avLst/>
          </a:prstGeom>
          <a:noFill/>
          <a:ln w="38100">
            <a:solidFill>
              <a:srgbClr val="F0B323"/>
            </a:solidFill>
            <a:prstDash val="dash"/>
          </a:ln>
        </p:spPr>
      </p:sp>
      <p:sp>
        <p:nvSpPr>
          <p:cNvPr id="9" name="path2"/>
          <p:cNvSpPr/>
          <p:nvPr/>
        </p:nvSpPr>
        <p:spPr>
          <a:xfrm>
            <a:off x="3337560" y="3200400"/>
            <a:ext cx="1965960" cy="1097280"/>
          </a:xfrm>
          <a:prstGeom prst="line">
            <a:avLst/>
          </a:prstGeom>
          <a:noFill/>
          <a:ln w="38100">
            <a:solidFill>
              <a:srgbClr val="F0B323"/>
            </a:solidFill>
            <a:prstDash val="dash"/>
          </a:ln>
        </p:spPr>
      </p:sp>
      <p:sp>
        <p:nvSpPr>
          <p:cNvPr id="10" name="path3"/>
          <p:cNvSpPr/>
          <p:nvPr/>
        </p:nvSpPr>
        <p:spPr>
          <a:xfrm flipV="1">
            <a:off x="5303520" y="3200400"/>
            <a:ext cx="1965960" cy="1097280"/>
          </a:xfrm>
          <a:prstGeom prst="line">
            <a:avLst/>
          </a:prstGeom>
          <a:noFill/>
          <a:ln w="38100">
            <a:solidFill>
              <a:srgbClr val="F0B323"/>
            </a:solidFill>
            <a:prstDash val="dash"/>
          </a:ln>
        </p:spPr>
      </p:sp>
      <p:sp>
        <p:nvSpPr>
          <p:cNvPr id="11" name="path4"/>
          <p:cNvSpPr/>
          <p:nvPr/>
        </p:nvSpPr>
        <p:spPr>
          <a:xfrm>
            <a:off x="7269480" y="3200400"/>
            <a:ext cx="1965960" cy="1097280"/>
          </a:xfrm>
          <a:prstGeom prst="line">
            <a:avLst/>
          </a:prstGeom>
          <a:noFill/>
          <a:ln w="38100">
            <a:solidFill>
              <a:srgbClr val="F0B323"/>
            </a:solidFill>
            <a:prstDash val="dash"/>
          </a:ln>
        </p:spPr>
      </p:sp>
      <p:sp>
        <p:nvSpPr>
          <p:cNvPr id="12" name="path5"/>
          <p:cNvSpPr/>
          <p:nvPr/>
        </p:nvSpPr>
        <p:spPr>
          <a:xfrm flipV="1">
            <a:off x="9235440" y="3200400"/>
            <a:ext cx="1737360" cy="1097280"/>
          </a:xfrm>
          <a:prstGeom prst="line">
            <a:avLst/>
          </a:prstGeom>
          <a:noFill/>
          <a:ln w="38100">
            <a:solidFill>
              <a:srgbClr val="F0B323"/>
            </a:solidFill>
            <a:prstDash val="dash"/>
          </a:ln>
        </p:spPr>
      </p:sp>
      <p:sp>
        <p:nvSpPr>
          <p:cNvPr id="13" name="stn1"/>
          <p:cNvSpPr/>
          <p:nvPr/>
        </p:nvSpPr>
        <p:spPr>
          <a:xfrm>
            <a:off x="708660" y="3634740"/>
            <a:ext cx="1325880" cy="1325880"/>
          </a:xfrm>
          <a:prstGeom prst="ellipse">
            <a:avLst/>
          </a:prstGeom>
          <a:solidFill>
            <a:srgbClr val="E8762C"/>
          </a:solidFill>
          <a:ln w="38100">
            <a:solidFill>
              <a:srgbClr val="FFFFFF"/>
            </a:solidFill>
            <a:prstDash val="solid"/>
          </a:ln>
        </p:spPr>
      </p:sp>
      <p:sp>
        <p:nvSpPr>
          <p:cNvPr id="14" name="Text 10"/>
          <p:cNvSpPr txBox="1"/>
          <p:nvPr/>
        </p:nvSpPr>
        <p:spPr>
          <a:xfrm>
            <a:off x="1005840" y="402336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1</a:t>
            </a:r>
            <a:endParaRPr lang="en-US" sz="3000" dirty="0"/>
          </a:p>
        </p:txBody>
      </p:sp>
      <p:sp>
        <p:nvSpPr>
          <p:cNvPr id="15" name="Text 11"/>
          <p:cNvSpPr txBox="1"/>
          <p:nvPr/>
        </p:nvSpPr>
        <p:spPr>
          <a:xfrm>
            <a:off x="411480" y="5070348"/>
            <a:ext cx="1920240" cy="731520"/>
          </a:xfrm>
          <a:prstGeom prst="rect">
            <a:avLst/>
          </a:prstGeom>
          <a:noFill/>
          <a:ln/>
        </p:spPr>
        <p:txBody>
          <a:bodyPr wrap="square" lIns="0" tIns="0" rIns="0" bIns="0" rtlCol="0" anchor="t"/>
          <a:lstStyle/>
          <a:p>
            <a:pPr algn="ctr" indent="0" marL="0">
              <a:buNone/>
            </a:pPr>
            <a:r>
              <a:rPr lang="en-US" sz="1700" b="1" dirty="0">
                <a:solidFill>
                  <a:srgbClr val="FFFFFF"/>
                </a:solidFill>
                <a:latin typeface="Calibri" pitchFamily="34" charset="0"/>
                <a:ea typeface="Calibri" pitchFamily="34" charset="-122"/>
                <a:cs typeface="Calibri" pitchFamily="34" charset="-120"/>
              </a:rPr>
              <a:t>Diagnose</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6 min</a:t>
            </a:r>
            <a:endParaRPr lang="en-US" sz="1700" dirty="0"/>
          </a:p>
        </p:txBody>
      </p:sp>
      <p:sp>
        <p:nvSpPr>
          <p:cNvPr id="16" name="stn2"/>
          <p:cNvSpPr/>
          <p:nvPr/>
        </p:nvSpPr>
        <p:spPr>
          <a:xfrm>
            <a:off x="2674620" y="2537460"/>
            <a:ext cx="1325880" cy="1325880"/>
          </a:xfrm>
          <a:prstGeom prst="ellipse">
            <a:avLst/>
          </a:prstGeom>
          <a:solidFill>
            <a:srgbClr val="17A199"/>
          </a:solidFill>
          <a:ln w="38100">
            <a:solidFill>
              <a:srgbClr val="FFFFFF"/>
            </a:solidFill>
            <a:prstDash val="solid"/>
          </a:ln>
        </p:spPr>
      </p:sp>
      <p:sp>
        <p:nvSpPr>
          <p:cNvPr id="17" name="Text 13"/>
          <p:cNvSpPr txBox="1"/>
          <p:nvPr/>
        </p:nvSpPr>
        <p:spPr>
          <a:xfrm>
            <a:off x="2971800" y="292608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2</a:t>
            </a:r>
            <a:endParaRPr lang="en-US" sz="3000" dirty="0"/>
          </a:p>
        </p:txBody>
      </p:sp>
      <p:sp>
        <p:nvSpPr>
          <p:cNvPr id="18" name="Text 14"/>
          <p:cNvSpPr txBox="1"/>
          <p:nvPr/>
        </p:nvSpPr>
        <p:spPr>
          <a:xfrm>
            <a:off x="2377440" y="1668780"/>
            <a:ext cx="1920240" cy="731520"/>
          </a:xfrm>
          <a:prstGeom prst="rect">
            <a:avLst/>
          </a:prstGeom>
          <a:noFill/>
          <a:ln/>
        </p:spPr>
        <p:txBody>
          <a:bodyPr wrap="square" lIns="0" tIns="0" rIns="0" bIns="0" rtlCol="0" anchor="b"/>
          <a:lstStyle/>
          <a:p>
            <a:pPr algn="ctr" indent="0" marL="0">
              <a:buNone/>
            </a:pPr>
            <a:r>
              <a:rPr lang="en-US" sz="1700" b="1" dirty="0">
                <a:solidFill>
                  <a:srgbClr val="FFFFFF"/>
                </a:solidFill>
                <a:latin typeface="Calibri" pitchFamily="34" charset="0"/>
                <a:ea typeface="Calibri" pitchFamily="34" charset="-122"/>
                <a:cs typeface="Calibri" pitchFamily="34" charset="-120"/>
              </a:rPr>
              <a:t>Targeted Instruction</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18 min</a:t>
            </a:r>
            <a:endParaRPr lang="en-US" sz="1700" dirty="0"/>
          </a:p>
        </p:txBody>
      </p:sp>
      <p:sp>
        <p:nvSpPr>
          <p:cNvPr id="19" name="stn3"/>
          <p:cNvSpPr/>
          <p:nvPr/>
        </p:nvSpPr>
        <p:spPr>
          <a:xfrm>
            <a:off x="4640580" y="3634740"/>
            <a:ext cx="1325880" cy="1325880"/>
          </a:xfrm>
          <a:prstGeom prst="ellipse">
            <a:avLst/>
          </a:prstGeom>
          <a:solidFill>
            <a:srgbClr val="17A199"/>
          </a:solidFill>
          <a:ln w="38100">
            <a:solidFill>
              <a:srgbClr val="FFFFFF"/>
            </a:solidFill>
            <a:prstDash val="solid"/>
          </a:ln>
        </p:spPr>
      </p:sp>
      <p:sp>
        <p:nvSpPr>
          <p:cNvPr id="20" name="Text 16"/>
          <p:cNvSpPr txBox="1"/>
          <p:nvPr/>
        </p:nvSpPr>
        <p:spPr>
          <a:xfrm>
            <a:off x="4937760" y="402336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3</a:t>
            </a:r>
            <a:endParaRPr lang="en-US" sz="3000" dirty="0"/>
          </a:p>
        </p:txBody>
      </p:sp>
      <p:sp>
        <p:nvSpPr>
          <p:cNvPr id="21" name="Text 17"/>
          <p:cNvSpPr txBox="1"/>
          <p:nvPr/>
        </p:nvSpPr>
        <p:spPr>
          <a:xfrm>
            <a:off x="4343400" y="5070348"/>
            <a:ext cx="1920240" cy="731520"/>
          </a:xfrm>
          <a:prstGeom prst="rect">
            <a:avLst/>
          </a:prstGeom>
          <a:noFill/>
          <a:ln/>
        </p:spPr>
        <p:txBody>
          <a:bodyPr wrap="square" lIns="0" tIns="0" rIns="0" bIns="0" rtlCol="0" anchor="t"/>
          <a:lstStyle/>
          <a:p>
            <a:pPr algn="ctr" indent="0" marL="0">
              <a:buNone/>
            </a:pPr>
            <a:r>
              <a:rPr lang="en-US" sz="1700" b="1" dirty="0">
                <a:solidFill>
                  <a:srgbClr val="FFFFFF"/>
                </a:solidFill>
                <a:latin typeface="Calibri" pitchFamily="34" charset="0"/>
                <a:ea typeface="Calibri" pitchFamily="34" charset="-122"/>
                <a:cs typeface="Calibri" pitchFamily="34" charset="-120"/>
              </a:rPr>
              <a:t>Practice</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12 min</a:t>
            </a:r>
            <a:endParaRPr lang="en-US" sz="1700" dirty="0"/>
          </a:p>
        </p:txBody>
      </p:sp>
      <p:sp>
        <p:nvSpPr>
          <p:cNvPr id="22" name="stn4"/>
          <p:cNvSpPr/>
          <p:nvPr/>
        </p:nvSpPr>
        <p:spPr>
          <a:xfrm>
            <a:off x="6606540" y="2537460"/>
            <a:ext cx="1325880" cy="1325880"/>
          </a:xfrm>
          <a:prstGeom prst="ellipse">
            <a:avLst/>
          </a:prstGeom>
          <a:solidFill>
            <a:srgbClr val="17A199"/>
          </a:solidFill>
          <a:ln w="38100">
            <a:solidFill>
              <a:srgbClr val="FFFFFF"/>
            </a:solidFill>
            <a:prstDash val="solid"/>
          </a:ln>
        </p:spPr>
      </p:sp>
      <p:sp>
        <p:nvSpPr>
          <p:cNvPr id="23" name="Text 19"/>
          <p:cNvSpPr txBox="1"/>
          <p:nvPr/>
        </p:nvSpPr>
        <p:spPr>
          <a:xfrm>
            <a:off x="6903720" y="292608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4</a:t>
            </a:r>
            <a:endParaRPr lang="en-US" sz="3000" dirty="0"/>
          </a:p>
        </p:txBody>
      </p:sp>
      <p:sp>
        <p:nvSpPr>
          <p:cNvPr id="24" name="Text 20"/>
          <p:cNvSpPr txBox="1"/>
          <p:nvPr/>
        </p:nvSpPr>
        <p:spPr>
          <a:xfrm>
            <a:off x="6309360" y="1668780"/>
            <a:ext cx="1920240" cy="731520"/>
          </a:xfrm>
          <a:prstGeom prst="rect">
            <a:avLst/>
          </a:prstGeom>
          <a:noFill/>
          <a:ln/>
        </p:spPr>
        <p:txBody>
          <a:bodyPr wrap="square" lIns="0" tIns="0" rIns="0" bIns="0" rtlCol="0" anchor="b"/>
          <a:lstStyle/>
          <a:p>
            <a:pPr algn="ctr" indent="0" marL="0">
              <a:buNone/>
            </a:pPr>
            <a:r>
              <a:rPr lang="en-US" sz="1700" b="1" dirty="0">
                <a:solidFill>
                  <a:srgbClr val="FFFFFF"/>
                </a:solidFill>
                <a:latin typeface="Calibri" pitchFamily="34" charset="0"/>
                <a:ea typeface="Calibri" pitchFamily="34" charset="-122"/>
                <a:cs typeface="Calibri" pitchFamily="34" charset="-120"/>
              </a:rPr>
              <a:t>Production</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12 min</a:t>
            </a:r>
            <a:endParaRPr lang="en-US" sz="1700" dirty="0"/>
          </a:p>
        </p:txBody>
      </p:sp>
      <p:sp>
        <p:nvSpPr>
          <p:cNvPr id="25" name="stn5"/>
          <p:cNvSpPr/>
          <p:nvPr/>
        </p:nvSpPr>
        <p:spPr>
          <a:xfrm>
            <a:off x="8572500" y="3634740"/>
            <a:ext cx="1325880" cy="1325880"/>
          </a:xfrm>
          <a:prstGeom prst="ellipse">
            <a:avLst/>
          </a:prstGeom>
          <a:solidFill>
            <a:srgbClr val="17A199"/>
          </a:solidFill>
          <a:ln w="38100">
            <a:solidFill>
              <a:srgbClr val="FFFFFF"/>
            </a:solidFill>
            <a:prstDash val="solid"/>
          </a:ln>
        </p:spPr>
      </p:sp>
      <p:sp>
        <p:nvSpPr>
          <p:cNvPr id="26" name="Text 22"/>
          <p:cNvSpPr txBox="1"/>
          <p:nvPr/>
        </p:nvSpPr>
        <p:spPr>
          <a:xfrm>
            <a:off x="8869680" y="402336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5</a:t>
            </a:r>
            <a:endParaRPr lang="en-US" sz="3000" dirty="0"/>
          </a:p>
        </p:txBody>
      </p:sp>
      <p:sp>
        <p:nvSpPr>
          <p:cNvPr id="27" name="Text 23"/>
          <p:cNvSpPr txBox="1"/>
          <p:nvPr/>
        </p:nvSpPr>
        <p:spPr>
          <a:xfrm>
            <a:off x="8275320" y="5070348"/>
            <a:ext cx="1920240" cy="731520"/>
          </a:xfrm>
          <a:prstGeom prst="rect">
            <a:avLst/>
          </a:prstGeom>
          <a:noFill/>
          <a:ln/>
        </p:spPr>
        <p:txBody>
          <a:bodyPr wrap="square" lIns="0" tIns="0" rIns="0" bIns="0" rtlCol="0" anchor="t"/>
          <a:lstStyle/>
          <a:p>
            <a:pPr algn="ctr" indent="0" marL="0">
              <a:buNone/>
            </a:pPr>
            <a:r>
              <a:rPr lang="en-US" sz="1700" b="1" dirty="0">
                <a:solidFill>
                  <a:srgbClr val="FFFFFF"/>
                </a:solidFill>
                <a:latin typeface="Calibri" pitchFamily="34" charset="0"/>
                <a:ea typeface="Calibri" pitchFamily="34" charset="-122"/>
                <a:cs typeface="Calibri" pitchFamily="34" charset="-120"/>
              </a:rPr>
              <a:t>Mastery Gate</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6 min</a:t>
            </a:r>
            <a:endParaRPr lang="en-US" sz="1700" dirty="0"/>
          </a:p>
        </p:txBody>
      </p:sp>
      <p:sp>
        <p:nvSpPr>
          <p:cNvPr id="28" name="stn6"/>
          <p:cNvSpPr/>
          <p:nvPr/>
        </p:nvSpPr>
        <p:spPr>
          <a:xfrm>
            <a:off x="10309860" y="2537460"/>
            <a:ext cx="1325880" cy="1325880"/>
          </a:xfrm>
          <a:prstGeom prst="ellipse">
            <a:avLst/>
          </a:prstGeom>
          <a:solidFill>
            <a:srgbClr val="17A199"/>
          </a:solidFill>
          <a:ln w="38100">
            <a:solidFill>
              <a:srgbClr val="FFFFFF"/>
            </a:solidFill>
            <a:prstDash val="solid"/>
          </a:ln>
        </p:spPr>
      </p:sp>
      <p:sp>
        <p:nvSpPr>
          <p:cNvPr id="29" name="Text 25"/>
          <p:cNvSpPr txBox="1"/>
          <p:nvPr/>
        </p:nvSpPr>
        <p:spPr>
          <a:xfrm>
            <a:off x="10607040" y="292608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6</a:t>
            </a:r>
            <a:endParaRPr lang="en-US" sz="3000" dirty="0"/>
          </a:p>
        </p:txBody>
      </p:sp>
      <p:sp>
        <p:nvSpPr>
          <p:cNvPr id="30" name="Text 26"/>
          <p:cNvSpPr txBox="1"/>
          <p:nvPr/>
        </p:nvSpPr>
        <p:spPr>
          <a:xfrm>
            <a:off x="10012680" y="1668780"/>
            <a:ext cx="1920240" cy="731520"/>
          </a:xfrm>
          <a:prstGeom prst="rect">
            <a:avLst/>
          </a:prstGeom>
          <a:noFill/>
          <a:ln/>
        </p:spPr>
        <p:txBody>
          <a:bodyPr wrap="square" lIns="0" tIns="0" rIns="0" bIns="0" rtlCol="0" anchor="b"/>
          <a:lstStyle/>
          <a:p>
            <a:pPr algn="ctr" indent="0" marL="0">
              <a:buNone/>
            </a:pPr>
            <a:r>
              <a:rPr lang="en-US" sz="1700" b="1" dirty="0">
                <a:solidFill>
                  <a:srgbClr val="FFFFFF"/>
                </a:solidFill>
                <a:latin typeface="Calibri" pitchFamily="34" charset="0"/>
                <a:ea typeface="Calibri" pitchFamily="34" charset="-122"/>
                <a:cs typeface="Calibri" pitchFamily="34" charset="-120"/>
              </a:rPr>
              <a:t>Smart Production</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6 min</a:t>
            </a:r>
            <a:endParaRPr lang="en-US" sz="1700" dirty="0"/>
          </a:p>
        </p:txBody>
      </p:sp>
      <p:sp>
        <p:nvSpPr>
          <p:cNvPr id="31" name="Text 27"/>
          <p:cNvSpPr txBox="1"/>
          <p:nvPr/>
        </p:nvSpPr>
        <p:spPr>
          <a:xfrm>
            <a:off x="4023360" y="6492240"/>
            <a:ext cx="4114800" cy="228600"/>
          </a:xfrm>
          <a:prstGeom prst="rect">
            <a:avLst/>
          </a:prstGeom>
          <a:noFill/>
          <a:ln/>
        </p:spPr>
        <p:txBody>
          <a:bodyPr wrap="square" lIns="0" tIns="0" rIns="0" bIns="0" rtlCol="0" anchor="t"/>
          <a:lstStyle/>
          <a:p>
            <a:pPr algn="ctr" indent="0" marL="0">
              <a:buNone/>
            </a:pPr>
            <a:r>
              <a:rPr lang="en-US" sz="1000" b="1" spc="300" kern="0" dirty="0">
                <a:solidFill>
                  <a:srgbClr val="FFFFFF"/>
                </a:solidFill>
                <a:latin typeface="Calibri" pitchFamily="34" charset="0"/>
                <a:ea typeface="Calibri" pitchFamily="34" charset="-122"/>
                <a:cs typeface="Calibri" pitchFamily="34" charset="-120"/>
              </a:rPr>
              <a:t>FAITH, RIGHTEOUSNESS AND WISDOM</a:t>
            </a:r>
            <a:endParaRPr lang="en-US" sz="10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HSA.SSE.A.2 · HSA.APR.C.4 · (+)HSA.APR.C.5</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3</a:t>
            </a:r>
            <a:endParaRPr lang="en-US" sz="1000" dirty="0"/>
          </a:p>
        </p:txBody>
      </p:sp>
      <p:sp>
        <p:nvSpPr>
          <p:cNvPr id="9" name="Text 5"/>
          <p:cNvSpPr txBox="1"/>
          <p:nvPr/>
        </p:nvSpPr>
        <p:spPr>
          <a:xfrm>
            <a:off x="457200" y="822960"/>
            <a:ext cx="11247120" cy="45720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What we are learning</a:t>
            </a:r>
            <a:endParaRPr lang="en-US" sz="3000" dirty="0"/>
          </a:p>
        </p:txBody>
      </p:sp>
      <p:sp>
        <p:nvSpPr>
          <p:cNvPr id="11" name="Shape 6"/>
          <p:cNvSpPr/>
          <p:nvPr/>
        </p:nvSpPr>
        <p:spPr>
          <a:xfrm>
            <a:off x="457200" y="1280160"/>
            <a:ext cx="5760720" cy="5029200"/>
          </a:xfrm>
          <a:prstGeom prst="roundRect">
            <a:avLst>
              <a:gd name="adj" fmla="val 2182"/>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12" name="Text 7"/>
          <p:cNvSpPr txBox="1"/>
          <p:nvPr/>
        </p:nvSpPr>
        <p:spPr>
          <a:xfrm>
            <a:off x="731520" y="1371600"/>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OBJECTIVES</a:t>
            </a:r>
            <a:endParaRPr lang="en-US" sz="1100" dirty="0"/>
          </a:p>
        </p:txBody>
      </p:sp>
      <p:sp>
        <p:nvSpPr>
          <p:cNvPr id="13" name="Text 8"/>
          <p:cNvSpPr txBox="1"/>
          <p:nvPr/>
        </p:nvSpPr>
        <p:spPr>
          <a:xfrm>
            <a:off x="731520" y="1691640"/>
            <a:ext cx="5303520" cy="4480560"/>
          </a:xfrm>
          <a:prstGeom prst="rect">
            <a:avLst/>
          </a:prstGeom>
          <a:noFill/>
          <a:ln/>
        </p:spPr>
        <p:txBody>
          <a:bodyPr wrap="square" lIns="0" tIns="0" rIns="0" bIns="0" rtlCol="0" anchor="t"/>
          <a:lstStyle/>
          <a:p>
            <a:pPr marL="342900" indent="-342900">
              <a:spcAft>
                <a:spcPts val="900"/>
              </a:spcAft>
              <a:buSzPct val="100000"/>
              <a:buFont typeface="+mj-lt"/>
              <a:buAutoNum type="arabicPeriod" startAt="1"/>
            </a:pPr>
            <a:r>
              <a:rPr lang="en-US" sz="1700" dirty="0">
                <a:solidFill>
                  <a:srgbClr val="222E2D"/>
                </a:solidFill>
                <a:latin typeface="Calibri" pitchFamily="34" charset="0"/>
                <a:ea typeface="Calibri" pitchFamily="34" charset="-122"/>
                <a:cs typeface="Calibri" pitchFamily="34" charset="-120"/>
              </a:rPr>
              <a:t>Understand and prove polynomial identities.</a:t>
            </a:r>
            <a:endParaRPr lang="en-US" sz="1700" dirty="0"/>
          </a:p>
          <a:p>
            <a:pPr marL="342900" indent="-342900">
              <a:spcAft>
                <a:spcPts val="900"/>
              </a:spcAft>
              <a:buSzPct val="100000"/>
              <a:buFont typeface="+mj-lt"/>
              <a:buAutoNum type="arabicPeriod" startAt="1"/>
            </a:pPr>
            <a:r>
              <a:rPr lang="en-US" sz="1700" dirty="0">
                <a:solidFill>
                  <a:srgbClr val="222E2D"/>
                </a:solidFill>
                <a:latin typeface="Calibri" pitchFamily="34" charset="0"/>
                <a:ea typeface="Calibri" pitchFamily="34" charset="-122"/>
                <a:cs typeface="Calibri" pitchFamily="34" charset="-120"/>
              </a:rPr>
              <a:t>Apply polynomial identities for multiplication, factoring, and simplification.</a:t>
            </a:r>
            <a:endParaRPr lang="en-US" sz="1700" dirty="0"/>
          </a:p>
          <a:p>
            <a:pPr marL="342900" indent="-342900">
              <a:spcAft>
                <a:spcPts val="900"/>
              </a:spcAft>
              <a:buSzPct val="100000"/>
              <a:buFont typeface="+mj-lt"/>
              <a:buAutoNum type="arabicPeriod" startAt="1"/>
            </a:pPr>
            <a:r>
              <a:rPr lang="en-US" sz="1700" dirty="0">
                <a:solidFill>
                  <a:srgbClr val="222E2D"/>
                </a:solidFill>
                <a:latin typeface="Calibri" pitchFamily="34" charset="0"/>
                <a:ea typeface="Calibri" pitchFamily="34" charset="-122"/>
                <a:cs typeface="Calibri" pitchFamily="34" charset="-120"/>
              </a:rPr>
              <a:t>Expand a power of a binomial by applying the binomial theorem.</a:t>
            </a:r>
            <a:endParaRPr lang="en-US" sz="1700" dirty="0"/>
          </a:p>
        </p:txBody>
      </p:sp>
      <p:sp>
        <p:nvSpPr>
          <p:cNvPr id="14" name="Shape 9"/>
          <p:cNvSpPr/>
          <p:nvPr/>
        </p:nvSpPr>
        <p:spPr>
          <a:xfrm>
            <a:off x="6400800" y="1280160"/>
            <a:ext cx="5303520" cy="1243584"/>
          </a:xfrm>
          <a:prstGeom prst="roundRect">
            <a:avLst>
              <a:gd name="adj" fmla="val 8824"/>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15" name="Text 10"/>
          <p:cNvSpPr txBox="1"/>
          <p:nvPr/>
        </p:nvSpPr>
        <p:spPr>
          <a:xfrm>
            <a:off x="6675120" y="1371600"/>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VOCABULARY</a:t>
            </a:r>
            <a:endParaRPr lang="en-US" sz="1100" dirty="0"/>
          </a:p>
        </p:txBody>
      </p:sp>
      <p:sp>
        <p:nvSpPr>
          <p:cNvPr id="16" name="Shape 11"/>
          <p:cNvSpPr/>
          <p:nvPr/>
        </p:nvSpPr>
        <p:spPr>
          <a:xfrm>
            <a:off x="6629400" y="1691640"/>
            <a:ext cx="2468880" cy="265176"/>
          </a:xfrm>
          <a:prstGeom prst="roundRect">
            <a:avLst>
              <a:gd name="adj" fmla="val 48276"/>
            </a:avLst>
          </a:prstGeom>
          <a:solidFill>
            <a:srgbClr val="17A199"/>
          </a:solidFill>
          <a:ln w="12700">
            <a:solidFill>
              <a:srgbClr val="FFFFFF"/>
            </a:solidFill>
            <a:prstDash val="solid"/>
          </a:ln>
        </p:spPr>
      </p:sp>
      <p:sp>
        <p:nvSpPr>
          <p:cNvPr id="17" name="Text 12"/>
          <p:cNvSpPr txBox="1"/>
          <p:nvPr/>
        </p:nvSpPr>
        <p:spPr>
          <a:xfrm>
            <a:off x="6629400" y="1691640"/>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Binomial Coefficient</a:t>
            </a:r>
            <a:endParaRPr lang="en-US" sz="1100" dirty="0"/>
          </a:p>
        </p:txBody>
      </p:sp>
      <p:sp>
        <p:nvSpPr>
          <p:cNvPr id="18" name="Shape 13"/>
          <p:cNvSpPr/>
          <p:nvPr/>
        </p:nvSpPr>
        <p:spPr>
          <a:xfrm>
            <a:off x="9189720" y="1691640"/>
            <a:ext cx="2468880" cy="265176"/>
          </a:xfrm>
          <a:prstGeom prst="roundRect">
            <a:avLst>
              <a:gd name="adj" fmla="val 48276"/>
            </a:avLst>
          </a:prstGeom>
          <a:solidFill>
            <a:srgbClr val="17A199"/>
          </a:solidFill>
          <a:ln w="12700">
            <a:solidFill>
              <a:srgbClr val="FFFFFF"/>
            </a:solidFill>
            <a:prstDash val="solid"/>
          </a:ln>
        </p:spPr>
      </p:sp>
      <p:sp>
        <p:nvSpPr>
          <p:cNvPr id="19" name="Text 14"/>
          <p:cNvSpPr txBox="1"/>
          <p:nvPr/>
        </p:nvSpPr>
        <p:spPr>
          <a:xfrm>
            <a:off x="9189720" y="1691640"/>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binomial theorem</a:t>
            </a:r>
            <a:endParaRPr lang="en-US" sz="1100" dirty="0"/>
          </a:p>
        </p:txBody>
      </p:sp>
      <p:sp>
        <p:nvSpPr>
          <p:cNvPr id="20" name="Shape 15"/>
          <p:cNvSpPr/>
          <p:nvPr/>
        </p:nvSpPr>
        <p:spPr>
          <a:xfrm>
            <a:off x="6629400" y="1993392"/>
            <a:ext cx="2468880" cy="265176"/>
          </a:xfrm>
          <a:prstGeom prst="roundRect">
            <a:avLst>
              <a:gd name="adj" fmla="val 48276"/>
            </a:avLst>
          </a:prstGeom>
          <a:solidFill>
            <a:srgbClr val="1F3864"/>
          </a:solidFill>
          <a:ln w="12700">
            <a:solidFill>
              <a:srgbClr val="FFFFFF"/>
            </a:solidFill>
            <a:prstDash val="solid"/>
          </a:ln>
        </p:spPr>
      </p:sp>
      <p:sp>
        <p:nvSpPr>
          <p:cNvPr id="21" name="Text 16"/>
          <p:cNvSpPr txBox="1"/>
          <p:nvPr/>
        </p:nvSpPr>
        <p:spPr>
          <a:xfrm>
            <a:off x="6629400" y="1993392"/>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Identity</a:t>
            </a:r>
            <a:endParaRPr lang="en-US" sz="1100" dirty="0"/>
          </a:p>
        </p:txBody>
      </p:sp>
      <p:sp>
        <p:nvSpPr>
          <p:cNvPr id="22" name="Shape 17"/>
          <p:cNvSpPr/>
          <p:nvPr/>
        </p:nvSpPr>
        <p:spPr>
          <a:xfrm>
            <a:off x="9189720" y="1993392"/>
            <a:ext cx="2468880" cy="265176"/>
          </a:xfrm>
          <a:prstGeom prst="roundRect">
            <a:avLst>
              <a:gd name="adj" fmla="val 48276"/>
            </a:avLst>
          </a:prstGeom>
          <a:solidFill>
            <a:srgbClr val="1F3864"/>
          </a:solidFill>
          <a:ln w="12700">
            <a:solidFill>
              <a:srgbClr val="FFFFFF"/>
            </a:solidFill>
            <a:prstDash val="solid"/>
          </a:ln>
        </p:spPr>
      </p:sp>
      <p:sp>
        <p:nvSpPr>
          <p:cNvPr id="23" name="Text 18"/>
          <p:cNvSpPr txBox="1"/>
          <p:nvPr/>
        </p:nvSpPr>
        <p:spPr>
          <a:xfrm>
            <a:off x="9189720" y="1993392"/>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Pascal’s triangle</a:t>
            </a:r>
            <a:endParaRPr lang="en-US" sz="1100" dirty="0"/>
          </a:p>
        </p:txBody>
      </p:sp>
      <p:sp>
        <p:nvSpPr>
          <p:cNvPr id="24" name="Shape 19"/>
          <p:cNvSpPr/>
          <p:nvPr/>
        </p:nvSpPr>
        <p:spPr>
          <a:xfrm>
            <a:off x="6400800" y="2660904"/>
            <a:ext cx="5303520" cy="3648456"/>
          </a:xfrm>
          <a:prstGeom prst="roundRect">
            <a:avLst>
              <a:gd name="adj" fmla="val 300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25" name="Text 20"/>
          <p:cNvSpPr txBox="1"/>
          <p:nvPr/>
        </p:nvSpPr>
        <p:spPr>
          <a:xfrm>
            <a:off x="6675120" y="2734056"/>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STANDARDS</a:t>
            </a:r>
            <a:endParaRPr lang="en-US" sz="1100" dirty="0"/>
          </a:p>
        </p:txBody>
      </p:sp>
      <p:sp>
        <p:nvSpPr>
          <p:cNvPr id="26" name="Text 21"/>
          <p:cNvSpPr txBox="1"/>
          <p:nvPr/>
        </p:nvSpPr>
        <p:spPr>
          <a:xfrm>
            <a:off x="6675120" y="3026664"/>
            <a:ext cx="4846320" cy="3191256"/>
          </a:xfrm>
          <a:prstGeom prst="rect">
            <a:avLst/>
          </a:prstGeom>
          <a:noFill/>
          <a:ln/>
        </p:spPr>
        <p:txBody>
          <a:bodyPr wrap="square" lIns="0" tIns="0" rIns="0" bIns="0" rtlCol="0" anchor="t"/>
          <a:lstStyle/>
          <a:p>
            <a:pPr indent="0" marL="0">
              <a:buNone/>
            </a:pPr>
            <a:r>
              <a:rPr lang="en-US" sz="1050" b="1" dirty="0">
                <a:solidFill>
                  <a:srgbClr val="222E2D"/>
                </a:solidFill>
                <a:latin typeface="Calibri" pitchFamily="34" charset="0"/>
                <a:ea typeface="Calibri" pitchFamily="34" charset="-122"/>
                <a:cs typeface="Calibri" pitchFamily="34" charset="-120"/>
              </a:rPr>
              <a:t>HSA.SSE.A.2  </a:t>
            </a:r>
            <a:pPr indent="0" marL="0">
              <a:spcAft>
                <a:spcPts val="400"/>
              </a:spcAft>
              <a:buNone/>
            </a:pPr>
            <a:r>
              <a:rPr lang="en-US" sz="1050" dirty="0">
                <a:solidFill>
                  <a:srgbClr val="222E2D"/>
                </a:solidFill>
                <a:latin typeface="Calibri" pitchFamily="34" charset="0"/>
                <a:ea typeface="Calibri" pitchFamily="34" charset="-122"/>
                <a:cs typeface="Calibri" pitchFamily="34" charset="-120"/>
              </a:rPr>
              <a:t>Use the structure of an expression to identify ways to rewrite it.</a:t>
            </a:r>
            <a:endParaRPr lang="en-US" sz="1050" dirty="0"/>
          </a:p>
          <a:p>
            <a:pPr indent="0" marL="0">
              <a:buNone/>
            </a:pPr>
            <a:r>
              <a:rPr lang="en-US" sz="1050" b="1" dirty="0">
                <a:solidFill>
                  <a:srgbClr val="222E2D"/>
                </a:solidFill>
                <a:latin typeface="Calibri" pitchFamily="34" charset="0"/>
                <a:ea typeface="Calibri" pitchFamily="34" charset="-122"/>
                <a:cs typeface="Calibri" pitchFamily="34" charset="-120"/>
              </a:rPr>
              <a:t>HSA.APR.C.4  </a:t>
            </a:r>
            <a:pPr indent="0" marL="0">
              <a:spcAft>
                <a:spcPts val="400"/>
              </a:spcAft>
              <a:buNone/>
            </a:pPr>
            <a:r>
              <a:rPr lang="en-US" sz="1050" dirty="0">
                <a:solidFill>
                  <a:srgbClr val="222E2D"/>
                </a:solidFill>
                <a:latin typeface="Calibri" pitchFamily="34" charset="0"/>
                <a:ea typeface="Calibri" pitchFamily="34" charset="-122"/>
                <a:cs typeface="Calibri" pitchFamily="34" charset="-120"/>
              </a:rPr>
              <a:t>Prove polynomial identities and use them to describe numerical relationships.</a:t>
            </a:r>
            <a:endParaRPr lang="en-US" sz="1050" dirty="0"/>
          </a:p>
          <a:p>
            <a:pPr indent="0" marL="0">
              <a:buNone/>
            </a:pPr>
            <a:r>
              <a:rPr lang="en-US" sz="1050" b="1" dirty="0">
                <a:solidFill>
                  <a:srgbClr val="222E2D"/>
                </a:solidFill>
                <a:latin typeface="Calibri" pitchFamily="34" charset="0"/>
                <a:ea typeface="Calibri" pitchFamily="34" charset="-122"/>
                <a:cs typeface="Calibri" pitchFamily="34" charset="-120"/>
              </a:rPr>
              <a:t>(+)HSA.APR.C.5  </a:t>
            </a:r>
            <a:pPr indent="0" marL="0">
              <a:spcAft>
                <a:spcPts val="400"/>
              </a:spcAft>
              <a:buNone/>
            </a:pPr>
            <a:r>
              <a:rPr lang="en-US" sz="1050" dirty="0">
                <a:solidFill>
                  <a:srgbClr val="222E2D"/>
                </a:solidFill>
                <a:latin typeface="Calibri" pitchFamily="34" charset="0"/>
                <a:ea typeface="Calibri" pitchFamily="34" charset="-122"/>
                <a:cs typeface="Calibri" pitchFamily="34" charset="-120"/>
              </a:rPr>
              <a:t>Know and apply the Binomial Theorem for the expansion of (x + y)n in powers of x and y for a positive integer n, where x and y are any numbers, with coefficients determined for example by Pascal's Triangle.</a:t>
            </a:r>
            <a:endParaRPr lang="en-US" sz="105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HSA.SSE.A.2 · HSA.APR.C.4 · (+)HSA.APR.C.5</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4</a:t>
            </a:r>
            <a:endParaRPr lang="en-US" sz="1000" dirty="0"/>
          </a:p>
        </p:txBody>
      </p:sp>
      <p:sp>
        <p:nvSpPr>
          <p:cNvPr id="9" name="stn1"/>
          <p:cNvSpPr/>
          <p:nvPr/>
        </p:nvSpPr>
        <p:spPr>
          <a:xfrm>
            <a:off x="3931920" y="228600"/>
            <a:ext cx="457200" cy="457200"/>
          </a:xfrm>
          <a:prstGeom prst="ellipse">
            <a:avLst/>
          </a:prstGeom>
          <a:solidFill>
            <a:srgbClr val="E8762C"/>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path1"/>
          <p:cNvSpPr/>
          <p:nvPr/>
        </p:nvSpPr>
        <p:spPr>
          <a:xfrm>
            <a:off x="4407408" y="457200"/>
            <a:ext cx="32918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42062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1  ·  DIAGNOSE  ·  6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Start here: three quick checks</a:t>
            </a:r>
            <a:endParaRPr lang="en-US" sz="3000" dirty="0"/>
          </a:p>
        </p:txBody>
      </p:sp>
      <p:sp>
        <p:nvSpPr>
          <p:cNvPr id="29" name="Shape 24"/>
          <p:cNvSpPr/>
          <p:nvPr/>
        </p:nvSpPr>
        <p:spPr>
          <a:xfrm>
            <a:off x="457200" y="1920240"/>
            <a:ext cx="3611880" cy="2194560"/>
          </a:xfrm>
          <a:prstGeom prst="roundRect">
            <a:avLst>
              <a:gd name="adj" fmla="val 5000"/>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0" name="Shape 25"/>
          <p:cNvSpPr/>
          <p:nvPr/>
        </p:nvSpPr>
        <p:spPr>
          <a:xfrm>
            <a:off x="640080" y="2057400"/>
            <a:ext cx="502920" cy="502920"/>
          </a:xfrm>
          <a:prstGeom prst="ellipse">
            <a:avLst/>
          </a:prstGeom>
          <a:solidFill>
            <a:srgbClr val="17A199"/>
          </a:solidFill>
          <a:ln w="12700">
            <a:solidFill>
              <a:srgbClr val="FFFFFF"/>
            </a:solidFill>
            <a:prstDash val="solid"/>
          </a:ln>
        </p:spPr>
      </p:sp>
      <p:sp>
        <p:nvSpPr>
          <p:cNvPr id="31" name="Text 26"/>
          <p:cNvSpPr txBox="1"/>
          <p:nvPr/>
        </p:nvSpPr>
        <p:spPr>
          <a:xfrm>
            <a:off x="64008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pic>
        <p:nvPicPr>
          <p:cNvPr id="32" name="Image 2" descr="m_L3-3w10/k2489d7ce4f.png">    </p:cNvPr>
          <p:cNvPicPr>
            <a:picLocks noChangeAspect="1"/>
          </p:cNvPicPr>
          <p:nvPr/>
        </p:nvPicPr>
        <p:blipFill>
          <a:blip r:embed="rId3"/>
          <a:stretch>
            <a:fillRect/>
          </a:stretch>
        </p:blipFill>
        <p:spPr>
          <a:xfrm>
            <a:off x="780898" y="2697480"/>
            <a:ext cx="3010205" cy="380390"/>
          </a:xfrm>
          <a:prstGeom prst="rect">
            <a:avLst/>
          </a:prstGeom>
        </p:spPr>
      </p:pic>
      <p:sp>
        <p:nvSpPr>
          <p:cNvPr id="33" name="Shape 27"/>
          <p:cNvSpPr/>
          <p:nvPr/>
        </p:nvSpPr>
        <p:spPr>
          <a:xfrm>
            <a:off x="4206240" y="1920240"/>
            <a:ext cx="3611880" cy="2194560"/>
          </a:xfrm>
          <a:prstGeom prst="roundRect">
            <a:avLst>
              <a:gd name="adj" fmla="val 5000"/>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4" name="Shape 28"/>
          <p:cNvSpPr/>
          <p:nvPr/>
        </p:nvSpPr>
        <p:spPr>
          <a:xfrm>
            <a:off x="4389120" y="2057400"/>
            <a:ext cx="502920" cy="502920"/>
          </a:xfrm>
          <a:prstGeom prst="ellipse">
            <a:avLst/>
          </a:prstGeom>
          <a:solidFill>
            <a:srgbClr val="17A199"/>
          </a:solidFill>
          <a:ln w="12700">
            <a:solidFill>
              <a:srgbClr val="FFFFFF"/>
            </a:solidFill>
            <a:prstDash val="solid"/>
          </a:ln>
        </p:spPr>
      </p:sp>
      <p:sp>
        <p:nvSpPr>
          <p:cNvPr id="35" name="Text 29"/>
          <p:cNvSpPr txBox="1"/>
          <p:nvPr/>
        </p:nvSpPr>
        <p:spPr>
          <a:xfrm>
            <a:off x="438912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pic>
        <p:nvPicPr>
          <p:cNvPr id="36" name="Image 3" descr="m_L3-3w10/k19f2cc8251.png">    </p:cNvPr>
          <p:cNvPicPr>
            <a:picLocks noChangeAspect="1"/>
          </p:cNvPicPr>
          <p:nvPr/>
        </p:nvPicPr>
        <p:blipFill>
          <a:blip r:embed="rId4"/>
          <a:stretch>
            <a:fillRect/>
          </a:stretch>
        </p:blipFill>
        <p:spPr>
          <a:xfrm>
            <a:off x="4528109" y="2697480"/>
            <a:ext cx="3013862" cy="380390"/>
          </a:xfrm>
          <a:prstGeom prst="rect">
            <a:avLst/>
          </a:prstGeom>
        </p:spPr>
      </p:pic>
      <p:sp>
        <p:nvSpPr>
          <p:cNvPr id="37" name="Shape 30"/>
          <p:cNvSpPr/>
          <p:nvPr/>
        </p:nvSpPr>
        <p:spPr>
          <a:xfrm>
            <a:off x="7955280" y="1920240"/>
            <a:ext cx="3611880" cy="2194560"/>
          </a:xfrm>
          <a:prstGeom prst="roundRect">
            <a:avLst>
              <a:gd name="adj" fmla="val 5000"/>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8" name="Shape 31"/>
          <p:cNvSpPr/>
          <p:nvPr/>
        </p:nvSpPr>
        <p:spPr>
          <a:xfrm>
            <a:off x="8138160" y="2057400"/>
            <a:ext cx="502920" cy="502920"/>
          </a:xfrm>
          <a:prstGeom prst="ellipse">
            <a:avLst/>
          </a:prstGeom>
          <a:solidFill>
            <a:srgbClr val="17A199"/>
          </a:solidFill>
          <a:ln w="12700">
            <a:solidFill>
              <a:srgbClr val="FFFFFF"/>
            </a:solidFill>
            <a:prstDash val="solid"/>
          </a:ln>
        </p:spPr>
      </p:sp>
      <p:sp>
        <p:nvSpPr>
          <p:cNvPr id="39" name="Text 32"/>
          <p:cNvSpPr txBox="1"/>
          <p:nvPr/>
        </p:nvSpPr>
        <p:spPr>
          <a:xfrm>
            <a:off x="813816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pic>
        <p:nvPicPr>
          <p:cNvPr id="40" name="Image 4" descr="m_L3-3w10/k4aa7d5db0f.png">    </p:cNvPr>
          <p:cNvPicPr>
            <a:picLocks noChangeAspect="1"/>
          </p:cNvPicPr>
          <p:nvPr/>
        </p:nvPicPr>
        <p:blipFill>
          <a:blip r:embed="rId5"/>
          <a:stretch>
            <a:fillRect/>
          </a:stretch>
        </p:blipFill>
        <p:spPr>
          <a:xfrm>
            <a:off x="8092440" y="2697480"/>
            <a:ext cx="3383280" cy="246377"/>
          </a:xfrm>
          <a:prstGeom prst="rect">
            <a:avLst/>
          </a:prstGeom>
        </p:spPr>
      </p:pic>
      <p:sp>
        <p:nvSpPr>
          <p:cNvPr id="41" name="Shape 33"/>
          <p:cNvSpPr/>
          <p:nvPr/>
        </p:nvSpPr>
        <p:spPr>
          <a:xfrm>
            <a:off x="457200" y="4434840"/>
            <a:ext cx="11247120" cy="1463040"/>
          </a:xfrm>
          <a:prstGeom prst="roundRect">
            <a:avLst>
              <a:gd name="adj" fmla="val 7500"/>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42" name="Text 34"/>
          <p:cNvSpPr txBox="1"/>
          <p:nvPr/>
        </p:nvSpPr>
        <p:spPr>
          <a:xfrm>
            <a:off x="777240" y="4572000"/>
            <a:ext cx="3657600" cy="320040"/>
          </a:xfrm>
          <a:prstGeom prst="rect">
            <a:avLst/>
          </a:prstGeom>
          <a:noFill/>
          <a:ln/>
        </p:spPr>
        <p:txBody>
          <a:bodyPr wrap="square" lIns="0" tIns="0" rIns="0" bIns="0" rtlCol="0" anchor="t"/>
          <a:lstStyle/>
          <a:p>
            <a:pPr indent="0" marL="0">
              <a:buNone/>
            </a:pPr>
            <a:r>
              <a:rPr lang="en-US" sz="1400" b="1" dirty="0">
                <a:solidFill>
                  <a:srgbClr val="F0B323"/>
                </a:solidFill>
                <a:latin typeface="Calibri" pitchFamily="34" charset="0"/>
                <a:ea typeface="Calibri" pitchFamily="34" charset="-122"/>
                <a:cs typeface="Calibri" pitchFamily="34" charset="-120"/>
              </a:rPr>
              <a:t>Done when</a:t>
            </a:r>
            <a:endParaRPr lang="en-US" sz="1400" dirty="0"/>
          </a:p>
        </p:txBody>
      </p:sp>
      <p:sp>
        <p:nvSpPr>
          <p:cNvPr id="43" name="Text 35"/>
          <p:cNvSpPr txBox="1"/>
          <p:nvPr/>
        </p:nvSpPr>
        <p:spPr>
          <a:xfrm>
            <a:off x="777240" y="4937760"/>
            <a:ext cx="10607040" cy="822960"/>
          </a:xfrm>
          <a:prstGeom prst="rect">
            <a:avLst/>
          </a:prstGeom>
          <a:noFill/>
          <a:ln/>
        </p:spPr>
        <p:txBody>
          <a:bodyPr wrap="square" lIns="0" tIns="0" rIns="0" bIns="0" rtlCol="0" anchor="t"/>
          <a:lstStyle/>
          <a:p>
            <a:pPr indent="0" marL="0">
              <a:buNone/>
            </a:pPr>
            <a:r>
              <a:rPr lang="en-US" sz="1800" dirty="0">
                <a:solidFill>
                  <a:srgbClr val="FFFFFF"/>
                </a:solidFill>
                <a:latin typeface="Calibri" pitchFamily="34" charset="0"/>
                <a:ea typeface="Calibri" pitchFamily="34" charset="-122"/>
                <a:cs typeface="Calibri" pitchFamily="34" charset="-120"/>
              </a:rPr>
              <a:t>All three answers are written without a calculator, and for Question 3 you have tried numbers, not just opinion.</a:t>
            </a:r>
            <a:endParaRPr lang="en-US" sz="18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HSA.SSE.A.2 · HSA.APR.C.4 · (+)HSA.APR.C.5</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5</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329184" cy="0"/>
          </a:xfrm>
          <a:prstGeom prst="line">
            <a:avLst/>
          </a:prstGeom>
          <a:noFill/>
          <a:ln w="25400">
            <a:solidFill>
              <a:srgbClr val="17A199"/>
            </a:solidFill>
            <a:prstDash val="dash"/>
          </a:ln>
        </p:spPr>
      </p:sp>
      <p:sp>
        <p:nvSpPr>
          <p:cNvPr id="12" name="stn2"/>
          <p:cNvSpPr/>
          <p:nvPr/>
        </p:nvSpPr>
        <p:spPr>
          <a:xfrm>
            <a:off x="4645152" y="228600"/>
            <a:ext cx="457200" cy="457200"/>
          </a:xfrm>
          <a:prstGeom prst="ellipse">
            <a:avLst/>
          </a:prstGeom>
          <a:solidFill>
            <a:srgbClr val="E8762C"/>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path2"/>
          <p:cNvSpPr/>
          <p:nvPr/>
        </p:nvSpPr>
        <p:spPr>
          <a:xfrm>
            <a:off x="5120640" y="457200"/>
            <a:ext cx="32918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2  ·  TARGETED INSTRUCTION  ·  18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Squares and the difference of squares</a:t>
            </a:r>
            <a:endParaRPr lang="en-US" sz="3000" dirty="0"/>
          </a:p>
        </p:txBody>
      </p:sp>
      <p:sp>
        <p:nvSpPr>
          <p:cNvPr id="29" name="Shape 24"/>
          <p:cNvSpPr/>
          <p:nvPr/>
        </p:nvSpPr>
        <p:spPr>
          <a:xfrm>
            <a:off x="457200" y="1783080"/>
            <a:ext cx="11247120" cy="1097280"/>
          </a:xfrm>
          <a:prstGeom prst="roundRect">
            <a:avLst>
              <a:gd name="adj" fmla="val 10000"/>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0" name="Image 2" descr="m_L3-3w10/k7a520a0814.png">    </p:cNvPr>
          <p:cNvPicPr>
            <a:picLocks noChangeAspect="1"/>
          </p:cNvPicPr>
          <p:nvPr/>
        </p:nvPicPr>
        <p:blipFill>
          <a:blip r:embed="rId3"/>
          <a:stretch>
            <a:fillRect/>
          </a:stretch>
        </p:blipFill>
        <p:spPr>
          <a:xfrm>
            <a:off x="2604211" y="2126894"/>
            <a:ext cx="3174797" cy="409651"/>
          </a:xfrm>
          <a:prstGeom prst="rect">
            <a:avLst/>
          </a:prstGeom>
        </p:spPr>
      </p:pic>
      <p:pic>
        <p:nvPicPr>
          <p:cNvPr id="31" name="Image 3" descr="m_L3-3w10/k95ec5ffbc6.png">    </p:cNvPr>
          <p:cNvPicPr>
            <a:picLocks noChangeAspect="1"/>
          </p:cNvPicPr>
          <p:nvPr/>
        </p:nvPicPr>
        <p:blipFill>
          <a:blip r:embed="rId4"/>
          <a:stretch>
            <a:fillRect/>
          </a:stretch>
        </p:blipFill>
        <p:spPr>
          <a:xfrm>
            <a:off x="6419088" y="2126894"/>
            <a:ext cx="3138221" cy="409651"/>
          </a:xfrm>
          <a:prstGeom prst="rect">
            <a:avLst/>
          </a:prstGeom>
        </p:spPr>
      </p:pic>
      <p:sp>
        <p:nvSpPr>
          <p:cNvPr id="32" name="Shape 25"/>
          <p:cNvSpPr/>
          <p:nvPr/>
        </p:nvSpPr>
        <p:spPr>
          <a:xfrm>
            <a:off x="457200" y="3108960"/>
            <a:ext cx="553212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3" name="Text 26"/>
          <p:cNvSpPr txBox="1"/>
          <p:nvPr/>
        </p:nvSpPr>
        <p:spPr>
          <a:xfrm>
            <a:off x="68580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A</a:t>
            </a:r>
            <a:endParaRPr lang="en-US" sz="1100" dirty="0"/>
          </a:p>
        </p:txBody>
      </p:sp>
      <p:pic>
        <p:nvPicPr>
          <p:cNvPr id="34" name="Image 4" descr="m_L3-3w10/k0ca88518cc.png">    </p:cNvPr>
          <p:cNvPicPr>
            <a:picLocks noChangeAspect="1"/>
          </p:cNvPicPr>
          <p:nvPr/>
        </p:nvPicPr>
        <p:blipFill>
          <a:blip r:embed="rId5"/>
          <a:stretch>
            <a:fillRect/>
          </a:stretch>
        </p:blipFill>
        <p:spPr>
          <a:xfrm>
            <a:off x="2627025" y="3520440"/>
            <a:ext cx="1192469" cy="387120"/>
          </a:xfrm>
          <a:prstGeom prst="rect">
            <a:avLst/>
          </a:prstGeom>
        </p:spPr>
      </p:pic>
      <p:pic>
        <p:nvPicPr>
          <p:cNvPr id="35" name="Image 5" descr="m_L3-3w10/k35f949ffae.png">    </p:cNvPr>
          <p:cNvPicPr>
            <a:picLocks noChangeAspect="1"/>
          </p:cNvPicPr>
          <p:nvPr/>
        </p:nvPicPr>
        <p:blipFill>
          <a:blip r:embed="rId6"/>
          <a:stretch>
            <a:fillRect/>
          </a:stretch>
        </p:blipFill>
        <p:spPr>
          <a:xfrm>
            <a:off x="1950964" y="4026432"/>
            <a:ext cx="2544592" cy="368686"/>
          </a:xfrm>
          <a:prstGeom prst="rect">
            <a:avLst/>
          </a:prstGeom>
        </p:spPr>
      </p:pic>
      <p:pic>
        <p:nvPicPr>
          <p:cNvPr id="36" name="Image 6" descr="m_L3-3w10/k0a1615d184.png">    </p:cNvPr>
          <p:cNvPicPr>
            <a:picLocks noChangeAspect="1"/>
          </p:cNvPicPr>
          <p:nvPr/>
        </p:nvPicPr>
        <p:blipFill>
          <a:blip r:embed="rId7"/>
          <a:stretch>
            <a:fillRect/>
          </a:stretch>
        </p:blipFill>
        <p:spPr>
          <a:xfrm>
            <a:off x="2250521" y="4513990"/>
            <a:ext cx="1945477" cy="322600"/>
          </a:xfrm>
          <a:prstGeom prst="rect">
            <a:avLst/>
          </a:prstGeom>
        </p:spPr>
      </p:pic>
      <p:sp>
        <p:nvSpPr>
          <p:cNvPr id="37" name="Shape 27"/>
          <p:cNvSpPr/>
          <p:nvPr/>
        </p:nvSpPr>
        <p:spPr>
          <a:xfrm>
            <a:off x="6172200" y="3108960"/>
            <a:ext cx="553212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8" name="Text 28"/>
          <p:cNvSpPr txBox="1"/>
          <p:nvPr/>
        </p:nvSpPr>
        <p:spPr>
          <a:xfrm>
            <a:off x="640080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B</a:t>
            </a:r>
            <a:endParaRPr lang="en-US" sz="1100" dirty="0"/>
          </a:p>
        </p:txBody>
      </p:sp>
      <p:pic>
        <p:nvPicPr>
          <p:cNvPr id="39" name="Image 7" descr="m_L3-3w10/kb11a327767.png">    </p:cNvPr>
          <p:cNvPicPr>
            <a:picLocks noChangeAspect="1"/>
          </p:cNvPicPr>
          <p:nvPr/>
        </p:nvPicPr>
        <p:blipFill>
          <a:blip r:embed="rId8"/>
          <a:stretch>
            <a:fillRect/>
          </a:stretch>
        </p:blipFill>
        <p:spPr>
          <a:xfrm>
            <a:off x="7894418" y="3520440"/>
            <a:ext cx="2087685" cy="359469"/>
          </a:xfrm>
          <a:prstGeom prst="rect">
            <a:avLst/>
          </a:prstGeom>
        </p:spPr>
      </p:pic>
      <p:pic>
        <p:nvPicPr>
          <p:cNvPr id="40" name="Image 8" descr="m_L3-3w10/k61480c2daf.png">    </p:cNvPr>
          <p:cNvPicPr>
            <a:picLocks noChangeAspect="1"/>
          </p:cNvPicPr>
          <p:nvPr/>
        </p:nvPicPr>
        <p:blipFill>
          <a:blip r:embed="rId9"/>
          <a:stretch>
            <a:fillRect/>
          </a:stretch>
        </p:blipFill>
        <p:spPr>
          <a:xfrm>
            <a:off x="8314456" y="3998781"/>
            <a:ext cx="1247607" cy="368686"/>
          </a:xfrm>
          <a:prstGeom prst="rect">
            <a:avLst/>
          </a:prstGeom>
        </p:spPr>
      </p:pic>
      <p:pic>
        <p:nvPicPr>
          <p:cNvPr id="41" name="Image 9" descr="m_L3-3w10/kc0d53596a4.png">    </p:cNvPr>
          <p:cNvPicPr>
            <a:picLocks noChangeAspect="1"/>
          </p:cNvPicPr>
          <p:nvPr/>
        </p:nvPicPr>
        <p:blipFill>
          <a:blip r:embed="rId10"/>
          <a:stretch>
            <a:fillRect/>
          </a:stretch>
        </p:blipFill>
        <p:spPr>
          <a:xfrm>
            <a:off x="8404982" y="4486339"/>
            <a:ext cx="1066556" cy="32260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HSA.SSE.A.2 · HSA.APR.C.4 · (+)HSA.APR.C.5</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6</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329184" cy="0"/>
          </a:xfrm>
          <a:prstGeom prst="line">
            <a:avLst/>
          </a:prstGeom>
          <a:noFill/>
          <a:ln w="25400">
            <a:solidFill>
              <a:srgbClr val="17A199"/>
            </a:solidFill>
            <a:prstDash val="dash"/>
          </a:ln>
        </p:spPr>
      </p:sp>
      <p:sp>
        <p:nvSpPr>
          <p:cNvPr id="12" name="stn2"/>
          <p:cNvSpPr/>
          <p:nvPr/>
        </p:nvSpPr>
        <p:spPr>
          <a:xfrm>
            <a:off x="4645152" y="228600"/>
            <a:ext cx="457200" cy="457200"/>
          </a:xfrm>
          <a:prstGeom prst="ellipse">
            <a:avLst/>
          </a:prstGeom>
          <a:solidFill>
            <a:srgbClr val="E8762C"/>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path2"/>
          <p:cNvSpPr/>
          <p:nvPr/>
        </p:nvSpPr>
        <p:spPr>
          <a:xfrm>
            <a:off x="5120640" y="457200"/>
            <a:ext cx="32918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2  ·  TARGETED INSTRUCTION  ·  18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Proving an identity</a:t>
            </a:r>
            <a:endParaRPr lang="en-US" sz="3000" dirty="0"/>
          </a:p>
        </p:txBody>
      </p:sp>
      <p:sp>
        <p:nvSpPr>
          <p:cNvPr id="29" name="Shape 24"/>
          <p:cNvSpPr/>
          <p:nvPr/>
        </p:nvSpPr>
        <p:spPr>
          <a:xfrm>
            <a:off x="457200" y="1783080"/>
            <a:ext cx="11247120" cy="1097280"/>
          </a:xfrm>
          <a:prstGeom prst="roundRect">
            <a:avLst>
              <a:gd name="adj" fmla="val 10000"/>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0" name="Image 2" descr="m_L3-3w10/k905ce7e493.png">    </p:cNvPr>
          <p:cNvPicPr>
            <a:picLocks noChangeAspect="1"/>
          </p:cNvPicPr>
          <p:nvPr/>
        </p:nvPicPr>
        <p:blipFill>
          <a:blip r:embed="rId3"/>
          <a:stretch>
            <a:fillRect/>
          </a:stretch>
        </p:blipFill>
        <p:spPr>
          <a:xfrm>
            <a:off x="731520" y="2191692"/>
            <a:ext cx="4504465" cy="280055"/>
          </a:xfrm>
          <a:prstGeom prst="rect">
            <a:avLst/>
          </a:prstGeom>
        </p:spPr>
      </p:pic>
      <p:pic>
        <p:nvPicPr>
          <p:cNvPr id="31" name="Image 3" descr="m_L3-3w10/k422bd824f6.png">    </p:cNvPr>
          <p:cNvPicPr>
            <a:picLocks noChangeAspect="1"/>
          </p:cNvPicPr>
          <p:nvPr/>
        </p:nvPicPr>
        <p:blipFill>
          <a:blip r:embed="rId4"/>
          <a:stretch>
            <a:fillRect/>
          </a:stretch>
        </p:blipFill>
        <p:spPr>
          <a:xfrm>
            <a:off x="5876065" y="2191692"/>
            <a:ext cx="5553935" cy="280055"/>
          </a:xfrm>
          <a:prstGeom prst="rect">
            <a:avLst/>
          </a:prstGeom>
        </p:spPr>
      </p:pic>
      <p:sp>
        <p:nvSpPr>
          <p:cNvPr id="32" name="Shape 25"/>
          <p:cNvSpPr/>
          <p:nvPr/>
        </p:nvSpPr>
        <p:spPr>
          <a:xfrm>
            <a:off x="457200" y="3108960"/>
            <a:ext cx="5532120" cy="2331720"/>
          </a:xfrm>
          <a:prstGeom prst="roundRect">
            <a:avLst>
              <a:gd name="adj" fmla="val 4706"/>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3" name="Text 26"/>
          <p:cNvSpPr txBox="1"/>
          <p:nvPr/>
        </p:nvSpPr>
        <p:spPr>
          <a:xfrm>
            <a:off x="68580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A</a:t>
            </a:r>
            <a:endParaRPr lang="en-US" sz="1100" dirty="0"/>
          </a:p>
        </p:txBody>
      </p:sp>
      <p:pic>
        <p:nvPicPr>
          <p:cNvPr id="34" name="Image 4" descr="m_L3-3w10/ke2114845de.png">    </p:cNvPr>
          <p:cNvPicPr>
            <a:picLocks noChangeAspect="1"/>
          </p:cNvPicPr>
          <p:nvPr/>
        </p:nvPicPr>
        <p:blipFill>
          <a:blip r:embed="rId5"/>
          <a:stretch>
            <a:fillRect/>
          </a:stretch>
        </p:blipFill>
        <p:spPr>
          <a:xfrm>
            <a:off x="1275561" y="3520440"/>
            <a:ext cx="3895399" cy="387120"/>
          </a:xfrm>
          <a:prstGeom prst="rect">
            <a:avLst/>
          </a:prstGeom>
        </p:spPr>
      </p:pic>
      <p:pic>
        <p:nvPicPr>
          <p:cNvPr id="35" name="Image 5" descr="m_L3-3w10/kbabd20e97b.png">    </p:cNvPr>
          <p:cNvPicPr>
            <a:picLocks noChangeAspect="1"/>
          </p:cNvPicPr>
          <p:nvPr/>
        </p:nvPicPr>
        <p:blipFill>
          <a:blip r:embed="rId6"/>
          <a:stretch>
            <a:fillRect/>
          </a:stretch>
        </p:blipFill>
        <p:spPr>
          <a:xfrm>
            <a:off x="1292596" y="4026432"/>
            <a:ext cx="3861328" cy="368686"/>
          </a:xfrm>
          <a:prstGeom prst="rect">
            <a:avLst/>
          </a:prstGeom>
        </p:spPr>
      </p:pic>
      <p:pic>
        <p:nvPicPr>
          <p:cNvPr id="36" name="Image 6" descr="m_L3-3w10/ka77f3c7abd.png">    </p:cNvPr>
          <p:cNvPicPr>
            <a:picLocks noChangeAspect="1"/>
          </p:cNvPicPr>
          <p:nvPr/>
        </p:nvPicPr>
        <p:blipFill>
          <a:blip r:embed="rId7"/>
          <a:stretch>
            <a:fillRect/>
          </a:stretch>
        </p:blipFill>
        <p:spPr>
          <a:xfrm>
            <a:off x="2852928" y="4513990"/>
            <a:ext cx="740664" cy="260055"/>
          </a:xfrm>
          <a:prstGeom prst="rect">
            <a:avLst/>
          </a:prstGeom>
        </p:spPr>
      </p:pic>
      <p:sp>
        <p:nvSpPr>
          <p:cNvPr id="37" name="Shape 27"/>
          <p:cNvSpPr/>
          <p:nvPr/>
        </p:nvSpPr>
        <p:spPr>
          <a:xfrm>
            <a:off x="6172200" y="3108960"/>
            <a:ext cx="5532120" cy="2331720"/>
          </a:xfrm>
          <a:prstGeom prst="roundRect">
            <a:avLst>
              <a:gd name="adj" fmla="val 4706"/>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8" name="Text 28"/>
          <p:cNvSpPr txBox="1"/>
          <p:nvPr/>
        </p:nvSpPr>
        <p:spPr>
          <a:xfrm>
            <a:off x="640080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B</a:t>
            </a:r>
            <a:endParaRPr lang="en-US" sz="1100" dirty="0"/>
          </a:p>
        </p:txBody>
      </p:sp>
      <p:pic>
        <p:nvPicPr>
          <p:cNvPr id="39" name="Image 7" descr="m_L3-3w10/k99bd8b6b93.png">    </p:cNvPr>
          <p:cNvPicPr>
            <a:picLocks noChangeAspect="1"/>
          </p:cNvPicPr>
          <p:nvPr/>
        </p:nvPicPr>
        <p:blipFill>
          <a:blip r:embed="rId8"/>
          <a:stretch>
            <a:fillRect/>
          </a:stretch>
        </p:blipFill>
        <p:spPr>
          <a:xfrm>
            <a:off x="7044135" y="3520440"/>
            <a:ext cx="3788249" cy="338730"/>
          </a:xfrm>
          <a:prstGeom prst="rect">
            <a:avLst/>
          </a:prstGeom>
        </p:spPr>
      </p:pic>
      <p:pic>
        <p:nvPicPr>
          <p:cNvPr id="40" name="Image 8" descr="m_L3-3w10/kd39f999899.png">    </p:cNvPr>
          <p:cNvPicPr>
            <a:picLocks noChangeAspect="1"/>
          </p:cNvPicPr>
          <p:nvPr/>
        </p:nvPicPr>
        <p:blipFill>
          <a:blip r:embed="rId9"/>
          <a:stretch>
            <a:fillRect/>
          </a:stretch>
        </p:blipFill>
        <p:spPr>
          <a:xfrm>
            <a:off x="7828910" y="3978042"/>
            <a:ext cx="2218700" cy="342351"/>
          </a:xfrm>
          <a:prstGeom prst="rect">
            <a:avLst/>
          </a:prstGeom>
        </p:spPr>
      </p:pic>
      <p:pic>
        <p:nvPicPr>
          <p:cNvPr id="41" name="Image 9" descr="m_L3-3w10/k216cd2f6f3.png">    </p:cNvPr>
          <p:cNvPicPr>
            <a:picLocks noChangeAspect="1"/>
          </p:cNvPicPr>
          <p:nvPr/>
        </p:nvPicPr>
        <p:blipFill>
          <a:blip r:embed="rId10"/>
          <a:stretch>
            <a:fillRect/>
          </a:stretch>
        </p:blipFill>
        <p:spPr>
          <a:xfrm>
            <a:off x="7954000" y="4439266"/>
            <a:ext cx="1968520" cy="269931"/>
          </a:xfrm>
          <a:prstGeom prst="rect">
            <a:avLst/>
          </a:prstGeom>
        </p:spPr>
      </p:pic>
      <p:sp>
        <p:nvSpPr>
          <p:cNvPr id="42" name="Shape 29"/>
          <p:cNvSpPr/>
          <p:nvPr/>
        </p:nvSpPr>
        <p:spPr>
          <a:xfrm>
            <a:off x="457200" y="5532120"/>
            <a:ext cx="11247120" cy="731520"/>
          </a:xfrm>
          <a:prstGeom prst="roundRect">
            <a:avLst>
              <a:gd name="adj" fmla="val 15000"/>
            </a:avLst>
          </a:prstGeom>
          <a:solidFill>
            <a:srgbClr val="FFF1C9"/>
          </a:solidFill>
          <a:ln w="28575">
            <a:solidFill>
              <a:srgbClr val="F0B323"/>
            </a:solidFill>
            <a:prstDash val="solid"/>
          </a:ln>
          <a:effectLst>
            <a:outerShdw sx="100000" sy="100000" kx="0" ky="0" algn="bl" rotWithShape="0" blurRad="101600" dist="25400" dir="5400000">
              <a:srgbClr val="000000">
                <a:alpha val="15000"/>
              </a:srgbClr>
            </a:outerShdw>
          </a:effectLst>
        </p:spPr>
      </p:sp>
      <p:sp>
        <p:nvSpPr>
          <p:cNvPr id="43" name="Text 30"/>
          <p:cNvSpPr txBox="1"/>
          <p:nvPr/>
        </p:nvSpPr>
        <p:spPr>
          <a:xfrm>
            <a:off x="685800" y="5532120"/>
            <a:ext cx="1463040" cy="731520"/>
          </a:xfrm>
          <a:prstGeom prst="rect">
            <a:avLst/>
          </a:prstGeom>
          <a:noFill/>
          <a:ln/>
        </p:spPr>
        <p:txBody>
          <a:bodyPr wrap="square" lIns="0" tIns="0" rIns="0" bIns="0" rtlCol="0" anchor="ctr"/>
          <a:lstStyle/>
          <a:p>
            <a:pPr indent="0" marL="0">
              <a:buNone/>
            </a:pPr>
            <a:r>
              <a:rPr lang="en-US" sz="1200" b="1" spc="200" kern="0" dirty="0">
                <a:solidFill>
                  <a:srgbClr val="E8762C"/>
                </a:solidFill>
                <a:latin typeface="Calibri" pitchFamily="34" charset="0"/>
                <a:ea typeface="Calibri" pitchFamily="34" charset="-122"/>
                <a:cs typeface="Calibri" pitchFamily="34" charset="-120"/>
              </a:rPr>
              <a:t>WHAT IF...?</a:t>
            </a:r>
            <a:endParaRPr lang="en-US" sz="1200" dirty="0"/>
          </a:p>
        </p:txBody>
      </p:sp>
      <p:sp>
        <p:nvSpPr>
          <p:cNvPr id="44" name="Text 31"/>
          <p:cNvSpPr txBox="1"/>
          <p:nvPr/>
        </p:nvSpPr>
        <p:spPr>
          <a:xfrm>
            <a:off x="2194560" y="5532120"/>
            <a:ext cx="6309360" cy="731520"/>
          </a:xfrm>
          <a:prstGeom prst="rect">
            <a:avLst/>
          </a:prstGeom>
          <a:noFill/>
          <a:ln/>
        </p:spPr>
        <p:txBody>
          <a:bodyPr wrap="square" lIns="0" tIns="0" rIns="0" bIns="0" rtlCol="0" anchor="ctr"/>
          <a:lstStyle/>
          <a:p>
            <a:pPr indent="0" marL="0">
              <a:buNone/>
            </a:pPr>
            <a:r>
              <a:rPr lang="en-US" sz="1400" dirty="0">
                <a:solidFill>
                  <a:srgbClr val="222E2D"/>
                </a:solidFill>
                <a:latin typeface="Calibri" pitchFamily="34" charset="0"/>
                <a:ea typeface="Calibri" pitchFamily="34" charset="-122"/>
                <a:cs typeface="Calibri" pitchFamily="34" charset="-120"/>
              </a:rPr>
              <a:t>What if a number such as 83² − 17² is a difference of squares? Predict the quickest route, then check it with a calculator.</a:t>
            </a:r>
            <a:endParaRPr lang="en-US" sz="1400" dirty="0"/>
          </a:p>
        </p:txBody>
      </p:sp>
      <p:pic>
        <p:nvPicPr>
          <p:cNvPr id="45" name="Image 10" descr="m_L3-3w10/k72935144f2.png">    </p:cNvPr>
          <p:cNvPicPr>
            <a:picLocks noChangeAspect="1"/>
          </p:cNvPicPr>
          <p:nvPr/>
        </p:nvPicPr>
        <p:blipFill>
          <a:blip r:embed="rId11"/>
          <a:stretch>
            <a:fillRect/>
          </a:stretch>
        </p:blipFill>
        <p:spPr>
          <a:xfrm>
            <a:off x="9122054" y="5744261"/>
            <a:ext cx="2353666" cy="30723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HSA.SSE.A.2 · HSA.APR.C.4 · (+)HSA.APR.C.5</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7</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329184" cy="0"/>
          </a:xfrm>
          <a:prstGeom prst="line">
            <a:avLst/>
          </a:prstGeom>
          <a:noFill/>
          <a:ln w="25400">
            <a:solidFill>
              <a:srgbClr val="17A199"/>
            </a:solidFill>
            <a:prstDash val="dash"/>
          </a:ln>
        </p:spPr>
      </p:sp>
      <p:sp>
        <p:nvSpPr>
          <p:cNvPr id="12" name="stn2"/>
          <p:cNvSpPr/>
          <p:nvPr/>
        </p:nvSpPr>
        <p:spPr>
          <a:xfrm>
            <a:off x="4645152" y="228600"/>
            <a:ext cx="457200" cy="457200"/>
          </a:xfrm>
          <a:prstGeom prst="ellipse">
            <a:avLst/>
          </a:prstGeom>
          <a:solidFill>
            <a:srgbClr val="E8762C"/>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path2"/>
          <p:cNvSpPr/>
          <p:nvPr/>
        </p:nvSpPr>
        <p:spPr>
          <a:xfrm>
            <a:off x="5120640" y="457200"/>
            <a:ext cx="32918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2  ·  TARGETED INSTRUCTION  ·  18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Factoring with identities</a:t>
            </a:r>
            <a:endParaRPr lang="en-US" sz="3000" dirty="0"/>
          </a:p>
        </p:txBody>
      </p:sp>
      <p:sp>
        <p:nvSpPr>
          <p:cNvPr id="29" name="Shape 24"/>
          <p:cNvSpPr/>
          <p:nvPr/>
        </p:nvSpPr>
        <p:spPr>
          <a:xfrm>
            <a:off x="457200" y="1783080"/>
            <a:ext cx="11247120" cy="1097280"/>
          </a:xfrm>
          <a:prstGeom prst="roundRect">
            <a:avLst>
              <a:gd name="adj" fmla="val 10000"/>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0" name="Image 2" descr="m_L3-3w10/kbe5a2d6c86.png">    </p:cNvPr>
          <p:cNvPicPr>
            <a:picLocks noChangeAspect="1"/>
          </p:cNvPicPr>
          <p:nvPr/>
        </p:nvPicPr>
        <p:blipFill>
          <a:blip r:embed="rId3"/>
          <a:stretch>
            <a:fillRect/>
          </a:stretch>
        </p:blipFill>
        <p:spPr>
          <a:xfrm>
            <a:off x="2604211" y="2126894"/>
            <a:ext cx="3138221" cy="409651"/>
          </a:xfrm>
          <a:prstGeom prst="rect">
            <a:avLst/>
          </a:prstGeom>
        </p:spPr>
      </p:pic>
      <p:pic>
        <p:nvPicPr>
          <p:cNvPr id="31" name="Image 3" descr="m_L3-3w10/kb4c80e6351.png">    </p:cNvPr>
          <p:cNvPicPr>
            <a:picLocks noChangeAspect="1"/>
          </p:cNvPicPr>
          <p:nvPr/>
        </p:nvPicPr>
        <p:blipFill>
          <a:blip r:embed="rId4"/>
          <a:stretch>
            <a:fillRect/>
          </a:stretch>
        </p:blipFill>
        <p:spPr>
          <a:xfrm>
            <a:off x="6382512" y="2126894"/>
            <a:ext cx="3174797" cy="409651"/>
          </a:xfrm>
          <a:prstGeom prst="rect">
            <a:avLst/>
          </a:prstGeom>
        </p:spPr>
      </p:pic>
      <p:sp>
        <p:nvSpPr>
          <p:cNvPr id="32" name="Shape 25"/>
          <p:cNvSpPr/>
          <p:nvPr/>
        </p:nvSpPr>
        <p:spPr>
          <a:xfrm>
            <a:off x="457200" y="3108960"/>
            <a:ext cx="553212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3" name="Text 26"/>
          <p:cNvSpPr txBox="1"/>
          <p:nvPr/>
        </p:nvSpPr>
        <p:spPr>
          <a:xfrm>
            <a:off x="68580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A</a:t>
            </a:r>
            <a:endParaRPr lang="en-US" sz="1100" dirty="0"/>
          </a:p>
        </p:txBody>
      </p:sp>
      <p:pic>
        <p:nvPicPr>
          <p:cNvPr id="34" name="Image 4" descr="m_L3-3w10/k70f4fb9607.png">    </p:cNvPr>
          <p:cNvPicPr>
            <a:picLocks noChangeAspect="1"/>
          </p:cNvPicPr>
          <p:nvPr/>
        </p:nvPicPr>
        <p:blipFill>
          <a:blip r:embed="rId5"/>
          <a:stretch>
            <a:fillRect/>
          </a:stretch>
        </p:blipFill>
        <p:spPr>
          <a:xfrm>
            <a:off x="2462845" y="3520440"/>
            <a:ext cx="1520830" cy="369838"/>
          </a:xfrm>
          <a:prstGeom prst="rect">
            <a:avLst/>
          </a:prstGeom>
        </p:spPr>
      </p:pic>
      <p:pic>
        <p:nvPicPr>
          <p:cNvPr id="35" name="Image 5" descr="m_L3-3w10/kc6ea451b96.png">    </p:cNvPr>
          <p:cNvPicPr>
            <a:picLocks noChangeAspect="1"/>
          </p:cNvPicPr>
          <p:nvPr/>
        </p:nvPicPr>
        <p:blipFill>
          <a:blip r:embed="rId6"/>
          <a:stretch>
            <a:fillRect/>
          </a:stretch>
        </p:blipFill>
        <p:spPr>
          <a:xfrm>
            <a:off x="2424989" y="4009150"/>
            <a:ext cx="1596542" cy="368686"/>
          </a:xfrm>
          <a:prstGeom prst="rect">
            <a:avLst/>
          </a:prstGeom>
        </p:spPr>
      </p:pic>
      <p:pic>
        <p:nvPicPr>
          <p:cNvPr id="36" name="Image 6" descr="m_L3-3w10/k95c7b7823c.png">    </p:cNvPr>
          <p:cNvPicPr>
            <a:picLocks noChangeAspect="1"/>
          </p:cNvPicPr>
          <p:nvPr/>
        </p:nvPicPr>
        <p:blipFill>
          <a:blip r:embed="rId7"/>
          <a:stretch>
            <a:fillRect/>
          </a:stretch>
        </p:blipFill>
        <p:spPr>
          <a:xfrm>
            <a:off x="2087575" y="4496708"/>
            <a:ext cx="2271370" cy="342351"/>
          </a:xfrm>
          <a:prstGeom prst="rect">
            <a:avLst/>
          </a:prstGeom>
        </p:spPr>
      </p:pic>
      <p:sp>
        <p:nvSpPr>
          <p:cNvPr id="37" name="Shape 27"/>
          <p:cNvSpPr/>
          <p:nvPr/>
        </p:nvSpPr>
        <p:spPr>
          <a:xfrm>
            <a:off x="6172200" y="3108960"/>
            <a:ext cx="553212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8" name="Text 28"/>
          <p:cNvSpPr txBox="1"/>
          <p:nvPr/>
        </p:nvSpPr>
        <p:spPr>
          <a:xfrm>
            <a:off x="640080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B</a:t>
            </a:r>
            <a:endParaRPr lang="en-US" sz="1100" dirty="0"/>
          </a:p>
        </p:txBody>
      </p:sp>
      <p:pic>
        <p:nvPicPr>
          <p:cNvPr id="39" name="Image 7" descr="m_L3-3w10/k5b4917b047.png">    </p:cNvPr>
          <p:cNvPicPr>
            <a:picLocks noChangeAspect="1"/>
          </p:cNvPicPr>
          <p:nvPr/>
        </p:nvPicPr>
        <p:blipFill>
          <a:blip r:embed="rId8"/>
          <a:stretch>
            <a:fillRect/>
          </a:stretch>
        </p:blipFill>
        <p:spPr>
          <a:xfrm>
            <a:off x="7986013" y="3520440"/>
            <a:ext cx="1904494" cy="338730"/>
          </a:xfrm>
          <a:prstGeom prst="rect">
            <a:avLst/>
          </a:prstGeom>
        </p:spPr>
      </p:pic>
      <p:pic>
        <p:nvPicPr>
          <p:cNvPr id="40" name="Image 8" descr="m_L3-3w10/k0fc0272231.png">    </p:cNvPr>
          <p:cNvPicPr>
            <a:picLocks noChangeAspect="1"/>
          </p:cNvPicPr>
          <p:nvPr/>
        </p:nvPicPr>
        <p:blipFill>
          <a:blip r:embed="rId9"/>
          <a:stretch>
            <a:fillRect/>
          </a:stretch>
        </p:blipFill>
        <p:spPr>
          <a:xfrm>
            <a:off x="7664318" y="3978042"/>
            <a:ext cx="2547884" cy="368686"/>
          </a:xfrm>
          <a:prstGeom prst="rect">
            <a:avLst/>
          </a:prstGeom>
        </p:spPr>
      </p:pic>
      <p:pic>
        <p:nvPicPr>
          <p:cNvPr id="41" name="Image 9" descr="m_L3-3w10/kd51c888a62.png">    </p:cNvPr>
          <p:cNvPicPr>
            <a:picLocks noChangeAspect="1"/>
          </p:cNvPicPr>
          <p:nvPr/>
        </p:nvPicPr>
        <p:blipFill>
          <a:blip r:embed="rId10"/>
          <a:stretch>
            <a:fillRect/>
          </a:stretch>
        </p:blipFill>
        <p:spPr>
          <a:xfrm>
            <a:off x="8368772" y="4465600"/>
            <a:ext cx="1138977" cy="36868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HSA.SSE.A.2 · HSA.APR.C.4 · (+)HSA.APR.C.5</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8</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329184" cy="0"/>
          </a:xfrm>
          <a:prstGeom prst="line">
            <a:avLst/>
          </a:prstGeom>
          <a:noFill/>
          <a:ln w="25400">
            <a:solidFill>
              <a:srgbClr val="17A199"/>
            </a:solidFill>
            <a:prstDash val="dash"/>
          </a:ln>
        </p:spPr>
      </p:sp>
      <p:sp>
        <p:nvSpPr>
          <p:cNvPr id="12" name="stn2"/>
          <p:cNvSpPr/>
          <p:nvPr/>
        </p:nvSpPr>
        <p:spPr>
          <a:xfrm>
            <a:off x="4645152" y="228600"/>
            <a:ext cx="457200" cy="457200"/>
          </a:xfrm>
          <a:prstGeom prst="ellipse">
            <a:avLst/>
          </a:prstGeom>
          <a:solidFill>
            <a:srgbClr val="E8762C"/>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path2"/>
          <p:cNvSpPr/>
          <p:nvPr/>
        </p:nvSpPr>
        <p:spPr>
          <a:xfrm>
            <a:off x="5120640" y="457200"/>
            <a:ext cx="32918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2  ·  TARGETED INSTRUCTION  ·  18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Pascal's triangle and the binomial theorem</a:t>
            </a:r>
            <a:endParaRPr lang="en-US" sz="3000" dirty="0"/>
          </a:p>
        </p:txBody>
      </p:sp>
      <p:sp>
        <p:nvSpPr>
          <p:cNvPr id="29" name="Shape 24"/>
          <p:cNvSpPr/>
          <p:nvPr/>
        </p:nvSpPr>
        <p:spPr>
          <a:xfrm>
            <a:off x="457200" y="1783080"/>
            <a:ext cx="11247120" cy="1097280"/>
          </a:xfrm>
          <a:prstGeom prst="roundRect">
            <a:avLst>
              <a:gd name="adj" fmla="val 10000"/>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0" name="Image 2" descr="m_L3-3w10/k389fd3eae3.png">    </p:cNvPr>
          <p:cNvPicPr>
            <a:picLocks noChangeAspect="1"/>
          </p:cNvPicPr>
          <p:nvPr/>
        </p:nvPicPr>
        <p:blipFill>
          <a:blip r:embed="rId3"/>
          <a:stretch>
            <a:fillRect/>
          </a:stretch>
        </p:blipFill>
        <p:spPr>
          <a:xfrm>
            <a:off x="1775779" y="1920240"/>
            <a:ext cx="3028993" cy="822960"/>
          </a:xfrm>
          <a:prstGeom prst="rect">
            <a:avLst/>
          </a:prstGeom>
        </p:spPr>
      </p:pic>
      <p:pic>
        <p:nvPicPr>
          <p:cNvPr id="31" name="Image 3" descr="m_L3-3w10/k245d699f99.png">    </p:cNvPr>
          <p:cNvPicPr>
            <a:picLocks noChangeAspect="1"/>
          </p:cNvPicPr>
          <p:nvPr/>
        </p:nvPicPr>
        <p:blipFill>
          <a:blip r:embed="rId4"/>
          <a:stretch>
            <a:fillRect/>
          </a:stretch>
        </p:blipFill>
        <p:spPr>
          <a:xfrm>
            <a:off x="5444852" y="2189345"/>
            <a:ext cx="4940889" cy="284750"/>
          </a:xfrm>
          <a:prstGeom prst="rect">
            <a:avLst/>
          </a:prstGeom>
        </p:spPr>
      </p:pic>
      <p:sp>
        <p:nvSpPr>
          <p:cNvPr id="32" name="Shape 25"/>
          <p:cNvSpPr/>
          <p:nvPr/>
        </p:nvSpPr>
        <p:spPr>
          <a:xfrm>
            <a:off x="457200" y="3108960"/>
            <a:ext cx="5532120" cy="2331720"/>
          </a:xfrm>
          <a:prstGeom prst="roundRect">
            <a:avLst>
              <a:gd name="adj" fmla="val 4706"/>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3" name="Text 26"/>
          <p:cNvSpPr txBox="1"/>
          <p:nvPr/>
        </p:nvSpPr>
        <p:spPr>
          <a:xfrm>
            <a:off x="68580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A</a:t>
            </a:r>
            <a:endParaRPr lang="en-US" sz="1100" dirty="0"/>
          </a:p>
        </p:txBody>
      </p:sp>
      <p:pic>
        <p:nvPicPr>
          <p:cNvPr id="34" name="Image 4" descr="m_L3-3w10/kcb2a8fa0d1.png">    </p:cNvPr>
          <p:cNvPicPr>
            <a:picLocks noChangeAspect="1"/>
          </p:cNvPicPr>
          <p:nvPr/>
        </p:nvPicPr>
        <p:blipFill>
          <a:blip r:embed="rId5"/>
          <a:stretch>
            <a:fillRect/>
          </a:stretch>
        </p:blipFill>
        <p:spPr>
          <a:xfrm>
            <a:off x="2627025" y="3520440"/>
            <a:ext cx="1192469" cy="387120"/>
          </a:xfrm>
          <a:prstGeom prst="rect">
            <a:avLst/>
          </a:prstGeom>
        </p:spPr>
      </p:pic>
      <p:pic>
        <p:nvPicPr>
          <p:cNvPr id="35" name="Image 5" descr="m_L3-3w10/kd1b05d75cf.png">    </p:cNvPr>
          <p:cNvPicPr>
            <a:picLocks noChangeAspect="1"/>
          </p:cNvPicPr>
          <p:nvPr/>
        </p:nvPicPr>
        <p:blipFill>
          <a:blip r:embed="rId6"/>
          <a:stretch>
            <a:fillRect/>
          </a:stretch>
        </p:blipFill>
        <p:spPr>
          <a:xfrm>
            <a:off x="1180673" y="4026432"/>
            <a:ext cx="4085173" cy="368686"/>
          </a:xfrm>
          <a:prstGeom prst="rect">
            <a:avLst/>
          </a:prstGeom>
        </p:spPr>
      </p:pic>
      <p:pic>
        <p:nvPicPr>
          <p:cNvPr id="36" name="Image 6" descr="m_L3-3w10/kc399370ee0.png">    </p:cNvPr>
          <p:cNvPicPr>
            <a:picLocks noChangeAspect="1"/>
          </p:cNvPicPr>
          <p:nvPr/>
        </p:nvPicPr>
        <p:blipFill>
          <a:blip r:embed="rId7"/>
          <a:stretch>
            <a:fillRect/>
          </a:stretch>
        </p:blipFill>
        <p:spPr>
          <a:xfrm>
            <a:off x="2023384" y="4513990"/>
            <a:ext cx="2399751" cy="322600"/>
          </a:xfrm>
          <a:prstGeom prst="rect">
            <a:avLst/>
          </a:prstGeom>
        </p:spPr>
      </p:pic>
      <p:sp>
        <p:nvSpPr>
          <p:cNvPr id="37" name="Shape 27"/>
          <p:cNvSpPr/>
          <p:nvPr/>
        </p:nvSpPr>
        <p:spPr>
          <a:xfrm>
            <a:off x="6172200" y="3108960"/>
            <a:ext cx="5532120" cy="2331720"/>
          </a:xfrm>
          <a:prstGeom prst="roundRect">
            <a:avLst>
              <a:gd name="adj" fmla="val 4706"/>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8" name="Text 28"/>
          <p:cNvSpPr txBox="1"/>
          <p:nvPr/>
        </p:nvSpPr>
        <p:spPr>
          <a:xfrm>
            <a:off x="640080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B</a:t>
            </a:r>
            <a:endParaRPr lang="en-US" sz="1100" dirty="0"/>
          </a:p>
        </p:txBody>
      </p:sp>
      <p:pic>
        <p:nvPicPr>
          <p:cNvPr id="39" name="Image 7" descr="m_L3-3w10/k990610c0b5.png">    </p:cNvPr>
          <p:cNvPicPr>
            <a:picLocks noChangeAspect="1"/>
          </p:cNvPicPr>
          <p:nvPr/>
        </p:nvPicPr>
        <p:blipFill>
          <a:blip r:embed="rId8"/>
          <a:stretch>
            <a:fillRect/>
          </a:stretch>
        </p:blipFill>
        <p:spPr>
          <a:xfrm>
            <a:off x="8409426" y="3520440"/>
            <a:ext cx="1057668" cy="387120"/>
          </a:xfrm>
          <a:prstGeom prst="rect">
            <a:avLst/>
          </a:prstGeom>
        </p:spPr>
      </p:pic>
      <p:pic>
        <p:nvPicPr>
          <p:cNvPr id="40" name="Image 8" descr="m_L3-3w10/k3667577d34.png">    </p:cNvPr>
          <p:cNvPicPr>
            <a:picLocks noChangeAspect="1"/>
          </p:cNvPicPr>
          <p:nvPr/>
        </p:nvPicPr>
        <p:blipFill>
          <a:blip r:embed="rId9"/>
          <a:stretch>
            <a:fillRect/>
          </a:stretch>
        </p:blipFill>
        <p:spPr>
          <a:xfrm>
            <a:off x="6999366" y="4026432"/>
            <a:ext cx="3877788" cy="368686"/>
          </a:xfrm>
          <a:prstGeom prst="rect">
            <a:avLst/>
          </a:prstGeom>
        </p:spPr>
      </p:pic>
      <p:pic>
        <p:nvPicPr>
          <p:cNvPr id="41" name="Image 9" descr="m_L3-3w10/k0e3a00c64c.png">    </p:cNvPr>
          <p:cNvPicPr>
            <a:picLocks noChangeAspect="1"/>
          </p:cNvPicPr>
          <p:nvPr/>
        </p:nvPicPr>
        <p:blipFill>
          <a:blip r:embed="rId10"/>
          <a:stretch>
            <a:fillRect/>
          </a:stretch>
        </p:blipFill>
        <p:spPr>
          <a:xfrm>
            <a:off x="7665964" y="4513990"/>
            <a:ext cx="2544592" cy="322600"/>
          </a:xfrm>
          <a:prstGeom prst="rect">
            <a:avLst/>
          </a:prstGeom>
        </p:spPr>
      </p:pic>
      <p:sp>
        <p:nvSpPr>
          <p:cNvPr id="42" name="Shape 29"/>
          <p:cNvSpPr/>
          <p:nvPr/>
        </p:nvSpPr>
        <p:spPr>
          <a:xfrm>
            <a:off x="457200" y="5532120"/>
            <a:ext cx="11247120" cy="731520"/>
          </a:xfrm>
          <a:prstGeom prst="roundRect">
            <a:avLst>
              <a:gd name="adj" fmla="val 15000"/>
            </a:avLst>
          </a:prstGeom>
          <a:solidFill>
            <a:srgbClr val="FFF1C9"/>
          </a:solidFill>
          <a:ln w="28575">
            <a:solidFill>
              <a:srgbClr val="F0B323"/>
            </a:solidFill>
            <a:prstDash val="solid"/>
          </a:ln>
          <a:effectLst>
            <a:outerShdw sx="100000" sy="100000" kx="0" ky="0" algn="bl" rotWithShape="0" blurRad="101600" dist="25400" dir="5400000">
              <a:srgbClr val="000000">
                <a:alpha val="15000"/>
              </a:srgbClr>
            </a:outerShdw>
          </a:effectLst>
        </p:spPr>
      </p:sp>
      <p:sp>
        <p:nvSpPr>
          <p:cNvPr id="43" name="Text 30"/>
          <p:cNvSpPr txBox="1"/>
          <p:nvPr/>
        </p:nvSpPr>
        <p:spPr>
          <a:xfrm>
            <a:off x="685800" y="5532120"/>
            <a:ext cx="1463040" cy="731520"/>
          </a:xfrm>
          <a:prstGeom prst="rect">
            <a:avLst/>
          </a:prstGeom>
          <a:noFill/>
          <a:ln/>
        </p:spPr>
        <p:txBody>
          <a:bodyPr wrap="square" lIns="0" tIns="0" rIns="0" bIns="0" rtlCol="0" anchor="ctr"/>
          <a:lstStyle/>
          <a:p>
            <a:pPr indent="0" marL="0">
              <a:buNone/>
            </a:pPr>
            <a:r>
              <a:rPr lang="en-US" sz="1200" b="1" spc="200" kern="0" dirty="0">
                <a:solidFill>
                  <a:srgbClr val="E8762C"/>
                </a:solidFill>
                <a:latin typeface="Calibri" pitchFamily="34" charset="0"/>
                <a:ea typeface="Calibri" pitchFamily="34" charset="-122"/>
                <a:cs typeface="Calibri" pitchFamily="34" charset="-120"/>
              </a:rPr>
              <a:t>WHAT IF...?</a:t>
            </a:r>
            <a:endParaRPr lang="en-US" sz="1200" dirty="0"/>
          </a:p>
        </p:txBody>
      </p:sp>
      <p:sp>
        <p:nvSpPr>
          <p:cNvPr id="44" name="Text 31"/>
          <p:cNvSpPr txBox="1"/>
          <p:nvPr/>
        </p:nvSpPr>
        <p:spPr>
          <a:xfrm>
            <a:off x="2194560" y="5532120"/>
            <a:ext cx="6309360" cy="731520"/>
          </a:xfrm>
          <a:prstGeom prst="rect">
            <a:avLst/>
          </a:prstGeom>
          <a:noFill/>
          <a:ln/>
        </p:spPr>
        <p:txBody>
          <a:bodyPr wrap="square" lIns="0" tIns="0" rIns="0" bIns="0" rtlCol="0" anchor="ctr"/>
          <a:lstStyle/>
          <a:p>
            <a:pPr indent="0" marL="0">
              <a:buNone/>
            </a:pPr>
            <a:r>
              <a:rPr lang="en-US" sz="1400" dirty="0">
                <a:solidFill>
                  <a:srgbClr val="222E2D"/>
                </a:solidFill>
                <a:latin typeface="Calibri" pitchFamily="34" charset="0"/>
                <a:ea typeface="Calibri" pitchFamily="34" charset="-122"/>
                <a:cs typeface="Calibri" pitchFamily="34" charset="-120"/>
              </a:rPr>
              <a:t>What if the power is 5 and the second term is 2, as in (x + 2)⁵? Predict the first two coefficients using row 5, then expand fully.</a:t>
            </a:r>
            <a:endParaRPr lang="en-US" sz="1400" dirty="0"/>
          </a:p>
        </p:txBody>
      </p:sp>
      <p:pic>
        <p:nvPicPr>
          <p:cNvPr id="45" name="Image 10" descr="m_L3-3w10/k7ccb0007ce.png">    </p:cNvPr>
          <p:cNvPicPr>
            <a:picLocks noChangeAspect="1"/>
          </p:cNvPicPr>
          <p:nvPr/>
        </p:nvPicPr>
        <p:blipFill>
          <a:blip r:embed="rId11"/>
          <a:stretch>
            <a:fillRect/>
          </a:stretch>
        </p:blipFill>
        <p:spPr>
          <a:xfrm>
            <a:off x="9654235" y="5773064"/>
            <a:ext cx="1821485" cy="249631"/>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HSA.SSE.A.2 · HSA.APR.C.4 · (+)HSA.APR.C.5</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9</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42062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329184" cy="0"/>
          </a:xfrm>
          <a:prstGeom prst="line">
            <a:avLst/>
          </a:prstGeom>
          <a:noFill/>
          <a:ln w="25400">
            <a:solidFill>
              <a:srgbClr val="17A199"/>
            </a:solidFill>
            <a:prstDash val="dash"/>
          </a:ln>
        </p:spPr>
      </p:sp>
      <p:sp>
        <p:nvSpPr>
          <p:cNvPr id="15" name="stn3"/>
          <p:cNvSpPr/>
          <p:nvPr/>
        </p:nvSpPr>
        <p:spPr>
          <a:xfrm>
            <a:off x="5358384" y="228600"/>
            <a:ext cx="457200" cy="457200"/>
          </a:xfrm>
          <a:prstGeom prst="ellipse">
            <a:avLst/>
          </a:prstGeom>
          <a:solidFill>
            <a:srgbClr val="E8762C"/>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path3"/>
          <p:cNvSpPr/>
          <p:nvPr/>
        </p:nvSpPr>
        <p:spPr>
          <a:xfrm>
            <a:off x="5833872" y="457200"/>
            <a:ext cx="32918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3  ·  PRACTICE  ·  12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Give it a go: Practice, Apply, Investigate</a:t>
            </a:r>
            <a:endParaRPr lang="en-US" sz="3000" dirty="0"/>
          </a:p>
        </p:txBody>
      </p:sp>
      <p:sp>
        <p:nvSpPr>
          <p:cNvPr id="29" name="Shape 24"/>
          <p:cNvSpPr/>
          <p:nvPr/>
        </p:nvSpPr>
        <p:spPr>
          <a:xfrm>
            <a:off x="457200" y="1828800"/>
            <a:ext cx="3611880" cy="777240"/>
          </a:xfrm>
          <a:prstGeom prst="roundRect">
            <a:avLst>
              <a:gd name="adj" fmla="val 14118"/>
            </a:avLst>
          </a:prstGeom>
          <a:solidFill>
            <a:srgbClr val="17A199"/>
          </a:solidFill>
          <a:ln w="12700">
            <a:solidFill>
              <a:srgbClr val="FFFFFF"/>
            </a:solidFill>
            <a:prstDash val="solid"/>
          </a:ln>
        </p:spPr>
      </p:sp>
      <p:sp>
        <p:nvSpPr>
          <p:cNvPr id="30" name="Text 25"/>
          <p:cNvSpPr txBox="1"/>
          <p:nvPr/>
        </p:nvSpPr>
        <p:spPr>
          <a:xfrm>
            <a:off x="685800" y="1892808"/>
            <a:ext cx="3200400" cy="36576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PRACTICE</a:t>
            </a:r>
            <a:endParaRPr lang="en-US" sz="2000" dirty="0"/>
          </a:p>
        </p:txBody>
      </p:sp>
      <p:sp>
        <p:nvSpPr>
          <p:cNvPr id="31" name="Text 26"/>
          <p:cNvSpPr txBox="1"/>
          <p:nvPr/>
        </p:nvSpPr>
        <p:spPr>
          <a:xfrm>
            <a:off x="685800" y="2240280"/>
            <a:ext cx="3200400" cy="2743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Secure the method</a:t>
            </a:r>
            <a:endParaRPr lang="en-US" sz="1300" dirty="0"/>
          </a:p>
        </p:txBody>
      </p:sp>
      <p:sp>
        <p:nvSpPr>
          <p:cNvPr id="32" name="Shape 27"/>
          <p:cNvSpPr/>
          <p:nvPr/>
        </p:nvSpPr>
        <p:spPr>
          <a:xfrm>
            <a:off x="457200" y="2697480"/>
            <a:ext cx="3611880" cy="3611880"/>
          </a:xfrm>
          <a:prstGeom prst="roundRect">
            <a:avLst>
              <a:gd name="adj" fmla="val 303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3" name="Image 2" descr="m_L3-3w10/k1a0d22e00d.png">    </p:cNvPr>
          <p:cNvPicPr>
            <a:picLocks noChangeAspect="1"/>
          </p:cNvPicPr>
          <p:nvPr/>
        </p:nvPicPr>
        <p:blipFill>
          <a:blip r:embed="rId3"/>
          <a:stretch>
            <a:fillRect/>
          </a:stretch>
        </p:blipFill>
        <p:spPr>
          <a:xfrm>
            <a:off x="1078078" y="2926080"/>
            <a:ext cx="2370125" cy="409651"/>
          </a:xfrm>
          <a:prstGeom prst="rect">
            <a:avLst/>
          </a:prstGeom>
        </p:spPr>
      </p:pic>
      <p:pic>
        <p:nvPicPr>
          <p:cNvPr id="34" name="Image 3" descr="m_L3-3w10/ke667d3fa18.png">    </p:cNvPr>
          <p:cNvPicPr>
            <a:picLocks noChangeAspect="1"/>
          </p:cNvPicPr>
          <p:nvPr/>
        </p:nvPicPr>
        <p:blipFill>
          <a:blip r:embed="rId4"/>
          <a:stretch>
            <a:fillRect/>
          </a:stretch>
        </p:blipFill>
        <p:spPr>
          <a:xfrm>
            <a:off x="1132942" y="3610051"/>
            <a:ext cx="2260397" cy="358445"/>
          </a:xfrm>
          <a:prstGeom prst="rect">
            <a:avLst/>
          </a:prstGeom>
        </p:spPr>
      </p:pic>
      <p:sp>
        <p:nvSpPr>
          <p:cNvPr id="35" name="Text 28"/>
          <p:cNvSpPr txBox="1"/>
          <p:nvPr/>
        </p:nvSpPr>
        <p:spPr>
          <a:xfrm>
            <a:off x="685800" y="5212080"/>
            <a:ext cx="3200400" cy="1005840"/>
          </a:xfrm>
          <a:prstGeom prst="rect">
            <a:avLst/>
          </a:prstGeom>
          <a:noFill/>
          <a:ln/>
        </p:spPr>
        <p:txBody>
          <a:bodyPr wrap="square" lIns="0" tIns="0" rIns="0" bIns="0" rtlCol="0" anchor="b"/>
          <a:lstStyle/>
          <a:p>
            <a:pPr indent="0" marL="0">
              <a:buNone/>
            </a:pPr>
            <a:r>
              <a:rPr lang="en-US" sz="1150" dirty="0">
                <a:solidFill>
                  <a:srgbClr val="3F4B49"/>
                </a:solidFill>
                <a:latin typeface="Calibri" pitchFamily="34" charset="0"/>
                <a:ea typeface="Calibri" pitchFamily="34" charset="-122"/>
                <a:cs typeface="Calibri" pitchFamily="34" charset="-120"/>
              </a:rPr>
              <a:t>Done when: the middle term 2ab is written with the correct sign, the difference of squares has no middle term, and each answer is checked with a number.</a:t>
            </a:r>
            <a:endParaRPr lang="en-US" sz="1150" dirty="0"/>
          </a:p>
        </p:txBody>
      </p:sp>
      <p:sp>
        <p:nvSpPr>
          <p:cNvPr id="36" name="Shape 29"/>
          <p:cNvSpPr/>
          <p:nvPr/>
        </p:nvSpPr>
        <p:spPr>
          <a:xfrm>
            <a:off x="4251960" y="1828800"/>
            <a:ext cx="3611880" cy="777240"/>
          </a:xfrm>
          <a:prstGeom prst="roundRect">
            <a:avLst>
              <a:gd name="adj" fmla="val 14118"/>
            </a:avLst>
          </a:prstGeom>
          <a:solidFill>
            <a:srgbClr val="E8762C"/>
          </a:solidFill>
          <a:ln w="12700">
            <a:solidFill>
              <a:srgbClr val="FFFFFF"/>
            </a:solidFill>
            <a:prstDash val="solid"/>
          </a:ln>
        </p:spPr>
      </p:sp>
      <p:sp>
        <p:nvSpPr>
          <p:cNvPr id="37" name="Text 30"/>
          <p:cNvSpPr txBox="1"/>
          <p:nvPr/>
        </p:nvSpPr>
        <p:spPr>
          <a:xfrm>
            <a:off x="4480560" y="1892808"/>
            <a:ext cx="3200400" cy="36576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APPLY</a:t>
            </a:r>
            <a:endParaRPr lang="en-US" sz="2000" dirty="0"/>
          </a:p>
        </p:txBody>
      </p:sp>
      <p:sp>
        <p:nvSpPr>
          <p:cNvPr id="38" name="Text 31"/>
          <p:cNvSpPr txBox="1"/>
          <p:nvPr/>
        </p:nvSpPr>
        <p:spPr>
          <a:xfrm>
            <a:off x="4480560" y="2240280"/>
            <a:ext cx="3200400" cy="2743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Use it in context</a:t>
            </a:r>
            <a:endParaRPr lang="en-US" sz="1300" dirty="0"/>
          </a:p>
        </p:txBody>
      </p:sp>
      <p:sp>
        <p:nvSpPr>
          <p:cNvPr id="39" name="Shape 32"/>
          <p:cNvSpPr/>
          <p:nvPr/>
        </p:nvSpPr>
        <p:spPr>
          <a:xfrm>
            <a:off x="4251960" y="2697480"/>
            <a:ext cx="3611880" cy="3611880"/>
          </a:xfrm>
          <a:prstGeom prst="roundRect">
            <a:avLst>
              <a:gd name="adj" fmla="val 303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40" name="Image 4" descr="m_L3-3w10/kef27b45f27.png">    </p:cNvPr>
          <p:cNvPicPr>
            <a:picLocks noChangeAspect="1"/>
          </p:cNvPicPr>
          <p:nvPr/>
        </p:nvPicPr>
        <p:blipFill>
          <a:blip r:embed="rId5"/>
          <a:stretch>
            <a:fillRect/>
          </a:stretch>
        </p:blipFill>
        <p:spPr>
          <a:xfrm>
            <a:off x="4366260" y="2926080"/>
            <a:ext cx="3383280" cy="528935"/>
          </a:xfrm>
          <a:prstGeom prst="rect">
            <a:avLst/>
          </a:prstGeom>
        </p:spPr>
      </p:pic>
      <p:pic>
        <p:nvPicPr>
          <p:cNvPr id="41" name="Image 5" descr="m_L3-3w10/k5f327064aa.png">    </p:cNvPr>
          <p:cNvPicPr>
            <a:picLocks noChangeAspect="1"/>
          </p:cNvPicPr>
          <p:nvPr/>
        </p:nvPicPr>
        <p:blipFill>
          <a:blip r:embed="rId6"/>
          <a:stretch>
            <a:fillRect/>
          </a:stretch>
        </p:blipFill>
        <p:spPr>
          <a:xfrm>
            <a:off x="4366260" y="3729335"/>
            <a:ext cx="3383280" cy="336909"/>
          </a:xfrm>
          <a:prstGeom prst="rect">
            <a:avLst/>
          </a:prstGeom>
        </p:spPr>
      </p:pic>
      <p:sp>
        <p:nvSpPr>
          <p:cNvPr id="42" name="Text 33"/>
          <p:cNvSpPr txBox="1"/>
          <p:nvPr/>
        </p:nvSpPr>
        <p:spPr>
          <a:xfrm>
            <a:off x="4480560" y="5212080"/>
            <a:ext cx="3200400" cy="1005840"/>
          </a:xfrm>
          <a:prstGeom prst="rect">
            <a:avLst/>
          </a:prstGeom>
          <a:noFill/>
          <a:ln/>
        </p:spPr>
        <p:txBody>
          <a:bodyPr wrap="square" lIns="0" tIns="0" rIns="0" bIns="0" rtlCol="0" anchor="b"/>
          <a:lstStyle/>
          <a:p>
            <a:pPr indent="0" marL="0">
              <a:buNone/>
            </a:pPr>
            <a:r>
              <a:rPr lang="en-US" sz="1150" dirty="0">
                <a:solidFill>
                  <a:srgbClr val="3F4B49"/>
                </a:solidFill>
                <a:latin typeface="Calibri" pitchFamily="34" charset="0"/>
                <a:ea typeface="Calibri" pitchFamily="34" charset="-122"/>
                <a:cs typeface="Calibri" pitchFamily="34" charset="-120"/>
              </a:rPr>
              <a:t>Done when: the identity you used is named, every step stays balanced, and each answer says what it means.</a:t>
            </a:r>
            <a:endParaRPr lang="en-US" sz="1150" dirty="0"/>
          </a:p>
        </p:txBody>
      </p:sp>
      <p:sp>
        <p:nvSpPr>
          <p:cNvPr id="43" name="Shape 34"/>
          <p:cNvSpPr/>
          <p:nvPr/>
        </p:nvSpPr>
        <p:spPr>
          <a:xfrm>
            <a:off x="8046720" y="1828800"/>
            <a:ext cx="3611880" cy="777240"/>
          </a:xfrm>
          <a:prstGeom prst="roundRect">
            <a:avLst>
              <a:gd name="adj" fmla="val 14118"/>
            </a:avLst>
          </a:prstGeom>
          <a:solidFill>
            <a:srgbClr val="1F3864"/>
          </a:solidFill>
          <a:ln w="12700">
            <a:solidFill>
              <a:srgbClr val="FFFFFF"/>
            </a:solidFill>
            <a:prstDash val="solid"/>
          </a:ln>
        </p:spPr>
      </p:sp>
      <p:sp>
        <p:nvSpPr>
          <p:cNvPr id="44" name="Text 35"/>
          <p:cNvSpPr txBox="1"/>
          <p:nvPr/>
        </p:nvSpPr>
        <p:spPr>
          <a:xfrm>
            <a:off x="8275320" y="1892808"/>
            <a:ext cx="3200400" cy="36576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INVESTIGATE</a:t>
            </a:r>
            <a:endParaRPr lang="en-US" sz="2000" dirty="0"/>
          </a:p>
        </p:txBody>
      </p:sp>
      <p:sp>
        <p:nvSpPr>
          <p:cNvPr id="45" name="Text 36"/>
          <p:cNvSpPr txBox="1"/>
          <p:nvPr/>
        </p:nvSpPr>
        <p:spPr>
          <a:xfrm>
            <a:off x="8275320" y="2240280"/>
            <a:ext cx="3200400" cy="2743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Find out why</a:t>
            </a:r>
            <a:endParaRPr lang="en-US" sz="1300" dirty="0"/>
          </a:p>
        </p:txBody>
      </p:sp>
      <p:sp>
        <p:nvSpPr>
          <p:cNvPr id="46" name="Shape 37"/>
          <p:cNvSpPr/>
          <p:nvPr/>
        </p:nvSpPr>
        <p:spPr>
          <a:xfrm>
            <a:off x="8046720" y="2697480"/>
            <a:ext cx="3611880" cy="3611880"/>
          </a:xfrm>
          <a:prstGeom prst="roundRect">
            <a:avLst>
              <a:gd name="adj" fmla="val 303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47" name="Image 6" descr="m_L3-3w10/kb2bac2b47c.png">    </p:cNvPr>
          <p:cNvPicPr>
            <a:picLocks noChangeAspect="1"/>
          </p:cNvPicPr>
          <p:nvPr/>
        </p:nvPicPr>
        <p:blipFill>
          <a:blip r:embed="rId7"/>
          <a:stretch>
            <a:fillRect/>
          </a:stretch>
        </p:blipFill>
        <p:spPr>
          <a:xfrm>
            <a:off x="8161020" y="2926080"/>
            <a:ext cx="3383280" cy="284267"/>
          </a:xfrm>
          <a:prstGeom prst="rect">
            <a:avLst/>
          </a:prstGeom>
        </p:spPr>
      </p:pic>
      <p:pic>
        <p:nvPicPr>
          <p:cNvPr id="48" name="Image 7" descr="m_L3-3w10/k8b514c1886.png">    </p:cNvPr>
          <p:cNvPicPr>
            <a:picLocks noChangeAspect="1"/>
          </p:cNvPicPr>
          <p:nvPr/>
        </p:nvPicPr>
        <p:blipFill>
          <a:blip r:embed="rId8"/>
          <a:stretch>
            <a:fillRect/>
          </a:stretch>
        </p:blipFill>
        <p:spPr>
          <a:xfrm>
            <a:off x="8161020" y="3484667"/>
            <a:ext cx="3383280" cy="519784"/>
          </a:xfrm>
          <a:prstGeom prst="rect">
            <a:avLst/>
          </a:prstGeom>
        </p:spPr>
      </p:pic>
      <p:sp>
        <p:nvSpPr>
          <p:cNvPr id="49" name="Text 38"/>
          <p:cNvSpPr txBox="1"/>
          <p:nvPr/>
        </p:nvSpPr>
        <p:spPr>
          <a:xfrm>
            <a:off x="8275320" y="5212080"/>
            <a:ext cx="3200400" cy="1005840"/>
          </a:xfrm>
          <a:prstGeom prst="rect">
            <a:avLst/>
          </a:prstGeom>
          <a:noFill/>
          <a:ln/>
        </p:spPr>
        <p:txBody>
          <a:bodyPr wrap="square" lIns="0" tIns="0" rIns="0" bIns="0" rtlCol="0" anchor="b"/>
          <a:lstStyle/>
          <a:p>
            <a:pPr indent="0" marL="0">
              <a:buNone/>
            </a:pPr>
            <a:r>
              <a:rPr lang="en-US" sz="1150" dirty="0">
                <a:solidFill>
                  <a:srgbClr val="3F4B49"/>
                </a:solidFill>
                <a:latin typeface="Calibri" pitchFamily="34" charset="0"/>
                <a:ea typeface="Calibri" pitchFamily="34" charset="-122"/>
                <a:cs typeface="Calibri" pitchFamily="34" charset="-120"/>
              </a:rPr>
              <a:t>Done when: your argument starts from a full expansion, every sign is tracked, and the final line says why it works for all values.</a:t>
            </a:r>
            <a:endParaRPr lang="en-US" sz="115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HSA.SSE.A.2 · HSA.APR.C.4 · (+)HSA.APR.C.5</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10</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42062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329184" cy="0"/>
          </a:xfrm>
          <a:prstGeom prst="line">
            <a:avLst/>
          </a:prstGeom>
          <a:noFill/>
          <a:ln w="25400">
            <a:solidFill>
              <a:srgbClr val="17A199"/>
            </a:solidFill>
            <a:prstDash val="dash"/>
          </a:ln>
        </p:spPr>
      </p:sp>
      <p:sp>
        <p:nvSpPr>
          <p:cNvPr id="15" name="stn3"/>
          <p:cNvSpPr/>
          <p:nvPr/>
        </p:nvSpPr>
        <p:spPr>
          <a:xfrm>
            <a:off x="5358384" y="228600"/>
            <a:ext cx="457200" cy="457200"/>
          </a:xfrm>
          <a:prstGeom prst="ellipse">
            <a:avLst/>
          </a:prstGeom>
          <a:solidFill>
            <a:srgbClr val="E8762C"/>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path3"/>
          <p:cNvSpPr/>
          <p:nvPr/>
        </p:nvSpPr>
        <p:spPr>
          <a:xfrm>
            <a:off x="5833872" y="457200"/>
            <a:ext cx="32918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3  ·  PRACTICE  ·  12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Which route? Judge the claim</a:t>
            </a:r>
            <a:endParaRPr lang="en-US" sz="3000" dirty="0"/>
          </a:p>
        </p:txBody>
      </p:sp>
      <p:sp>
        <p:nvSpPr>
          <p:cNvPr id="29" name="Shape 24"/>
          <p:cNvSpPr/>
          <p:nvPr/>
        </p:nvSpPr>
        <p:spPr>
          <a:xfrm>
            <a:off x="457200" y="1783080"/>
            <a:ext cx="2377440" cy="2560320"/>
          </a:xfrm>
          <a:prstGeom prst="roundRect">
            <a:avLst>
              <a:gd name="adj" fmla="val 4615"/>
            </a:avLst>
          </a:prstGeom>
          <a:solidFill>
            <a:srgbClr val="FFFFFF"/>
          </a:solidFill>
          <a:ln w="15875">
            <a:solidFill>
              <a:srgbClr val="17A199"/>
            </a:solidFill>
            <a:prstDash val="solid"/>
          </a:ln>
          <a:effectLst>
            <a:outerShdw sx="100000" sy="100000" kx="0" ky="0" algn="bl" rotWithShape="0" blurRad="101600" dist="25400" dir="5400000">
              <a:srgbClr val="000000">
                <a:alpha val="15000"/>
              </a:srgbClr>
            </a:outerShdw>
          </a:effectLst>
        </p:spPr>
      </p:sp>
      <p:sp>
        <p:nvSpPr>
          <p:cNvPr id="30" name="Shape 25"/>
          <p:cNvSpPr/>
          <p:nvPr/>
        </p:nvSpPr>
        <p:spPr>
          <a:xfrm>
            <a:off x="594360" y="1874520"/>
            <a:ext cx="2103120" cy="365760"/>
          </a:xfrm>
          <a:prstGeom prst="roundRect">
            <a:avLst>
              <a:gd name="adj" fmla="val 50000"/>
            </a:avLst>
          </a:prstGeom>
          <a:solidFill>
            <a:srgbClr val="17A199"/>
          </a:solidFill>
          <a:ln w="12700">
            <a:solidFill>
              <a:srgbClr val="FFFFFF"/>
            </a:solidFill>
            <a:prstDash val="solid"/>
          </a:ln>
        </p:spPr>
      </p:sp>
      <p:sp>
        <p:nvSpPr>
          <p:cNvPr id="31" name="Text 26"/>
          <p:cNvSpPr txBox="1"/>
          <p:nvPr/>
        </p:nvSpPr>
        <p:spPr>
          <a:xfrm>
            <a:off x="594360" y="1874520"/>
            <a:ext cx="210312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MULTIPLY OUT</a:t>
            </a:r>
            <a:endParaRPr lang="en-US" sz="1300" dirty="0"/>
          </a:p>
        </p:txBody>
      </p:sp>
      <p:pic>
        <p:nvPicPr>
          <p:cNvPr id="32" name="Image 2" descr="m_L3-3w10/k61de297183.png">    </p:cNvPr>
          <p:cNvPicPr>
            <a:picLocks noChangeAspect="1"/>
          </p:cNvPicPr>
          <p:nvPr/>
        </p:nvPicPr>
        <p:blipFill>
          <a:blip r:embed="rId3"/>
          <a:stretch>
            <a:fillRect/>
          </a:stretch>
        </p:blipFill>
        <p:spPr>
          <a:xfrm>
            <a:off x="594360" y="2377440"/>
            <a:ext cx="2103120" cy="217900"/>
          </a:xfrm>
          <a:prstGeom prst="rect">
            <a:avLst/>
          </a:prstGeom>
        </p:spPr>
      </p:pic>
      <p:sp>
        <p:nvSpPr>
          <p:cNvPr id="33" name="Text 27"/>
          <p:cNvSpPr txBox="1"/>
          <p:nvPr/>
        </p:nvSpPr>
        <p:spPr>
          <a:xfrm>
            <a:off x="594360" y="3017520"/>
            <a:ext cx="2103120" cy="640080"/>
          </a:xfrm>
          <a:prstGeom prst="rect">
            <a:avLst/>
          </a:prstGeom>
          <a:noFill/>
          <a:ln/>
        </p:spPr>
        <p:txBody>
          <a:bodyPr wrap="square" lIns="0" tIns="0" rIns="0" bIns="0" rtlCol="0" anchor="t"/>
          <a:lstStyle/>
          <a:p>
            <a:pPr indent="0" marL="0">
              <a:buNone/>
            </a:pPr>
            <a:r>
              <a:rPr lang="en-US" sz="1150" b="1" dirty="0">
                <a:solidFill>
                  <a:srgbClr val="17A199"/>
                </a:solidFill>
                <a:latin typeface="Calibri" pitchFamily="34" charset="0"/>
                <a:ea typeface="Calibri" pitchFamily="34" charset="-122"/>
                <a:cs typeface="Calibri" pitchFamily="34" charset="-120"/>
              </a:rPr>
              <a:t>+  </a:t>
            </a:r>
            <a:pPr indent="0" marL="0">
              <a:buNone/>
            </a:pPr>
            <a:r>
              <a:rPr lang="en-US" sz="1150" dirty="0">
                <a:solidFill>
                  <a:srgbClr val="222E2D"/>
                </a:solidFill>
                <a:latin typeface="Calibri" pitchFamily="34" charset="0"/>
                <a:ea typeface="Calibri" pitchFamily="34" charset="-122"/>
                <a:cs typeface="Calibri" pitchFamily="34" charset="-120"/>
              </a:rPr>
              <a:t>Needs nothing new.</a:t>
            </a:r>
            <a:endParaRPr lang="en-US" sz="1150" dirty="0"/>
          </a:p>
        </p:txBody>
      </p:sp>
      <p:sp>
        <p:nvSpPr>
          <p:cNvPr id="34" name="Text 28"/>
          <p:cNvSpPr txBox="1"/>
          <p:nvPr/>
        </p:nvSpPr>
        <p:spPr>
          <a:xfrm>
            <a:off x="594360" y="3657600"/>
            <a:ext cx="2103120" cy="640080"/>
          </a:xfrm>
          <a:prstGeom prst="rect">
            <a:avLst/>
          </a:prstGeom>
          <a:noFill/>
          <a:ln/>
        </p:spPr>
        <p:txBody>
          <a:bodyPr wrap="square" lIns="0" tIns="0" rIns="0" bIns="0" rtlCol="0" anchor="t"/>
          <a:lstStyle/>
          <a:p>
            <a:pPr indent="0" marL="0">
              <a:buNone/>
            </a:pPr>
            <a:r>
              <a:rPr lang="en-US" sz="1150" b="1" dirty="0">
                <a:solidFill>
                  <a:srgbClr val="E8762C"/>
                </a:solidFill>
                <a:latin typeface="Calibri" pitchFamily="34" charset="0"/>
                <a:ea typeface="Calibri" pitchFamily="34" charset="-122"/>
                <a:cs typeface="Calibri" pitchFamily="34" charset="-120"/>
              </a:rPr>
              <a:t>−  </a:t>
            </a:r>
            <a:pPr indent="0" marL="0">
              <a:buNone/>
            </a:pPr>
            <a:r>
              <a:rPr lang="en-US" sz="1150" dirty="0">
                <a:solidFill>
                  <a:srgbClr val="222E2D"/>
                </a:solidFill>
                <a:latin typeface="Calibri" pitchFamily="34" charset="0"/>
                <a:ea typeface="Calibri" pitchFamily="34" charset="-122"/>
                <a:cs typeface="Calibri" pitchFamily="34" charset="-120"/>
              </a:rPr>
              <a:t>Long and slip-prone for higher powers.</a:t>
            </a:r>
            <a:endParaRPr lang="en-US" sz="1150" dirty="0"/>
          </a:p>
        </p:txBody>
      </p:sp>
      <p:sp>
        <p:nvSpPr>
          <p:cNvPr id="35" name="Shape 29"/>
          <p:cNvSpPr/>
          <p:nvPr/>
        </p:nvSpPr>
        <p:spPr>
          <a:xfrm>
            <a:off x="2971800" y="1783080"/>
            <a:ext cx="2377440" cy="2560320"/>
          </a:xfrm>
          <a:prstGeom prst="roundRect">
            <a:avLst>
              <a:gd name="adj" fmla="val 4615"/>
            </a:avLst>
          </a:prstGeom>
          <a:solidFill>
            <a:srgbClr val="FFFFFF"/>
          </a:solidFill>
          <a:ln w="15875">
            <a:solidFill>
              <a:srgbClr val="1F3864"/>
            </a:solidFill>
            <a:prstDash val="solid"/>
          </a:ln>
          <a:effectLst>
            <a:outerShdw sx="100000" sy="100000" kx="0" ky="0" algn="bl" rotWithShape="0" blurRad="101600" dist="25400" dir="5400000">
              <a:srgbClr val="000000">
                <a:alpha val="15000"/>
              </a:srgbClr>
            </a:outerShdw>
          </a:effectLst>
        </p:spPr>
      </p:sp>
      <p:sp>
        <p:nvSpPr>
          <p:cNvPr id="36" name="Shape 30"/>
          <p:cNvSpPr/>
          <p:nvPr/>
        </p:nvSpPr>
        <p:spPr>
          <a:xfrm>
            <a:off x="3108960" y="1874520"/>
            <a:ext cx="2103120" cy="365760"/>
          </a:xfrm>
          <a:prstGeom prst="roundRect">
            <a:avLst>
              <a:gd name="adj" fmla="val 50000"/>
            </a:avLst>
          </a:prstGeom>
          <a:solidFill>
            <a:srgbClr val="1F3864"/>
          </a:solidFill>
          <a:ln w="12700">
            <a:solidFill>
              <a:srgbClr val="FFFFFF"/>
            </a:solidFill>
            <a:prstDash val="solid"/>
          </a:ln>
        </p:spPr>
      </p:sp>
      <p:sp>
        <p:nvSpPr>
          <p:cNvPr id="37" name="Text 31"/>
          <p:cNvSpPr txBox="1"/>
          <p:nvPr/>
        </p:nvSpPr>
        <p:spPr>
          <a:xfrm>
            <a:off x="3108960" y="1874520"/>
            <a:ext cx="210312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PASCAL'S TRIANGLE</a:t>
            </a:r>
            <a:endParaRPr lang="en-US" sz="1300" dirty="0"/>
          </a:p>
        </p:txBody>
      </p:sp>
      <p:pic>
        <p:nvPicPr>
          <p:cNvPr id="38" name="Image 3" descr="m_L3-3w10/k2b4e2f4050.png">    </p:cNvPr>
          <p:cNvPicPr>
            <a:picLocks noChangeAspect="1"/>
          </p:cNvPicPr>
          <p:nvPr/>
        </p:nvPicPr>
        <p:blipFill>
          <a:blip r:embed="rId4"/>
          <a:stretch>
            <a:fillRect/>
          </a:stretch>
        </p:blipFill>
        <p:spPr>
          <a:xfrm>
            <a:off x="3715939" y="2377440"/>
            <a:ext cx="889163" cy="216347"/>
          </a:xfrm>
          <a:prstGeom prst="rect">
            <a:avLst/>
          </a:prstGeom>
        </p:spPr>
      </p:pic>
      <p:sp>
        <p:nvSpPr>
          <p:cNvPr id="39" name="Text 32"/>
          <p:cNvSpPr txBox="1"/>
          <p:nvPr/>
        </p:nvSpPr>
        <p:spPr>
          <a:xfrm>
            <a:off x="3108960" y="3017520"/>
            <a:ext cx="2103120" cy="640080"/>
          </a:xfrm>
          <a:prstGeom prst="rect">
            <a:avLst/>
          </a:prstGeom>
          <a:noFill/>
          <a:ln/>
        </p:spPr>
        <p:txBody>
          <a:bodyPr wrap="square" lIns="0" tIns="0" rIns="0" bIns="0" rtlCol="0" anchor="t"/>
          <a:lstStyle/>
          <a:p>
            <a:pPr indent="0" marL="0">
              <a:buNone/>
            </a:pPr>
            <a:r>
              <a:rPr lang="en-US" sz="1150" b="1" dirty="0">
                <a:solidFill>
                  <a:srgbClr val="17A199"/>
                </a:solidFill>
                <a:latin typeface="Calibri" pitchFamily="34" charset="0"/>
                <a:ea typeface="Calibri" pitchFamily="34" charset="-122"/>
                <a:cs typeface="Calibri" pitchFamily="34" charset="-120"/>
              </a:rPr>
              <a:t>+  </a:t>
            </a:r>
            <a:pPr indent="0" marL="0">
              <a:buNone/>
            </a:pPr>
            <a:r>
              <a:rPr lang="en-US" sz="1150" dirty="0">
                <a:solidFill>
                  <a:srgbClr val="222E2D"/>
                </a:solidFill>
                <a:latin typeface="Calibri" pitchFamily="34" charset="0"/>
                <a:ea typeface="Calibri" pitchFamily="34" charset="-122"/>
                <a:cs typeface="Calibri" pitchFamily="34" charset="-120"/>
              </a:rPr>
              <a:t>Fast for a small power.</a:t>
            </a:r>
            <a:endParaRPr lang="en-US" sz="1150" dirty="0"/>
          </a:p>
        </p:txBody>
      </p:sp>
      <p:sp>
        <p:nvSpPr>
          <p:cNvPr id="40" name="Text 33"/>
          <p:cNvSpPr txBox="1"/>
          <p:nvPr/>
        </p:nvSpPr>
        <p:spPr>
          <a:xfrm>
            <a:off x="3108960" y="3657600"/>
            <a:ext cx="2103120" cy="640080"/>
          </a:xfrm>
          <a:prstGeom prst="rect">
            <a:avLst/>
          </a:prstGeom>
          <a:noFill/>
          <a:ln/>
        </p:spPr>
        <p:txBody>
          <a:bodyPr wrap="square" lIns="0" tIns="0" rIns="0" bIns="0" rtlCol="0" anchor="t"/>
          <a:lstStyle/>
          <a:p>
            <a:pPr indent="0" marL="0">
              <a:buNone/>
            </a:pPr>
            <a:r>
              <a:rPr lang="en-US" sz="1150" b="1" dirty="0">
                <a:solidFill>
                  <a:srgbClr val="E8762C"/>
                </a:solidFill>
                <a:latin typeface="Calibri" pitchFamily="34" charset="0"/>
                <a:ea typeface="Calibri" pitchFamily="34" charset="-122"/>
                <a:cs typeface="Calibri" pitchFamily="34" charset="-120"/>
              </a:rPr>
              <a:t>−  </a:t>
            </a:r>
            <a:pPr indent="0" marL="0">
              <a:buNone/>
            </a:pPr>
            <a:r>
              <a:rPr lang="en-US" sz="1150" dirty="0">
                <a:solidFill>
                  <a:srgbClr val="222E2D"/>
                </a:solidFill>
                <a:latin typeface="Calibri" pitchFamily="34" charset="0"/>
                <a:ea typeface="Calibri" pitchFamily="34" charset="-122"/>
                <a:cs typeface="Calibri" pitchFamily="34" charset="-120"/>
              </a:rPr>
              <a:t>You must build the whole row first.</a:t>
            </a:r>
            <a:endParaRPr lang="en-US" sz="1150" dirty="0"/>
          </a:p>
        </p:txBody>
      </p:sp>
      <p:sp>
        <p:nvSpPr>
          <p:cNvPr id="41" name="Shape 34"/>
          <p:cNvSpPr/>
          <p:nvPr/>
        </p:nvSpPr>
        <p:spPr>
          <a:xfrm>
            <a:off x="5486400" y="1783080"/>
            <a:ext cx="2377440" cy="2560320"/>
          </a:xfrm>
          <a:prstGeom prst="roundRect">
            <a:avLst>
              <a:gd name="adj" fmla="val 4615"/>
            </a:avLst>
          </a:prstGeom>
          <a:solidFill>
            <a:srgbClr val="FFFFFF"/>
          </a:solidFill>
          <a:ln w="15875">
            <a:solidFill>
              <a:srgbClr val="E8762C"/>
            </a:solidFill>
            <a:prstDash val="solid"/>
          </a:ln>
          <a:effectLst>
            <a:outerShdw sx="100000" sy="100000" kx="0" ky="0" algn="bl" rotWithShape="0" blurRad="101600" dist="25400" dir="5400000">
              <a:srgbClr val="000000">
                <a:alpha val="15000"/>
              </a:srgbClr>
            </a:outerShdw>
          </a:effectLst>
        </p:spPr>
      </p:sp>
      <p:sp>
        <p:nvSpPr>
          <p:cNvPr id="42" name="Shape 35"/>
          <p:cNvSpPr/>
          <p:nvPr/>
        </p:nvSpPr>
        <p:spPr>
          <a:xfrm>
            <a:off x="5623560" y="1874520"/>
            <a:ext cx="2103120" cy="365760"/>
          </a:xfrm>
          <a:prstGeom prst="roundRect">
            <a:avLst>
              <a:gd name="adj" fmla="val 50000"/>
            </a:avLst>
          </a:prstGeom>
          <a:solidFill>
            <a:srgbClr val="E8762C"/>
          </a:solidFill>
          <a:ln w="12700">
            <a:solidFill>
              <a:srgbClr val="FFFFFF"/>
            </a:solidFill>
            <a:prstDash val="solid"/>
          </a:ln>
        </p:spPr>
      </p:sp>
      <p:sp>
        <p:nvSpPr>
          <p:cNvPr id="43" name="Text 36"/>
          <p:cNvSpPr txBox="1"/>
          <p:nvPr/>
        </p:nvSpPr>
        <p:spPr>
          <a:xfrm>
            <a:off x="5623560" y="1874520"/>
            <a:ext cx="210312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BINOMIAL THEOREM</a:t>
            </a:r>
            <a:endParaRPr lang="en-US" sz="1300" dirty="0"/>
          </a:p>
        </p:txBody>
      </p:sp>
      <p:pic>
        <p:nvPicPr>
          <p:cNvPr id="44" name="Image 4" descr="m_L3-3w10/kd6598962e3.png">    </p:cNvPr>
          <p:cNvPicPr>
            <a:picLocks noChangeAspect="1"/>
          </p:cNvPicPr>
          <p:nvPr/>
        </p:nvPicPr>
        <p:blipFill>
          <a:blip r:embed="rId5"/>
          <a:stretch>
            <a:fillRect/>
          </a:stretch>
        </p:blipFill>
        <p:spPr>
          <a:xfrm>
            <a:off x="6173480" y="2377440"/>
            <a:ext cx="1003280" cy="525414"/>
          </a:xfrm>
          <a:prstGeom prst="rect">
            <a:avLst/>
          </a:prstGeom>
        </p:spPr>
      </p:pic>
      <p:sp>
        <p:nvSpPr>
          <p:cNvPr id="45" name="Text 37"/>
          <p:cNvSpPr txBox="1"/>
          <p:nvPr/>
        </p:nvSpPr>
        <p:spPr>
          <a:xfrm>
            <a:off x="5623560" y="3017520"/>
            <a:ext cx="2103120" cy="640080"/>
          </a:xfrm>
          <a:prstGeom prst="rect">
            <a:avLst/>
          </a:prstGeom>
          <a:noFill/>
          <a:ln/>
        </p:spPr>
        <p:txBody>
          <a:bodyPr wrap="square" lIns="0" tIns="0" rIns="0" bIns="0" rtlCol="0" anchor="t"/>
          <a:lstStyle/>
          <a:p>
            <a:pPr indent="0" marL="0">
              <a:buNone/>
            </a:pPr>
            <a:r>
              <a:rPr lang="en-US" sz="1150" b="1" dirty="0">
                <a:solidFill>
                  <a:srgbClr val="17A199"/>
                </a:solidFill>
                <a:latin typeface="Calibri" pitchFamily="34" charset="0"/>
                <a:ea typeface="Calibri" pitchFamily="34" charset="-122"/>
                <a:cs typeface="Calibri" pitchFamily="34" charset="-120"/>
              </a:rPr>
              <a:t>+  </a:t>
            </a:r>
            <a:pPr indent="0" marL="0">
              <a:buNone/>
            </a:pPr>
            <a:r>
              <a:rPr lang="en-US" sz="1150" dirty="0">
                <a:solidFill>
                  <a:srgbClr val="222E2D"/>
                </a:solidFill>
                <a:latin typeface="Calibri" pitchFamily="34" charset="0"/>
                <a:ea typeface="Calibri" pitchFamily="34" charset="-122"/>
                <a:cs typeface="Calibri" pitchFamily="34" charset="-120"/>
              </a:rPr>
              <a:t>Works for any power.</a:t>
            </a:r>
            <a:endParaRPr lang="en-US" sz="1150" dirty="0"/>
          </a:p>
        </p:txBody>
      </p:sp>
      <p:sp>
        <p:nvSpPr>
          <p:cNvPr id="46" name="Text 38"/>
          <p:cNvSpPr txBox="1"/>
          <p:nvPr/>
        </p:nvSpPr>
        <p:spPr>
          <a:xfrm>
            <a:off x="5623560" y="3657600"/>
            <a:ext cx="2103120" cy="640080"/>
          </a:xfrm>
          <a:prstGeom prst="rect">
            <a:avLst/>
          </a:prstGeom>
          <a:noFill/>
          <a:ln/>
        </p:spPr>
        <p:txBody>
          <a:bodyPr wrap="square" lIns="0" tIns="0" rIns="0" bIns="0" rtlCol="0" anchor="t"/>
          <a:lstStyle/>
          <a:p>
            <a:pPr indent="0" marL="0">
              <a:buNone/>
            </a:pPr>
            <a:r>
              <a:rPr lang="en-US" sz="1150" b="1" dirty="0">
                <a:solidFill>
                  <a:srgbClr val="E8762C"/>
                </a:solidFill>
                <a:latin typeface="Calibri" pitchFamily="34" charset="0"/>
                <a:ea typeface="Calibri" pitchFamily="34" charset="-122"/>
                <a:cs typeface="Calibri" pitchFamily="34" charset="-120"/>
              </a:rPr>
              <a:t>−  </a:t>
            </a:r>
            <a:pPr indent="0" marL="0">
              <a:buNone/>
            </a:pPr>
            <a:r>
              <a:rPr lang="en-US" sz="1150" dirty="0">
                <a:solidFill>
                  <a:srgbClr val="222E2D"/>
                </a:solidFill>
                <a:latin typeface="Calibri" pitchFamily="34" charset="0"/>
                <a:ea typeface="Calibri" pitchFamily="34" charset="-122"/>
                <a:cs typeface="Calibri" pitchFamily="34" charset="-120"/>
              </a:rPr>
              <a:t>Easy to lose a power of 2.</a:t>
            </a:r>
            <a:endParaRPr lang="en-US" sz="1150" dirty="0"/>
          </a:p>
        </p:txBody>
      </p:sp>
      <p:sp>
        <p:nvSpPr>
          <p:cNvPr id="47" name="Shape 39"/>
          <p:cNvSpPr/>
          <p:nvPr/>
        </p:nvSpPr>
        <p:spPr>
          <a:xfrm>
            <a:off x="8001000" y="1783080"/>
            <a:ext cx="3703320" cy="2560320"/>
          </a:xfrm>
          <a:prstGeom prst="roundRect">
            <a:avLst>
              <a:gd name="adj" fmla="val 4286"/>
            </a:avLst>
          </a:prstGeom>
          <a:solidFill>
            <a:srgbClr val="FFFFFF"/>
          </a:solidFill>
          <a:ln w="15875">
            <a:solidFill>
              <a:srgbClr val="E8762C"/>
            </a:solidFill>
            <a:prstDash val="solid"/>
          </a:ln>
          <a:effectLst>
            <a:outerShdw sx="100000" sy="100000" kx="0" ky="0" algn="bl" rotWithShape="0" blurRad="101600" dist="25400" dir="5400000">
              <a:srgbClr val="000000">
                <a:alpha val="15000"/>
              </a:srgbClr>
            </a:outerShdw>
          </a:effectLst>
        </p:spPr>
      </p:sp>
      <p:sp>
        <p:nvSpPr>
          <p:cNvPr id="48" name="Text 40"/>
          <p:cNvSpPr txBox="1"/>
          <p:nvPr/>
        </p:nvSpPr>
        <p:spPr>
          <a:xfrm>
            <a:off x="8229600" y="1874520"/>
            <a:ext cx="32004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JUDGE THE CLAIM</a:t>
            </a:r>
            <a:endParaRPr lang="en-US" sz="1100" dirty="0"/>
          </a:p>
        </p:txBody>
      </p:sp>
      <p:sp>
        <p:nvSpPr>
          <p:cNvPr id="49" name="Text 41"/>
          <p:cNvSpPr txBox="1"/>
          <p:nvPr/>
        </p:nvSpPr>
        <p:spPr>
          <a:xfrm>
            <a:off x="8229600" y="2148840"/>
            <a:ext cx="3291840" cy="868680"/>
          </a:xfrm>
          <a:prstGeom prst="rect">
            <a:avLst/>
          </a:prstGeom>
          <a:noFill/>
          <a:ln/>
        </p:spPr>
        <p:txBody>
          <a:bodyPr wrap="square" lIns="0" tIns="0" rIns="0" bIns="0" rtlCol="0" anchor="t"/>
          <a:lstStyle/>
          <a:p>
            <a:pPr indent="0" marL="0">
              <a:buNone/>
            </a:pPr>
            <a:r>
              <a:rPr lang="en-US" sz="1500" b="1" dirty="0">
                <a:solidFill>
                  <a:srgbClr val="1F3864"/>
                </a:solidFill>
                <a:latin typeface="Calibri" pitchFamily="34" charset="0"/>
                <a:ea typeface="Calibri" pitchFamily="34" charset="-122"/>
                <a:cs typeface="Calibri" pitchFamily="34" charset="-120"/>
              </a:rPr>
              <a:t>(a + b)³ = a³ + b³ for all numbers a and b.</a:t>
            </a:r>
            <a:endParaRPr lang="en-US" sz="1500" dirty="0"/>
          </a:p>
        </p:txBody>
      </p:sp>
      <p:sp>
        <p:nvSpPr>
          <p:cNvPr id="50" name="Shape 42"/>
          <p:cNvSpPr/>
          <p:nvPr/>
        </p:nvSpPr>
        <p:spPr>
          <a:xfrm>
            <a:off x="8229600" y="3063240"/>
            <a:ext cx="1024128" cy="310896"/>
          </a:xfrm>
          <a:prstGeom prst="roundRect">
            <a:avLst>
              <a:gd name="adj" fmla="val 50000"/>
            </a:avLst>
          </a:prstGeom>
          <a:solidFill>
            <a:srgbClr val="FFFFFF"/>
          </a:solidFill>
          <a:ln w="19050">
            <a:solidFill>
              <a:srgbClr val="1F3864"/>
            </a:solidFill>
            <a:prstDash val="solid"/>
          </a:ln>
        </p:spPr>
      </p:sp>
      <p:sp>
        <p:nvSpPr>
          <p:cNvPr id="51" name="Text 43"/>
          <p:cNvSpPr txBox="1"/>
          <p:nvPr/>
        </p:nvSpPr>
        <p:spPr>
          <a:xfrm>
            <a:off x="8229600" y="3063240"/>
            <a:ext cx="1024128" cy="310896"/>
          </a:xfrm>
          <a:prstGeom prst="rect">
            <a:avLst/>
          </a:prstGeom>
          <a:noFill/>
          <a:ln/>
        </p:spPr>
        <p:txBody>
          <a:bodyPr wrap="square" lIns="0" tIns="0" rIns="0" bIns="0" rtlCol="0" anchor="ctr"/>
          <a:lstStyle/>
          <a:p>
            <a:pPr algn="ctr" indent="0" marL="0">
              <a:buNone/>
            </a:pPr>
            <a:r>
              <a:rPr lang="en-US" sz="950" b="1" dirty="0">
                <a:solidFill>
                  <a:srgbClr val="1F3864"/>
                </a:solidFill>
                <a:latin typeface="Calibri" pitchFamily="34" charset="0"/>
                <a:ea typeface="Calibri" pitchFamily="34" charset="-122"/>
                <a:cs typeface="Calibri" pitchFamily="34" charset="-120"/>
              </a:rPr>
              <a:t>TRUE</a:t>
            </a:r>
            <a:endParaRPr lang="en-US" sz="950" dirty="0"/>
          </a:p>
        </p:txBody>
      </p:sp>
      <p:sp>
        <p:nvSpPr>
          <p:cNvPr id="52" name="Shape 44"/>
          <p:cNvSpPr/>
          <p:nvPr/>
        </p:nvSpPr>
        <p:spPr>
          <a:xfrm>
            <a:off x="9326880" y="3063240"/>
            <a:ext cx="1024128" cy="310896"/>
          </a:xfrm>
          <a:prstGeom prst="roundRect">
            <a:avLst>
              <a:gd name="adj" fmla="val 50000"/>
            </a:avLst>
          </a:prstGeom>
          <a:solidFill>
            <a:srgbClr val="FFFFFF"/>
          </a:solidFill>
          <a:ln w="19050">
            <a:solidFill>
              <a:srgbClr val="1F3864"/>
            </a:solidFill>
            <a:prstDash val="solid"/>
          </a:ln>
        </p:spPr>
      </p:sp>
      <p:sp>
        <p:nvSpPr>
          <p:cNvPr id="53" name="Text 45"/>
          <p:cNvSpPr txBox="1"/>
          <p:nvPr/>
        </p:nvSpPr>
        <p:spPr>
          <a:xfrm>
            <a:off x="9326880" y="3063240"/>
            <a:ext cx="1024128" cy="310896"/>
          </a:xfrm>
          <a:prstGeom prst="rect">
            <a:avLst/>
          </a:prstGeom>
          <a:noFill/>
          <a:ln/>
        </p:spPr>
        <p:txBody>
          <a:bodyPr wrap="square" lIns="0" tIns="0" rIns="0" bIns="0" rtlCol="0" anchor="ctr"/>
          <a:lstStyle/>
          <a:p>
            <a:pPr algn="ctr" indent="0" marL="0">
              <a:buNone/>
            </a:pPr>
            <a:r>
              <a:rPr lang="en-US" sz="950" b="1" dirty="0">
                <a:solidFill>
                  <a:srgbClr val="1F3864"/>
                </a:solidFill>
                <a:latin typeface="Calibri" pitchFamily="34" charset="0"/>
                <a:ea typeface="Calibri" pitchFamily="34" charset="-122"/>
                <a:cs typeface="Calibri" pitchFamily="34" charset="-120"/>
              </a:rPr>
              <a:t>FALSE</a:t>
            </a:r>
            <a:endParaRPr lang="en-US" sz="950" dirty="0"/>
          </a:p>
        </p:txBody>
      </p:sp>
      <p:sp>
        <p:nvSpPr>
          <p:cNvPr id="54" name="Shape 46"/>
          <p:cNvSpPr/>
          <p:nvPr/>
        </p:nvSpPr>
        <p:spPr>
          <a:xfrm>
            <a:off x="10424160" y="3063240"/>
            <a:ext cx="1024128" cy="310896"/>
          </a:xfrm>
          <a:prstGeom prst="roundRect">
            <a:avLst>
              <a:gd name="adj" fmla="val 50000"/>
            </a:avLst>
          </a:prstGeom>
          <a:solidFill>
            <a:srgbClr val="FFFFFF"/>
          </a:solidFill>
          <a:ln w="19050">
            <a:solidFill>
              <a:srgbClr val="1F3864"/>
            </a:solidFill>
            <a:prstDash val="solid"/>
          </a:ln>
        </p:spPr>
      </p:sp>
      <p:sp>
        <p:nvSpPr>
          <p:cNvPr id="55" name="Text 47"/>
          <p:cNvSpPr txBox="1"/>
          <p:nvPr/>
        </p:nvSpPr>
        <p:spPr>
          <a:xfrm>
            <a:off x="10424160" y="3063240"/>
            <a:ext cx="1024128" cy="310896"/>
          </a:xfrm>
          <a:prstGeom prst="rect">
            <a:avLst/>
          </a:prstGeom>
          <a:noFill/>
          <a:ln/>
        </p:spPr>
        <p:txBody>
          <a:bodyPr wrap="square" lIns="0" tIns="0" rIns="0" bIns="0" rtlCol="0" anchor="ctr"/>
          <a:lstStyle/>
          <a:p>
            <a:pPr algn="ctr" indent="0" marL="0">
              <a:buNone/>
            </a:pPr>
            <a:r>
              <a:rPr lang="en-US" sz="950" b="1" dirty="0">
                <a:solidFill>
                  <a:srgbClr val="1F3864"/>
                </a:solidFill>
                <a:latin typeface="Calibri" pitchFamily="34" charset="0"/>
                <a:ea typeface="Calibri" pitchFamily="34" charset="-122"/>
                <a:cs typeface="Calibri" pitchFamily="34" charset="-120"/>
              </a:rPr>
              <a:t>SOMETIMES</a:t>
            </a:r>
            <a:endParaRPr lang="en-US" sz="950" dirty="0"/>
          </a:p>
        </p:txBody>
      </p:sp>
      <p:sp>
        <p:nvSpPr>
          <p:cNvPr id="56" name="Shape 48"/>
          <p:cNvSpPr/>
          <p:nvPr/>
        </p:nvSpPr>
        <p:spPr>
          <a:xfrm>
            <a:off x="8183880" y="3493008"/>
            <a:ext cx="3337560" cy="749808"/>
          </a:xfrm>
          <a:prstGeom prst="roundRect">
            <a:avLst>
              <a:gd name="adj" fmla="val 12195"/>
            </a:avLst>
          </a:prstGeom>
          <a:solidFill>
            <a:srgbClr val="FFF1C9"/>
          </a:solidFill>
          <a:ln w="19050">
            <a:solidFill>
              <a:srgbClr val="F0B323"/>
            </a:solidFill>
            <a:prstDash val="solid"/>
          </a:ln>
        </p:spPr>
      </p:sp>
      <p:sp>
        <p:nvSpPr>
          <p:cNvPr id="57" name="Text 49"/>
          <p:cNvSpPr txBox="1"/>
          <p:nvPr/>
        </p:nvSpPr>
        <p:spPr>
          <a:xfrm>
            <a:off x="8275320" y="3529584"/>
            <a:ext cx="3154680" cy="676656"/>
          </a:xfrm>
          <a:prstGeom prst="rect">
            <a:avLst/>
          </a:prstGeom>
          <a:noFill/>
          <a:ln/>
        </p:spPr>
        <p:txBody>
          <a:bodyPr wrap="square" lIns="0" tIns="0" rIns="0" bIns="0" rtlCol="0" anchor="ctr"/>
          <a:lstStyle/>
          <a:p>
            <a:pPr indent="0" marL="0">
              <a:buNone/>
            </a:pPr>
            <a:r>
              <a:rPr lang="en-US" sz="900" b="1" spc="100" kern="0" dirty="0">
                <a:solidFill>
                  <a:srgbClr val="E8762C"/>
                </a:solidFill>
                <a:latin typeface="Calibri" pitchFamily="34" charset="0"/>
                <a:ea typeface="Calibri" pitchFamily="34" charset="-122"/>
                <a:cs typeface="Calibri" pitchFamily="34" charset="-120"/>
              </a:rPr>
              <a:t>CHECK THE ASSUMPTION  </a:t>
            </a:r>
            <a:endParaRPr lang="en-US" sz="1600" dirty="0"/>
          </a:p>
          <a:p>
            <a:pPr indent="0" marL="0">
              <a:buNone/>
            </a:pPr>
            <a:r>
              <a:rPr lang="en-US" sz="1150" dirty="0">
                <a:solidFill>
                  <a:srgbClr val="222E2D"/>
                </a:solidFill>
                <a:latin typeface="Calibri" pitchFamily="34" charset="0"/>
                <a:ea typeface="Calibri" pitchFamily="34" charset="-122"/>
                <a:cs typeface="Calibri" pitchFamily="34" charset="-120"/>
              </a:rPr>
              <a:t>Did you test numbers where neither a nor b is 0?</a:t>
            </a:r>
            <a:endParaRPr lang="en-US" sz="1600" dirty="0"/>
          </a:p>
        </p:txBody>
      </p:sp>
      <p:sp>
        <p:nvSpPr>
          <p:cNvPr id="58" name="Shape 50"/>
          <p:cNvSpPr/>
          <p:nvPr/>
        </p:nvSpPr>
        <p:spPr>
          <a:xfrm>
            <a:off x="457200" y="4526280"/>
            <a:ext cx="5623560" cy="1737360"/>
          </a:xfrm>
          <a:prstGeom prst="roundRect">
            <a:avLst>
              <a:gd name="adj" fmla="val 6316"/>
            </a:avLst>
          </a:prstGeom>
          <a:solidFill>
            <a:srgbClr val="F0B323"/>
          </a:solidFill>
          <a:ln w="25400">
            <a:solidFill>
              <a:srgbClr val="FFFFFF"/>
            </a:solidFill>
            <a:prstDash val="solid"/>
          </a:ln>
          <a:effectLst>
            <a:outerShdw sx="100000" sy="100000" kx="0" ky="0" algn="bl" rotWithShape="0" blurRad="101600" dist="25400" dir="5400000">
              <a:srgbClr val="000000">
                <a:alpha val="15000"/>
              </a:srgbClr>
            </a:outerShdw>
          </a:effectLst>
        </p:spPr>
      </p:sp>
      <p:sp>
        <p:nvSpPr>
          <p:cNvPr id="59" name="Text 51"/>
          <p:cNvSpPr txBox="1"/>
          <p:nvPr/>
        </p:nvSpPr>
        <p:spPr>
          <a:xfrm>
            <a:off x="731520" y="4599432"/>
            <a:ext cx="5120640" cy="274320"/>
          </a:xfrm>
          <a:prstGeom prst="rect">
            <a:avLst/>
          </a:prstGeom>
          <a:noFill/>
          <a:ln/>
        </p:spPr>
        <p:txBody>
          <a:bodyPr wrap="square" lIns="0" tIns="0" rIns="0" bIns="0" rtlCol="0" anchor="t"/>
          <a:lstStyle/>
          <a:p>
            <a:pPr indent="0" marL="0">
              <a:buNone/>
            </a:pPr>
            <a:r>
              <a:rPr lang="en-US" sz="1200" b="1" spc="100" kern="0" dirty="0">
                <a:solidFill>
                  <a:srgbClr val="0E4F4C"/>
                </a:solidFill>
                <a:latin typeface="Calibri" pitchFamily="34" charset="0"/>
                <a:ea typeface="Calibri" pitchFamily="34" charset="-122"/>
                <a:cs typeface="Calibri" pitchFamily="34" charset="-120"/>
              </a:rPr>
              <a:t>SPOTLIGHT: STEAL THIS SHORTCUT</a:t>
            </a:r>
            <a:endParaRPr lang="en-US" sz="1200" dirty="0"/>
          </a:p>
        </p:txBody>
      </p:sp>
      <p:sp>
        <p:nvSpPr>
          <p:cNvPr id="60" name="Text 52"/>
          <p:cNvSpPr txBox="1"/>
          <p:nvPr/>
        </p:nvSpPr>
        <p:spPr>
          <a:xfrm>
            <a:off x="731520" y="4919472"/>
            <a:ext cx="5074920" cy="685800"/>
          </a:xfrm>
          <a:prstGeom prst="rect">
            <a:avLst/>
          </a:prstGeom>
          <a:noFill/>
          <a:ln/>
        </p:spPr>
        <p:txBody>
          <a:bodyPr wrap="square" lIns="0" tIns="0" rIns="0" bIns="0" rtlCol="0" anchor="t"/>
          <a:lstStyle/>
          <a:p>
            <a:pPr indent="0" marL="0">
              <a:buNone/>
            </a:pPr>
            <a:r>
              <a:rPr lang="en-US" sz="1350" dirty="0">
                <a:solidFill>
                  <a:srgbClr val="222E2D"/>
                </a:solidFill>
                <a:latin typeface="Calibri" pitchFamily="34" charset="0"/>
                <a:ea typeface="Calibri" pitchFamily="34" charset="-122"/>
                <a:cs typeface="Calibri" pitchFamily="34" charset="-120"/>
              </a:rPr>
              <a:t>Row n has n + 1 numbers and reads the same backwards, so you only need to compute half of it.</a:t>
            </a:r>
            <a:endParaRPr lang="en-US" sz="1350" dirty="0"/>
          </a:p>
        </p:txBody>
      </p:sp>
      <p:sp>
        <p:nvSpPr>
          <p:cNvPr id="61" name="Shape 53"/>
          <p:cNvSpPr/>
          <p:nvPr/>
        </p:nvSpPr>
        <p:spPr>
          <a:xfrm>
            <a:off x="731520" y="5669280"/>
            <a:ext cx="5074920" cy="502920"/>
          </a:xfrm>
          <a:prstGeom prst="roundRect">
            <a:avLst>
              <a:gd name="adj" fmla="val 18182"/>
            </a:avLst>
          </a:prstGeom>
          <a:solidFill>
            <a:srgbClr val="FFFFFF"/>
          </a:solidFill>
          <a:ln w="12700">
            <a:solidFill>
              <a:srgbClr val="FFFFFF"/>
            </a:solidFill>
            <a:prstDash val="solid"/>
          </a:ln>
        </p:spPr>
      </p:sp>
      <p:pic>
        <p:nvPicPr>
          <p:cNvPr id="62" name="Image 5" descr="m_L3-3w10/k594feb3afa.png">    </p:cNvPr>
          <p:cNvPicPr>
            <a:picLocks noChangeAspect="1"/>
          </p:cNvPicPr>
          <p:nvPr/>
        </p:nvPicPr>
        <p:blipFill>
          <a:blip r:embed="rId6"/>
          <a:stretch>
            <a:fillRect/>
          </a:stretch>
        </p:blipFill>
        <p:spPr>
          <a:xfrm>
            <a:off x="2743383" y="5715000"/>
            <a:ext cx="1051194" cy="199705"/>
          </a:xfrm>
          <a:prstGeom prst="rect">
            <a:avLst/>
          </a:prstGeom>
        </p:spPr>
      </p:pic>
      <p:sp>
        <p:nvSpPr>
          <p:cNvPr id="63" name="Shape 54"/>
          <p:cNvSpPr/>
          <p:nvPr/>
        </p:nvSpPr>
        <p:spPr>
          <a:xfrm>
            <a:off x="6263640" y="4526280"/>
            <a:ext cx="5440680" cy="1737360"/>
          </a:xfrm>
          <a:prstGeom prst="roundRect">
            <a:avLst>
              <a:gd name="adj" fmla="val 6316"/>
            </a:avLst>
          </a:prstGeom>
          <a:solidFill>
            <a:srgbClr val="FFF1C9"/>
          </a:solidFill>
          <a:ln w="28575">
            <a:solidFill>
              <a:srgbClr val="F0B323"/>
            </a:solidFill>
            <a:prstDash val="solid"/>
          </a:ln>
          <a:effectLst>
            <a:outerShdw sx="100000" sy="100000" kx="0" ky="0" algn="bl" rotWithShape="0" blurRad="101600" dist="25400" dir="5400000">
              <a:srgbClr val="000000">
                <a:alpha val="15000"/>
              </a:srgbClr>
            </a:outerShdw>
          </a:effectLst>
        </p:spPr>
      </p:sp>
      <p:sp>
        <p:nvSpPr>
          <p:cNvPr id="64" name="Text 55"/>
          <p:cNvSpPr txBox="1"/>
          <p:nvPr/>
        </p:nvSpPr>
        <p:spPr>
          <a:xfrm>
            <a:off x="6492240" y="4617720"/>
            <a:ext cx="2743200" cy="256032"/>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WHAT IF...?</a:t>
            </a:r>
            <a:endParaRPr lang="en-US" sz="1200" dirty="0"/>
          </a:p>
        </p:txBody>
      </p:sp>
      <p:sp>
        <p:nvSpPr>
          <p:cNvPr id="65" name="Text 56"/>
          <p:cNvSpPr txBox="1"/>
          <p:nvPr/>
        </p:nvSpPr>
        <p:spPr>
          <a:xfrm>
            <a:off x="6492240" y="4910328"/>
            <a:ext cx="4983480" cy="1280160"/>
          </a:xfrm>
          <a:prstGeom prst="rect">
            <a:avLst/>
          </a:prstGeom>
          <a:noFill/>
          <a:ln/>
        </p:spPr>
        <p:txBody>
          <a:bodyPr wrap="square" lIns="0" tIns="0" rIns="0" bIns="0" rtlCol="0" anchor="t"/>
          <a:lstStyle/>
          <a:p>
            <a:pPr indent="0" marL="0">
              <a:buNone/>
            </a:pPr>
            <a:r>
              <a:rPr lang="en-US" sz="1400" dirty="0">
                <a:solidFill>
                  <a:srgbClr val="222E2D"/>
                </a:solidFill>
                <a:latin typeface="Calibri" pitchFamily="34" charset="0"/>
                <a:ea typeface="Calibri" pitchFamily="34" charset="-122"/>
                <a:cs typeface="Calibri" pitchFamily="34" charset="-120"/>
              </a:rPr>
              <a:t>What if the second term is negative, as in (x − 2)³? Predict which signs alternate, then test with x = 1.</a:t>
            </a:r>
            <a:endParaRPr lang="en-US" sz="1400" dirty="0"/>
          </a:p>
        </p:txBody>
      </p:sp>
      <p:pic>
        <p:nvPicPr>
          <p:cNvPr id="66" name="Image 6" descr="m_L3-3w10/k3453d79798.png">    </p:cNvPr>
          <p:cNvPicPr>
            <a:picLocks noChangeAspect="1"/>
          </p:cNvPicPr>
          <p:nvPr/>
        </p:nvPicPr>
        <p:blipFill>
          <a:blip r:embed="rId7"/>
          <a:stretch>
            <a:fillRect/>
          </a:stretch>
        </p:blipFill>
        <p:spPr>
          <a:xfrm>
            <a:off x="6492240" y="5760720"/>
            <a:ext cx="783458" cy="28675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HSA.SSE.A.2 · HSA.APR.C.4 · (+)HSA.APR.C.5</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11</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42062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42062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329184" cy="0"/>
          </a:xfrm>
          <a:prstGeom prst="line">
            <a:avLst/>
          </a:prstGeom>
          <a:noFill/>
          <a:ln w="25400">
            <a:solidFill>
              <a:srgbClr val="17A199"/>
            </a:solidFill>
            <a:prstDash val="dash"/>
          </a:ln>
        </p:spPr>
      </p:sp>
      <p:sp>
        <p:nvSpPr>
          <p:cNvPr id="18" name="stn4"/>
          <p:cNvSpPr/>
          <p:nvPr/>
        </p:nvSpPr>
        <p:spPr>
          <a:xfrm>
            <a:off x="6071616" y="228600"/>
            <a:ext cx="457200" cy="457200"/>
          </a:xfrm>
          <a:prstGeom prst="ellipse">
            <a:avLst/>
          </a:prstGeom>
          <a:solidFill>
            <a:srgbClr val="E8762C"/>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0" name="path4"/>
          <p:cNvSpPr/>
          <p:nvPr/>
        </p:nvSpPr>
        <p:spPr>
          <a:xfrm>
            <a:off x="6547104" y="457200"/>
            <a:ext cx="32918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4  ·  PRODUCTION  ·  12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Production: Date orchard and pond</a:t>
            </a:r>
            <a:endParaRPr lang="en-US" sz="3000" dirty="0"/>
          </a:p>
        </p:txBody>
      </p:sp>
      <p:sp>
        <p:nvSpPr>
          <p:cNvPr id="29" name="Shape 24"/>
          <p:cNvSpPr/>
          <p:nvPr/>
        </p:nvSpPr>
        <p:spPr>
          <a:xfrm>
            <a:off x="457200" y="1828800"/>
            <a:ext cx="5852160" cy="4434840"/>
          </a:xfrm>
          <a:prstGeom prst="roundRect">
            <a:avLst>
              <a:gd name="adj" fmla="val 2474"/>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0" name="Text 25"/>
          <p:cNvSpPr txBox="1"/>
          <p:nvPr/>
        </p:nvSpPr>
        <p:spPr>
          <a:xfrm>
            <a:off x="731520" y="1920240"/>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THE MODEL</a:t>
            </a:r>
            <a:endParaRPr lang="en-US" sz="1100" dirty="0"/>
          </a:p>
        </p:txBody>
      </p:sp>
      <p:sp>
        <p:nvSpPr>
          <p:cNvPr id="31" name="Text 26"/>
          <p:cNvSpPr txBox="1"/>
          <p:nvPr/>
        </p:nvSpPr>
        <p:spPr>
          <a:xfrm>
            <a:off x="731520" y="2194560"/>
            <a:ext cx="5303520" cy="1143000"/>
          </a:xfrm>
          <a:prstGeom prst="rect">
            <a:avLst/>
          </a:prstGeom>
          <a:noFill/>
          <a:ln/>
        </p:spPr>
        <p:txBody>
          <a:bodyPr wrap="square" lIns="0" tIns="0" rIns="0" bIns="0" rtlCol="0" anchor="t"/>
          <a:lstStyle/>
          <a:p>
            <a:pPr indent="0" marL="0">
              <a:buNone/>
            </a:pPr>
            <a:r>
              <a:rPr lang="en-US" sz="1500" dirty="0">
                <a:solidFill>
                  <a:srgbClr val="222E2D"/>
                </a:solidFill>
                <a:latin typeface="Calibri" pitchFamily="34" charset="0"/>
                <a:ea typeface="Calibri" pitchFamily="34" charset="-122"/>
                <a:cs typeface="Calibri" pitchFamily="34" charset="-120"/>
              </a:rPr>
              <a:t>A model date-palm orchard in Al-Ahsa (model values only, not real data) is a square of side (x + 5) m. A square irrigation pond of side (x − 5) m sits in its middle, and the rest of the orchard is planted with palms.</a:t>
            </a:r>
            <a:endParaRPr lang="en-US" sz="1500" dirty="0"/>
          </a:p>
        </p:txBody>
      </p:sp>
      <p:pic>
        <p:nvPicPr>
          <p:cNvPr id="32" name="Image 2" descr="m_L3-3w10/k74ab6d059d.png">    </p:cNvPr>
          <p:cNvPicPr>
            <a:picLocks noChangeAspect="1"/>
          </p:cNvPicPr>
          <p:nvPr/>
        </p:nvPicPr>
        <p:blipFill>
          <a:blip r:embed="rId3"/>
          <a:stretch>
            <a:fillRect/>
          </a:stretch>
        </p:blipFill>
        <p:spPr>
          <a:xfrm>
            <a:off x="1288207" y="3429000"/>
            <a:ext cx="4190147" cy="304312"/>
          </a:xfrm>
          <a:prstGeom prst="rect">
            <a:avLst/>
          </a:prstGeom>
        </p:spPr>
      </p:pic>
      <p:pic>
        <p:nvPicPr>
          <p:cNvPr id="33" name="Image 3" descr="m_L3-3w10/k8b27c290d2.png">    </p:cNvPr>
          <p:cNvPicPr>
            <a:picLocks noChangeAspect="1"/>
          </p:cNvPicPr>
          <p:nvPr/>
        </p:nvPicPr>
        <p:blipFill>
          <a:blip r:embed="rId4"/>
          <a:stretch>
            <a:fillRect/>
          </a:stretch>
        </p:blipFill>
        <p:spPr>
          <a:xfrm>
            <a:off x="1569110" y="3843040"/>
            <a:ext cx="3628339" cy="327721"/>
          </a:xfrm>
          <a:prstGeom prst="rect">
            <a:avLst/>
          </a:prstGeom>
        </p:spPr>
      </p:pic>
      <p:sp>
        <p:nvSpPr>
          <p:cNvPr id="34" name="Text 27"/>
          <p:cNvSpPr txBox="1"/>
          <p:nvPr/>
        </p:nvSpPr>
        <p:spPr>
          <a:xfrm>
            <a:off x="731520" y="4417649"/>
            <a:ext cx="5303520" cy="1800271"/>
          </a:xfrm>
          <a:prstGeom prst="rect">
            <a:avLst/>
          </a:prstGeom>
          <a:noFill/>
          <a:ln/>
        </p:spPr>
        <p:txBody>
          <a:bodyPr wrap="square" lIns="0" tIns="0" rIns="0" bIns="0" rtlCol="0" anchor="t"/>
          <a:lstStyle/>
          <a:p>
            <a:pPr marL="342900" indent="-342900">
              <a:spcAft>
                <a:spcPts val="400"/>
              </a:spcAft>
              <a:buSzPct val="100000"/>
              <a:buFont typeface="+mj-lt"/>
              <a:buAutoNum type="arabicPeriod" startAt="1"/>
            </a:pPr>
            <a:r>
              <a:rPr lang="en-US" sz="1300" dirty="0">
                <a:solidFill>
                  <a:srgbClr val="222E2D"/>
                </a:solidFill>
                <a:latin typeface="Calibri" pitchFamily="34" charset="0"/>
                <a:ea typeface="Calibri" pitchFamily="34" charset="-122"/>
                <a:cs typeface="Calibri" pitchFamily="34" charset="-120"/>
              </a:rPr>
              <a:t>Expand the area of the orchard and the area of the pond. Subtract to find the planted area as a simple polynomial.</a:t>
            </a:r>
            <a:endParaRPr lang="en-US" sz="1300" dirty="0"/>
          </a:p>
          <a:p>
            <a:pPr marL="342900" indent="-342900">
              <a:spcAft>
                <a:spcPts val="400"/>
              </a:spcAft>
              <a:buSzPct val="100000"/>
              <a:buFont typeface="+mj-lt"/>
              <a:buAutoNum type="arabicPeriod" startAt="1"/>
            </a:pPr>
            <a:r>
              <a:rPr lang="en-US" sz="1300" dirty="0">
                <a:solidFill>
                  <a:srgbClr val="222E2D"/>
                </a:solidFill>
                <a:latin typeface="Calibri" pitchFamily="34" charset="0"/>
                <a:ea typeface="Calibri" pitchFamily="34" charset="-122"/>
                <a:cs typeface="Calibri" pitchFamily="34" charset="-120"/>
              </a:rPr>
              <a:t>Show the same result using the difference of squares. Find the planted area when x = 40.</a:t>
            </a:r>
            <a:endParaRPr lang="en-US" sz="1300" dirty="0"/>
          </a:p>
          <a:p>
            <a:pPr marL="342900" indent="-342900">
              <a:spcAft>
                <a:spcPts val="400"/>
              </a:spcAft>
              <a:buSzPct val="100000"/>
              <a:buFont typeface="+mj-lt"/>
              <a:buAutoNum type="arabicPeriod" startAt="1"/>
            </a:pPr>
            <a:r>
              <a:rPr lang="en-US" sz="1300" dirty="0">
                <a:solidFill>
                  <a:srgbClr val="222E2D"/>
                </a:solidFill>
                <a:latin typeface="Calibri" pitchFamily="34" charset="0"/>
                <a:ea typeface="Calibri" pitchFamily="34" charset="-122"/>
                <a:cs typeface="Calibri" pitchFamily="34" charset="-120"/>
              </a:rPr>
              <a:t>The planted area is 1200 m². Find x, the orchard side and the pond side.</a:t>
            </a:r>
            <a:endParaRPr lang="en-US" sz="1300" dirty="0"/>
          </a:p>
        </p:txBody>
      </p:sp>
      <p:sp>
        <p:nvSpPr>
          <p:cNvPr id="35" name="Shape 28"/>
          <p:cNvSpPr/>
          <p:nvPr/>
        </p:nvSpPr>
        <p:spPr>
          <a:xfrm>
            <a:off x="6492240" y="1828800"/>
            <a:ext cx="5212080" cy="4434840"/>
          </a:xfrm>
          <a:prstGeom prst="roundRect">
            <a:avLst>
              <a:gd name="adj" fmla="val 2474"/>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6" name="Text 29"/>
          <p:cNvSpPr txBox="1"/>
          <p:nvPr/>
        </p:nvSpPr>
        <p:spPr>
          <a:xfrm>
            <a:off x="6766560" y="1920240"/>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DONE WHEN</a:t>
            </a:r>
            <a:endParaRPr lang="en-US" sz="1100" dirty="0"/>
          </a:p>
        </p:txBody>
      </p:sp>
      <p:sp>
        <p:nvSpPr>
          <p:cNvPr id="37" name="Text 30"/>
          <p:cNvSpPr txBox="1"/>
          <p:nvPr/>
        </p:nvSpPr>
        <p:spPr>
          <a:xfrm>
            <a:off x="6766560" y="2240280"/>
            <a:ext cx="4663440" cy="210312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The orchard area is x² + 10x + 25 and the pond area is x² − 10x + 25.</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The planted area 20x is found two ways and is 800 m² for x = 40.</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The equation 20x = 1200 gives x = 60 with units.</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The orchard side 65 m and pond side 55 m are checked: 65² − 55² = 1200.</a:t>
            </a:r>
            <a:endParaRPr lang="en-US" sz="1200" dirty="0"/>
          </a:p>
        </p:txBody>
      </p:sp>
      <p:sp>
        <p:nvSpPr>
          <p:cNvPr id="38" name="Text 31"/>
          <p:cNvSpPr txBox="1"/>
          <p:nvPr/>
        </p:nvSpPr>
        <p:spPr>
          <a:xfrm>
            <a:off x="6766560" y="4389120"/>
            <a:ext cx="4663440" cy="548640"/>
          </a:xfrm>
          <a:prstGeom prst="rect">
            <a:avLst/>
          </a:prstGeom>
          <a:noFill/>
          <a:ln/>
        </p:spPr>
        <p:txBody>
          <a:bodyPr wrap="square" lIns="0" tIns="0" rIns="0" bIns="0" rtlCol="0" anchor="t"/>
          <a:lstStyle/>
          <a:p>
            <a:pPr indent="0" marL="0">
              <a:buNone/>
            </a:pPr>
            <a:r>
              <a:rPr lang="en-US" sz="1150" i="1" dirty="0">
                <a:solidFill>
                  <a:srgbClr val="F0B323"/>
                </a:solidFill>
                <a:latin typeface="Calibri" pitchFamily="34" charset="0"/>
                <a:ea typeface="Calibri" pitchFamily="34" charset="-122"/>
                <a:cs typeface="Calibri" pitchFamily="34" charset="-120"/>
              </a:rPr>
              <a:t>Hint for solving: (x + 5)² − (x − 5)² is a difference of squares with a = x + 5 and b = x − 5.</a:t>
            </a:r>
            <a:endParaRPr lang="en-US" sz="1150" dirty="0"/>
          </a:p>
        </p:txBody>
      </p:sp>
      <p:sp>
        <p:nvSpPr>
          <p:cNvPr id="39" name="Shape 32"/>
          <p:cNvSpPr/>
          <p:nvPr/>
        </p:nvSpPr>
        <p:spPr>
          <a:xfrm>
            <a:off x="6675120" y="5029200"/>
            <a:ext cx="4846320" cy="1143000"/>
          </a:xfrm>
          <a:prstGeom prst="roundRect">
            <a:avLst>
              <a:gd name="adj" fmla="val 8000"/>
            </a:avLst>
          </a:prstGeom>
          <a:solidFill>
            <a:srgbClr val="FFF1C9"/>
          </a:solidFill>
          <a:ln w="25400">
            <a:solidFill>
              <a:srgbClr val="F0B323"/>
            </a:solidFill>
            <a:prstDash val="solid"/>
          </a:ln>
        </p:spPr>
      </p:sp>
      <p:sp>
        <p:nvSpPr>
          <p:cNvPr id="40" name="Text 33"/>
          <p:cNvSpPr txBox="1"/>
          <p:nvPr/>
        </p:nvSpPr>
        <p:spPr>
          <a:xfrm>
            <a:off x="6812280" y="5047488"/>
            <a:ext cx="4572000" cy="1097280"/>
          </a:xfrm>
          <a:prstGeom prst="rect">
            <a:avLst/>
          </a:prstGeom>
          <a:noFill/>
          <a:ln/>
        </p:spPr>
        <p:txBody>
          <a:bodyPr wrap="square" lIns="0" tIns="0" rIns="0" bIns="0" rtlCol="0" anchor="ctr"/>
          <a:lstStyle/>
          <a:p>
            <a:pPr indent="0" marL="0">
              <a:buNone/>
            </a:pPr>
            <a:r>
              <a:rPr lang="en-US" sz="1100" b="1" spc="200" kern="0" dirty="0">
                <a:solidFill>
                  <a:srgbClr val="E8762C"/>
                </a:solidFill>
                <a:latin typeface="Calibri" pitchFamily="34" charset="0"/>
                <a:ea typeface="Calibri" pitchFamily="34" charset="-122"/>
                <a:cs typeface="Calibri" pitchFamily="34" charset="-120"/>
              </a:rPr>
              <a:t>WHAT IF...?  </a:t>
            </a:r>
            <a:endParaRPr lang="en-US" sz="1600" dirty="0"/>
          </a:p>
          <a:p>
            <a:pPr indent="0" marL="0">
              <a:buNone/>
            </a:pPr>
            <a:r>
              <a:rPr lang="en-US" sz="1300" dirty="0">
                <a:solidFill>
                  <a:srgbClr val="222E2D"/>
                </a:solidFill>
                <a:latin typeface="Calibri" pitchFamily="34" charset="0"/>
                <a:ea typeface="Calibri" pitchFamily="34" charset="-122"/>
                <a:cs typeface="Calibri" pitchFamily="34" charset="-120"/>
              </a:rPr>
              <a:t>What if the pond side is (x − 3) instead of (x − 5)? Predict whether the planted area is still a multiple of x, then find it.</a:t>
            </a:r>
            <a:endParaRPr lang="en-US" sz="16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HSA.SSE.A.2 · HSA.APR.C.4 · (+)HSA.APR.C.5</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12</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42062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42062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329184" cy="0"/>
          </a:xfrm>
          <a:prstGeom prst="line">
            <a:avLst/>
          </a:prstGeom>
          <a:noFill/>
          <a:ln w="25400">
            <a:solidFill>
              <a:srgbClr val="17A199"/>
            </a:solidFill>
            <a:prstDash val="dash"/>
          </a:ln>
        </p:spPr>
      </p:sp>
      <p:sp>
        <p:nvSpPr>
          <p:cNvPr id="21" name="stn5"/>
          <p:cNvSpPr/>
          <p:nvPr/>
        </p:nvSpPr>
        <p:spPr>
          <a:xfrm>
            <a:off x="6784848" y="228600"/>
            <a:ext cx="457200" cy="457200"/>
          </a:xfrm>
          <a:prstGeom prst="ellipse">
            <a:avLst/>
          </a:prstGeom>
          <a:solidFill>
            <a:srgbClr val="E8762C"/>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3" name="path5"/>
          <p:cNvSpPr/>
          <p:nvPr/>
        </p:nvSpPr>
        <p:spPr>
          <a:xfrm>
            <a:off x="7260336" y="457200"/>
            <a:ext cx="32918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5  ·  MASTERY GATE  ·  6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Mastery Gate: three questions to pass</a:t>
            </a:r>
            <a:endParaRPr lang="en-US" sz="3000" dirty="0"/>
          </a:p>
        </p:txBody>
      </p:sp>
      <p:sp>
        <p:nvSpPr>
          <p:cNvPr id="29" name="Shape 24"/>
          <p:cNvSpPr/>
          <p:nvPr/>
        </p:nvSpPr>
        <p:spPr>
          <a:xfrm>
            <a:off x="457200" y="1920240"/>
            <a:ext cx="3611880" cy="2286000"/>
          </a:xfrm>
          <a:prstGeom prst="roundRect">
            <a:avLst>
              <a:gd name="adj" fmla="val 4800"/>
            </a:avLst>
          </a:prstGeom>
          <a:solidFill>
            <a:srgbClr val="FFFFFF"/>
          </a:solidFill>
          <a:ln w="15875">
            <a:solidFill>
              <a:srgbClr val="E8762C"/>
            </a:solidFill>
            <a:prstDash val="solid"/>
          </a:ln>
          <a:effectLst>
            <a:outerShdw sx="100000" sy="100000" kx="0" ky="0" algn="bl" rotWithShape="0" blurRad="101600" dist="25400" dir="5400000">
              <a:srgbClr val="000000">
                <a:alpha val="15000"/>
              </a:srgbClr>
            </a:outerShdw>
          </a:effectLst>
        </p:spPr>
      </p:sp>
      <p:sp>
        <p:nvSpPr>
          <p:cNvPr id="30" name="Shape 25"/>
          <p:cNvSpPr/>
          <p:nvPr/>
        </p:nvSpPr>
        <p:spPr>
          <a:xfrm>
            <a:off x="640080" y="2057400"/>
            <a:ext cx="502920" cy="502920"/>
          </a:xfrm>
          <a:prstGeom prst="ellipse">
            <a:avLst/>
          </a:prstGeom>
          <a:solidFill>
            <a:srgbClr val="E8762C"/>
          </a:solidFill>
          <a:ln w="12700">
            <a:solidFill>
              <a:srgbClr val="FFFFFF"/>
            </a:solidFill>
            <a:prstDash val="solid"/>
          </a:ln>
        </p:spPr>
      </p:sp>
      <p:sp>
        <p:nvSpPr>
          <p:cNvPr id="31" name="Text 26"/>
          <p:cNvSpPr txBox="1"/>
          <p:nvPr/>
        </p:nvSpPr>
        <p:spPr>
          <a:xfrm>
            <a:off x="64008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pic>
        <p:nvPicPr>
          <p:cNvPr id="32" name="Image 2" descr="m_L3-3w10/kb4bdec2875.png">    </p:cNvPr>
          <p:cNvPicPr>
            <a:picLocks noChangeAspect="1"/>
          </p:cNvPicPr>
          <p:nvPr/>
        </p:nvPicPr>
        <p:blipFill>
          <a:blip r:embed="rId3"/>
          <a:stretch>
            <a:fillRect/>
          </a:stretch>
        </p:blipFill>
        <p:spPr>
          <a:xfrm>
            <a:off x="1160191" y="2743200"/>
            <a:ext cx="2251619" cy="389169"/>
          </a:xfrm>
          <a:prstGeom prst="rect">
            <a:avLst/>
          </a:prstGeom>
        </p:spPr>
      </p:pic>
      <p:sp>
        <p:nvSpPr>
          <p:cNvPr id="33" name="Shape 27"/>
          <p:cNvSpPr/>
          <p:nvPr/>
        </p:nvSpPr>
        <p:spPr>
          <a:xfrm>
            <a:off x="4206240" y="1920240"/>
            <a:ext cx="3611880" cy="2286000"/>
          </a:xfrm>
          <a:prstGeom prst="roundRect">
            <a:avLst>
              <a:gd name="adj" fmla="val 4800"/>
            </a:avLst>
          </a:prstGeom>
          <a:solidFill>
            <a:srgbClr val="FFFFFF"/>
          </a:solidFill>
          <a:ln w="15875">
            <a:solidFill>
              <a:srgbClr val="E8762C"/>
            </a:solidFill>
            <a:prstDash val="solid"/>
          </a:ln>
          <a:effectLst>
            <a:outerShdw sx="100000" sy="100000" kx="0" ky="0" algn="bl" rotWithShape="0" blurRad="101600" dist="25400" dir="5400000">
              <a:srgbClr val="000000">
                <a:alpha val="15000"/>
              </a:srgbClr>
            </a:outerShdw>
          </a:effectLst>
        </p:spPr>
      </p:sp>
      <p:sp>
        <p:nvSpPr>
          <p:cNvPr id="34" name="Shape 28"/>
          <p:cNvSpPr/>
          <p:nvPr/>
        </p:nvSpPr>
        <p:spPr>
          <a:xfrm>
            <a:off x="4389120" y="2057400"/>
            <a:ext cx="502920" cy="502920"/>
          </a:xfrm>
          <a:prstGeom prst="ellipse">
            <a:avLst/>
          </a:prstGeom>
          <a:solidFill>
            <a:srgbClr val="E8762C"/>
          </a:solidFill>
          <a:ln w="12700">
            <a:solidFill>
              <a:srgbClr val="FFFFFF"/>
            </a:solidFill>
            <a:prstDash val="solid"/>
          </a:ln>
        </p:spPr>
      </p:sp>
      <p:sp>
        <p:nvSpPr>
          <p:cNvPr id="35" name="Text 29"/>
          <p:cNvSpPr txBox="1"/>
          <p:nvPr/>
        </p:nvSpPr>
        <p:spPr>
          <a:xfrm>
            <a:off x="438912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pic>
        <p:nvPicPr>
          <p:cNvPr id="36" name="Image 3" descr="m_L3-3w10/kb3e18c6225.png">    </p:cNvPr>
          <p:cNvPicPr>
            <a:picLocks noChangeAspect="1"/>
          </p:cNvPicPr>
          <p:nvPr/>
        </p:nvPicPr>
        <p:blipFill>
          <a:blip r:embed="rId4"/>
          <a:stretch>
            <a:fillRect/>
          </a:stretch>
        </p:blipFill>
        <p:spPr>
          <a:xfrm>
            <a:off x="4961352" y="2743200"/>
            <a:ext cx="2147377" cy="340523"/>
          </a:xfrm>
          <a:prstGeom prst="rect">
            <a:avLst/>
          </a:prstGeom>
        </p:spPr>
      </p:pic>
      <p:sp>
        <p:nvSpPr>
          <p:cNvPr id="37" name="Shape 30"/>
          <p:cNvSpPr/>
          <p:nvPr/>
        </p:nvSpPr>
        <p:spPr>
          <a:xfrm>
            <a:off x="7955280" y="1920240"/>
            <a:ext cx="3611880" cy="2286000"/>
          </a:xfrm>
          <a:prstGeom prst="roundRect">
            <a:avLst>
              <a:gd name="adj" fmla="val 4800"/>
            </a:avLst>
          </a:prstGeom>
          <a:solidFill>
            <a:srgbClr val="FFFFFF"/>
          </a:solidFill>
          <a:ln w="15875">
            <a:solidFill>
              <a:srgbClr val="E8762C"/>
            </a:solidFill>
            <a:prstDash val="solid"/>
          </a:ln>
          <a:effectLst>
            <a:outerShdw sx="100000" sy="100000" kx="0" ky="0" algn="bl" rotWithShape="0" blurRad="101600" dist="25400" dir="5400000">
              <a:srgbClr val="000000">
                <a:alpha val="15000"/>
              </a:srgbClr>
            </a:outerShdw>
          </a:effectLst>
        </p:spPr>
      </p:sp>
      <p:sp>
        <p:nvSpPr>
          <p:cNvPr id="38" name="Shape 31"/>
          <p:cNvSpPr/>
          <p:nvPr/>
        </p:nvSpPr>
        <p:spPr>
          <a:xfrm>
            <a:off x="8138160" y="2057400"/>
            <a:ext cx="502920" cy="502920"/>
          </a:xfrm>
          <a:prstGeom prst="ellipse">
            <a:avLst/>
          </a:prstGeom>
          <a:solidFill>
            <a:srgbClr val="E8762C"/>
          </a:solidFill>
          <a:ln w="12700">
            <a:solidFill>
              <a:srgbClr val="FFFFFF"/>
            </a:solidFill>
            <a:prstDash val="solid"/>
          </a:ln>
        </p:spPr>
      </p:sp>
      <p:sp>
        <p:nvSpPr>
          <p:cNvPr id="39" name="Text 32"/>
          <p:cNvSpPr txBox="1"/>
          <p:nvPr/>
        </p:nvSpPr>
        <p:spPr>
          <a:xfrm>
            <a:off x="813816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pic>
        <p:nvPicPr>
          <p:cNvPr id="40" name="Image 4" descr="m_L3-3w10/kb3c8d28276.png">    </p:cNvPr>
          <p:cNvPicPr>
            <a:picLocks noChangeAspect="1"/>
          </p:cNvPicPr>
          <p:nvPr/>
        </p:nvPicPr>
        <p:blipFill>
          <a:blip r:embed="rId5"/>
          <a:stretch>
            <a:fillRect/>
          </a:stretch>
        </p:blipFill>
        <p:spPr>
          <a:xfrm>
            <a:off x="8658271" y="2743200"/>
            <a:ext cx="2251619" cy="389169"/>
          </a:xfrm>
          <a:prstGeom prst="rect">
            <a:avLst/>
          </a:prstGeom>
        </p:spPr>
      </p:pic>
      <p:sp>
        <p:nvSpPr>
          <p:cNvPr id="41" name="Shape 33"/>
          <p:cNvSpPr/>
          <p:nvPr/>
        </p:nvSpPr>
        <p:spPr>
          <a:xfrm>
            <a:off x="457200" y="4480560"/>
            <a:ext cx="11247120" cy="1554480"/>
          </a:xfrm>
          <a:prstGeom prst="roundRect">
            <a:avLst>
              <a:gd name="adj" fmla="val 7059"/>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42" name="Text 34"/>
          <p:cNvSpPr txBox="1"/>
          <p:nvPr/>
        </p:nvSpPr>
        <p:spPr>
          <a:xfrm>
            <a:off x="777240" y="4617720"/>
            <a:ext cx="3657600" cy="320040"/>
          </a:xfrm>
          <a:prstGeom prst="rect">
            <a:avLst/>
          </a:prstGeom>
          <a:noFill/>
          <a:ln/>
        </p:spPr>
        <p:txBody>
          <a:bodyPr wrap="square" lIns="0" tIns="0" rIns="0" bIns="0" rtlCol="0" anchor="t"/>
          <a:lstStyle/>
          <a:p>
            <a:pPr indent="0" marL="0">
              <a:buNone/>
            </a:pPr>
            <a:r>
              <a:rPr lang="en-US" sz="1400" b="1" dirty="0">
                <a:solidFill>
                  <a:srgbClr val="F0B323"/>
                </a:solidFill>
                <a:latin typeface="Calibri" pitchFamily="34" charset="0"/>
                <a:ea typeface="Calibri" pitchFamily="34" charset="-122"/>
                <a:cs typeface="Calibri" pitchFamily="34" charset="-120"/>
              </a:rPr>
              <a:t>Pass mark</a:t>
            </a:r>
            <a:endParaRPr lang="en-US" sz="1400" dirty="0"/>
          </a:p>
        </p:txBody>
      </p:sp>
      <p:sp>
        <p:nvSpPr>
          <p:cNvPr id="43" name="Text 35"/>
          <p:cNvSpPr txBox="1"/>
          <p:nvPr/>
        </p:nvSpPr>
        <p:spPr>
          <a:xfrm>
            <a:off x="777240" y="4983480"/>
            <a:ext cx="10607040" cy="914400"/>
          </a:xfrm>
          <a:prstGeom prst="rect">
            <a:avLst/>
          </a:prstGeom>
          <a:noFill/>
          <a:ln/>
        </p:spPr>
        <p:txBody>
          <a:bodyPr wrap="square" lIns="0" tIns="0" rIns="0" bIns="0" rtlCol="0" anchor="t"/>
          <a:lstStyle/>
          <a:p>
            <a:pPr indent="0" marL="0">
              <a:buNone/>
            </a:pPr>
            <a:r>
              <a:rPr lang="en-US" sz="1800" dirty="0">
                <a:solidFill>
                  <a:srgbClr val="FFFFFF"/>
                </a:solidFill>
                <a:latin typeface="Calibri" pitchFamily="34" charset="0"/>
                <a:ea typeface="Calibri" pitchFamily="34" charset="-122"/>
                <a:cs typeface="Calibri" pitchFamily="34" charset="-120"/>
              </a:rPr>
              <a:t>3 of 3 correct unlocks Station 6. Fewer than that: return to the slide for the question you missed, redo it, then re-take the gate.</a:t>
            </a:r>
            <a:endParaRPr lang="en-US" sz="18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HSA.SSE.A.2 · HSA.APR.C.4 · (+)HSA.APR.C.5</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13</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42062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42062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329184" cy="0"/>
          </a:xfrm>
          <a:prstGeom prst="line">
            <a:avLst/>
          </a:prstGeom>
          <a:noFill/>
          <a:ln w="25400">
            <a:solidFill>
              <a:srgbClr val="17A199"/>
            </a:solidFill>
            <a:prstDash val="dash"/>
          </a:ln>
        </p:spPr>
      </p:sp>
      <p:sp>
        <p:nvSpPr>
          <p:cNvPr id="24" name="stn6"/>
          <p:cNvSpPr/>
          <p:nvPr/>
        </p:nvSpPr>
        <p:spPr>
          <a:xfrm>
            <a:off x="7498080" y="228600"/>
            <a:ext cx="457200" cy="457200"/>
          </a:xfrm>
          <a:prstGeom prst="ellipse">
            <a:avLst/>
          </a:prstGeom>
          <a:solidFill>
            <a:srgbClr val="E8762C"/>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6  ·  SMART PRODUCTION  ·  6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Smart Production: make one, then check it</a:t>
            </a:r>
            <a:endParaRPr lang="en-US" sz="3000" dirty="0"/>
          </a:p>
        </p:txBody>
      </p:sp>
      <p:sp>
        <p:nvSpPr>
          <p:cNvPr id="29" name="Shape 24"/>
          <p:cNvSpPr/>
          <p:nvPr/>
        </p:nvSpPr>
        <p:spPr>
          <a:xfrm>
            <a:off x="457200" y="1828800"/>
            <a:ext cx="5577840" cy="4434840"/>
          </a:xfrm>
          <a:prstGeom prst="roundRect">
            <a:avLst>
              <a:gd name="adj" fmla="val 2474"/>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0" name="Shape 25"/>
          <p:cNvSpPr/>
          <p:nvPr/>
        </p:nvSpPr>
        <p:spPr>
          <a:xfrm>
            <a:off x="731520" y="2011680"/>
            <a:ext cx="2377440" cy="457200"/>
          </a:xfrm>
          <a:prstGeom prst="roundRect">
            <a:avLst>
              <a:gd name="adj" fmla="val 50000"/>
            </a:avLst>
          </a:prstGeom>
          <a:solidFill>
            <a:srgbClr val="17A199"/>
          </a:solidFill>
          <a:ln w="12700">
            <a:solidFill>
              <a:srgbClr val="FFFFFF"/>
            </a:solidFill>
            <a:prstDash val="solid"/>
          </a:ln>
        </p:spPr>
      </p:sp>
      <p:sp>
        <p:nvSpPr>
          <p:cNvPr id="31" name="Text 26"/>
          <p:cNvSpPr txBox="1"/>
          <p:nvPr/>
        </p:nvSpPr>
        <p:spPr>
          <a:xfrm>
            <a:off x="731520" y="2011680"/>
            <a:ext cx="237744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CREATE</a:t>
            </a:r>
            <a:endParaRPr lang="en-US" sz="1600" dirty="0"/>
          </a:p>
        </p:txBody>
      </p:sp>
      <p:sp>
        <p:nvSpPr>
          <p:cNvPr id="32" name="Text 27"/>
          <p:cNvSpPr txBox="1"/>
          <p:nvPr/>
        </p:nvSpPr>
        <p:spPr>
          <a:xfrm>
            <a:off x="731520" y="2697480"/>
            <a:ext cx="5029200" cy="2468880"/>
          </a:xfrm>
          <a:prstGeom prst="rect">
            <a:avLst/>
          </a:prstGeom>
          <a:noFill/>
          <a:ln/>
        </p:spPr>
        <p:txBody>
          <a:bodyPr wrap="square" lIns="0" tIns="0" rIns="0" bIns="0" rtlCol="0" anchor="t"/>
          <a:lstStyle/>
          <a:p>
            <a:pPr marL="342900" indent="-342900">
              <a:spcAft>
                <a:spcPts val="800"/>
              </a:spcAft>
              <a:buSzPct val="100000"/>
              <a:buFont typeface="+mj-lt"/>
              <a:buAutoNum type="arabicPeriod" startAt="1"/>
            </a:pPr>
            <a:r>
              <a:rPr lang="en-US" sz="1500" dirty="0">
                <a:solidFill>
                  <a:srgbClr val="222E2D"/>
                </a:solidFill>
                <a:latin typeface="Calibri" pitchFamily="34" charset="0"/>
                <a:ea typeface="Calibri" pitchFamily="34" charset="-122"/>
                <a:cs typeface="Calibri" pitchFamily="34" charset="-120"/>
              </a:rPr>
              <a:t>Choose two numbers a and b. Write (a + b)² and (a − b)² and compute both with numbers.</a:t>
            </a:r>
            <a:endParaRPr lang="en-US" sz="1500" dirty="0"/>
          </a:p>
          <a:p>
            <a:pPr marL="342900" indent="-342900">
              <a:spcAft>
                <a:spcPts val="800"/>
              </a:spcAft>
              <a:buSzPct val="100000"/>
              <a:buFont typeface="+mj-lt"/>
              <a:buAutoNum type="arabicPeriod" startAt="1"/>
            </a:pPr>
            <a:r>
              <a:rPr lang="en-US" sz="1500" dirty="0">
                <a:solidFill>
                  <a:srgbClr val="222E2D"/>
                </a:solidFill>
                <a:latin typeface="Calibri" pitchFamily="34" charset="0"/>
                <a:ea typeface="Calibri" pitchFamily="34" charset="-122"/>
                <a:cs typeface="Calibri" pitchFamily="34" charset="-120"/>
              </a:rPr>
              <a:t>Prove (a + b)² − (a − b)² = 4ab and test it with your numbers.</a:t>
            </a:r>
            <a:endParaRPr lang="en-US" sz="1500" dirty="0"/>
          </a:p>
          <a:p>
            <a:pPr marL="342900" indent="-342900">
              <a:spcAft>
                <a:spcPts val="800"/>
              </a:spcAft>
              <a:buSzPct val="100000"/>
              <a:buFont typeface="+mj-lt"/>
              <a:buAutoNum type="arabicPeriod" startAt="1"/>
            </a:pPr>
            <a:r>
              <a:rPr lang="en-US" sz="1500" dirty="0">
                <a:solidFill>
                  <a:srgbClr val="222E2D"/>
                </a:solidFill>
                <a:latin typeface="Calibri" pitchFamily="34" charset="0"/>
                <a:ea typeface="Calibri" pitchFamily="34" charset="-122"/>
                <a:cs typeface="Calibri" pitchFamily="34" charset="-120"/>
              </a:rPr>
              <a:t>Swap with a partner and check their proof. Then add a What if...? question (change a power) and test your prediction.</a:t>
            </a:r>
            <a:endParaRPr lang="en-US" sz="1500" dirty="0"/>
          </a:p>
        </p:txBody>
      </p:sp>
      <p:sp>
        <p:nvSpPr>
          <p:cNvPr id="33" name="Text 28"/>
          <p:cNvSpPr txBox="1"/>
          <p:nvPr/>
        </p:nvSpPr>
        <p:spPr>
          <a:xfrm>
            <a:off x="731520" y="5212080"/>
            <a:ext cx="5029200" cy="914400"/>
          </a:xfrm>
          <a:prstGeom prst="rect">
            <a:avLst/>
          </a:prstGeom>
          <a:noFill/>
          <a:ln/>
        </p:spPr>
        <p:txBody>
          <a:bodyPr wrap="square" lIns="0" tIns="0" rIns="0" bIns="0" rtlCol="0" anchor="t"/>
          <a:lstStyle/>
          <a:p>
            <a:pPr indent="0" marL="0">
              <a:buNone/>
            </a:pPr>
            <a:r>
              <a:rPr lang="en-US" sz="1400" dirty="0">
                <a:solidFill>
                  <a:srgbClr val="3F4B49"/>
                </a:solidFill>
                <a:latin typeface="Calibri" pitchFamily="34" charset="0"/>
                <a:ea typeface="Calibri" pitchFamily="34" charset="-122"/>
                <a:cs typeface="Calibri" pitchFamily="34" charset="-120"/>
              </a:rPr>
              <a:t>Done when: your numbers and your algebra agree, your partner's proof has no missing term, and your What if...? question has a prediction and a test.</a:t>
            </a:r>
            <a:endParaRPr lang="en-US" sz="1400" dirty="0"/>
          </a:p>
        </p:txBody>
      </p:sp>
      <p:sp>
        <p:nvSpPr>
          <p:cNvPr id="34" name="Shape 29"/>
          <p:cNvSpPr/>
          <p:nvPr/>
        </p:nvSpPr>
        <p:spPr>
          <a:xfrm>
            <a:off x="6217920" y="1828800"/>
            <a:ext cx="5486400" cy="4434840"/>
          </a:xfrm>
          <a:prstGeom prst="roundRect">
            <a:avLst>
              <a:gd name="adj" fmla="val 2474"/>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5" name="Shape 30"/>
          <p:cNvSpPr/>
          <p:nvPr/>
        </p:nvSpPr>
        <p:spPr>
          <a:xfrm>
            <a:off x="6492240" y="2011680"/>
            <a:ext cx="2651760" cy="457200"/>
          </a:xfrm>
          <a:prstGeom prst="roundRect">
            <a:avLst>
              <a:gd name="adj" fmla="val 50000"/>
            </a:avLst>
          </a:prstGeom>
          <a:solidFill>
            <a:srgbClr val="F0B323"/>
          </a:solidFill>
          <a:ln w="12700">
            <a:solidFill>
              <a:srgbClr val="FFFFFF"/>
            </a:solidFill>
            <a:prstDash val="solid"/>
          </a:ln>
        </p:spPr>
      </p:sp>
      <p:sp>
        <p:nvSpPr>
          <p:cNvPr id="36" name="Text 31"/>
          <p:cNvSpPr txBox="1"/>
          <p:nvPr/>
        </p:nvSpPr>
        <p:spPr>
          <a:xfrm>
            <a:off x="6492240" y="2011680"/>
            <a:ext cx="2651760" cy="457200"/>
          </a:xfrm>
          <a:prstGeom prst="rect">
            <a:avLst/>
          </a:prstGeom>
          <a:noFill/>
          <a:ln/>
        </p:spPr>
        <p:txBody>
          <a:bodyPr wrap="square" lIns="0" tIns="0" rIns="0" bIns="0" rtlCol="0" anchor="ctr"/>
          <a:lstStyle/>
          <a:p>
            <a:pPr algn="ctr" indent="0" marL="0">
              <a:buNone/>
            </a:pPr>
            <a:r>
              <a:rPr lang="en-US" sz="1600" b="1" dirty="0">
                <a:solidFill>
                  <a:srgbClr val="222E2D"/>
                </a:solidFill>
                <a:latin typeface="Calibri" pitchFamily="34" charset="0"/>
                <a:ea typeface="Calibri" pitchFamily="34" charset="-122"/>
                <a:cs typeface="Calibri" pitchFamily="34" charset="-120"/>
              </a:rPr>
              <a:t>TIME TO CHECK</a:t>
            </a:r>
            <a:endParaRPr lang="en-US" sz="1600" dirty="0"/>
          </a:p>
        </p:txBody>
      </p:sp>
      <p:sp>
        <p:nvSpPr>
          <p:cNvPr id="37" name="Text 32"/>
          <p:cNvSpPr txBox="1"/>
          <p:nvPr/>
        </p:nvSpPr>
        <p:spPr>
          <a:xfrm>
            <a:off x="6492240" y="2697480"/>
            <a:ext cx="4937760" cy="82296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Exit ticket: write your answer on a sticky note and place it on the door.</a:t>
            </a:r>
            <a:endParaRPr lang="en-US" sz="1600" dirty="0"/>
          </a:p>
        </p:txBody>
      </p:sp>
      <p:sp>
        <p:nvSpPr>
          <p:cNvPr id="38" name="Shape 33"/>
          <p:cNvSpPr/>
          <p:nvPr/>
        </p:nvSpPr>
        <p:spPr>
          <a:xfrm>
            <a:off x="6492240" y="3611880"/>
            <a:ext cx="4937760" cy="1234440"/>
          </a:xfrm>
          <a:prstGeom prst="roundRect">
            <a:avLst>
              <a:gd name="adj" fmla="val 7407"/>
            </a:avLst>
          </a:prstGeom>
          <a:solidFill>
            <a:srgbClr val="FFFFFF"/>
          </a:solidFill>
          <a:ln w="12700">
            <a:solidFill>
              <a:srgbClr val="FFFFFF"/>
            </a:solidFill>
            <a:prstDash val="solid"/>
          </a:ln>
        </p:spPr>
      </p:sp>
      <p:pic>
        <p:nvPicPr>
          <p:cNvPr id="39" name="Image 2" descr="m_L3-3w10/kecaa6bd73d.png">    </p:cNvPr>
          <p:cNvPicPr>
            <a:picLocks noChangeAspect="1"/>
          </p:cNvPicPr>
          <p:nvPr/>
        </p:nvPicPr>
        <p:blipFill>
          <a:blip r:embed="rId3"/>
          <a:stretch>
            <a:fillRect/>
          </a:stretch>
        </p:blipFill>
        <p:spPr>
          <a:xfrm>
            <a:off x="8013070" y="3703320"/>
            <a:ext cx="1896100" cy="327721"/>
          </a:xfrm>
          <a:prstGeom prst="rect">
            <a:avLst/>
          </a:prstGeom>
        </p:spPr>
      </p:pic>
      <p:pic>
        <p:nvPicPr>
          <p:cNvPr id="40" name="Image 3" descr="m_L3-3w10/ka486c004d6.png">    </p:cNvPr>
          <p:cNvPicPr>
            <a:picLocks noChangeAspect="1"/>
          </p:cNvPicPr>
          <p:nvPr/>
        </p:nvPicPr>
        <p:blipFill>
          <a:blip r:embed="rId4"/>
          <a:stretch>
            <a:fillRect/>
          </a:stretch>
        </p:blipFill>
        <p:spPr>
          <a:xfrm>
            <a:off x="7784836" y="4122481"/>
            <a:ext cx="2352568" cy="286756"/>
          </a:xfrm>
          <a:prstGeom prst="rect">
            <a:avLst/>
          </a:prstGeom>
        </p:spPr>
      </p:pic>
      <p:sp>
        <p:nvSpPr>
          <p:cNvPr id="41" name="Text 34"/>
          <p:cNvSpPr txBox="1"/>
          <p:nvPr/>
        </p:nvSpPr>
        <p:spPr>
          <a:xfrm>
            <a:off x="6492240" y="5074920"/>
            <a:ext cx="4937760" cy="822960"/>
          </a:xfrm>
          <a:prstGeom prst="rect">
            <a:avLst/>
          </a:prstGeom>
          <a:noFill/>
          <a:ln/>
        </p:spPr>
        <p:txBody>
          <a:bodyPr wrap="square" lIns="0" tIns="0" rIns="0" bIns="0" rtlCol="0" anchor="t"/>
          <a:lstStyle/>
          <a:p>
            <a:pPr indent="0" marL="0">
              <a:buNone/>
            </a:pPr>
            <a:r>
              <a:rPr lang="en-US" sz="1500" dirty="0">
                <a:solidFill>
                  <a:srgbClr val="BFD8D5"/>
                </a:solidFill>
                <a:latin typeface="Calibri" pitchFamily="34" charset="0"/>
                <a:ea typeface="Calibri" pitchFamily="34" charset="-122"/>
                <a:cs typeface="Calibri" pitchFamily="34" charset="-120"/>
              </a:rPr>
              <a:t>Next lesson: 3-4 Dividing Polynomials.</a:t>
            </a:r>
            <a:endParaRPr lang="en-US" sz="15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HSA.SSE.A.2 · HSA.APR.C.4 · (+)HSA.APR.C.5</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14</a:t>
            </a:r>
            <a:endParaRPr lang="en-US" sz="1000" dirty="0"/>
          </a:p>
        </p:txBody>
      </p:sp>
      <p:sp>
        <p:nvSpPr>
          <p:cNvPr id="9" name="Text 5"/>
          <p:cNvSpPr txBox="1"/>
          <p:nvPr/>
        </p:nvSpPr>
        <p:spPr>
          <a:xfrm>
            <a:off x="457200" y="822960"/>
            <a:ext cx="11247120" cy="45720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Exam connections</a:t>
            </a:r>
            <a:endParaRPr lang="en-US" sz="3000" dirty="0"/>
          </a:p>
        </p:txBody>
      </p:sp>
      <p:sp>
        <p:nvSpPr>
          <p:cNvPr id="11" name="Shape 6"/>
          <p:cNvSpPr/>
          <p:nvPr/>
        </p:nvSpPr>
        <p:spPr>
          <a:xfrm>
            <a:off x="457200" y="1280160"/>
            <a:ext cx="3611880" cy="548640"/>
          </a:xfrm>
          <a:prstGeom prst="roundRect">
            <a:avLst>
              <a:gd name="adj" fmla="val 20000"/>
            </a:avLst>
          </a:prstGeom>
          <a:solidFill>
            <a:srgbClr val="17A199"/>
          </a:solidFill>
          <a:ln w="12700">
            <a:solidFill>
              <a:srgbClr val="FFFFFF"/>
            </a:solidFill>
            <a:prstDash val="solid"/>
          </a:ln>
        </p:spPr>
      </p:sp>
      <p:sp>
        <p:nvSpPr>
          <p:cNvPr id="12" name="Text 7"/>
          <p:cNvSpPr txBox="1"/>
          <p:nvPr/>
        </p:nvSpPr>
        <p:spPr>
          <a:xfrm>
            <a:off x="685800" y="1280160"/>
            <a:ext cx="3108960" cy="54864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SAT</a:t>
            </a:r>
            <a:endParaRPr lang="en-US" sz="2000" dirty="0"/>
          </a:p>
        </p:txBody>
      </p:sp>
      <p:sp>
        <p:nvSpPr>
          <p:cNvPr id="13" name="Shape 8"/>
          <p:cNvSpPr/>
          <p:nvPr/>
        </p:nvSpPr>
        <p:spPr>
          <a:xfrm>
            <a:off x="457200" y="1920240"/>
            <a:ext cx="3611880" cy="4389120"/>
          </a:xfrm>
          <a:prstGeom prst="roundRect">
            <a:avLst>
              <a:gd name="adj" fmla="val 303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14" name="Image 2" descr="m_L3-3w10/kf5417c360d.png">    </p:cNvPr>
          <p:cNvPicPr>
            <a:picLocks noChangeAspect="1"/>
          </p:cNvPicPr>
          <p:nvPr/>
        </p:nvPicPr>
        <p:blipFill>
          <a:blip r:embed="rId3"/>
          <a:stretch>
            <a:fillRect/>
          </a:stretch>
        </p:blipFill>
        <p:spPr>
          <a:xfrm>
            <a:off x="594360" y="2148840"/>
            <a:ext cx="3337560" cy="303661"/>
          </a:xfrm>
          <a:prstGeom prst="rect">
            <a:avLst/>
          </a:prstGeom>
        </p:spPr>
      </p:pic>
      <p:pic>
        <p:nvPicPr>
          <p:cNvPr id="15" name="Image 3" descr="m_L3-3w10/k8c06bacec3.png">    </p:cNvPr>
          <p:cNvPicPr>
            <a:picLocks noChangeAspect="1"/>
          </p:cNvPicPr>
          <p:nvPr/>
        </p:nvPicPr>
        <p:blipFill>
          <a:blip r:embed="rId4"/>
          <a:stretch>
            <a:fillRect/>
          </a:stretch>
        </p:blipFill>
        <p:spPr>
          <a:xfrm>
            <a:off x="1061618" y="2543941"/>
            <a:ext cx="2403043" cy="260604"/>
          </a:xfrm>
          <a:prstGeom prst="rect">
            <a:avLst/>
          </a:prstGeom>
        </p:spPr>
      </p:pic>
      <p:sp>
        <p:nvSpPr>
          <p:cNvPr id="16" name="Text 9"/>
          <p:cNvSpPr txBox="1"/>
          <p:nvPr/>
        </p:nvSpPr>
        <p:spPr>
          <a:xfrm>
            <a:off x="685800" y="3246120"/>
            <a:ext cx="18288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STEPS</a:t>
            </a:r>
            <a:endParaRPr lang="en-US" sz="1100" dirty="0"/>
          </a:p>
        </p:txBody>
      </p:sp>
      <p:sp>
        <p:nvSpPr>
          <p:cNvPr id="17" name="Text 10"/>
          <p:cNvSpPr txBox="1"/>
          <p:nvPr/>
        </p:nvSpPr>
        <p:spPr>
          <a:xfrm>
            <a:off x="685800" y="3566160"/>
            <a:ext cx="365760" cy="365760"/>
          </a:xfrm>
          <a:prstGeom prst="rect">
            <a:avLst/>
          </a:prstGeom>
          <a:noFill/>
          <a:ln/>
        </p:spPr>
        <p:txBody>
          <a:bodyPr wrap="square" lIns="0" tIns="0" rIns="0" bIns="0" rtlCol="0" anchor="t"/>
          <a:lstStyle/>
          <a:p>
            <a:pPr indent="0" marL="0">
              <a:buNone/>
            </a:pPr>
            <a:r>
              <a:rPr lang="en-US" sz="1600" b="1" dirty="0">
                <a:solidFill>
                  <a:srgbClr val="17A199"/>
                </a:solidFill>
                <a:latin typeface="Calibri" pitchFamily="34" charset="0"/>
                <a:ea typeface="Calibri" pitchFamily="34" charset="-122"/>
                <a:cs typeface="Calibri" pitchFamily="34" charset="-120"/>
              </a:rPr>
              <a:t>1</a:t>
            </a:r>
            <a:endParaRPr lang="en-US" sz="1600" dirty="0"/>
          </a:p>
        </p:txBody>
      </p:sp>
      <p:pic>
        <p:nvPicPr>
          <p:cNvPr id="18" name="Image 4" descr="m_L3-3w10/ke21d0fc8bc.png">    </p:cNvPr>
          <p:cNvPicPr>
            <a:picLocks noChangeAspect="1"/>
          </p:cNvPicPr>
          <p:nvPr/>
        </p:nvPicPr>
        <p:blipFill>
          <a:blip r:embed="rId5"/>
          <a:stretch>
            <a:fillRect/>
          </a:stretch>
        </p:blipFill>
        <p:spPr>
          <a:xfrm>
            <a:off x="1097280" y="3566160"/>
            <a:ext cx="2036552" cy="313091"/>
          </a:xfrm>
          <a:prstGeom prst="rect">
            <a:avLst/>
          </a:prstGeom>
        </p:spPr>
      </p:pic>
      <p:sp>
        <p:nvSpPr>
          <p:cNvPr id="19" name="Text 11"/>
          <p:cNvSpPr txBox="1"/>
          <p:nvPr/>
        </p:nvSpPr>
        <p:spPr>
          <a:xfrm>
            <a:off x="685800" y="4419600"/>
            <a:ext cx="365760" cy="365760"/>
          </a:xfrm>
          <a:prstGeom prst="rect">
            <a:avLst/>
          </a:prstGeom>
          <a:noFill/>
          <a:ln/>
        </p:spPr>
        <p:txBody>
          <a:bodyPr wrap="square" lIns="0" tIns="0" rIns="0" bIns="0" rtlCol="0" anchor="t"/>
          <a:lstStyle/>
          <a:p>
            <a:pPr indent="0" marL="0">
              <a:buNone/>
            </a:pPr>
            <a:r>
              <a:rPr lang="en-US" sz="1600" b="1" dirty="0">
                <a:solidFill>
                  <a:srgbClr val="17A199"/>
                </a:solidFill>
                <a:latin typeface="Calibri" pitchFamily="34" charset="0"/>
                <a:ea typeface="Calibri" pitchFamily="34" charset="-122"/>
                <a:cs typeface="Calibri" pitchFamily="34" charset="-120"/>
              </a:rPr>
              <a:t>2</a:t>
            </a:r>
            <a:endParaRPr lang="en-US" sz="1600" dirty="0"/>
          </a:p>
        </p:txBody>
      </p:sp>
      <p:pic>
        <p:nvPicPr>
          <p:cNvPr id="20" name="Image 5" descr="m_L3-3w10/k7e13521d5e.png">    </p:cNvPr>
          <p:cNvPicPr>
            <a:picLocks noChangeAspect="1"/>
          </p:cNvPicPr>
          <p:nvPr/>
        </p:nvPicPr>
        <p:blipFill>
          <a:blip r:embed="rId6"/>
          <a:stretch>
            <a:fillRect/>
          </a:stretch>
        </p:blipFill>
        <p:spPr>
          <a:xfrm>
            <a:off x="1097280" y="4419600"/>
            <a:ext cx="1530340" cy="266273"/>
          </a:xfrm>
          <a:prstGeom prst="rect">
            <a:avLst/>
          </a:prstGeom>
        </p:spPr>
      </p:pic>
      <p:sp>
        <p:nvSpPr>
          <p:cNvPr id="21" name="Text 12"/>
          <p:cNvSpPr txBox="1"/>
          <p:nvPr/>
        </p:nvSpPr>
        <p:spPr>
          <a:xfrm>
            <a:off x="685800" y="5273040"/>
            <a:ext cx="365760" cy="365760"/>
          </a:xfrm>
          <a:prstGeom prst="rect">
            <a:avLst/>
          </a:prstGeom>
          <a:noFill/>
          <a:ln/>
        </p:spPr>
        <p:txBody>
          <a:bodyPr wrap="square" lIns="0" tIns="0" rIns="0" bIns="0" rtlCol="0" anchor="t"/>
          <a:lstStyle/>
          <a:p>
            <a:pPr indent="0" marL="0">
              <a:buNone/>
            </a:pPr>
            <a:r>
              <a:rPr lang="en-US" sz="1600" b="1" dirty="0">
                <a:solidFill>
                  <a:srgbClr val="17A199"/>
                </a:solidFill>
                <a:latin typeface="Calibri" pitchFamily="34" charset="0"/>
                <a:ea typeface="Calibri" pitchFamily="34" charset="-122"/>
                <a:cs typeface="Calibri" pitchFamily="34" charset="-120"/>
              </a:rPr>
              <a:t>3</a:t>
            </a:r>
            <a:endParaRPr lang="en-US" sz="1600" dirty="0"/>
          </a:p>
        </p:txBody>
      </p:sp>
      <p:pic>
        <p:nvPicPr>
          <p:cNvPr id="22" name="Image 6" descr="m_L3-3w10/k690b2ce109.png">    </p:cNvPr>
          <p:cNvPicPr>
            <a:picLocks noChangeAspect="1"/>
          </p:cNvPicPr>
          <p:nvPr/>
        </p:nvPicPr>
        <p:blipFill>
          <a:blip r:embed="rId7"/>
          <a:stretch>
            <a:fillRect/>
          </a:stretch>
        </p:blipFill>
        <p:spPr>
          <a:xfrm>
            <a:off x="1097280" y="5273040"/>
            <a:ext cx="880750" cy="266273"/>
          </a:xfrm>
          <a:prstGeom prst="rect">
            <a:avLst/>
          </a:prstGeom>
        </p:spPr>
      </p:pic>
      <p:sp>
        <p:nvSpPr>
          <p:cNvPr id="23" name="Shape 13"/>
          <p:cNvSpPr/>
          <p:nvPr/>
        </p:nvSpPr>
        <p:spPr>
          <a:xfrm>
            <a:off x="4251960" y="1280160"/>
            <a:ext cx="3611880" cy="548640"/>
          </a:xfrm>
          <a:prstGeom prst="roundRect">
            <a:avLst>
              <a:gd name="adj" fmla="val 20000"/>
            </a:avLst>
          </a:prstGeom>
          <a:solidFill>
            <a:srgbClr val="E8762C"/>
          </a:solidFill>
          <a:ln w="12700">
            <a:solidFill>
              <a:srgbClr val="FFFFFF"/>
            </a:solidFill>
            <a:prstDash val="solid"/>
          </a:ln>
        </p:spPr>
      </p:sp>
      <p:sp>
        <p:nvSpPr>
          <p:cNvPr id="24" name="Text 14"/>
          <p:cNvSpPr txBox="1"/>
          <p:nvPr/>
        </p:nvSpPr>
        <p:spPr>
          <a:xfrm>
            <a:off x="4480560" y="1280160"/>
            <a:ext cx="3108960" cy="54864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GAT</a:t>
            </a:r>
            <a:endParaRPr lang="en-US" sz="2000" dirty="0"/>
          </a:p>
        </p:txBody>
      </p:sp>
      <p:sp>
        <p:nvSpPr>
          <p:cNvPr id="25" name="Shape 15"/>
          <p:cNvSpPr/>
          <p:nvPr/>
        </p:nvSpPr>
        <p:spPr>
          <a:xfrm>
            <a:off x="4251960" y="1920240"/>
            <a:ext cx="3611880" cy="4389120"/>
          </a:xfrm>
          <a:prstGeom prst="roundRect">
            <a:avLst>
              <a:gd name="adj" fmla="val 303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26" name="Image 7" descr="m_L3-3w10/k68a07b1275.png">    </p:cNvPr>
          <p:cNvPicPr>
            <a:picLocks noChangeAspect="1"/>
          </p:cNvPicPr>
          <p:nvPr/>
        </p:nvPicPr>
        <p:blipFill>
          <a:blip r:embed="rId8"/>
          <a:stretch>
            <a:fillRect/>
          </a:stretch>
        </p:blipFill>
        <p:spPr>
          <a:xfrm>
            <a:off x="4724705" y="2148840"/>
            <a:ext cx="2666390" cy="260604"/>
          </a:xfrm>
          <a:prstGeom prst="rect">
            <a:avLst/>
          </a:prstGeom>
        </p:spPr>
      </p:pic>
      <p:pic>
        <p:nvPicPr>
          <p:cNvPr id="27" name="Image 8" descr="m_L3-3w10/k30bc052e35.png">    </p:cNvPr>
          <p:cNvPicPr>
            <a:picLocks noChangeAspect="1"/>
          </p:cNvPicPr>
          <p:nvPr/>
        </p:nvPicPr>
        <p:blipFill>
          <a:blip r:embed="rId9"/>
          <a:stretch>
            <a:fillRect/>
          </a:stretch>
        </p:blipFill>
        <p:spPr>
          <a:xfrm>
            <a:off x="5329580" y="2500884"/>
            <a:ext cx="1456639" cy="608990"/>
          </a:xfrm>
          <a:prstGeom prst="rect">
            <a:avLst/>
          </a:prstGeom>
        </p:spPr>
      </p:pic>
      <p:sp>
        <p:nvSpPr>
          <p:cNvPr id="28" name="Text 16"/>
          <p:cNvSpPr txBox="1"/>
          <p:nvPr/>
        </p:nvSpPr>
        <p:spPr>
          <a:xfrm>
            <a:off x="4480560" y="3292754"/>
            <a:ext cx="18288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STEPS</a:t>
            </a:r>
            <a:endParaRPr lang="en-US" sz="1100" dirty="0"/>
          </a:p>
        </p:txBody>
      </p:sp>
      <p:sp>
        <p:nvSpPr>
          <p:cNvPr id="29" name="Text 17"/>
          <p:cNvSpPr txBox="1"/>
          <p:nvPr/>
        </p:nvSpPr>
        <p:spPr>
          <a:xfrm>
            <a:off x="4480560" y="3567074"/>
            <a:ext cx="365760" cy="365760"/>
          </a:xfrm>
          <a:prstGeom prst="rect">
            <a:avLst/>
          </a:prstGeom>
          <a:noFill/>
          <a:ln/>
        </p:spPr>
        <p:txBody>
          <a:bodyPr wrap="square" lIns="0" tIns="0" rIns="0" bIns="0" rtlCol="0" anchor="t"/>
          <a:lstStyle/>
          <a:p>
            <a:pPr indent="0" marL="0">
              <a:buNone/>
            </a:pPr>
            <a:r>
              <a:rPr lang="en-US" sz="1600" b="1" dirty="0">
                <a:solidFill>
                  <a:srgbClr val="E8762C"/>
                </a:solidFill>
                <a:latin typeface="Calibri" pitchFamily="34" charset="0"/>
                <a:ea typeface="Calibri" pitchFamily="34" charset="-122"/>
                <a:cs typeface="Calibri" pitchFamily="34" charset="-120"/>
              </a:rPr>
              <a:t>1</a:t>
            </a:r>
            <a:endParaRPr lang="en-US" sz="1600" dirty="0"/>
          </a:p>
        </p:txBody>
      </p:sp>
      <p:pic>
        <p:nvPicPr>
          <p:cNvPr id="30" name="Image 9" descr="m_L3-3w10/kffca88cdfe.png">    </p:cNvPr>
          <p:cNvPicPr>
            <a:picLocks noChangeAspect="1"/>
          </p:cNvPicPr>
          <p:nvPr/>
        </p:nvPicPr>
        <p:blipFill>
          <a:blip r:embed="rId10"/>
          <a:stretch>
            <a:fillRect/>
          </a:stretch>
        </p:blipFill>
        <p:spPr>
          <a:xfrm>
            <a:off x="4892040" y="3567074"/>
            <a:ext cx="1972178" cy="304312"/>
          </a:xfrm>
          <a:prstGeom prst="rect">
            <a:avLst/>
          </a:prstGeom>
        </p:spPr>
      </p:pic>
      <p:sp>
        <p:nvSpPr>
          <p:cNvPr id="31" name="Text 18"/>
          <p:cNvSpPr txBox="1"/>
          <p:nvPr/>
        </p:nvSpPr>
        <p:spPr>
          <a:xfrm>
            <a:off x="4480560" y="4420210"/>
            <a:ext cx="365760" cy="365760"/>
          </a:xfrm>
          <a:prstGeom prst="rect">
            <a:avLst/>
          </a:prstGeom>
          <a:noFill/>
          <a:ln/>
        </p:spPr>
        <p:txBody>
          <a:bodyPr wrap="square" lIns="0" tIns="0" rIns="0" bIns="0" rtlCol="0" anchor="t"/>
          <a:lstStyle/>
          <a:p>
            <a:pPr indent="0" marL="0">
              <a:buNone/>
            </a:pPr>
            <a:r>
              <a:rPr lang="en-US" sz="1600" b="1" dirty="0">
                <a:solidFill>
                  <a:srgbClr val="E8762C"/>
                </a:solidFill>
                <a:latin typeface="Calibri" pitchFamily="34" charset="0"/>
                <a:ea typeface="Calibri" pitchFamily="34" charset="-122"/>
                <a:cs typeface="Calibri" pitchFamily="34" charset="-120"/>
              </a:rPr>
              <a:t>2</a:t>
            </a:r>
            <a:endParaRPr lang="en-US" sz="1600" dirty="0"/>
          </a:p>
        </p:txBody>
      </p:sp>
      <p:pic>
        <p:nvPicPr>
          <p:cNvPr id="32" name="Image 10" descr="m_L3-3w10/k7db86a19bb.png">    </p:cNvPr>
          <p:cNvPicPr>
            <a:picLocks noChangeAspect="1"/>
          </p:cNvPicPr>
          <p:nvPr/>
        </p:nvPicPr>
        <p:blipFill>
          <a:blip r:embed="rId11"/>
          <a:stretch>
            <a:fillRect/>
          </a:stretch>
        </p:blipFill>
        <p:spPr>
          <a:xfrm>
            <a:off x="4892040" y="4420210"/>
            <a:ext cx="1749796" cy="239939"/>
          </a:xfrm>
          <a:prstGeom prst="rect">
            <a:avLst/>
          </a:prstGeom>
        </p:spPr>
      </p:pic>
      <p:sp>
        <p:nvSpPr>
          <p:cNvPr id="33" name="Text 19"/>
          <p:cNvSpPr txBox="1"/>
          <p:nvPr/>
        </p:nvSpPr>
        <p:spPr>
          <a:xfrm>
            <a:off x="4480560" y="5273345"/>
            <a:ext cx="365760" cy="365760"/>
          </a:xfrm>
          <a:prstGeom prst="rect">
            <a:avLst/>
          </a:prstGeom>
          <a:noFill/>
          <a:ln/>
        </p:spPr>
        <p:txBody>
          <a:bodyPr wrap="square" lIns="0" tIns="0" rIns="0" bIns="0" rtlCol="0" anchor="t"/>
          <a:lstStyle/>
          <a:p>
            <a:pPr indent="0" marL="0">
              <a:buNone/>
            </a:pPr>
            <a:r>
              <a:rPr lang="en-US" sz="1600" b="1" dirty="0">
                <a:solidFill>
                  <a:srgbClr val="E8762C"/>
                </a:solidFill>
                <a:latin typeface="Calibri" pitchFamily="34" charset="0"/>
                <a:ea typeface="Calibri" pitchFamily="34" charset="-122"/>
                <a:cs typeface="Calibri" pitchFamily="34" charset="-120"/>
              </a:rPr>
              <a:t>3</a:t>
            </a:r>
            <a:endParaRPr lang="en-US" sz="1600" dirty="0"/>
          </a:p>
        </p:txBody>
      </p:sp>
      <p:pic>
        <p:nvPicPr>
          <p:cNvPr id="34" name="Image 11" descr="m_L3-3w10/ke8bf1514f3.png">    </p:cNvPr>
          <p:cNvPicPr>
            <a:picLocks noChangeAspect="1"/>
          </p:cNvPicPr>
          <p:nvPr/>
        </p:nvPicPr>
        <p:blipFill>
          <a:blip r:embed="rId12"/>
          <a:stretch>
            <a:fillRect/>
          </a:stretch>
        </p:blipFill>
        <p:spPr>
          <a:xfrm>
            <a:off x="4892040" y="5273345"/>
            <a:ext cx="2834640" cy="265659"/>
          </a:xfrm>
          <a:prstGeom prst="rect">
            <a:avLst/>
          </a:prstGeom>
        </p:spPr>
      </p:pic>
      <p:sp>
        <p:nvSpPr>
          <p:cNvPr id="35" name="Shape 20"/>
          <p:cNvSpPr/>
          <p:nvPr/>
        </p:nvSpPr>
        <p:spPr>
          <a:xfrm>
            <a:off x="8046720" y="1280160"/>
            <a:ext cx="3611880" cy="548640"/>
          </a:xfrm>
          <a:prstGeom prst="roundRect">
            <a:avLst>
              <a:gd name="adj" fmla="val 20000"/>
            </a:avLst>
          </a:prstGeom>
          <a:solidFill>
            <a:srgbClr val="1F3864"/>
          </a:solidFill>
          <a:ln w="12700">
            <a:solidFill>
              <a:srgbClr val="FFFFFF"/>
            </a:solidFill>
            <a:prstDash val="solid"/>
          </a:ln>
        </p:spPr>
      </p:sp>
      <p:sp>
        <p:nvSpPr>
          <p:cNvPr id="36" name="Text 21"/>
          <p:cNvSpPr txBox="1"/>
          <p:nvPr/>
        </p:nvSpPr>
        <p:spPr>
          <a:xfrm>
            <a:off x="8275320" y="1280160"/>
            <a:ext cx="3108960" cy="54864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SAAT</a:t>
            </a:r>
            <a:endParaRPr lang="en-US" sz="2000" dirty="0"/>
          </a:p>
        </p:txBody>
      </p:sp>
      <p:sp>
        <p:nvSpPr>
          <p:cNvPr id="37" name="Shape 22"/>
          <p:cNvSpPr/>
          <p:nvPr/>
        </p:nvSpPr>
        <p:spPr>
          <a:xfrm>
            <a:off x="8046720" y="1920240"/>
            <a:ext cx="3611880" cy="4389120"/>
          </a:xfrm>
          <a:prstGeom prst="roundRect">
            <a:avLst>
              <a:gd name="adj" fmla="val 303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8" name="Image 12" descr="m_L3-3w10/kb233cc5e08.png">    </p:cNvPr>
          <p:cNvPicPr>
            <a:picLocks noChangeAspect="1"/>
          </p:cNvPicPr>
          <p:nvPr/>
        </p:nvPicPr>
        <p:blipFill>
          <a:blip r:embed="rId13"/>
          <a:stretch>
            <a:fillRect/>
          </a:stretch>
        </p:blipFill>
        <p:spPr>
          <a:xfrm>
            <a:off x="8459114" y="2148840"/>
            <a:ext cx="2787091" cy="293522"/>
          </a:xfrm>
          <a:prstGeom prst="rect">
            <a:avLst/>
          </a:prstGeom>
        </p:spPr>
      </p:pic>
      <p:pic>
        <p:nvPicPr>
          <p:cNvPr id="39" name="Image 13" descr="m_L3-3w10/kc02769ed8c.png">    </p:cNvPr>
          <p:cNvPicPr>
            <a:picLocks noChangeAspect="1"/>
          </p:cNvPicPr>
          <p:nvPr/>
        </p:nvPicPr>
        <p:blipFill>
          <a:blip r:embed="rId14"/>
          <a:stretch>
            <a:fillRect/>
          </a:stretch>
        </p:blipFill>
        <p:spPr>
          <a:xfrm>
            <a:off x="9065362" y="2533802"/>
            <a:ext cx="1574597" cy="260604"/>
          </a:xfrm>
          <a:prstGeom prst="rect">
            <a:avLst/>
          </a:prstGeom>
        </p:spPr>
      </p:pic>
      <p:sp>
        <p:nvSpPr>
          <p:cNvPr id="40" name="Text 23"/>
          <p:cNvSpPr txBox="1"/>
          <p:nvPr/>
        </p:nvSpPr>
        <p:spPr>
          <a:xfrm>
            <a:off x="8275320" y="3246120"/>
            <a:ext cx="18288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STEPS</a:t>
            </a:r>
            <a:endParaRPr lang="en-US" sz="1100" dirty="0"/>
          </a:p>
        </p:txBody>
      </p:sp>
      <p:sp>
        <p:nvSpPr>
          <p:cNvPr id="41" name="Text 24"/>
          <p:cNvSpPr txBox="1"/>
          <p:nvPr/>
        </p:nvSpPr>
        <p:spPr>
          <a:xfrm>
            <a:off x="8275320" y="3566160"/>
            <a:ext cx="365760" cy="365760"/>
          </a:xfrm>
          <a:prstGeom prst="rect">
            <a:avLst/>
          </a:prstGeom>
          <a:noFill/>
          <a:ln/>
        </p:spPr>
        <p:txBody>
          <a:bodyPr wrap="square" lIns="0" tIns="0" rIns="0" bIns="0" rtlCol="0" anchor="t"/>
          <a:lstStyle/>
          <a:p>
            <a:pPr indent="0" marL="0">
              <a:buNone/>
            </a:pPr>
            <a:r>
              <a:rPr lang="en-US" sz="1600" b="1" dirty="0">
                <a:solidFill>
                  <a:srgbClr val="1F3864"/>
                </a:solidFill>
                <a:latin typeface="Calibri" pitchFamily="34" charset="0"/>
                <a:ea typeface="Calibri" pitchFamily="34" charset="-122"/>
                <a:cs typeface="Calibri" pitchFamily="34" charset="-120"/>
              </a:rPr>
              <a:t>1</a:t>
            </a:r>
            <a:endParaRPr lang="en-US" sz="1600" dirty="0"/>
          </a:p>
        </p:txBody>
      </p:sp>
      <p:pic>
        <p:nvPicPr>
          <p:cNvPr id="42" name="Image 14" descr="m_L3-3w10/k1dfe04290d.png">    </p:cNvPr>
          <p:cNvPicPr>
            <a:picLocks noChangeAspect="1"/>
          </p:cNvPicPr>
          <p:nvPr/>
        </p:nvPicPr>
        <p:blipFill>
          <a:blip r:embed="rId15"/>
          <a:stretch>
            <a:fillRect/>
          </a:stretch>
        </p:blipFill>
        <p:spPr>
          <a:xfrm>
            <a:off x="8686800" y="3566160"/>
            <a:ext cx="2100925" cy="304312"/>
          </a:xfrm>
          <a:prstGeom prst="rect">
            <a:avLst/>
          </a:prstGeom>
        </p:spPr>
      </p:pic>
      <p:sp>
        <p:nvSpPr>
          <p:cNvPr id="43" name="Text 25"/>
          <p:cNvSpPr txBox="1"/>
          <p:nvPr/>
        </p:nvSpPr>
        <p:spPr>
          <a:xfrm>
            <a:off x="8275320" y="4419600"/>
            <a:ext cx="365760" cy="365760"/>
          </a:xfrm>
          <a:prstGeom prst="rect">
            <a:avLst/>
          </a:prstGeom>
          <a:noFill/>
          <a:ln/>
        </p:spPr>
        <p:txBody>
          <a:bodyPr wrap="square" lIns="0" tIns="0" rIns="0" bIns="0" rtlCol="0" anchor="t"/>
          <a:lstStyle/>
          <a:p>
            <a:pPr indent="0" marL="0">
              <a:buNone/>
            </a:pPr>
            <a:r>
              <a:rPr lang="en-US" sz="1600" b="1" dirty="0">
                <a:solidFill>
                  <a:srgbClr val="1F3864"/>
                </a:solidFill>
                <a:latin typeface="Calibri" pitchFamily="34" charset="0"/>
                <a:ea typeface="Calibri" pitchFamily="34" charset="-122"/>
                <a:cs typeface="Calibri" pitchFamily="34" charset="-120"/>
              </a:rPr>
              <a:t>2</a:t>
            </a:r>
            <a:endParaRPr lang="en-US" sz="1600" dirty="0"/>
          </a:p>
        </p:txBody>
      </p:sp>
      <p:pic>
        <p:nvPicPr>
          <p:cNvPr id="44" name="Image 15" descr="m_L3-3w10/kfd21e4a12c.png">    </p:cNvPr>
          <p:cNvPicPr>
            <a:picLocks noChangeAspect="1"/>
          </p:cNvPicPr>
          <p:nvPr/>
        </p:nvPicPr>
        <p:blipFill>
          <a:blip r:embed="rId16"/>
          <a:stretch>
            <a:fillRect/>
          </a:stretch>
        </p:blipFill>
        <p:spPr>
          <a:xfrm>
            <a:off x="8686800" y="4419600"/>
            <a:ext cx="1477670" cy="304312"/>
          </a:xfrm>
          <a:prstGeom prst="rect">
            <a:avLst/>
          </a:prstGeom>
        </p:spPr>
      </p:pic>
      <p:sp>
        <p:nvSpPr>
          <p:cNvPr id="45" name="Text 26"/>
          <p:cNvSpPr txBox="1"/>
          <p:nvPr/>
        </p:nvSpPr>
        <p:spPr>
          <a:xfrm>
            <a:off x="8275320" y="5273040"/>
            <a:ext cx="365760" cy="365760"/>
          </a:xfrm>
          <a:prstGeom prst="rect">
            <a:avLst/>
          </a:prstGeom>
          <a:noFill/>
          <a:ln/>
        </p:spPr>
        <p:txBody>
          <a:bodyPr wrap="square" lIns="0" tIns="0" rIns="0" bIns="0" rtlCol="0" anchor="t"/>
          <a:lstStyle/>
          <a:p>
            <a:pPr indent="0" marL="0">
              <a:buNone/>
            </a:pPr>
            <a:r>
              <a:rPr lang="en-US" sz="1600" b="1" dirty="0">
                <a:solidFill>
                  <a:srgbClr val="1F3864"/>
                </a:solidFill>
                <a:latin typeface="Calibri" pitchFamily="34" charset="0"/>
                <a:ea typeface="Calibri" pitchFamily="34" charset="-122"/>
                <a:cs typeface="Calibri" pitchFamily="34" charset="-120"/>
              </a:rPr>
              <a:t>3</a:t>
            </a:r>
            <a:endParaRPr lang="en-US" sz="1600" dirty="0"/>
          </a:p>
        </p:txBody>
      </p:sp>
      <p:pic>
        <p:nvPicPr>
          <p:cNvPr id="46" name="Image 16" descr="m_L3-3w10/kc1599c188b.png">    </p:cNvPr>
          <p:cNvPicPr>
            <a:picLocks noChangeAspect="1"/>
          </p:cNvPicPr>
          <p:nvPr/>
        </p:nvPicPr>
        <p:blipFill>
          <a:blip r:embed="rId17"/>
          <a:stretch>
            <a:fillRect/>
          </a:stretch>
        </p:blipFill>
        <p:spPr>
          <a:xfrm>
            <a:off x="8686800" y="5273040"/>
            <a:ext cx="1053389" cy="266273"/>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E4F4C"/>
        </a:solidFill>
      </p:bgPr>
    </p:bg>
    <p:spTree>
      <p:nvGrpSpPr>
        <p:cNvPr id="1" name=""/>
        <p:cNvGrpSpPr/>
        <p:nvPr/>
      </p:nvGrpSpPr>
      <p:grpSpPr>
        <a:xfrm>
          <a:off x="0" y="0"/>
          <a:ext cx="0" cy="0"/>
          <a:chOff x="0" y="0"/>
          <a:chExt cx="0" cy="0"/>
        </a:xfrm>
      </p:grpSpPr>
      <p:sp>
        <p:nvSpPr>
          <p:cNvPr id="2" name="Shape 0"/>
          <p:cNvSpPr/>
          <p:nvPr/>
        </p:nvSpPr>
        <p:spPr>
          <a:xfrm>
            <a:off x="-1097280" y="4572000"/>
            <a:ext cx="3474720" cy="3474720"/>
          </a:xfrm>
          <a:prstGeom prst="ellipse">
            <a:avLst/>
          </a:prstGeom>
          <a:solidFill>
            <a:srgbClr val="17A199">
              <a:alpha val="20000"/>
            </a:srgbClr>
          </a:solidFill>
          <a:ln w="12700">
            <a:solidFill>
              <a:srgbClr val="17A199">
                <a:alpha val="0"/>
              </a:srgbClr>
            </a:solidFill>
            <a:prstDash val="solid"/>
          </a:ln>
        </p:spPr>
      </p:sp>
      <p:sp>
        <p:nvSpPr>
          <p:cNvPr id="3" name="Shape 1"/>
          <p:cNvSpPr/>
          <p:nvPr/>
        </p:nvSpPr>
        <p:spPr>
          <a:xfrm>
            <a:off x="9875520" y="-1097280"/>
            <a:ext cx="3291840" cy="3291840"/>
          </a:xfrm>
          <a:prstGeom prst="ellipse">
            <a:avLst/>
          </a:prstGeom>
          <a:solidFill>
            <a:srgbClr val="F0B323">
              <a:alpha val="18000"/>
            </a:srgbClr>
          </a:solidFill>
          <a:ln w="12700">
            <a:solidFill>
              <a:srgbClr val="F0B323">
                <a:alpha val="0"/>
              </a:srgbClr>
            </a:solidFill>
            <a:prstDash val="solid"/>
          </a:ln>
        </p:spPr>
      </p:sp>
      <p:pic>
        <p:nvPicPr>
          <p:cNvPr id="4" name="Image 0" descr="../dept_logo_white.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_white.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548640" y="868680"/>
            <a:ext cx="10972800" cy="73152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Journey complete</a:t>
            </a:r>
            <a:endParaRPr lang="en-US" sz="4000" dirty="0"/>
          </a:p>
        </p:txBody>
      </p:sp>
      <p:sp>
        <p:nvSpPr>
          <p:cNvPr id="7" name="path1"/>
          <p:cNvSpPr/>
          <p:nvPr/>
        </p:nvSpPr>
        <p:spPr>
          <a:xfrm flipV="1">
            <a:off x="1371600" y="3200400"/>
            <a:ext cx="1965960" cy="1097280"/>
          </a:xfrm>
          <a:prstGeom prst="line">
            <a:avLst/>
          </a:prstGeom>
          <a:noFill/>
          <a:ln w="38100">
            <a:solidFill>
              <a:srgbClr val="F0B323"/>
            </a:solidFill>
            <a:prstDash val="dash"/>
          </a:ln>
        </p:spPr>
      </p:sp>
      <p:sp>
        <p:nvSpPr>
          <p:cNvPr id="8" name="path2"/>
          <p:cNvSpPr/>
          <p:nvPr/>
        </p:nvSpPr>
        <p:spPr>
          <a:xfrm>
            <a:off x="3337560" y="3200400"/>
            <a:ext cx="1965960" cy="1097280"/>
          </a:xfrm>
          <a:prstGeom prst="line">
            <a:avLst/>
          </a:prstGeom>
          <a:noFill/>
          <a:ln w="38100">
            <a:solidFill>
              <a:srgbClr val="F0B323"/>
            </a:solidFill>
            <a:prstDash val="dash"/>
          </a:ln>
        </p:spPr>
      </p:sp>
      <p:sp>
        <p:nvSpPr>
          <p:cNvPr id="9" name="path3"/>
          <p:cNvSpPr/>
          <p:nvPr/>
        </p:nvSpPr>
        <p:spPr>
          <a:xfrm flipV="1">
            <a:off x="5303520" y="3200400"/>
            <a:ext cx="1965960" cy="1097280"/>
          </a:xfrm>
          <a:prstGeom prst="line">
            <a:avLst/>
          </a:prstGeom>
          <a:noFill/>
          <a:ln w="38100">
            <a:solidFill>
              <a:srgbClr val="F0B323"/>
            </a:solidFill>
            <a:prstDash val="dash"/>
          </a:ln>
        </p:spPr>
      </p:sp>
      <p:sp>
        <p:nvSpPr>
          <p:cNvPr id="10" name="path4"/>
          <p:cNvSpPr/>
          <p:nvPr/>
        </p:nvSpPr>
        <p:spPr>
          <a:xfrm>
            <a:off x="7269480" y="3200400"/>
            <a:ext cx="1965960" cy="1097280"/>
          </a:xfrm>
          <a:prstGeom prst="line">
            <a:avLst/>
          </a:prstGeom>
          <a:noFill/>
          <a:ln w="38100">
            <a:solidFill>
              <a:srgbClr val="F0B323"/>
            </a:solidFill>
            <a:prstDash val="dash"/>
          </a:ln>
        </p:spPr>
      </p:sp>
      <p:sp>
        <p:nvSpPr>
          <p:cNvPr id="11" name="path5"/>
          <p:cNvSpPr/>
          <p:nvPr/>
        </p:nvSpPr>
        <p:spPr>
          <a:xfrm flipV="1">
            <a:off x="9235440" y="3200400"/>
            <a:ext cx="1737360" cy="1097280"/>
          </a:xfrm>
          <a:prstGeom prst="line">
            <a:avLst/>
          </a:prstGeom>
          <a:noFill/>
          <a:ln w="38100">
            <a:solidFill>
              <a:srgbClr val="F0B323"/>
            </a:solidFill>
            <a:prstDash val="dash"/>
          </a:ln>
        </p:spPr>
      </p:sp>
      <p:sp>
        <p:nvSpPr>
          <p:cNvPr id="12" name="stn1"/>
          <p:cNvSpPr/>
          <p:nvPr/>
        </p:nvSpPr>
        <p:spPr>
          <a:xfrm>
            <a:off x="708660" y="3634740"/>
            <a:ext cx="1325880" cy="1325880"/>
          </a:xfrm>
          <a:prstGeom prst="ellipse">
            <a:avLst/>
          </a:prstGeom>
          <a:solidFill>
            <a:srgbClr val="F0B323"/>
          </a:solidFill>
          <a:ln w="38100">
            <a:solidFill>
              <a:srgbClr val="FFFFFF"/>
            </a:solidFill>
            <a:prstDash val="solid"/>
          </a:ln>
        </p:spPr>
      </p:sp>
      <p:sp>
        <p:nvSpPr>
          <p:cNvPr id="13" name="Text 9"/>
          <p:cNvSpPr txBox="1"/>
          <p:nvPr/>
        </p:nvSpPr>
        <p:spPr>
          <a:xfrm>
            <a:off x="1005840" y="402336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14" name="Text 10"/>
          <p:cNvSpPr txBox="1"/>
          <p:nvPr/>
        </p:nvSpPr>
        <p:spPr>
          <a:xfrm>
            <a:off x="411480" y="5070348"/>
            <a:ext cx="1920240" cy="548640"/>
          </a:xfrm>
          <a:prstGeom prst="rect">
            <a:avLst/>
          </a:prstGeom>
          <a:noFill/>
          <a:ln/>
        </p:spPr>
        <p:txBody>
          <a:bodyPr wrap="square" lIns="0" tIns="0" rIns="0" bIns="0" rtlCol="0" anchor="t"/>
          <a:lstStyle/>
          <a:p>
            <a:pPr algn="ctr" indent="0" marL="0">
              <a:buNone/>
            </a:pPr>
            <a:r>
              <a:rPr lang="en-US" sz="1600" b="1" dirty="0">
                <a:solidFill>
                  <a:srgbClr val="FFFFFF"/>
                </a:solidFill>
                <a:latin typeface="Calibri" pitchFamily="34" charset="0"/>
                <a:ea typeface="Calibri" pitchFamily="34" charset="-122"/>
                <a:cs typeface="Calibri" pitchFamily="34" charset="-120"/>
              </a:rPr>
              <a:t>Diagnose</a:t>
            </a:r>
            <a:endParaRPr lang="en-US" sz="1600" dirty="0"/>
          </a:p>
        </p:txBody>
      </p:sp>
      <p:sp>
        <p:nvSpPr>
          <p:cNvPr id="15" name="stn2"/>
          <p:cNvSpPr/>
          <p:nvPr/>
        </p:nvSpPr>
        <p:spPr>
          <a:xfrm>
            <a:off x="2674620" y="2537460"/>
            <a:ext cx="1325880" cy="1325880"/>
          </a:xfrm>
          <a:prstGeom prst="ellipse">
            <a:avLst/>
          </a:prstGeom>
          <a:solidFill>
            <a:srgbClr val="F0B323"/>
          </a:solidFill>
          <a:ln w="38100">
            <a:solidFill>
              <a:srgbClr val="FFFFFF"/>
            </a:solidFill>
            <a:prstDash val="solid"/>
          </a:ln>
        </p:spPr>
      </p:sp>
      <p:sp>
        <p:nvSpPr>
          <p:cNvPr id="16" name="Text 12"/>
          <p:cNvSpPr txBox="1"/>
          <p:nvPr/>
        </p:nvSpPr>
        <p:spPr>
          <a:xfrm>
            <a:off x="2971800" y="292608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17" name="Text 13"/>
          <p:cNvSpPr txBox="1"/>
          <p:nvPr/>
        </p:nvSpPr>
        <p:spPr>
          <a:xfrm>
            <a:off x="2377440" y="1897380"/>
            <a:ext cx="1920240" cy="548640"/>
          </a:xfrm>
          <a:prstGeom prst="rect">
            <a:avLst/>
          </a:prstGeom>
          <a:noFill/>
          <a:ln/>
        </p:spPr>
        <p:txBody>
          <a:bodyPr wrap="square" lIns="0" tIns="0" rIns="0" bIns="0" rtlCol="0" anchor="b"/>
          <a:lstStyle/>
          <a:p>
            <a:pPr algn="ctr" indent="0" marL="0">
              <a:buNone/>
            </a:pPr>
            <a:r>
              <a:rPr lang="en-US" sz="1600" b="1" dirty="0">
                <a:solidFill>
                  <a:srgbClr val="FFFFFF"/>
                </a:solidFill>
                <a:latin typeface="Calibri" pitchFamily="34" charset="0"/>
                <a:ea typeface="Calibri" pitchFamily="34" charset="-122"/>
                <a:cs typeface="Calibri" pitchFamily="34" charset="-120"/>
              </a:rPr>
              <a:t>Targeted Instruction</a:t>
            </a:r>
            <a:endParaRPr lang="en-US" sz="1600" dirty="0"/>
          </a:p>
        </p:txBody>
      </p:sp>
      <p:sp>
        <p:nvSpPr>
          <p:cNvPr id="18" name="stn3"/>
          <p:cNvSpPr/>
          <p:nvPr/>
        </p:nvSpPr>
        <p:spPr>
          <a:xfrm>
            <a:off x="4640580" y="3634740"/>
            <a:ext cx="1325880" cy="1325880"/>
          </a:xfrm>
          <a:prstGeom prst="ellipse">
            <a:avLst/>
          </a:prstGeom>
          <a:solidFill>
            <a:srgbClr val="F0B323"/>
          </a:solidFill>
          <a:ln w="38100">
            <a:solidFill>
              <a:srgbClr val="FFFFFF"/>
            </a:solidFill>
            <a:prstDash val="solid"/>
          </a:ln>
        </p:spPr>
      </p:sp>
      <p:sp>
        <p:nvSpPr>
          <p:cNvPr id="19" name="Text 15"/>
          <p:cNvSpPr txBox="1"/>
          <p:nvPr/>
        </p:nvSpPr>
        <p:spPr>
          <a:xfrm>
            <a:off x="4937760" y="402336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20" name="Text 16"/>
          <p:cNvSpPr txBox="1"/>
          <p:nvPr/>
        </p:nvSpPr>
        <p:spPr>
          <a:xfrm>
            <a:off x="4343400" y="5070348"/>
            <a:ext cx="1920240" cy="548640"/>
          </a:xfrm>
          <a:prstGeom prst="rect">
            <a:avLst/>
          </a:prstGeom>
          <a:noFill/>
          <a:ln/>
        </p:spPr>
        <p:txBody>
          <a:bodyPr wrap="square" lIns="0" tIns="0" rIns="0" bIns="0" rtlCol="0" anchor="t"/>
          <a:lstStyle/>
          <a:p>
            <a:pPr algn="ctr" indent="0" marL="0">
              <a:buNone/>
            </a:pPr>
            <a:r>
              <a:rPr lang="en-US" sz="1600" b="1" dirty="0">
                <a:solidFill>
                  <a:srgbClr val="FFFFFF"/>
                </a:solidFill>
                <a:latin typeface="Calibri" pitchFamily="34" charset="0"/>
                <a:ea typeface="Calibri" pitchFamily="34" charset="-122"/>
                <a:cs typeface="Calibri" pitchFamily="34" charset="-120"/>
              </a:rPr>
              <a:t>Practice</a:t>
            </a:r>
            <a:endParaRPr lang="en-US" sz="1600" dirty="0"/>
          </a:p>
        </p:txBody>
      </p:sp>
      <p:sp>
        <p:nvSpPr>
          <p:cNvPr id="21" name="stn4"/>
          <p:cNvSpPr/>
          <p:nvPr/>
        </p:nvSpPr>
        <p:spPr>
          <a:xfrm>
            <a:off x="6606540" y="2537460"/>
            <a:ext cx="1325880" cy="1325880"/>
          </a:xfrm>
          <a:prstGeom prst="ellipse">
            <a:avLst/>
          </a:prstGeom>
          <a:solidFill>
            <a:srgbClr val="F0B323"/>
          </a:solidFill>
          <a:ln w="38100">
            <a:solidFill>
              <a:srgbClr val="FFFFFF"/>
            </a:solidFill>
            <a:prstDash val="solid"/>
          </a:ln>
        </p:spPr>
      </p:sp>
      <p:sp>
        <p:nvSpPr>
          <p:cNvPr id="22" name="Text 18"/>
          <p:cNvSpPr txBox="1"/>
          <p:nvPr/>
        </p:nvSpPr>
        <p:spPr>
          <a:xfrm>
            <a:off x="6903720" y="292608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23" name="Text 19"/>
          <p:cNvSpPr txBox="1"/>
          <p:nvPr/>
        </p:nvSpPr>
        <p:spPr>
          <a:xfrm>
            <a:off x="6309360" y="1897380"/>
            <a:ext cx="1920240" cy="548640"/>
          </a:xfrm>
          <a:prstGeom prst="rect">
            <a:avLst/>
          </a:prstGeom>
          <a:noFill/>
          <a:ln/>
        </p:spPr>
        <p:txBody>
          <a:bodyPr wrap="square" lIns="0" tIns="0" rIns="0" bIns="0" rtlCol="0" anchor="b"/>
          <a:lstStyle/>
          <a:p>
            <a:pPr algn="ctr" indent="0" marL="0">
              <a:buNone/>
            </a:pPr>
            <a:r>
              <a:rPr lang="en-US" sz="1600" b="1" dirty="0">
                <a:solidFill>
                  <a:srgbClr val="FFFFFF"/>
                </a:solidFill>
                <a:latin typeface="Calibri" pitchFamily="34" charset="0"/>
                <a:ea typeface="Calibri" pitchFamily="34" charset="-122"/>
                <a:cs typeface="Calibri" pitchFamily="34" charset="-120"/>
              </a:rPr>
              <a:t>Production</a:t>
            </a:r>
            <a:endParaRPr lang="en-US" sz="1600" dirty="0"/>
          </a:p>
        </p:txBody>
      </p:sp>
      <p:sp>
        <p:nvSpPr>
          <p:cNvPr id="24" name="stn5"/>
          <p:cNvSpPr/>
          <p:nvPr/>
        </p:nvSpPr>
        <p:spPr>
          <a:xfrm>
            <a:off x="8572500" y="3634740"/>
            <a:ext cx="1325880" cy="1325880"/>
          </a:xfrm>
          <a:prstGeom prst="ellipse">
            <a:avLst/>
          </a:prstGeom>
          <a:solidFill>
            <a:srgbClr val="F0B323"/>
          </a:solidFill>
          <a:ln w="38100">
            <a:solidFill>
              <a:srgbClr val="FFFFFF"/>
            </a:solidFill>
            <a:prstDash val="solid"/>
          </a:ln>
        </p:spPr>
      </p:sp>
      <p:sp>
        <p:nvSpPr>
          <p:cNvPr id="25" name="Text 21"/>
          <p:cNvSpPr txBox="1"/>
          <p:nvPr/>
        </p:nvSpPr>
        <p:spPr>
          <a:xfrm>
            <a:off x="8869680" y="402336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26" name="Text 22"/>
          <p:cNvSpPr txBox="1"/>
          <p:nvPr/>
        </p:nvSpPr>
        <p:spPr>
          <a:xfrm>
            <a:off x="8275320" y="5070348"/>
            <a:ext cx="1920240" cy="548640"/>
          </a:xfrm>
          <a:prstGeom prst="rect">
            <a:avLst/>
          </a:prstGeom>
          <a:noFill/>
          <a:ln/>
        </p:spPr>
        <p:txBody>
          <a:bodyPr wrap="square" lIns="0" tIns="0" rIns="0" bIns="0" rtlCol="0" anchor="t"/>
          <a:lstStyle/>
          <a:p>
            <a:pPr algn="ctr" indent="0" marL="0">
              <a:buNone/>
            </a:pPr>
            <a:r>
              <a:rPr lang="en-US" sz="1600" b="1" dirty="0">
                <a:solidFill>
                  <a:srgbClr val="FFFFFF"/>
                </a:solidFill>
                <a:latin typeface="Calibri" pitchFamily="34" charset="0"/>
                <a:ea typeface="Calibri" pitchFamily="34" charset="-122"/>
                <a:cs typeface="Calibri" pitchFamily="34" charset="-120"/>
              </a:rPr>
              <a:t>Mastery Gate</a:t>
            </a:r>
            <a:endParaRPr lang="en-US" sz="1600" dirty="0"/>
          </a:p>
        </p:txBody>
      </p:sp>
      <p:sp>
        <p:nvSpPr>
          <p:cNvPr id="27" name="stn6"/>
          <p:cNvSpPr/>
          <p:nvPr/>
        </p:nvSpPr>
        <p:spPr>
          <a:xfrm>
            <a:off x="10309860" y="2537460"/>
            <a:ext cx="1325880" cy="1325880"/>
          </a:xfrm>
          <a:prstGeom prst="ellipse">
            <a:avLst/>
          </a:prstGeom>
          <a:solidFill>
            <a:srgbClr val="F0B323"/>
          </a:solidFill>
          <a:ln w="38100">
            <a:solidFill>
              <a:srgbClr val="FFFFFF"/>
            </a:solidFill>
            <a:prstDash val="solid"/>
          </a:ln>
        </p:spPr>
      </p:sp>
      <p:sp>
        <p:nvSpPr>
          <p:cNvPr id="28" name="Text 24"/>
          <p:cNvSpPr txBox="1"/>
          <p:nvPr/>
        </p:nvSpPr>
        <p:spPr>
          <a:xfrm>
            <a:off x="10607040" y="292608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29" name="Text 25"/>
          <p:cNvSpPr txBox="1"/>
          <p:nvPr/>
        </p:nvSpPr>
        <p:spPr>
          <a:xfrm>
            <a:off x="10012680" y="1897380"/>
            <a:ext cx="1920240" cy="548640"/>
          </a:xfrm>
          <a:prstGeom prst="rect">
            <a:avLst/>
          </a:prstGeom>
          <a:noFill/>
          <a:ln/>
        </p:spPr>
        <p:txBody>
          <a:bodyPr wrap="square" lIns="0" tIns="0" rIns="0" bIns="0" rtlCol="0" anchor="b"/>
          <a:lstStyle/>
          <a:p>
            <a:pPr algn="ctr" indent="0" marL="0">
              <a:buNone/>
            </a:pPr>
            <a:r>
              <a:rPr lang="en-US" sz="1600" b="1" dirty="0">
                <a:solidFill>
                  <a:srgbClr val="FFFFFF"/>
                </a:solidFill>
                <a:latin typeface="Calibri" pitchFamily="34" charset="0"/>
                <a:ea typeface="Calibri" pitchFamily="34" charset="-122"/>
                <a:cs typeface="Calibri" pitchFamily="34" charset="-120"/>
              </a:rPr>
              <a:t>Smart Production</a:t>
            </a:r>
            <a:endParaRPr lang="en-US" sz="1600" dirty="0"/>
          </a:p>
        </p:txBody>
      </p:sp>
      <p:sp>
        <p:nvSpPr>
          <p:cNvPr id="30" name="Text 26"/>
          <p:cNvSpPr txBox="1"/>
          <p:nvPr/>
        </p:nvSpPr>
        <p:spPr>
          <a:xfrm>
            <a:off x="548640" y="5669280"/>
            <a:ext cx="11064240" cy="640080"/>
          </a:xfrm>
          <a:prstGeom prst="rect">
            <a:avLst/>
          </a:prstGeom>
          <a:noFill/>
          <a:ln/>
        </p:spPr>
        <p:txBody>
          <a:bodyPr wrap="square" lIns="0" tIns="0" rIns="0" bIns="0" rtlCol="0" anchor="ctr"/>
          <a:lstStyle/>
          <a:p>
            <a:pPr algn="ctr" indent="0" marL="0">
              <a:buNone/>
            </a:pPr>
            <a:r>
              <a:rPr lang="en-US" sz="1700" b="1" dirty="0">
                <a:solidFill>
                  <a:srgbClr val="F0B323"/>
                </a:solidFill>
                <a:latin typeface="Calibri" pitchFamily="34" charset="0"/>
                <a:ea typeface="Calibri" pitchFamily="34" charset="-122"/>
                <a:cs typeface="Calibri" pitchFamily="34" charset="-120"/>
              </a:rPr>
              <a:t>An identity is true for every value of its variables; the square and difference-of-squares identities let us expand and factor quickly, and Pascal's triangle gives the coefficients of any power of a binomial.</a:t>
            </a:r>
            <a:endParaRPr lang="en-US" sz="1700" dirty="0"/>
          </a:p>
        </p:txBody>
      </p:sp>
      <p:sp>
        <p:nvSpPr>
          <p:cNvPr id="31" name="Text 27"/>
          <p:cNvSpPr txBox="1"/>
          <p:nvPr/>
        </p:nvSpPr>
        <p:spPr>
          <a:xfrm>
            <a:off x="4023360" y="6492240"/>
            <a:ext cx="4114800" cy="228600"/>
          </a:xfrm>
          <a:prstGeom prst="rect">
            <a:avLst/>
          </a:prstGeom>
          <a:noFill/>
          <a:ln/>
        </p:spPr>
        <p:txBody>
          <a:bodyPr wrap="square" lIns="0" tIns="0" rIns="0" bIns="0" rtlCol="0" anchor="t"/>
          <a:lstStyle/>
          <a:p>
            <a:pPr algn="ctr" indent="0" marL="0">
              <a:buNone/>
            </a:pPr>
            <a:r>
              <a:rPr lang="en-US" sz="1000" b="1" spc="300" kern="0" dirty="0">
                <a:solidFill>
                  <a:srgbClr val="FFFFFF"/>
                </a:solidFill>
                <a:latin typeface="Calibri" pitchFamily="34" charset="0"/>
                <a:ea typeface="Calibri" pitchFamily="34" charset="-122"/>
                <a:cs typeface="Calibri" pitchFamily="34" charset="-120"/>
              </a:rPr>
              <a:t>FAITH, RIGHTEOUSNESS AND WISDOM</a:t>
            </a:r>
            <a:endParaRPr lang="en-US" sz="10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3-3 Identities with Polynomials presentation</dc:title>
  <dc:subject>PptxGenJS Presentation</dc:subject>
  <dc:creator>Mr Malek Thiab</dc:creator>
  <cp:lastModifiedBy>Mr Malek Thiab</cp:lastModifiedBy>
  <cp:revision>1</cp:revision>
  <dcterms:created xsi:type="dcterms:W3CDTF">2026-10-29T04:25:09Z</dcterms:created>
  <dcterms:modified xsi:type="dcterms:W3CDTF">2026-10-29T04:25:09Z</dcterms:modified>
</cp:coreProperties>
</file>