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Lesson 3-4: Dividing Polynomials.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(Quotient and remainder; Synthetic division; The Remainder Theorem; The Factor Theorem), Practice (Practice, Apply, Investigate), Production (Freight crate for the rail terminal),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Divisor, factor, Polynomial, long division, proper rational function, Quotient, Remainder, synthetic division.
Standards are listed on this slide.
The essential question and mathematical practices are not shown because they are not in the project documents; add them from the curriculum map if you want them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Answers. Q1: 4 − 6 + 5 = 3. Q2: x² + 5x + 6 + 1 = x² + 5x + 7. Q3: 17 = 3 × 5 + 2, quotient 3, remainder 2. Q2 and Q3 are alike: dividend = divisor × quotient + remainder, the idea behind polynomial division. Verbal misconceptions: Q1 students square −3x as 9x or compute 2² as 4 and then 4 − 3 + 5 slip to 6; Q2 students forget to add the 1 or write 5x² ; Q3 students write 3.4 and do not give a remainder. Adaptive routing: if &gt;30% miss Q1, rehearse substitution with brackets before slide 7; if &gt;30% miss Q2, expand with a grid before slide 5; if &gt;30% miss Q3, write 17 = 5 × 3 + 2 and go to slide 5. If all three are secure, move quickly through slide 5 and start the Investigate route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4):
Worked solutions (HSA.APR.D.6). Polynomial division mirrors 17 ÷ 5 = 3 remainder 2: the DIVIDEND equals the DIVISOR times the QUOTIENT plus the REMAINDER, and the remainder has smaller degree than the divisor. Long division: Example A: x² ÷ x = x, so the first quotient term is x; x(x + 2) = x² + 2x; subtract: 3x + 7; 3x ÷ x = 3; 3(x + 2) = 3x + 6; subtract: 1. Quotient x + 3, remainder 1. Check: (x + 2)(x + 3) + 1 = x² + 5x + 6 + 1 ✓. Example B: 2x² ÷ x = 2x; 2x(x − 4) = 2x² − 8x; subtract: 5x − 5; 5x ÷ x = 5; 5(x − 4) = 5x − 20; subtract: 15. Quotient 2x + 5, remainder 15. Check: 2x² − 8x + 5x − 20 + 15 = 2x² − 3x − 5 ✓. In rational form (a proper rational function has remainder degree less than the divisor degree): (x² + 5x + 7)/(x + 2) = x + 3 + 1/(x + 2). Verbal misconceptions: subtracting only the first term of each product (sign errors in the second term, −8x subtracted as +8x); leaving a remainder of the same degree as the divisor; forgetting to write the remainder over the divisor. Adaptive routing: if &gt;30% slip on the subtraction, write the subtraction as 'change every sign' and redo Example B; if &gt;30% forget the remainder, link to 17 = 3 × 5 + 2. Gate Q2 routes to slide 5 or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4):
Worked solutions (HSA.APR.B.2 and D.6). Synthetic division is a shortcut for dividing by a LINEAR divisor x − a with leading coefficient 1. Write a in the box (the opposite sign to the constant in the divisor) and the coefficients of the dividend, including zeros for missing powers. Bring down the first coefficient; multiply by a and add to the next; repeat. The last number is the remainder and the others are the quotient coefficients, one degree lower. Example A: box 1; coefficients 1, 3, −4, −5. Bring down 1; 1 × 1 = 1, 3 + 1 = 4; 4 × 1 = 4, −4 + 4 = 0; 0 × 1 = 0, −5 + 0 = −5. Quotient x² + 4x + 0, remainder −5. Check at x = 2: p(2) = 8 + 12 − 8 − 5 = 7 and (2 − 1)(4 + 8) − 5 = 7 ✓. Example B: divisor x + 1, so the box is −1. Coefficients 2, −5, 1, 6. Bring down 2; 2 × (−1) = −2, −5 − 2 = −7; −7 × (−1) = 7, 1 + 7 = 8; 8 × (−1) = −8, 6 − 8 = −2. Quotient 2x² − 7x + 8, remainder −2. Verbal misconceptions: using +1 instead of −1 for x + 1; omitting the zero for a missing power; reading the last number as part of the quotient; trying it for 2x − 3 (leading coefficient not 1). Adaptive routing: if &gt;30% use the wrong sign in the box, write 'x − a, so the box holds a' and redo Example B; if &gt;30% skip the zero, show x³ − 7x + 6 with 0x². Gate Q1 routes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4):
Worked solutions (HSA.APR.B.2). Why it works: if p(x) = (x − a)q(x) + r, then substituting x = a makes the first term zero and leaves p(a) = r. So the remainder is found by substitution, with no division. Example A: p(3) = 27 − 36 + 3 + 9 = 3. Check by synthetic division, box 3: 1, −4 + 3 = −1, 1 − 3 = −2, 9 − 6 = 3 ✓. Example B: divisor x + 2 = x − (−2), so a = −2: p(−2) = 2(−8) + 5(4) − 3(−2) + 1 = −16 + 20 + 6 + 1 = 11. Check, box −2: 2, 5 − 4 = 1, −3 − 2 = −5, 1 + 10 = 11 ✓. What if (gold strip): p(3) = 27 − 21 + 6 = 12; synthetic division, box 3, coefficients 1, 0, −7, 6: 1, 3, 2, 12 ✓, so the remainder is 12. Verbal misconceptions: evaluating p(−3) for the divisor x − 3 (opposite sign); evaluating p(a) but calling it the quotient; arithmetic slips with negative cubes. Adaptive routing: if &gt;30% use the wrong sign, ask 'what makes the divisor zero?' and redo Example B; if &gt;30% slip with (−2)³, show (−2)³ = −8 in brackets. Gate Q2 routes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4 of 4):
Worked solutions (HSA.APR.B.2). FACTOR THEOREM: p(a) = 0 exactly when x − a is a factor. Example A: try small integer values: p(−1) = −1 + 2 + 11 − 12 = 0, so x + 1 is a factor. Synthetic division with box −1: 1; 2 − 1 = 1; −11 − 1 = −12; −12 + 12 = 0. Quotient x² + x − 12 = (x + 4)(x − 3). So p(x) = (x + 1)(x + 4)(x − 3). Check p(3) = 27 + 18 − 33 − 12 = 0 ✓ and p(−4) = −64 + 32 + 44 − 12 = 0 ✓. Example B: p(2) = 8 + 4k − 2 − 10 = 4k − 4 = 0, so k = 1. Check: x³ + x² − x − 10 at x = 2 is 8 + 4 − 2 − 10 = 0 ✓. What if (gold strip): p(−4) = 0 as computed, which confirms that x + 4 is a factor. Verbal misconceptions: testing p(1) for the factor x + 1; stopping after finding one factor and not factoring the quotient; believing a non-zero remainder means 'no solutions'. Adaptive routing: if &gt;30% test the wrong sign, repeat 'what number makes the factor zero?'; if &gt;30% stop at the quadratic, ask them to factor it. Gate Q3 routes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Answers. Practice 1: box 2, coefficients 1, −4, 5, −2: 1, −2, 1, 0 gives x² − 2x + 1, remainder 0 (so x − 2 is a factor). Practice 2: p(2) = 8 + 2 − 9 = 1. Apply 1 (a model freight crate for a Jeddah rail terminal, model values): box −1, coefficients 1, 7, 14, 8: 1, 6, 8, 0; the base area is x² + 6x + 8 = (x + 2)(x + 4); check: (x + 1)(x² + 6x + 8) = x³ + 7x² + 14x + 8 ✓. Apply 2: p(−1) = −1 + k + 4 − 6 = k − 3 = 0, so k = 3. Investigate 1: put x = 1 in x^n − 1: 1 − 1 = 0, so by the Factor Theorem x − 1 is a factor for every n; for n = 3 the quotient is x² + x + 1. Investigate 2: x + 1 = x − (−1), so a = −1 and the remainder is p(−1) = 1 − 1 + 1 = 1 (since (−1)^50 = 1). Verbal misconceptions: Practice 1 using −2 in the box; Practice 2 computing p(−2); Apply 1 forgetting the final 0 means no remainder; Apply 2 substituting x = 1; Investigate 2 saying (−1)^50 = −1. Adaptive routing: if &gt;30% miss Practice 1, route to slide 6; Practice 2, slide 7; Apply 1, slide 6; Apply 2, slide 8; Investigate, slide 7 or 8. Students who finish Apply early move to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(inside Station 3, 3 minutes, after the Practice work):
Compare and judge (3 min). Worked solutions. Divide p(x) = x³ + x² − 14x − 24 by x − 4. Long division: x³ ÷ x = x²; x²(x − 4) = x³ − 4x²; subtract: 5x² − 14x; 5x² ÷ x = 5x; 5x(x − 4) = 5x² − 20x; subtract: 6x − 24; 6(x − 4) = 6x − 24; remainder 0. Quotient x² + 5x + 6. Synthetic: box 4: 1, 5, 6, 0. Remainder Theorem: p(4) = 64 + 16 − 56 − 24 = 0, so x − 4 is a factor, and (x − 4)(x + 2)(x + 3) is the full factorisation. Claim: FALSE. Take p(x) = x² + x: p(3) = 12 and p(−3) = 6, different remainders. (It holds for an even polynomial such as x², which is the trap.) What if (gold box): a zero remainder means p(4) = 0, so the graph crosses the x-axis at x = 4. Verbal misconceptions: 'x − 3 and x + 3 are the same factor'; 'a remainder of zero means no quotient'; 'synthetic division always works'. Adaptive routing: if &gt;30% mark the claim TRUE, have them compute p(3) and p(−3) for x² + x; if teams finish early, ask which route they would choose for 2x − 3 as a divisor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Model values only, not real data. Task 1: box −2, coefficients 1, 9, 26, 24: 1; 9 − 2 = 7; 26 − 14 = 12; 24 − 24 = 0. Base area x² + 7x + 12 = (x + 3)(x + 4). Task 2: at x = 3 the height is 5, the base sides are 6 and 7, so the volume is 5 × 6 × 7 = 210 m³; check V(3) = 27 + 81 + 78 + 24 = 210 ✓. Task 3: p(−2) = −8 + 36 − 52 + 30 = 6, so the remainder is 6 and the height x + 2 is NOT a factor: the volume is not exactly height × base, there is 6 m³ left over. What if (gold box): p(−3) = −27 + 81 − 78 + 24 = 0, so x + 3 is also a factor; box −3: 1, 6, 8, 0, base area x² + 6x + 8 = (x + 2)(x + 4); the three factors are x + 2, x + 3, x + 4. Verbal misconceptions: using +2 in the box; forgetting that a remainder of zero is needed for an exact fit; answering Task 2 with 3, 4 and 5 (confusing x and the dimensions). Adaptive routing: if &gt;30% cannot start Task 1, return to slide 6 Example B; if &gt;30% miss Task 3, slide 7; if &gt;30% miss the factorisation, slide 8. Early finishers: show that x + 4 is also a factor of V(x).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Answers. Q1: box 3, coefficients 1, −6, 11, −6: 1, −3, 2, 0; quotient x² − 3x + 2 and remainder 0 (so x − 3 is a factor). Q2: p(−3) = −27 + 27 + 3 + 5 = 8. Q3: p(−1) = −1 + k + 4 − 6 = k − 3 = 0, so k = 3. Verbal misconceptions: Q1 using −3 in the box, or reading the 0 as part of the quotient; Q2 evaluating p(3) = 27 + 27 − 3 + 5 = 56; Q3 substituting x = 1. Adaptive routing: Q1 missed, route to slide 6; Q2 missed, slide 7; Q3 missed, slide 8. If a student misses two or more, they join the teacher group for the Smart Production create step; students who get all three correct start the create step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Exit ticket solutions. Exit 1: p(3) = 27 − 6 + 5 = 26. Exit 2: p(−2) = −8 + 4 + 8 − 4 = 0, so yes, x + 2 is a factor; the quotient (box −2: 1, −1, −2, 0) is x² − x − 2 = (x − 2)(x + 1). Create step example: (x − 1)(x + 3) = x² + 2x − 3; times (x − 2): x³ − 7x + 6; p(1) = 0 ✓, box 1: 1, 1, −6, 0, quotient x² + x − 6 = (x − 2)(x + 3) ✓. What if: changing the constant to 7 gives p(1) = 1, so x − 1 is no longer a factor and the remainder is 1. Verbal misconceptions: Exit 1 using p(−3); Exit 2 stopping at p(−2) = 0 without answering 'yes'. Adaptive routing: if &gt;30% miss Exit 1, retrieve slide 7 Example A; if &gt;30% miss Exit 2, retrieve slide 8 Example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each exam item is worked in numbered steps.
SAT (Advanced Math, polynomial factors): x − 3 a factor means p(3) = 0. p(3) = 2(27) − 5(9) − 3k + 3 = 54 − 45 + 3 − 3k = 12 − 3k = 0, so k = 4. Traps: using x = −3 (which gives a different k), forgetting the + 3, or answering 12. A student-produced-response grid answer is 4. GAT/Qudurat quantitative comparison (A is greater / B is greater / equal / cannot be determined): the remainder is p(2) = 5, which is more than 4, so A is greater. Trap: dividing 5 by something or using p(−2) = 5 (here equal by symmetry, which still gives A greater). SAAT/Tahsili (four options, for example A 3, B 5, C −3, D 7): divisor x + 1 gives a = −1; p(−1) = −2 + 1 + 4 = 3: A. Trap: p(1) = 5. Adaptive routing: if &gt;30% miss the SAT item, return to slide 8 Example B; the GAT item, slide 7 Example A; the SAAT item, slide 7 Example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Dividing a polynomial by x − a gives a quotient and a remainder, the remainder equals p(a), and a zero remainder means x − a is a factor. Collect the Time to Check responses. Next lesson: more on zeros of polynomial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slideLayout" Target="../slideLayouts/slideLayout1.xml"/><Relationship Id="rId1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10  ·  ALGEBRA II  ·  TOPIC 3</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Lesson 3-4</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5000" b="1" dirty="0">
                <a:solidFill>
                  <a:srgbClr val="1F3864"/>
                </a:solidFill>
                <a:latin typeface="Cambria" pitchFamily="34" charset="0"/>
                <a:ea typeface="Cambria" pitchFamily="34" charset="-122"/>
                <a:cs typeface="Cambria" pitchFamily="34" charset="-120"/>
              </a:rPr>
              <a:t>Dividing</a:t>
            </a:r>
            <a:endParaRPr lang="en-US" sz="5000" dirty="0"/>
          </a:p>
          <a:p>
            <a:pPr indent="0" marL="0">
              <a:buNone/>
            </a:pPr>
            <a:r>
              <a:rPr lang="en-US" sz="5000" b="1" dirty="0">
                <a:solidFill>
                  <a:srgbClr val="1F3864"/>
                </a:solidFill>
                <a:latin typeface="Cambria" pitchFamily="34" charset="0"/>
                <a:ea typeface="Cambria" pitchFamily="34" charset="-122"/>
                <a:cs typeface="Cambria" pitchFamily="34" charset="-120"/>
              </a:rPr>
              <a:t>Polynomials</a:t>
            </a:r>
            <a:endParaRPr lang="en-US" sz="50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Polynomial Functions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L3-4w10/k37b317d56f.png">    </p:cNvPr>
          <p:cNvPicPr>
            <a:picLocks noChangeAspect="1"/>
          </p:cNvPicPr>
          <p:nvPr/>
        </p:nvPicPr>
        <p:blipFill>
          <a:blip r:embed="rId4"/>
          <a:stretch>
            <a:fillRect/>
          </a:stretch>
        </p:blipFill>
        <p:spPr>
          <a:xfrm>
            <a:off x="8412480" y="3017520"/>
            <a:ext cx="3291840" cy="409511"/>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HSA.APR.B.2 · HSA.APR.D.6 · HSA.SSE.A.2</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5029200"/>
          </a:xfrm>
          <a:prstGeom prst="roundRect">
            <a:avLst>
              <a:gd name="adj" fmla="val 218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44805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Identify quotients and remainders upon the division of polynomials.</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Apply the Remainder Theorem and the Factor Theorem.</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Use synthetic division to divide a polynomial by a linear polynomial with leading coefficient 1.</a:t>
            </a:r>
            <a:endParaRPr lang="en-US" sz="1700" dirty="0"/>
          </a:p>
        </p:txBody>
      </p:sp>
      <p:sp>
        <p:nvSpPr>
          <p:cNvPr id="14" name="Shape 9"/>
          <p:cNvSpPr/>
          <p:nvPr/>
        </p:nvSpPr>
        <p:spPr>
          <a:xfrm>
            <a:off x="6400800" y="1280160"/>
            <a:ext cx="5303520" cy="1847088"/>
          </a:xfrm>
          <a:prstGeom prst="roundRect">
            <a:avLst>
              <a:gd name="adj" fmla="val 5941"/>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16" name="Shape 11"/>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17" name="Text 12"/>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Divisor</a:t>
            </a:r>
            <a:endParaRPr lang="en-US" sz="1100" dirty="0"/>
          </a:p>
        </p:txBody>
      </p:sp>
      <p:sp>
        <p:nvSpPr>
          <p:cNvPr id="18" name="Shape 13"/>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19" name="Text 14"/>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factor</a:t>
            </a:r>
            <a:endParaRPr lang="en-US" sz="1100" dirty="0"/>
          </a:p>
        </p:txBody>
      </p:sp>
      <p:sp>
        <p:nvSpPr>
          <p:cNvPr id="20" name="Shape 15"/>
          <p:cNvSpPr/>
          <p:nvPr/>
        </p:nvSpPr>
        <p:spPr>
          <a:xfrm>
            <a:off x="6629400" y="1993392"/>
            <a:ext cx="2468880" cy="265176"/>
          </a:xfrm>
          <a:prstGeom prst="roundRect">
            <a:avLst>
              <a:gd name="adj" fmla="val 48276"/>
            </a:avLst>
          </a:prstGeom>
          <a:solidFill>
            <a:srgbClr val="1F3864"/>
          </a:solidFill>
          <a:ln w="12700">
            <a:solidFill>
              <a:srgbClr val="FFFFFF"/>
            </a:solidFill>
            <a:prstDash val="solid"/>
          </a:ln>
        </p:spPr>
      </p:sp>
      <p:sp>
        <p:nvSpPr>
          <p:cNvPr id="21" name="Text 16"/>
          <p:cNvSpPr txBox="1"/>
          <p:nvPr/>
        </p:nvSpPr>
        <p:spPr>
          <a:xfrm>
            <a:off x="662940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Polynomial</a:t>
            </a:r>
            <a:endParaRPr lang="en-US" sz="1100" dirty="0"/>
          </a:p>
        </p:txBody>
      </p:sp>
      <p:sp>
        <p:nvSpPr>
          <p:cNvPr id="22" name="Shape 17"/>
          <p:cNvSpPr/>
          <p:nvPr/>
        </p:nvSpPr>
        <p:spPr>
          <a:xfrm>
            <a:off x="9189720" y="1993392"/>
            <a:ext cx="2468880" cy="265176"/>
          </a:xfrm>
          <a:prstGeom prst="roundRect">
            <a:avLst>
              <a:gd name="adj" fmla="val 48276"/>
            </a:avLst>
          </a:prstGeom>
          <a:solidFill>
            <a:srgbClr val="1F3864"/>
          </a:solidFill>
          <a:ln w="12700">
            <a:solidFill>
              <a:srgbClr val="FFFFFF"/>
            </a:solidFill>
            <a:prstDash val="solid"/>
          </a:ln>
        </p:spPr>
      </p:sp>
      <p:sp>
        <p:nvSpPr>
          <p:cNvPr id="23" name="Text 18"/>
          <p:cNvSpPr txBox="1"/>
          <p:nvPr/>
        </p:nvSpPr>
        <p:spPr>
          <a:xfrm>
            <a:off x="918972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long division</a:t>
            </a:r>
            <a:endParaRPr lang="en-US" sz="1100" dirty="0"/>
          </a:p>
        </p:txBody>
      </p:sp>
      <p:sp>
        <p:nvSpPr>
          <p:cNvPr id="24" name="Shape 19"/>
          <p:cNvSpPr/>
          <p:nvPr/>
        </p:nvSpPr>
        <p:spPr>
          <a:xfrm>
            <a:off x="6629400" y="2295144"/>
            <a:ext cx="2468880" cy="265176"/>
          </a:xfrm>
          <a:prstGeom prst="roundRect">
            <a:avLst>
              <a:gd name="adj" fmla="val 48276"/>
            </a:avLst>
          </a:prstGeom>
          <a:solidFill>
            <a:srgbClr val="E8762C"/>
          </a:solidFill>
          <a:ln w="12700">
            <a:solidFill>
              <a:srgbClr val="FFFFFF"/>
            </a:solidFill>
            <a:prstDash val="solid"/>
          </a:ln>
        </p:spPr>
      </p:sp>
      <p:sp>
        <p:nvSpPr>
          <p:cNvPr id="25" name="Text 20"/>
          <p:cNvSpPr txBox="1"/>
          <p:nvPr/>
        </p:nvSpPr>
        <p:spPr>
          <a:xfrm>
            <a:off x="662940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proper rational function</a:t>
            </a:r>
            <a:endParaRPr lang="en-US" sz="1100" dirty="0"/>
          </a:p>
        </p:txBody>
      </p:sp>
      <p:sp>
        <p:nvSpPr>
          <p:cNvPr id="26" name="Shape 21"/>
          <p:cNvSpPr/>
          <p:nvPr/>
        </p:nvSpPr>
        <p:spPr>
          <a:xfrm>
            <a:off x="9189720" y="2295144"/>
            <a:ext cx="2468880" cy="265176"/>
          </a:xfrm>
          <a:prstGeom prst="roundRect">
            <a:avLst>
              <a:gd name="adj" fmla="val 48276"/>
            </a:avLst>
          </a:prstGeom>
          <a:solidFill>
            <a:srgbClr val="E8762C"/>
          </a:solidFill>
          <a:ln w="12700">
            <a:solidFill>
              <a:srgbClr val="FFFFFF"/>
            </a:solidFill>
            <a:prstDash val="solid"/>
          </a:ln>
        </p:spPr>
      </p:sp>
      <p:sp>
        <p:nvSpPr>
          <p:cNvPr id="27" name="Text 22"/>
          <p:cNvSpPr txBox="1"/>
          <p:nvPr/>
        </p:nvSpPr>
        <p:spPr>
          <a:xfrm>
            <a:off x="918972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Quotient</a:t>
            </a:r>
            <a:endParaRPr lang="en-US" sz="1100" dirty="0"/>
          </a:p>
        </p:txBody>
      </p:sp>
      <p:sp>
        <p:nvSpPr>
          <p:cNvPr id="28" name="Shape 23"/>
          <p:cNvSpPr/>
          <p:nvPr/>
        </p:nvSpPr>
        <p:spPr>
          <a:xfrm>
            <a:off x="6629400" y="2596896"/>
            <a:ext cx="2468880" cy="265176"/>
          </a:xfrm>
          <a:prstGeom prst="roundRect">
            <a:avLst>
              <a:gd name="adj" fmla="val 48276"/>
            </a:avLst>
          </a:prstGeom>
          <a:solidFill>
            <a:srgbClr val="17A199"/>
          </a:solidFill>
          <a:ln w="12700">
            <a:solidFill>
              <a:srgbClr val="FFFFFF"/>
            </a:solidFill>
            <a:prstDash val="solid"/>
          </a:ln>
        </p:spPr>
      </p:sp>
      <p:sp>
        <p:nvSpPr>
          <p:cNvPr id="29" name="Text 24"/>
          <p:cNvSpPr txBox="1"/>
          <p:nvPr/>
        </p:nvSpPr>
        <p:spPr>
          <a:xfrm>
            <a:off x="662940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Remainder</a:t>
            </a:r>
            <a:endParaRPr lang="en-US" sz="1100" dirty="0"/>
          </a:p>
        </p:txBody>
      </p:sp>
      <p:sp>
        <p:nvSpPr>
          <p:cNvPr id="30" name="Shape 25"/>
          <p:cNvSpPr/>
          <p:nvPr/>
        </p:nvSpPr>
        <p:spPr>
          <a:xfrm>
            <a:off x="9189720" y="2596896"/>
            <a:ext cx="2468880" cy="265176"/>
          </a:xfrm>
          <a:prstGeom prst="roundRect">
            <a:avLst>
              <a:gd name="adj" fmla="val 48276"/>
            </a:avLst>
          </a:prstGeom>
          <a:solidFill>
            <a:srgbClr val="17A199"/>
          </a:solidFill>
          <a:ln w="12700">
            <a:solidFill>
              <a:srgbClr val="FFFFFF"/>
            </a:solidFill>
            <a:prstDash val="solid"/>
          </a:ln>
        </p:spPr>
      </p:sp>
      <p:sp>
        <p:nvSpPr>
          <p:cNvPr id="31" name="Text 26"/>
          <p:cNvSpPr txBox="1"/>
          <p:nvPr/>
        </p:nvSpPr>
        <p:spPr>
          <a:xfrm>
            <a:off x="918972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synthetic division</a:t>
            </a:r>
            <a:endParaRPr lang="en-US" sz="1100" dirty="0"/>
          </a:p>
        </p:txBody>
      </p:sp>
      <p:sp>
        <p:nvSpPr>
          <p:cNvPr id="32" name="Shape 27"/>
          <p:cNvSpPr/>
          <p:nvPr/>
        </p:nvSpPr>
        <p:spPr>
          <a:xfrm>
            <a:off x="6400800" y="3264408"/>
            <a:ext cx="5303520" cy="3044952"/>
          </a:xfrm>
          <a:prstGeom prst="roundRect">
            <a:avLst>
              <a:gd name="adj" fmla="val 360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8"/>
          <p:cNvSpPr txBox="1"/>
          <p:nvPr/>
        </p:nvSpPr>
        <p:spPr>
          <a:xfrm>
            <a:off x="6675120" y="333756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STANDARDS</a:t>
            </a:r>
            <a:endParaRPr lang="en-US" sz="1100" dirty="0"/>
          </a:p>
        </p:txBody>
      </p:sp>
      <p:sp>
        <p:nvSpPr>
          <p:cNvPr id="34" name="Text 29"/>
          <p:cNvSpPr txBox="1"/>
          <p:nvPr/>
        </p:nvSpPr>
        <p:spPr>
          <a:xfrm>
            <a:off x="6675120" y="3630168"/>
            <a:ext cx="4846320" cy="2587752"/>
          </a:xfrm>
          <a:prstGeom prst="rect">
            <a:avLst/>
          </a:prstGeom>
          <a:noFill/>
          <a:ln/>
        </p:spPr>
        <p:txBody>
          <a:bodyPr wrap="square" lIns="0" tIns="0" rIns="0" bIns="0" rtlCol="0" anchor="t"/>
          <a:lstStyle/>
          <a:p>
            <a:pPr indent="0" marL="0">
              <a:buNone/>
            </a:pPr>
            <a:r>
              <a:rPr lang="en-US" sz="1050" b="1" dirty="0">
                <a:solidFill>
                  <a:srgbClr val="222E2D"/>
                </a:solidFill>
                <a:latin typeface="Calibri" pitchFamily="34" charset="0"/>
                <a:ea typeface="Calibri" pitchFamily="34" charset="-122"/>
                <a:cs typeface="Calibri" pitchFamily="34" charset="-120"/>
              </a:rPr>
              <a:t>HSA.APR.B.2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Know and apply the Remainder Theorem: For a polynomial p(x) and a number a, the remainder on division by x - a is p(a), so p(a) = 0 if and only if (x - a) is a factor of p(x).</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HSA.APR.D.6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Rewrite simple rational expressions in different forms; write a(x)/b(x) in the form q(x) + r(x)/b(x), where a(x), b(x), q(x), and r(x) are polynomials with the degree of r(x) less than the degree of b(x), using inspection, long division, or, for the more complicated examples, a computer algebra system.</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HSA.SSE.A.2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Use the structure of an expression to identify ways to rewrite it.</a:t>
            </a:r>
            <a:endParaRPr lang="en-US" sz="10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HSA.APR.B.2 · HSA.APR.D.6 · HSA.SSE.A.2</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3-4w10/ka56f25eef2.png">    </p:cNvPr>
          <p:cNvPicPr>
            <a:picLocks noChangeAspect="1"/>
          </p:cNvPicPr>
          <p:nvPr/>
        </p:nvPicPr>
        <p:blipFill>
          <a:blip r:embed="rId3"/>
          <a:stretch>
            <a:fillRect/>
          </a:stretch>
        </p:blipFill>
        <p:spPr>
          <a:xfrm>
            <a:off x="594360" y="2697480"/>
            <a:ext cx="3383280" cy="280895"/>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3-4w10/kf3b8c3fe04.png">    </p:cNvPr>
          <p:cNvPicPr>
            <a:picLocks noChangeAspect="1"/>
          </p:cNvPicPr>
          <p:nvPr/>
        </p:nvPicPr>
        <p:blipFill>
          <a:blip r:embed="rId4"/>
          <a:stretch>
            <a:fillRect/>
          </a:stretch>
        </p:blipFill>
        <p:spPr>
          <a:xfrm>
            <a:off x="4343400" y="2697480"/>
            <a:ext cx="3383280" cy="365001"/>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3-4w10/ka581683418.png">    </p:cNvPr>
          <p:cNvPicPr>
            <a:picLocks noChangeAspect="1"/>
          </p:cNvPicPr>
          <p:nvPr/>
        </p:nvPicPr>
        <p:blipFill>
          <a:blip r:embed="rId5"/>
          <a:stretch>
            <a:fillRect/>
          </a:stretch>
        </p:blipFill>
        <p:spPr>
          <a:xfrm>
            <a:off x="8092440" y="2697480"/>
            <a:ext cx="3383280" cy="224293"/>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All three answers are written without a calculator, and you can say how Question 3 and Question 2 are alike.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HSA.APR.B.2 · HSA.APR.D.6 · HSA.SSE.A.2</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Quotient and remainder</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3-4w10/k046f20f57d.png">    </p:cNvPr>
          <p:cNvPicPr>
            <a:picLocks noChangeAspect="1"/>
          </p:cNvPicPr>
          <p:nvPr/>
        </p:nvPicPr>
        <p:blipFill>
          <a:blip r:embed="rId3"/>
          <a:stretch>
            <a:fillRect/>
          </a:stretch>
        </p:blipFill>
        <p:spPr>
          <a:xfrm>
            <a:off x="2955341" y="2141525"/>
            <a:ext cx="3061411" cy="380390"/>
          </a:xfrm>
          <a:prstGeom prst="rect">
            <a:avLst/>
          </a:prstGeom>
        </p:spPr>
      </p:pic>
      <p:pic>
        <p:nvPicPr>
          <p:cNvPr id="31" name="Image 3" descr="m_L3-4w10/kb2ff02e950.png">    </p:cNvPr>
          <p:cNvPicPr>
            <a:picLocks noChangeAspect="1"/>
          </p:cNvPicPr>
          <p:nvPr/>
        </p:nvPicPr>
        <p:blipFill>
          <a:blip r:embed="rId4"/>
          <a:stretch>
            <a:fillRect/>
          </a:stretch>
        </p:blipFill>
        <p:spPr>
          <a:xfrm>
            <a:off x="6656832" y="2141525"/>
            <a:ext cx="2549347" cy="380390"/>
          </a:xfrm>
          <a:prstGeom prst="rect">
            <a:avLst/>
          </a:prstGeom>
        </p:spPr>
      </p:pic>
      <p:sp>
        <p:nvSpPr>
          <p:cNvPr id="32" name="Shape 25"/>
          <p:cNvSpPr/>
          <p:nvPr/>
        </p:nvSpPr>
        <p:spPr>
          <a:xfrm>
            <a:off x="457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3-4w10/kc1ee5516de.png">    </p:cNvPr>
          <p:cNvPicPr>
            <a:picLocks noChangeAspect="1"/>
          </p:cNvPicPr>
          <p:nvPr/>
        </p:nvPicPr>
        <p:blipFill>
          <a:blip r:embed="rId5"/>
          <a:stretch>
            <a:fillRect/>
          </a:stretch>
        </p:blipFill>
        <p:spPr>
          <a:xfrm>
            <a:off x="1766374" y="3520440"/>
            <a:ext cx="2913772" cy="387120"/>
          </a:xfrm>
          <a:prstGeom prst="rect">
            <a:avLst/>
          </a:prstGeom>
        </p:spPr>
      </p:pic>
      <p:pic>
        <p:nvPicPr>
          <p:cNvPr id="35" name="Image 5" descr="m_L3-4w10/k49bc4fd85c.png">    </p:cNvPr>
          <p:cNvPicPr>
            <a:picLocks noChangeAspect="1"/>
          </p:cNvPicPr>
          <p:nvPr/>
        </p:nvPicPr>
        <p:blipFill>
          <a:blip r:embed="rId6"/>
          <a:stretch>
            <a:fillRect/>
          </a:stretch>
        </p:blipFill>
        <p:spPr>
          <a:xfrm>
            <a:off x="1282720" y="4026432"/>
            <a:ext cx="3881079" cy="368686"/>
          </a:xfrm>
          <a:prstGeom prst="rect">
            <a:avLst/>
          </a:prstGeom>
        </p:spPr>
      </p:pic>
      <p:pic>
        <p:nvPicPr>
          <p:cNvPr id="36" name="Image 6" descr="m_L3-4w10/k9b5e614bff.png">    </p:cNvPr>
          <p:cNvPicPr>
            <a:picLocks noChangeAspect="1"/>
          </p:cNvPicPr>
          <p:nvPr/>
        </p:nvPicPr>
        <p:blipFill>
          <a:blip r:embed="rId7"/>
          <a:stretch>
            <a:fillRect/>
          </a:stretch>
        </p:blipFill>
        <p:spPr>
          <a:xfrm>
            <a:off x="2176455" y="4513990"/>
            <a:ext cx="2093610" cy="299557"/>
          </a:xfrm>
          <a:prstGeom prst="rect">
            <a:avLst/>
          </a:prstGeom>
        </p:spPr>
      </p:pic>
      <p:sp>
        <p:nvSpPr>
          <p:cNvPr id="37" name="Shape 27"/>
          <p:cNvSpPr/>
          <p:nvPr/>
        </p:nvSpPr>
        <p:spPr>
          <a:xfrm>
            <a:off x="6172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3-4w10/k32bfa6c947.png">    </p:cNvPr>
          <p:cNvPicPr>
            <a:picLocks noChangeAspect="1"/>
          </p:cNvPicPr>
          <p:nvPr/>
        </p:nvPicPr>
        <p:blipFill>
          <a:blip r:embed="rId8"/>
          <a:stretch>
            <a:fillRect/>
          </a:stretch>
        </p:blipFill>
        <p:spPr>
          <a:xfrm>
            <a:off x="7403604" y="3520440"/>
            <a:ext cx="3069312" cy="387120"/>
          </a:xfrm>
          <a:prstGeom prst="rect">
            <a:avLst/>
          </a:prstGeom>
        </p:spPr>
      </p:pic>
      <p:pic>
        <p:nvPicPr>
          <p:cNvPr id="40" name="Image 8" descr="m_L3-4w10/kb810378479.png">    </p:cNvPr>
          <p:cNvPicPr>
            <a:picLocks noChangeAspect="1"/>
          </p:cNvPicPr>
          <p:nvPr/>
        </p:nvPicPr>
        <p:blipFill>
          <a:blip r:embed="rId9"/>
          <a:stretch>
            <a:fillRect/>
          </a:stretch>
        </p:blipFill>
        <p:spPr>
          <a:xfrm>
            <a:off x="6790334" y="4026432"/>
            <a:ext cx="4295851" cy="368686"/>
          </a:xfrm>
          <a:prstGeom prst="rect">
            <a:avLst/>
          </a:prstGeom>
        </p:spPr>
      </p:pic>
      <p:pic>
        <p:nvPicPr>
          <p:cNvPr id="41" name="Image 9" descr="m_L3-4w10/k8383be077f.png">    </p:cNvPr>
          <p:cNvPicPr>
            <a:picLocks noChangeAspect="1"/>
          </p:cNvPicPr>
          <p:nvPr/>
        </p:nvPicPr>
        <p:blipFill>
          <a:blip r:embed="rId10"/>
          <a:stretch>
            <a:fillRect/>
          </a:stretch>
        </p:blipFill>
        <p:spPr>
          <a:xfrm>
            <a:off x="7758135" y="4513990"/>
            <a:ext cx="2360249" cy="29955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HSA.APR.B.2 · HSA.APR.D.6 · HSA.SSE.A.2</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Synthetic division</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3-4w10/k3f0f9aa47c.png">    </p:cNvPr>
          <p:cNvPicPr>
            <a:picLocks noChangeAspect="1"/>
          </p:cNvPicPr>
          <p:nvPr/>
        </p:nvPicPr>
        <p:blipFill>
          <a:blip r:embed="rId3"/>
          <a:stretch>
            <a:fillRect/>
          </a:stretch>
        </p:blipFill>
        <p:spPr>
          <a:xfrm>
            <a:off x="1075334" y="2157984"/>
            <a:ext cx="5230368" cy="347472"/>
          </a:xfrm>
          <a:prstGeom prst="rect">
            <a:avLst/>
          </a:prstGeom>
        </p:spPr>
      </p:pic>
      <p:pic>
        <p:nvPicPr>
          <p:cNvPr id="31" name="Image 3" descr="m_L3-4w10/kba5a2f2276.png">    </p:cNvPr>
          <p:cNvPicPr>
            <a:picLocks noChangeAspect="1"/>
          </p:cNvPicPr>
          <p:nvPr/>
        </p:nvPicPr>
        <p:blipFill>
          <a:blip r:embed="rId4"/>
          <a:stretch>
            <a:fillRect/>
          </a:stretch>
        </p:blipFill>
        <p:spPr>
          <a:xfrm>
            <a:off x="6945782" y="2157984"/>
            <a:ext cx="4140403" cy="347472"/>
          </a:xfrm>
          <a:prstGeom prst="rect">
            <a:avLst/>
          </a:prstGeom>
        </p:spPr>
      </p:pic>
      <p:sp>
        <p:nvSpPr>
          <p:cNvPr id="32" name="Shape 25"/>
          <p:cNvSpPr/>
          <p:nvPr/>
        </p:nvSpPr>
        <p:spPr>
          <a:xfrm>
            <a:off x="457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3-4w10/k37f46b74fb.png">    </p:cNvPr>
          <p:cNvPicPr>
            <a:picLocks noChangeAspect="1"/>
          </p:cNvPicPr>
          <p:nvPr/>
        </p:nvPicPr>
        <p:blipFill>
          <a:blip r:embed="rId5"/>
          <a:stretch>
            <a:fillRect/>
          </a:stretch>
        </p:blipFill>
        <p:spPr>
          <a:xfrm>
            <a:off x="1379254" y="3520440"/>
            <a:ext cx="3688013" cy="387120"/>
          </a:xfrm>
          <a:prstGeom prst="rect">
            <a:avLst/>
          </a:prstGeom>
        </p:spPr>
      </p:pic>
      <p:pic>
        <p:nvPicPr>
          <p:cNvPr id="35" name="Image 5" descr="m_L3-4w10/k77a0c6a135.png">    </p:cNvPr>
          <p:cNvPicPr>
            <a:picLocks noChangeAspect="1"/>
          </p:cNvPicPr>
          <p:nvPr/>
        </p:nvPicPr>
        <p:blipFill>
          <a:blip r:embed="rId6"/>
          <a:stretch>
            <a:fillRect/>
          </a:stretch>
        </p:blipFill>
        <p:spPr>
          <a:xfrm>
            <a:off x="2020092" y="4026432"/>
            <a:ext cx="2406335" cy="312725"/>
          </a:xfrm>
          <a:prstGeom prst="rect">
            <a:avLst/>
          </a:prstGeom>
        </p:spPr>
      </p:pic>
      <p:pic>
        <p:nvPicPr>
          <p:cNvPr id="36" name="Image 6" descr="m_L3-4w10/k919ffa2daa.png">    </p:cNvPr>
          <p:cNvPicPr>
            <a:picLocks noChangeAspect="1"/>
          </p:cNvPicPr>
          <p:nvPr/>
        </p:nvPicPr>
        <p:blipFill>
          <a:blip r:embed="rId7"/>
          <a:stretch>
            <a:fillRect/>
          </a:stretch>
        </p:blipFill>
        <p:spPr>
          <a:xfrm>
            <a:off x="1939442" y="4458029"/>
            <a:ext cx="2567635" cy="352227"/>
          </a:xfrm>
          <a:prstGeom prst="rect">
            <a:avLst/>
          </a:prstGeom>
        </p:spPr>
      </p:pic>
      <p:sp>
        <p:nvSpPr>
          <p:cNvPr id="37" name="Shape 27"/>
          <p:cNvSpPr/>
          <p:nvPr/>
        </p:nvSpPr>
        <p:spPr>
          <a:xfrm>
            <a:off x="6172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3-4w10/k4f82479a67.png">    </p:cNvPr>
          <p:cNvPicPr>
            <a:picLocks noChangeAspect="1"/>
          </p:cNvPicPr>
          <p:nvPr/>
        </p:nvPicPr>
        <p:blipFill>
          <a:blip r:embed="rId8"/>
          <a:stretch>
            <a:fillRect/>
          </a:stretch>
        </p:blipFill>
        <p:spPr>
          <a:xfrm>
            <a:off x="7099438" y="3520440"/>
            <a:ext cx="3677644" cy="387120"/>
          </a:xfrm>
          <a:prstGeom prst="rect">
            <a:avLst/>
          </a:prstGeom>
        </p:spPr>
      </p:pic>
      <p:pic>
        <p:nvPicPr>
          <p:cNvPr id="40" name="Image 8" descr="m_L3-4w10/k9918eadbe3.png">    </p:cNvPr>
          <p:cNvPicPr>
            <a:picLocks noChangeAspect="1"/>
          </p:cNvPicPr>
          <p:nvPr/>
        </p:nvPicPr>
        <p:blipFill>
          <a:blip r:embed="rId9"/>
          <a:stretch>
            <a:fillRect/>
          </a:stretch>
        </p:blipFill>
        <p:spPr>
          <a:xfrm>
            <a:off x="7461870" y="4026432"/>
            <a:ext cx="2952780" cy="312725"/>
          </a:xfrm>
          <a:prstGeom prst="rect">
            <a:avLst/>
          </a:prstGeom>
        </p:spPr>
      </p:pic>
      <p:pic>
        <p:nvPicPr>
          <p:cNvPr id="41" name="Image 9" descr="m_L3-4w10/kad363984f2.png">    </p:cNvPr>
          <p:cNvPicPr>
            <a:picLocks noChangeAspect="1"/>
          </p:cNvPicPr>
          <p:nvPr/>
        </p:nvPicPr>
        <p:blipFill>
          <a:blip r:embed="rId10"/>
          <a:stretch>
            <a:fillRect/>
          </a:stretch>
        </p:blipFill>
        <p:spPr>
          <a:xfrm>
            <a:off x="7354885" y="4458029"/>
            <a:ext cx="3166750" cy="35222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HSA.APR.B.2 · HSA.APR.D.6 · HSA.SSE.A.2</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The Remainder Theorem</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3-4w10/k5fe681d834.png">    </p:cNvPr>
          <p:cNvPicPr>
            <a:picLocks noChangeAspect="1"/>
          </p:cNvPicPr>
          <p:nvPr/>
        </p:nvPicPr>
        <p:blipFill>
          <a:blip r:embed="rId3"/>
          <a:stretch>
            <a:fillRect/>
          </a:stretch>
        </p:blipFill>
        <p:spPr>
          <a:xfrm>
            <a:off x="1292962" y="2141525"/>
            <a:ext cx="4129430" cy="380390"/>
          </a:xfrm>
          <a:prstGeom prst="rect">
            <a:avLst/>
          </a:prstGeom>
        </p:spPr>
      </p:pic>
      <p:pic>
        <p:nvPicPr>
          <p:cNvPr id="31" name="Image 3" descr="m_L3-4w10/k3ccaea9ed6.png">    </p:cNvPr>
          <p:cNvPicPr>
            <a:picLocks noChangeAspect="1"/>
          </p:cNvPicPr>
          <p:nvPr/>
        </p:nvPicPr>
        <p:blipFill>
          <a:blip r:embed="rId4"/>
          <a:stretch>
            <a:fillRect/>
          </a:stretch>
        </p:blipFill>
        <p:spPr>
          <a:xfrm>
            <a:off x="6062472" y="2141525"/>
            <a:ext cx="4806086" cy="380390"/>
          </a:xfrm>
          <a:prstGeom prst="rect">
            <a:avLst/>
          </a:prstGeom>
        </p:spPr>
      </p:pic>
      <p:sp>
        <p:nvSpPr>
          <p:cNvPr id="32" name="Shape 25"/>
          <p:cNvSpPr/>
          <p:nvPr/>
        </p:nvSpPr>
        <p:spPr>
          <a:xfrm>
            <a:off x="457200" y="3108960"/>
            <a:ext cx="5532120" cy="2331720"/>
          </a:xfrm>
          <a:prstGeom prst="roundRect">
            <a:avLst>
              <a:gd name="adj" fmla="val 4706"/>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3-4w10/k9b00fec98a.png">    </p:cNvPr>
          <p:cNvPicPr>
            <a:picLocks noChangeAspect="1"/>
          </p:cNvPicPr>
          <p:nvPr/>
        </p:nvPicPr>
        <p:blipFill>
          <a:blip r:embed="rId5"/>
          <a:stretch>
            <a:fillRect/>
          </a:stretch>
        </p:blipFill>
        <p:spPr>
          <a:xfrm>
            <a:off x="1019785" y="3520440"/>
            <a:ext cx="4406951" cy="387120"/>
          </a:xfrm>
          <a:prstGeom prst="rect">
            <a:avLst/>
          </a:prstGeom>
        </p:spPr>
      </p:pic>
      <p:pic>
        <p:nvPicPr>
          <p:cNvPr id="35" name="Image 5" descr="m_L3-4w10/k342d9ea675.png">    </p:cNvPr>
          <p:cNvPicPr>
            <a:picLocks noChangeAspect="1"/>
          </p:cNvPicPr>
          <p:nvPr/>
        </p:nvPicPr>
        <p:blipFill>
          <a:blip r:embed="rId6"/>
          <a:stretch>
            <a:fillRect/>
          </a:stretch>
        </p:blipFill>
        <p:spPr>
          <a:xfrm>
            <a:off x="1871960" y="4026432"/>
            <a:ext cx="2702601" cy="342351"/>
          </a:xfrm>
          <a:prstGeom prst="rect">
            <a:avLst/>
          </a:prstGeom>
        </p:spPr>
      </p:pic>
      <p:pic>
        <p:nvPicPr>
          <p:cNvPr id="36" name="Image 6" descr="m_L3-4w10/k69fa9d1d59.png">    </p:cNvPr>
          <p:cNvPicPr>
            <a:picLocks noChangeAspect="1"/>
          </p:cNvPicPr>
          <p:nvPr/>
        </p:nvPicPr>
        <p:blipFill>
          <a:blip r:embed="rId7"/>
          <a:stretch>
            <a:fillRect/>
          </a:stretch>
        </p:blipFill>
        <p:spPr>
          <a:xfrm>
            <a:off x="2877617" y="4487656"/>
            <a:ext cx="691286" cy="246888"/>
          </a:xfrm>
          <a:prstGeom prst="rect">
            <a:avLst/>
          </a:prstGeom>
        </p:spPr>
      </p:pic>
      <p:sp>
        <p:nvSpPr>
          <p:cNvPr id="37" name="Shape 27"/>
          <p:cNvSpPr/>
          <p:nvPr/>
        </p:nvSpPr>
        <p:spPr>
          <a:xfrm>
            <a:off x="6172200" y="3108960"/>
            <a:ext cx="5532120" cy="2331720"/>
          </a:xfrm>
          <a:prstGeom prst="roundRect">
            <a:avLst>
              <a:gd name="adj" fmla="val 4706"/>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3-4w10/k71343336c3.png">    </p:cNvPr>
          <p:cNvPicPr>
            <a:picLocks noChangeAspect="1"/>
          </p:cNvPicPr>
          <p:nvPr/>
        </p:nvPicPr>
        <p:blipFill>
          <a:blip r:embed="rId8"/>
          <a:stretch>
            <a:fillRect/>
          </a:stretch>
        </p:blipFill>
        <p:spPr>
          <a:xfrm>
            <a:off x="6596527" y="3520440"/>
            <a:ext cx="4683465" cy="387120"/>
          </a:xfrm>
          <a:prstGeom prst="rect">
            <a:avLst/>
          </a:prstGeom>
        </p:spPr>
      </p:pic>
      <p:pic>
        <p:nvPicPr>
          <p:cNvPr id="40" name="Image 8" descr="m_L3-4w10/k26ef1d4d9f.png">    </p:cNvPr>
          <p:cNvPicPr>
            <a:picLocks noChangeAspect="1"/>
          </p:cNvPicPr>
          <p:nvPr/>
        </p:nvPicPr>
        <p:blipFill>
          <a:blip r:embed="rId9"/>
          <a:stretch>
            <a:fillRect/>
          </a:stretch>
        </p:blipFill>
        <p:spPr>
          <a:xfrm>
            <a:off x="7376282" y="4026432"/>
            <a:ext cx="3123956" cy="342351"/>
          </a:xfrm>
          <a:prstGeom prst="rect">
            <a:avLst/>
          </a:prstGeom>
        </p:spPr>
      </p:pic>
      <p:pic>
        <p:nvPicPr>
          <p:cNvPr id="41" name="Image 9" descr="m_L3-4w10/k74d82dbe0d.png">    </p:cNvPr>
          <p:cNvPicPr>
            <a:picLocks noChangeAspect="1"/>
          </p:cNvPicPr>
          <p:nvPr/>
        </p:nvPicPr>
        <p:blipFill>
          <a:blip r:embed="rId10"/>
          <a:stretch>
            <a:fillRect/>
          </a:stretch>
        </p:blipFill>
        <p:spPr>
          <a:xfrm>
            <a:off x="8525134" y="4487656"/>
            <a:ext cx="826252" cy="246888"/>
          </a:xfrm>
          <a:prstGeom prst="rect">
            <a:avLst/>
          </a:prstGeom>
        </p:spPr>
      </p:pic>
      <p:sp>
        <p:nvSpPr>
          <p:cNvPr id="42" name="Shape 29"/>
          <p:cNvSpPr/>
          <p:nvPr/>
        </p:nvSpPr>
        <p:spPr>
          <a:xfrm>
            <a:off x="457200" y="5532120"/>
            <a:ext cx="11247120" cy="731520"/>
          </a:xfrm>
          <a:prstGeom prst="roundRect">
            <a:avLst>
              <a:gd name="adj" fmla="val 15000"/>
            </a:avLst>
          </a:prstGeom>
          <a:solidFill>
            <a:srgbClr val="FFF1C9"/>
          </a:solidFill>
          <a:ln w="28575">
            <a:solidFill>
              <a:srgbClr val="F0B323"/>
            </a:solidFill>
            <a:prstDash val="solid"/>
          </a:ln>
          <a:effectLst>
            <a:outerShdw sx="100000" sy="100000" kx="0" ky="0" algn="bl" rotWithShape="0" blurRad="101600" dist="25400" dir="5400000">
              <a:srgbClr val="000000">
                <a:alpha val="15000"/>
              </a:srgbClr>
            </a:outerShdw>
          </a:effectLst>
        </p:spPr>
      </p:sp>
      <p:sp>
        <p:nvSpPr>
          <p:cNvPr id="43" name="Text 30"/>
          <p:cNvSpPr txBox="1"/>
          <p:nvPr/>
        </p:nvSpPr>
        <p:spPr>
          <a:xfrm>
            <a:off x="685800" y="5532120"/>
            <a:ext cx="1463040" cy="731520"/>
          </a:xfrm>
          <a:prstGeom prst="rect">
            <a:avLst/>
          </a:prstGeom>
          <a:noFill/>
          <a:ln/>
        </p:spPr>
        <p:txBody>
          <a:bodyPr wrap="square" lIns="0" tIns="0" rIns="0" bIns="0" rtlCol="0" anchor="ctr"/>
          <a:lstStyle/>
          <a:p>
            <a:pPr indent="0" marL="0">
              <a:buNone/>
            </a:pPr>
            <a:r>
              <a:rPr lang="en-US" sz="1200" b="1" spc="200" kern="0" dirty="0">
                <a:solidFill>
                  <a:srgbClr val="E8762C"/>
                </a:solidFill>
                <a:latin typeface="Calibri" pitchFamily="34" charset="0"/>
                <a:ea typeface="Calibri" pitchFamily="34" charset="-122"/>
                <a:cs typeface="Calibri" pitchFamily="34" charset="-120"/>
              </a:rPr>
              <a:t>WHAT IF...?</a:t>
            </a:r>
            <a:endParaRPr lang="en-US" sz="1200" dirty="0"/>
          </a:p>
        </p:txBody>
      </p:sp>
      <p:sp>
        <p:nvSpPr>
          <p:cNvPr id="44" name="Text 31"/>
          <p:cNvSpPr txBox="1"/>
          <p:nvPr/>
        </p:nvSpPr>
        <p:spPr>
          <a:xfrm>
            <a:off x="2194560" y="5532120"/>
            <a:ext cx="6309360" cy="731520"/>
          </a:xfrm>
          <a:prstGeom prst="rect">
            <a:avLst/>
          </a:prstGeom>
          <a:noFill/>
          <a:ln/>
        </p:spPr>
        <p:txBody>
          <a:bodyPr wrap="square" lIns="0" tIns="0" rIns="0" bIns="0" rtlCol="0" anchor="ctr"/>
          <a:lstStyle/>
          <a:p>
            <a:pPr indent="0" marL="0">
              <a:buNone/>
            </a:pPr>
            <a:r>
              <a:rPr lang="en-US" sz="1400" dirty="0">
                <a:solidFill>
                  <a:srgbClr val="222E2D"/>
                </a:solidFill>
                <a:latin typeface="Calibri" pitchFamily="34" charset="0"/>
                <a:ea typeface="Calibri" pitchFamily="34" charset="-122"/>
                <a:cs typeface="Calibri" pitchFamily="34" charset="-120"/>
              </a:rPr>
              <a:t>What if the divisor is x − 3 and p(x) = x³ − 7x + 6? Predict the remainder from p(3), then check by synthetic division.</a:t>
            </a:r>
            <a:endParaRPr lang="en-US" sz="1400" dirty="0"/>
          </a:p>
        </p:txBody>
      </p:sp>
      <p:pic>
        <p:nvPicPr>
          <p:cNvPr id="45" name="Image 10" descr="m_L3-4w10/k7e9b0435ab.png">    </p:cNvPr>
          <p:cNvPicPr>
            <a:picLocks noChangeAspect="1"/>
          </p:cNvPicPr>
          <p:nvPr/>
        </p:nvPicPr>
        <p:blipFill>
          <a:blip r:embed="rId11"/>
          <a:stretch>
            <a:fillRect/>
          </a:stretch>
        </p:blipFill>
        <p:spPr>
          <a:xfrm>
            <a:off x="9086393" y="5755234"/>
            <a:ext cx="2389327" cy="28529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HSA.APR.B.2 · HSA.APR.D.6 · HSA.SSE.A.2</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The Factor Theorem</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3-4w10/kf083857ae0.png">    </p:cNvPr>
          <p:cNvPicPr>
            <a:picLocks noChangeAspect="1"/>
          </p:cNvPicPr>
          <p:nvPr/>
        </p:nvPicPr>
        <p:blipFill>
          <a:blip r:embed="rId3"/>
          <a:stretch>
            <a:fillRect/>
          </a:stretch>
        </p:blipFill>
        <p:spPr>
          <a:xfrm>
            <a:off x="996696" y="2141525"/>
            <a:ext cx="5369357" cy="380390"/>
          </a:xfrm>
          <a:prstGeom prst="rect">
            <a:avLst/>
          </a:prstGeom>
        </p:spPr>
      </p:pic>
      <p:pic>
        <p:nvPicPr>
          <p:cNvPr id="31" name="Image 3" descr="m_L3-4w10/k05398ea0e3.png">    </p:cNvPr>
          <p:cNvPicPr>
            <a:picLocks noChangeAspect="1"/>
          </p:cNvPicPr>
          <p:nvPr/>
        </p:nvPicPr>
        <p:blipFill>
          <a:blip r:embed="rId4"/>
          <a:stretch>
            <a:fillRect/>
          </a:stretch>
        </p:blipFill>
        <p:spPr>
          <a:xfrm>
            <a:off x="7006133" y="2157984"/>
            <a:ext cx="4158691" cy="347472"/>
          </a:xfrm>
          <a:prstGeom prst="rect">
            <a:avLst/>
          </a:prstGeom>
        </p:spPr>
      </p:pic>
      <p:sp>
        <p:nvSpPr>
          <p:cNvPr id="32" name="Shape 25"/>
          <p:cNvSpPr/>
          <p:nvPr/>
        </p:nvSpPr>
        <p:spPr>
          <a:xfrm>
            <a:off x="457200" y="3108960"/>
            <a:ext cx="5532120" cy="2331720"/>
          </a:xfrm>
          <a:prstGeom prst="roundRect">
            <a:avLst>
              <a:gd name="adj" fmla="val 4706"/>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3-4w10/k40b6e30f5c.png">    </p:cNvPr>
          <p:cNvPicPr>
            <a:picLocks noChangeAspect="1"/>
          </p:cNvPicPr>
          <p:nvPr/>
        </p:nvPicPr>
        <p:blipFill>
          <a:blip r:embed="rId5"/>
          <a:stretch>
            <a:fillRect/>
          </a:stretch>
        </p:blipFill>
        <p:spPr>
          <a:xfrm>
            <a:off x="770921" y="3520440"/>
            <a:ext cx="4904677" cy="387120"/>
          </a:xfrm>
          <a:prstGeom prst="rect">
            <a:avLst/>
          </a:prstGeom>
        </p:spPr>
      </p:pic>
      <p:pic>
        <p:nvPicPr>
          <p:cNvPr id="35" name="Image 5" descr="m_L3-4w10/k566b4ba3b4.png">    </p:cNvPr>
          <p:cNvPicPr>
            <a:picLocks noChangeAspect="1"/>
          </p:cNvPicPr>
          <p:nvPr/>
        </p:nvPicPr>
        <p:blipFill>
          <a:blip r:embed="rId6"/>
          <a:stretch>
            <a:fillRect/>
          </a:stretch>
        </p:blipFill>
        <p:spPr>
          <a:xfrm>
            <a:off x="1045708" y="4026432"/>
            <a:ext cx="4355104" cy="342351"/>
          </a:xfrm>
          <a:prstGeom prst="rect">
            <a:avLst/>
          </a:prstGeom>
        </p:spPr>
      </p:pic>
      <p:pic>
        <p:nvPicPr>
          <p:cNvPr id="36" name="Image 6" descr="m_L3-4w10/kd8efa1536a.png">    </p:cNvPr>
          <p:cNvPicPr>
            <a:picLocks noChangeAspect="1"/>
          </p:cNvPicPr>
          <p:nvPr/>
        </p:nvPicPr>
        <p:blipFill>
          <a:blip r:embed="rId7"/>
          <a:stretch>
            <a:fillRect/>
          </a:stretch>
        </p:blipFill>
        <p:spPr>
          <a:xfrm>
            <a:off x="640080" y="4487656"/>
            <a:ext cx="5166360" cy="360743"/>
          </a:xfrm>
          <a:prstGeom prst="rect">
            <a:avLst/>
          </a:prstGeom>
        </p:spPr>
      </p:pic>
      <p:sp>
        <p:nvSpPr>
          <p:cNvPr id="37" name="Shape 27"/>
          <p:cNvSpPr/>
          <p:nvPr/>
        </p:nvSpPr>
        <p:spPr>
          <a:xfrm>
            <a:off x="6172200" y="3108960"/>
            <a:ext cx="5532120" cy="2331720"/>
          </a:xfrm>
          <a:prstGeom prst="roundRect">
            <a:avLst>
              <a:gd name="adj" fmla="val 4706"/>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3-4w10/ka56a70a24e.png">    </p:cNvPr>
          <p:cNvPicPr>
            <a:picLocks noChangeAspect="1"/>
          </p:cNvPicPr>
          <p:nvPr/>
        </p:nvPicPr>
        <p:blipFill>
          <a:blip r:embed="rId8"/>
          <a:stretch>
            <a:fillRect/>
          </a:stretch>
        </p:blipFill>
        <p:spPr>
          <a:xfrm>
            <a:off x="6355080" y="3520440"/>
            <a:ext cx="5166360" cy="335522"/>
          </a:xfrm>
          <a:prstGeom prst="rect">
            <a:avLst/>
          </a:prstGeom>
        </p:spPr>
      </p:pic>
      <p:pic>
        <p:nvPicPr>
          <p:cNvPr id="40" name="Image 8" descr="m_L3-4w10/k6c072e8935.png">    </p:cNvPr>
          <p:cNvPicPr>
            <a:picLocks noChangeAspect="1"/>
          </p:cNvPicPr>
          <p:nvPr/>
        </p:nvPicPr>
        <p:blipFill>
          <a:blip r:embed="rId9"/>
          <a:stretch>
            <a:fillRect/>
          </a:stretch>
        </p:blipFill>
        <p:spPr>
          <a:xfrm>
            <a:off x="7330196" y="3974834"/>
            <a:ext cx="3216128" cy="342351"/>
          </a:xfrm>
          <a:prstGeom prst="rect">
            <a:avLst/>
          </a:prstGeom>
        </p:spPr>
      </p:pic>
      <p:pic>
        <p:nvPicPr>
          <p:cNvPr id="41" name="Image 9" descr="m_L3-4w10/k5a526fca9d.png">    </p:cNvPr>
          <p:cNvPicPr>
            <a:picLocks noChangeAspect="1"/>
          </p:cNvPicPr>
          <p:nvPr/>
        </p:nvPicPr>
        <p:blipFill>
          <a:blip r:embed="rId10"/>
          <a:stretch>
            <a:fillRect/>
          </a:stretch>
        </p:blipFill>
        <p:spPr>
          <a:xfrm>
            <a:off x="8582741" y="4436058"/>
            <a:ext cx="711037" cy="260055"/>
          </a:xfrm>
          <a:prstGeom prst="rect">
            <a:avLst/>
          </a:prstGeom>
        </p:spPr>
      </p:pic>
      <p:sp>
        <p:nvSpPr>
          <p:cNvPr id="42" name="Shape 29"/>
          <p:cNvSpPr/>
          <p:nvPr/>
        </p:nvSpPr>
        <p:spPr>
          <a:xfrm>
            <a:off x="457200" y="5532120"/>
            <a:ext cx="11247120" cy="731520"/>
          </a:xfrm>
          <a:prstGeom prst="roundRect">
            <a:avLst>
              <a:gd name="adj" fmla="val 15000"/>
            </a:avLst>
          </a:prstGeom>
          <a:solidFill>
            <a:srgbClr val="FFF1C9"/>
          </a:solidFill>
          <a:ln w="28575">
            <a:solidFill>
              <a:srgbClr val="F0B323"/>
            </a:solidFill>
            <a:prstDash val="solid"/>
          </a:ln>
          <a:effectLst>
            <a:outerShdw sx="100000" sy="100000" kx="0" ky="0" algn="bl" rotWithShape="0" blurRad="101600" dist="25400" dir="5400000">
              <a:srgbClr val="000000">
                <a:alpha val="15000"/>
              </a:srgbClr>
            </a:outerShdw>
          </a:effectLst>
        </p:spPr>
      </p:sp>
      <p:sp>
        <p:nvSpPr>
          <p:cNvPr id="43" name="Text 30"/>
          <p:cNvSpPr txBox="1"/>
          <p:nvPr/>
        </p:nvSpPr>
        <p:spPr>
          <a:xfrm>
            <a:off x="685800" y="5532120"/>
            <a:ext cx="1463040" cy="731520"/>
          </a:xfrm>
          <a:prstGeom prst="rect">
            <a:avLst/>
          </a:prstGeom>
          <a:noFill/>
          <a:ln/>
        </p:spPr>
        <p:txBody>
          <a:bodyPr wrap="square" lIns="0" tIns="0" rIns="0" bIns="0" rtlCol="0" anchor="ctr"/>
          <a:lstStyle/>
          <a:p>
            <a:pPr indent="0" marL="0">
              <a:buNone/>
            </a:pPr>
            <a:r>
              <a:rPr lang="en-US" sz="1200" b="1" spc="200" kern="0" dirty="0">
                <a:solidFill>
                  <a:srgbClr val="E8762C"/>
                </a:solidFill>
                <a:latin typeface="Calibri" pitchFamily="34" charset="0"/>
                <a:ea typeface="Calibri" pitchFamily="34" charset="-122"/>
                <a:cs typeface="Calibri" pitchFamily="34" charset="-120"/>
              </a:rPr>
              <a:t>WHAT IF...?</a:t>
            </a:r>
            <a:endParaRPr lang="en-US" sz="1200" dirty="0"/>
          </a:p>
        </p:txBody>
      </p:sp>
      <p:sp>
        <p:nvSpPr>
          <p:cNvPr id="44" name="Text 31"/>
          <p:cNvSpPr txBox="1"/>
          <p:nvPr/>
        </p:nvSpPr>
        <p:spPr>
          <a:xfrm>
            <a:off x="2194560" y="5532120"/>
            <a:ext cx="6309360" cy="731520"/>
          </a:xfrm>
          <a:prstGeom prst="rect">
            <a:avLst/>
          </a:prstGeom>
          <a:noFill/>
          <a:ln/>
        </p:spPr>
        <p:txBody>
          <a:bodyPr wrap="square" lIns="0" tIns="0" rIns="0" bIns="0" rtlCol="0" anchor="ctr"/>
          <a:lstStyle/>
          <a:p>
            <a:pPr indent="0" marL="0">
              <a:buNone/>
            </a:pPr>
            <a:r>
              <a:rPr lang="en-US" sz="1400" dirty="0">
                <a:solidFill>
                  <a:srgbClr val="222E2D"/>
                </a:solidFill>
                <a:latin typeface="Calibri" pitchFamily="34" charset="0"/>
                <a:ea typeface="Calibri" pitchFamily="34" charset="-122"/>
                <a:cs typeface="Calibri" pitchFamily="34" charset="-120"/>
              </a:rPr>
              <a:t>What if x + 4 is tested on the same cubic? Predict p(−4) before you substitute, then use it to confirm the factorisation.</a:t>
            </a:r>
            <a:endParaRPr lang="en-US" sz="1400" dirty="0"/>
          </a:p>
        </p:txBody>
      </p:sp>
      <p:pic>
        <p:nvPicPr>
          <p:cNvPr id="45" name="Image 10" descr="m_L3-4w10/kd61fe64de8.png">    </p:cNvPr>
          <p:cNvPicPr>
            <a:picLocks noChangeAspect="1"/>
          </p:cNvPicPr>
          <p:nvPr/>
        </p:nvPicPr>
        <p:blipFill>
          <a:blip r:embed="rId11"/>
          <a:stretch>
            <a:fillRect/>
          </a:stretch>
        </p:blipFill>
        <p:spPr>
          <a:xfrm>
            <a:off x="9467698" y="5763463"/>
            <a:ext cx="2008022" cy="26883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HSA.APR.B.2 · HSA.APR.D.6 · HSA.SSE.A.2</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L3-4w10/kc42c94671f.png">    </p:cNvPr>
          <p:cNvPicPr>
            <a:picLocks noChangeAspect="1"/>
          </p:cNvPicPr>
          <p:nvPr/>
        </p:nvPicPr>
        <p:blipFill>
          <a:blip r:embed="rId3"/>
          <a:stretch>
            <a:fillRect/>
          </a:stretch>
        </p:blipFill>
        <p:spPr>
          <a:xfrm>
            <a:off x="571500" y="2926080"/>
            <a:ext cx="3383280" cy="355133"/>
          </a:xfrm>
          <a:prstGeom prst="rect">
            <a:avLst/>
          </a:prstGeom>
        </p:spPr>
      </p:pic>
      <p:pic>
        <p:nvPicPr>
          <p:cNvPr id="34" name="Image 3" descr="m_L3-4w10/k12fe594003.png">    </p:cNvPr>
          <p:cNvPicPr>
            <a:picLocks noChangeAspect="1"/>
          </p:cNvPicPr>
          <p:nvPr/>
        </p:nvPicPr>
        <p:blipFill>
          <a:blip r:embed="rId4"/>
          <a:stretch>
            <a:fillRect/>
          </a:stretch>
        </p:blipFill>
        <p:spPr>
          <a:xfrm>
            <a:off x="571500" y="3555533"/>
            <a:ext cx="3383280" cy="273396"/>
          </a:xfrm>
          <a:prstGeom prst="rect">
            <a:avLst/>
          </a:prstGeom>
        </p:spPr>
      </p:pic>
      <p:sp>
        <p:nvSpPr>
          <p:cNvPr id="35"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the box number has the opposite sign to the constant in the divisor, the last number is read as the remainder, and the answer is checked by substituting.</a:t>
            </a:r>
            <a:endParaRPr lang="en-US" sz="1150" dirty="0"/>
          </a:p>
        </p:txBody>
      </p:sp>
      <p:sp>
        <p:nvSpPr>
          <p:cNvPr id="36"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7"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8"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9"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0" name="Image 4" descr="m_L3-4w10/k869d71c6e3.png">    </p:cNvPr>
          <p:cNvPicPr>
            <a:picLocks noChangeAspect="1"/>
          </p:cNvPicPr>
          <p:nvPr/>
        </p:nvPicPr>
        <p:blipFill>
          <a:blip r:embed="rId5"/>
          <a:stretch>
            <a:fillRect/>
          </a:stretch>
        </p:blipFill>
        <p:spPr>
          <a:xfrm>
            <a:off x="4366260" y="2926080"/>
            <a:ext cx="3383280" cy="568145"/>
          </a:xfrm>
          <a:prstGeom prst="rect">
            <a:avLst/>
          </a:prstGeom>
        </p:spPr>
      </p:pic>
      <p:pic>
        <p:nvPicPr>
          <p:cNvPr id="41" name="Image 5" descr="m_L3-4w10/ka2d3ee505a.png">    </p:cNvPr>
          <p:cNvPicPr>
            <a:picLocks noChangeAspect="1"/>
          </p:cNvPicPr>
          <p:nvPr/>
        </p:nvPicPr>
        <p:blipFill>
          <a:blip r:embed="rId6"/>
          <a:stretch>
            <a:fillRect/>
          </a:stretch>
        </p:blipFill>
        <p:spPr>
          <a:xfrm>
            <a:off x="4366260" y="3768545"/>
            <a:ext cx="3383280" cy="194009"/>
          </a:xfrm>
          <a:prstGeom prst="rect">
            <a:avLst/>
          </a:prstGeom>
        </p:spPr>
      </p:pic>
      <p:sp>
        <p:nvSpPr>
          <p:cNvPr id="42"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the divisor is written as x − a first, the Remainder Theorem is used when only a remainder is needed, and each answer is checked.</a:t>
            </a:r>
            <a:endParaRPr lang="en-US" sz="1150" dirty="0"/>
          </a:p>
        </p:txBody>
      </p:sp>
      <p:sp>
        <p:nvSpPr>
          <p:cNvPr id="43"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4"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5"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6"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7" name="Image 6" descr="m_L3-4w10/kaa334a3a1a.png">    </p:cNvPr>
          <p:cNvPicPr>
            <a:picLocks noChangeAspect="1"/>
          </p:cNvPicPr>
          <p:nvPr/>
        </p:nvPicPr>
        <p:blipFill>
          <a:blip r:embed="rId7"/>
          <a:stretch>
            <a:fillRect/>
          </a:stretch>
        </p:blipFill>
        <p:spPr>
          <a:xfrm>
            <a:off x="8161020" y="2926080"/>
            <a:ext cx="3383280" cy="604254"/>
          </a:xfrm>
          <a:prstGeom prst="rect">
            <a:avLst/>
          </a:prstGeom>
        </p:spPr>
      </p:pic>
      <p:pic>
        <p:nvPicPr>
          <p:cNvPr id="48" name="Image 7" descr="m_L3-4w10/kf3ceb2ad49.png">    </p:cNvPr>
          <p:cNvPicPr>
            <a:picLocks noChangeAspect="1"/>
          </p:cNvPicPr>
          <p:nvPr/>
        </p:nvPicPr>
        <p:blipFill>
          <a:blip r:embed="rId8"/>
          <a:stretch>
            <a:fillRect/>
          </a:stretch>
        </p:blipFill>
        <p:spPr>
          <a:xfrm>
            <a:off x="8161020" y="3804654"/>
            <a:ext cx="3383280" cy="676656"/>
          </a:xfrm>
          <a:prstGeom prst="rect">
            <a:avLst/>
          </a:prstGeom>
        </p:spPr>
      </p:pic>
      <p:sp>
        <p:nvSpPr>
          <p:cNvPr id="49"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your argument uses p(a) or the form p(x) = (x − a)q(x) + r, and the explanation says why it holds for every n.</a:t>
            </a:r>
            <a:endParaRPr lang="en-US" sz="11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HSA.APR.B.2 · HSA.APR.D.6 · HSA.SSE.A.2</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Which route? Judge the claim</a:t>
            </a:r>
            <a:endParaRPr lang="en-US" sz="3000" dirty="0"/>
          </a:p>
        </p:txBody>
      </p:sp>
      <p:sp>
        <p:nvSpPr>
          <p:cNvPr id="29" name="Shape 24"/>
          <p:cNvSpPr/>
          <p:nvPr/>
        </p:nvSpPr>
        <p:spPr>
          <a:xfrm>
            <a:off x="457200" y="1783080"/>
            <a:ext cx="2377440" cy="2560320"/>
          </a:xfrm>
          <a:prstGeom prst="roundRect">
            <a:avLst>
              <a:gd name="adj" fmla="val 4615"/>
            </a:avLst>
          </a:prstGeom>
          <a:solidFill>
            <a:srgbClr val="FFFFFF"/>
          </a:solidFill>
          <a:ln w="15875">
            <a:solidFill>
              <a:srgbClr val="17A199"/>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594360" y="1874520"/>
            <a:ext cx="2103120" cy="36576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594360" y="1874520"/>
            <a:ext cx="21031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LONG DIVISION</a:t>
            </a:r>
            <a:endParaRPr lang="en-US" sz="1300" dirty="0"/>
          </a:p>
        </p:txBody>
      </p:sp>
      <p:pic>
        <p:nvPicPr>
          <p:cNvPr id="32" name="Image 2" descr="m_L3-4w10/ke313a7def6.png">    </p:cNvPr>
          <p:cNvPicPr>
            <a:picLocks noChangeAspect="1"/>
          </p:cNvPicPr>
          <p:nvPr/>
        </p:nvPicPr>
        <p:blipFill>
          <a:blip r:embed="rId3"/>
          <a:stretch>
            <a:fillRect/>
          </a:stretch>
        </p:blipFill>
        <p:spPr>
          <a:xfrm>
            <a:off x="594360" y="2377440"/>
            <a:ext cx="2103120" cy="212782"/>
          </a:xfrm>
          <a:prstGeom prst="rect">
            <a:avLst/>
          </a:prstGeom>
        </p:spPr>
      </p:pic>
      <p:sp>
        <p:nvSpPr>
          <p:cNvPr id="33" name="Text 27"/>
          <p:cNvSpPr txBox="1"/>
          <p:nvPr/>
        </p:nvSpPr>
        <p:spPr>
          <a:xfrm>
            <a:off x="594360" y="3017520"/>
            <a:ext cx="2103120" cy="640080"/>
          </a:xfrm>
          <a:prstGeom prst="rect">
            <a:avLst/>
          </a:prstGeom>
          <a:noFill/>
          <a:ln/>
        </p:spPr>
        <p:txBody>
          <a:bodyPr wrap="square" lIns="0" tIns="0" rIns="0" bIns="0" rtlCol="0" anchor="t"/>
          <a:lstStyle/>
          <a:p>
            <a:pPr indent="0" marL="0">
              <a:buNone/>
            </a:pPr>
            <a:r>
              <a:rPr lang="en-US" sz="1150" b="1" dirty="0">
                <a:solidFill>
                  <a:srgbClr val="17A199"/>
                </a:solidFill>
                <a:latin typeface="Calibri" pitchFamily="34" charset="0"/>
                <a:ea typeface="Calibri" pitchFamily="34" charset="-122"/>
                <a:cs typeface="Calibri" pitchFamily="34" charset="-120"/>
              </a:rPr>
              <a:t>+  </a:t>
            </a:r>
            <a:pPr indent="0" marL="0">
              <a:buNone/>
            </a:pPr>
            <a:r>
              <a:rPr lang="en-US" sz="1150" dirty="0">
                <a:solidFill>
                  <a:srgbClr val="222E2D"/>
                </a:solidFill>
                <a:latin typeface="Calibri" pitchFamily="34" charset="0"/>
                <a:ea typeface="Calibri" pitchFamily="34" charset="-122"/>
                <a:cs typeface="Calibri" pitchFamily="34" charset="-120"/>
              </a:rPr>
              <a:t>Works for any divisor.</a:t>
            </a:r>
            <a:endParaRPr lang="en-US" sz="1150" dirty="0"/>
          </a:p>
        </p:txBody>
      </p:sp>
      <p:sp>
        <p:nvSpPr>
          <p:cNvPr id="34" name="Text 28"/>
          <p:cNvSpPr txBox="1"/>
          <p:nvPr/>
        </p:nvSpPr>
        <p:spPr>
          <a:xfrm>
            <a:off x="594360" y="3657600"/>
            <a:ext cx="2103120" cy="640080"/>
          </a:xfrm>
          <a:prstGeom prst="rect">
            <a:avLst/>
          </a:prstGeom>
          <a:noFill/>
          <a:ln/>
        </p:spPr>
        <p:txBody>
          <a:bodyPr wrap="square" lIns="0" tIns="0" rIns="0" bIns="0" rtlCol="0" anchor="t"/>
          <a:lstStyle/>
          <a:p>
            <a:pPr indent="0" marL="0">
              <a:buNone/>
            </a:pPr>
            <a:r>
              <a:rPr lang="en-US" sz="1150" b="1" dirty="0">
                <a:solidFill>
                  <a:srgbClr val="E8762C"/>
                </a:solidFill>
                <a:latin typeface="Calibri" pitchFamily="34" charset="0"/>
                <a:ea typeface="Calibri" pitchFamily="34" charset="-122"/>
                <a:cs typeface="Calibri" pitchFamily="34" charset="-120"/>
              </a:rPr>
              <a:t>−  </a:t>
            </a:r>
            <a:pPr indent="0" marL="0">
              <a:buNone/>
            </a:pPr>
            <a:r>
              <a:rPr lang="en-US" sz="1150" dirty="0">
                <a:solidFill>
                  <a:srgbClr val="222E2D"/>
                </a:solidFill>
                <a:latin typeface="Calibri" pitchFamily="34" charset="0"/>
                <a:ea typeface="Calibri" pitchFamily="34" charset="-122"/>
                <a:cs typeface="Calibri" pitchFamily="34" charset="-120"/>
              </a:rPr>
              <a:t>Many lines and sign slips.</a:t>
            </a:r>
            <a:endParaRPr lang="en-US" sz="1150" dirty="0"/>
          </a:p>
        </p:txBody>
      </p:sp>
      <p:sp>
        <p:nvSpPr>
          <p:cNvPr id="35" name="Shape 29"/>
          <p:cNvSpPr/>
          <p:nvPr/>
        </p:nvSpPr>
        <p:spPr>
          <a:xfrm>
            <a:off x="2971800" y="1783080"/>
            <a:ext cx="2377440" cy="2560320"/>
          </a:xfrm>
          <a:prstGeom prst="roundRect">
            <a:avLst>
              <a:gd name="adj" fmla="val 4615"/>
            </a:avLst>
          </a:prstGeom>
          <a:solidFill>
            <a:srgbClr val="FFFFFF"/>
          </a:solidFill>
          <a:ln w="15875">
            <a:solidFill>
              <a:srgbClr val="1F3864"/>
            </a:solidFill>
            <a:prstDash val="solid"/>
          </a:ln>
          <a:effectLst>
            <a:outerShdw sx="100000" sy="100000" kx="0" ky="0" algn="bl" rotWithShape="0" blurRad="101600" dist="25400" dir="5400000">
              <a:srgbClr val="000000">
                <a:alpha val="15000"/>
              </a:srgbClr>
            </a:outerShdw>
          </a:effectLst>
        </p:spPr>
      </p:sp>
      <p:sp>
        <p:nvSpPr>
          <p:cNvPr id="36" name="Shape 30"/>
          <p:cNvSpPr/>
          <p:nvPr/>
        </p:nvSpPr>
        <p:spPr>
          <a:xfrm>
            <a:off x="3108960" y="1874520"/>
            <a:ext cx="2103120" cy="365760"/>
          </a:xfrm>
          <a:prstGeom prst="roundRect">
            <a:avLst>
              <a:gd name="adj" fmla="val 50000"/>
            </a:avLst>
          </a:prstGeom>
          <a:solidFill>
            <a:srgbClr val="1F3864"/>
          </a:solidFill>
          <a:ln w="12700">
            <a:solidFill>
              <a:srgbClr val="FFFFFF"/>
            </a:solidFill>
            <a:prstDash val="solid"/>
          </a:ln>
        </p:spPr>
      </p:sp>
      <p:sp>
        <p:nvSpPr>
          <p:cNvPr id="37" name="Text 31"/>
          <p:cNvSpPr txBox="1"/>
          <p:nvPr/>
        </p:nvSpPr>
        <p:spPr>
          <a:xfrm>
            <a:off x="3108960" y="1874520"/>
            <a:ext cx="21031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SYNTHETIC DIVISION</a:t>
            </a:r>
            <a:endParaRPr lang="en-US" sz="1300" dirty="0"/>
          </a:p>
        </p:txBody>
      </p:sp>
      <p:pic>
        <p:nvPicPr>
          <p:cNvPr id="38" name="Image 3" descr="m_L3-4w10/k9a4bb69e7d.png">    </p:cNvPr>
          <p:cNvPicPr>
            <a:picLocks noChangeAspect="1"/>
          </p:cNvPicPr>
          <p:nvPr/>
        </p:nvPicPr>
        <p:blipFill>
          <a:blip r:embed="rId4"/>
          <a:stretch>
            <a:fillRect/>
          </a:stretch>
        </p:blipFill>
        <p:spPr>
          <a:xfrm>
            <a:off x="3367644" y="2377440"/>
            <a:ext cx="1585752" cy="225857"/>
          </a:xfrm>
          <a:prstGeom prst="rect">
            <a:avLst/>
          </a:prstGeom>
        </p:spPr>
      </p:pic>
      <p:sp>
        <p:nvSpPr>
          <p:cNvPr id="39" name="Text 32"/>
          <p:cNvSpPr txBox="1"/>
          <p:nvPr/>
        </p:nvSpPr>
        <p:spPr>
          <a:xfrm>
            <a:off x="3108960" y="3017520"/>
            <a:ext cx="2103120" cy="640080"/>
          </a:xfrm>
          <a:prstGeom prst="rect">
            <a:avLst/>
          </a:prstGeom>
          <a:noFill/>
          <a:ln/>
        </p:spPr>
        <p:txBody>
          <a:bodyPr wrap="square" lIns="0" tIns="0" rIns="0" bIns="0" rtlCol="0" anchor="t"/>
          <a:lstStyle/>
          <a:p>
            <a:pPr indent="0" marL="0">
              <a:buNone/>
            </a:pPr>
            <a:r>
              <a:rPr lang="en-US" sz="1150" b="1" dirty="0">
                <a:solidFill>
                  <a:srgbClr val="17A199"/>
                </a:solidFill>
                <a:latin typeface="Calibri" pitchFamily="34" charset="0"/>
                <a:ea typeface="Calibri" pitchFamily="34" charset="-122"/>
                <a:cs typeface="Calibri" pitchFamily="34" charset="-120"/>
              </a:rPr>
              <a:t>+  </a:t>
            </a:r>
            <a:pPr indent="0" marL="0">
              <a:buNone/>
            </a:pPr>
            <a:r>
              <a:rPr lang="en-US" sz="1150" dirty="0">
                <a:solidFill>
                  <a:srgbClr val="222E2D"/>
                </a:solidFill>
                <a:latin typeface="Calibri" pitchFamily="34" charset="0"/>
                <a:ea typeface="Calibri" pitchFamily="34" charset="-122"/>
                <a:cs typeface="Calibri" pitchFamily="34" charset="-120"/>
              </a:rPr>
              <a:t>Short and tidy for x − a.</a:t>
            </a:r>
            <a:endParaRPr lang="en-US" sz="1150" dirty="0"/>
          </a:p>
        </p:txBody>
      </p:sp>
      <p:sp>
        <p:nvSpPr>
          <p:cNvPr id="40" name="Text 33"/>
          <p:cNvSpPr txBox="1"/>
          <p:nvPr/>
        </p:nvSpPr>
        <p:spPr>
          <a:xfrm>
            <a:off x="3108960" y="3657600"/>
            <a:ext cx="2103120" cy="640080"/>
          </a:xfrm>
          <a:prstGeom prst="rect">
            <a:avLst/>
          </a:prstGeom>
          <a:noFill/>
          <a:ln/>
        </p:spPr>
        <p:txBody>
          <a:bodyPr wrap="square" lIns="0" tIns="0" rIns="0" bIns="0" rtlCol="0" anchor="t"/>
          <a:lstStyle/>
          <a:p>
            <a:pPr indent="0" marL="0">
              <a:buNone/>
            </a:pPr>
            <a:r>
              <a:rPr lang="en-US" sz="1150" b="1" dirty="0">
                <a:solidFill>
                  <a:srgbClr val="E8762C"/>
                </a:solidFill>
                <a:latin typeface="Calibri" pitchFamily="34" charset="0"/>
                <a:ea typeface="Calibri" pitchFamily="34" charset="-122"/>
                <a:cs typeface="Calibri" pitchFamily="34" charset="-120"/>
              </a:rPr>
              <a:t>−  </a:t>
            </a:r>
            <a:pPr indent="0" marL="0">
              <a:buNone/>
            </a:pPr>
            <a:r>
              <a:rPr lang="en-US" sz="1150" dirty="0">
                <a:solidFill>
                  <a:srgbClr val="222E2D"/>
                </a:solidFill>
                <a:latin typeface="Calibri" pitchFamily="34" charset="0"/>
                <a:ea typeface="Calibri" pitchFamily="34" charset="-122"/>
                <a:cs typeface="Calibri" pitchFamily="34" charset="-120"/>
              </a:rPr>
              <a:t>Only for a linear divisor with leading 1.</a:t>
            </a:r>
            <a:endParaRPr lang="en-US" sz="1150" dirty="0"/>
          </a:p>
        </p:txBody>
      </p:sp>
      <p:sp>
        <p:nvSpPr>
          <p:cNvPr id="41" name="Shape 34"/>
          <p:cNvSpPr/>
          <p:nvPr/>
        </p:nvSpPr>
        <p:spPr>
          <a:xfrm>
            <a:off x="5486400" y="1783080"/>
            <a:ext cx="2377440" cy="2560320"/>
          </a:xfrm>
          <a:prstGeom prst="roundRect">
            <a:avLst>
              <a:gd name="adj" fmla="val 4615"/>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42" name="Shape 35"/>
          <p:cNvSpPr/>
          <p:nvPr/>
        </p:nvSpPr>
        <p:spPr>
          <a:xfrm>
            <a:off x="5623560" y="1874520"/>
            <a:ext cx="2103120" cy="365760"/>
          </a:xfrm>
          <a:prstGeom prst="roundRect">
            <a:avLst>
              <a:gd name="adj" fmla="val 50000"/>
            </a:avLst>
          </a:prstGeom>
          <a:solidFill>
            <a:srgbClr val="E8762C"/>
          </a:solidFill>
          <a:ln w="12700">
            <a:solidFill>
              <a:srgbClr val="FFFFFF"/>
            </a:solidFill>
            <a:prstDash val="solid"/>
          </a:ln>
        </p:spPr>
      </p:sp>
      <p:sp>
        <p:nvSpPr>
          <p:cNvPr id="43" name="Text 36"/>
          <p:cNvSpPr txBox="1"/>
          <p:nvPr/>
        </p:nvSpPr>
        <p:spPr>
          <a:xfrm>
            <a:off x="5623560" y="1874520"/>
            <a:ext cx="21031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REMAINDER THEOREM</a:t>
            </a:r>
            <a:endParaRPr lang="en-US" sz="1300" dirty="0"/>
          </a:p>
        </p:txBody>
      </p:sp>
      <p:pic>
        <p:nvPicPr>
          <p:cNvPr id="44" name="Image 4" descr="m_L3-4w10/kfd6e81c987.png">    </p:cNvPr>
          <p:cNvPicPr>
            <a:picLocks noChangeAspect="1"/>
          </p:cNvPicPr>
          <p:nvPr/>
        </p:nvPicPr>
        <p:blipFill>
          <a:blip r:embed="rId5"/>
          <a:stretch>
            <a:fillRect/>
          </a:stretch>
        </p:blipFill>
        <p:spPr>
          <a:xfrm>
            <a:off x="6299484" y="2377440"/>
            <a:ext cx="751271" cy="247254"/>
          </a:xfrm>
          <a:prstGeom prst="rect">
            <a:avLst/>
          </a:prstGeom>
        </p:spPr>
      </p:pic>
      <p:sp>
        <p:nvSpPr>
          <p:cNvPr id="45" name="Text 37"/>
          <p:cNvSpPr txBox="1"/>
          <p:nvPr/>
        </p:nvSpPr>
        <p:spPr>
          <a:xfrm>
            <a:off x="5623560" y="3017520"/>
            <a:ext cx="2103120" cy="640080"/>
          </a:xfrm>
          <a:prstGeom prst="rect">
            <a:avLst/>
          </a:prstGeom>
          <a:noFill/>
          <a:ln/>
        </p:spPr>
        <p:txBody>
          <a:bodyPr wrap="square" lIns="0" tIns="0" rIns="0" bIns="0" rtlCol="0" anchor="t"/>
          <a:lstStyle/>
          <a:p>
            <a:pPr indent="0" marL="0">
              <a:buNone/>
            </a:pPr>
            <a:r>
              <a:rPr lang="en-US" sz="1150" b="1" dirty="0">
                <a:solidFill>
                  <a:srgbClr val="17A199"/>
                </a:solidFill>
                <a:latin typeface="Calibri" pitchFamily="34" charset="0"/>
                <a:ea typeface="Calibri" pitchFamily="34" charset="-122"/>
                <a:cs typeface="Calibri" pitchFamily="34" charset="-120"/>
              </a:rPr>
              <a:t>+  </a:t>
            </a:r>
            <a:pPr indent="0" marL="0">
              <a:buNone/>
            </a:pPr>
            <a:r>
              <a:rPr lang="en-US" sz="1150" dirty="0">
                <a:solidFill>
                  <a:srgbClr val="222E2D"/>
                </a:solidFill>
                <a:latin typeface="Calibri" pitchFamily="34" charset="0"/>
                <a:ea typeface="Calibri" pitchFamily="34" charset="-122"/>
                <a:cs typeface="Calibri" pitchFamily="34" charset="-120"/>
              </a:rPr>
              <a:t>Tests a factor in one line.</a:t>
            </a:r>
            <a:endParaRPr lang="en-US" sz="1150" dirty="0"/>
          </a:p>
        </p:txBody>
      </p:sp>
      <p:sp>
        <p:nvSpPr>
          <p:cNvPr id="46" name="Text 38"/>
          <p:cNvSpPr txBox="1"/>
          <p:nvPr/>
        </p:nvSpPr>
        <p:spPr>
          <a:xfrm>
            <a:off x="5623560" y="3657600"/>
            <a:ext cx="2103120" cy="640080"/>
          </a:xfrm>
          <a:prstGeom prst="rect">
            <a:avLst/>
          </a:prstGeom>
          <a:noFill/>
          <a:ln/>
        </p:spPr>
        <p:txBody>
          <a:bodyPr wrap="square" lIns="0" tIns="0" rIns="0" bIns="0" rtlCol="0" anchor="t"/>
          <a:lstStyle/>
          <a:p>
            <a:pPr indent="0" marL="0">
              <a:buNone/>
            </a:pPr>
            <a:r>
              <a:rPr lang="en-US" sz="1150" b="1" dirty="0">
                <a:solidFill>
                  <a:srgbClr val="E8762C"/>
                </a:solidFill>
                <a:latin typeface="Calibri" pitchFamily="34" charset="0"/>
                <a:ea typeface="Calibri" pitchFamily="34" charset="-122"/>
                <a:cs typeface="Calibri" pitchFamily="34" charset="-120"/>
              </a:rPr>
              <a:t>−  </a:t>
            </a:r>
            <a:pPr indent="0" marL="0">
              <a:buNone/>
            </a:pPr>
            <a:r>
              <a:rPr lang="en-US" sz="1150" dirty="0">
                <a:solidFill>
                  <a:srgbClr val="222E2D"/>
                </a:solidFill>
                <a:latin typeface="Calibri" pitchFamily="34" charset="0"/>
                <a:ea typeface="Calibri" pitchFamily="34" charset="-122"/>
                <a:cs typeface="Calibri" pitchFamily="34" charset="-120"/>
              </a:rPr>
              <a:t>Gives the remainder only, not the quotient.</a:t>
            </a:r>
            <a:endParaRPr lang="en-US" sz="1150" dirty="0"/>
          </a:p>
        </p:txBody>
      </p:sp>
      <p:sp>
        <p:nvSpPr>
          <p:cNvPr id="47" name="Shape 39"/>
          <p:cNvSpPr/>
          <p:nvPr/>
        </p:nvSpPr>
        <p:spPr>
          <a:xfrm>
            <a:off x="8001000" y="1783080"/>
            <a:ext cx="3703320" cy="2560320"/>
          </a:xfrm>
          <a:prstGeom prst="roundRect">
            <a:avLst>
              <a:gd name="adj" fmla="val 4286"/>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48" name="Text 40"/>
          <p:cNvSpPr txBox="1"/>
          <p:nvPr/>
        </p:nvSpPr>
        <p:spPr>
          <a:xfrm>
            <a:off x="8229600" y="1874520"/>
            <a:ext cx="32004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JUDGE THE CLAIM</a:t>
            </a:r>
            <a:endParaRPr lang="en-US" sz="1100" dirty="0"/>
          </a:p>
        </p:txBody>
      </p:sp>
      <p:sp>
        <p:nvSpPr>
          <p:cNvPr id="49" name="Text 41"/>
          <p:cNvSpPr txBox="1"/>
          <p:nvPr/>
        </p:nvSpPr>
        <p:spPr>
          <a:xfrm>
            <a:off x="8229600" y="2148840"/>
            <a:ext cx="3291840" cy="868680"/>
          </a:xfrm>
          <a:prstGeom prst="rect">
            <a:avLst/>
          </a:prstGeom>
          <a:noFill/>
          <a:ln/>
        </p:spPr>
        <p:txBody>
          <a:bodyPr wrap="square" lIns="0" tIns="0" rIns="0" bIns="0" rtlCol="0" anchor="t"/>
          <a:lstStyle/>
          <a:p>
            <a:pPr indent="0" marL="0">
              <a:buNone/>
            </a:pPr>
            <a:r>
              <a:rPr lang="en-US" sz="1500" b="1" dirty="0">
                <a:solidFill>
                  <a:srgbClr val="1F3864"/>
                </a:solidFill>
                <a:latin typeface="Calibri" pitchFamily="34" charset="0"/>
                <a:ea typeface="Calibri" pitchFamily="34" charset="-122"/>
                <a:cs typeface="Calibri" pitchFamily="34" charset="-120"/>
              </a:rPr>
              <a:t>Dividing by x − 3 and by x + 3 always gives the same remainder.</a:t>
            </a:r>
            <a:endParaRPr lang="en-US" sz="1500" dirty="0"/>
          </a:p>
        </p:txBody>
      </p:sp>
      <p:sp>
        <p:nvSpPr>
          <p:cNvPr id="50" name="Shape 42"/>
          <p:cNvSpPr/>
          <p:nvPr/>
        </p:nvSpPr>
        <p:spPr>
          <a:xfrm>
            <a:off x="8229600" y="3063240"/>
            <a:ext cx="1024128" cy="310896"/>
          </a:xfrm>
          <a:prstGeom prst="roundRect">
            <a:avLst>
              <a:gd name="adj" fmla="val 50000"/>
            </a:avLst>
          </a:prstGeom>
          <a:solidFill>
            <a:srgbClr val="FFFFFF"/>
          </a:solidFill>
          <a:ln w="19050">
            <a:solidFill>
              <a:srgbClr val="1F3864"/>
            </a:solidFill>
            <a:prstDash val="solid"/>
          </a:ln>
        </p:spPr>
      </p:sp>
      <p:sp>
        <p:nvSpPr>
          <p:cNvPr id="51" name="Text 43"/>
          <p:cNvSpPr txBox="1"/>
          <p:nvPr/>
        </p:nvSpPr>
        <p:spPr>
          <a:xfrm>
            <a:off x="8229600" y="3063240"/>
            <a:ext cx="1024128" cy="310896"/>
          </a:xfrm>
          <a:prstGeom prst="rect">
            <a:avLst/>
          </a:prstGeom>
          <a:noFill/>
          <a:ln/>
        </p:spPr>
        <p:txBody>
          <a:bodyPr wrap="square" lIns="0" tIns="0" rIns="0" bIns="0" rtlCol="0" anchor="ctr"/>
          <a:lstStyle/>
          <a:p>
            <a:pPr algn="ctr" indent="0" marL="0">
              <a:buNone/>
            </a:pPr>
            <a:r>
              <a:rPr lang="en-US" sz="950" b="1" dirty="0">
                <a:solidFill>
                  <a:srgbClr val="1F3864"/>
                </a:solidFill>
                <a:latin typeface="Calibri" pitchFamily="34" charset="0"/>
                <a:ea typeface="Calibri" pitchFamily="34" charset="-122"/>
                <a:cs typeface="Calibri" pitchFamily="34" charset="-120"/>
              </a:rPr>
              <a:t>TRUE</a:t>
            </a:r>
            <a:endParaRPr lang="en-US" sz="950" dirty="0"/>
          </a:p>
        </p:txBody>
      </p:sp>
      <p:sp>
        <p:nvSpPr>
          <p:cNvPr id="52" name="Shape 44"/>
          <p:cNvSpPr/>
          <p:nvPr/>
        </p:nvSpPr>
        <p:spPr>
          <a:xfrm>
            <a:off x="9326880" y="3063240"/>
            <a:ext cx="1024128" cy="310896"/>
          </a:xfrm>
          <a:prstGeom prst="roundRect">
            <a:avLst>
              <a:gd name="adj" fmla="val 50000"/>
            </a:avLst>
          </a:prstGeom>
          <a:solidFill>
            <a:srgbClr val="FFFFFF"/>
          </a:solidFill>
          <a:ln w="19050">
            <a:solidFill>
              <a:srgbClr val="1F3864"/>
            </a:solidFill>
            <a:prstDash val="solid"/>
          </a:ln>
        </p:spPr>
      </p:sp>
      <p:sp>
        <p:nvSpPr>
          <p:cNvPr id="53" name="Text 45"/>
          <p:cNvSpPr txBox="1"/>
          <p:nvPr/>
        </p:nvSpPr>
        <p:spPr>
          <a:xfrm>
            <a:off x="9326880" y="3063240"/>
            <a:ext cx="1024128" cy="310896"/>
          </a:xfrm>
          <a:prstGeom prst="rect">
            <a:avLst/>
          </a:prstGeom>
          <a:noFill/>
          <a:ln/>
        </p:spPr>
        <p:txBody>
          <a:bodyPr wrap="square" lIns="0" tIns="0" rIns="0" bIns="0" rtlCol="0" anchor="ctr"/>
          <a:lstStyle/>
          <a:p>
            <a:pPr algn="ctr" indent="0" marL="0">
              <a:buNone/>
            </a:pPr>
            <a:r>
              <a:rPr lang="en-US" sz="950" b="1" dirty="0">
                <a:solidFill>
                  <a:srgbClr val="1F3864"/>
                </a:solidFill>
                <a:latin typeface="Calibri" pitchFamily="34" charset="0"/>
                <a:ea typeface="Calibri" pitchFamily="34" charset="-122"/>
                <a:cs typeface="Calibri" pitchFamily="34" charset="-120"/>
              </a:rPr>
              <a:t>FALSE</a:t>
            </a:r>
            <a:endParaRPr lang="en-US" sz="950" dirty="0"/>
          </a:p>
        </p:txBody>
      </p:sp>
      <p:sp>
        <p:nvSpPr>
          <p:cNvPr id="54" name="Shape 46"/>
          <p:cNvSpPr/>
          <p:nvPr/>
        </p:nvSpPr>
        <p:spPr>
          <a:xfrm>
            <a:off x="10424160" y="3063240"/>
            <a:ext cx="1024128" cy="310896"/>
          </a:xfrm>
          <a:prstGeom prst="roundRect">
            <a:avLst>
              <a:gd name="adj" fmla="val 50000"/>
            </a:avLst>
          </a:prstGeom>
          <a:solidFill>
            <a:srgbClr val="FFFFFF"/>
          </a:solidFill>
          <a:ln w="19050">
            <a:solidFill>
              <a:srgbClr val="1F3864"/>
            </a:solidFill>
            <a:prstDash val="solid"/>
          </a:ln>
        </p:spPr>
      </p:sp>
      <p:sp>
        <p:nvSpPr>
          <p:cNvPr id="55" name="Text 47"/>
          <p:cNvSpPr txBox="1"/>
          <p:nvPr/>
        </p:nvSpPr>
        <p:spPr>
          <a:xfrm>
            <a:off x="10424160" y="3063240"/>
            <a:ext cx="1024128" cy="310896"/>
          </a:xfrm>
          <a:prstGeom prst="rect">
            <a:avLst/>
          </a:prstGeom>
          <a:noFill/>
          <a:ln/>
        </p:spPr>
        <p:txBody>
          <a:bodyPr wrap="square" lIns="0" tIns="0" rIns="0" bIns="0" rtlCol="0" anchor="ctr"/>
          <a:lstStyle/>
          <a:p>
            <a:pPr algn="ctr" indent="0" marL="0">
              <a:buNone/>
            </a:pPr>
            <a:r>
              <a:rPr lang="en-US" sz="950" b="1" dirty="0">
                <a:solidFill>
                  <a:srgbClr val="1F3864"/>
                </a:solidFill>
                <a:latin typeface="Calibri" pitchFamily="34" charset="0"/>
                <a:ea typeface="Calibri" pitchFamily="34" charset="-122"/>
                <a:cs typeface="Calibri" pitchFamily="34" charset="-120"/>
              </a:rPr>
              <a:t>SOMETIMES</a:t>
            </a:r>
            <a:endParaRPr lang="en-US" sz="950" dirty="0"/>
          </a:p>
        </p:txBody>
      </p:sp>
      <p:sp>
        <p:nvSpPr>
          <p:cNvPr id="56" name="Shape 48"/>
          <p:cNvSpPr/>
          <p:nvPr/>
        </p:nvSpPr>
        <p:spPr>
          <a:xfrm>
            <a:off x="8183880" y="3493008"/>
            <a:ext cx="3337560" cy="749808"/>
          </a:xfrm>
          <a:prstGeom prst="roundRect">
            <a:avLst>
              <a:gd name="adj" fmla="val 12195"/>
            </a:avLst>
          </a:prstGeom>
          <a:solidFill>
            <a:srgbClr val="FFF1C9"/>
          </a:solidFill>
          <a:ln w="19050">
            <a:solidFill>
              <a:srgbClr val="F0B323"/>
            </a:solidFill>
            <a:prstDash val="solid"/>
          </a:ln>
        </p:spPr>
      </p:sp>
      <p:sp>
        <p:nvSpPr>
          <p:cNvPr id="57" name="Text 49"/>
          <p:cNvSpPr txBox="1"/>
          <p:nvPr/>
        </p:nvSpPr>
        <p:spPr>
          <a:xfrm>
            <a:off x="8275320" y="3529584"/>
            <a:ext cx="3154680" cy="676656"/>
          </a:xfrm>
          <a:prstGeom prst="rect">
            <a:avLst/>
          </a:prstGeom>
          <a:noFill/>
          <a:ln/>
        </p:spPr>
        <p:txBody>
          <a:bodyPr wrap="square" lIns="0" tIns="0" rIns="0" bIns="0" rtlCol="0" anchor="ctr"/>
          <a:lstStyle/>
          <a:p>
            <a:pPr indent="0" marL="0">
              <a:buNone/>
            </a:pPr>
            <a:r>
              <a:rPr lang="en-US" sz="900" b="1" spc="100" kern="0" dirty="0">
                <a:solidFill>
                  <a:srgbClr val="E8762C"/>
                </a:solidFill>
                <a:latin typeface="Calibri" pitchFamily="34" charset="0"/>
                <a:ea typeface="Calibri" pitchFamily="34" charset="-122"/>
                <a:cs typeface="Calibri" pitchFamily="34" charset="-120"/>
              </a:rPr>
              <a:t>CHECK THE ASSUMPTION  </a:t>
            </a:r>
            <a:endParaRPr lang="en-US" sz="1600" dirty="0"/>
          </a:p>
          <a:p>
            <a:pPr indent="0" marL="0">
              <a:buNone/>
            </a:pPr>
            <a:r>
              <a:rPr lang="en-US" sz="1150" dirty="0">
                <a:solidFill>
                  <a:srgbClr val="222E2D"/>
                </a:solidFill>
                <a:latin typeface="Calibri" pitchFamily="34" charset="0"/>
                <a:ea typeface="Calibri" pitchFamily="34" charset="-122"/>
                <a:cs typeface="Calibri" pitchFamily="34" charset="-120"/>
              </a:rPr>
              <a:t>Did you test more than one polynomial and both signs of a?</a:t>
            </a:r>
            <a:endParaRPr lang="en-US" sz="1600" dirty="0"/>
          </a:p>
        </p:txBody>
      </p:sp>
      <p:sp>
        <p:nvSpPr>
          <p:cNvPr id="58" name="Shape 50"/>
          <p:cNvSpPr/>
          <p:nvPr/>
        </p:nvSpPr>
        <p:spPr>
          <a:xfrm>
            <a:off x="457200" y="4526280"/>
            <a:ext cx="5623560" cy="1737360"/>
          </a:xfrm>
          <a:prstGeom prst="roundRect">
            <a:avLst>
              <a:gd name="adj" fmla="val 6316"/>
            </a:avLst>
          </a:prstGeom>
          <a:solidFill>
            <a:srgbClr val="F0B323"/>
          </a:solidFill>
          <a:ln w="25400">
            <a:solidFill>
              <a:srgbClr val="FFFFFF"/>
            </a:solidFill>
            <a:prstDash val="solid"/>
          </a:ln>
          <a:effectLst>
            <a:outerShdw sx="100000" sy="100000" kx="0" ky="0" algn="bl" rotWithShape="0" blurRad="101600" dist="25400" dir="5400000">
              <a:srgbClr val="000000">
                <a:alpha val="15000"/>
              </a:srgbClr>
            </a:outerShdw>
          </a:effectLst>
        </p:spPr>
      </p:sp>
      <p:sp>
        <p:nvSpPr>
          <p:cNvPr id="59" name="Text 51"/>
          <p:cNvSpPr txBox="1"/>
          <p:nvPr/>
        </p:nvSpPr>
        <p:spPr>
          <a:xfrm>
            <a:off x="731520" y="4599432"/>
            <a:ext cx="5120640" cy="274320"/>
          </a:xfrm>
          <a:prstGeom prst="rect">
            <a:avLst/>
          </a:prstGeom>
          <a:noFill/>
          <a:ln/>
        </p:spPr>
        <p:txBody>
          <a:bodyPr wrap="square" lIns="0" tIns="0" rIns="0" bIns="0" rtlCol="0" anchor="t"/>
          <a:lstStyle/>
          <a:p>
            <a:pPr indent="0" marL="0">
              <a:buNone/>
            </a:pPr>
            <a:r>
              <a:rPr lang="en-US" sz="1200" b="1" spc="100" kern="0" dirty="0">
                <a:solidFill>
                  <a:srgbClr val="0E4F4C"/>
                </a:solidFill>
                <a:latin typeface="Calibri" pitchFamily="34" charset="0"/>
                <a:ea typeface="Calibri" pitchFamily="34" charset="-122"/>
                <a:cs typeface="Calibri" pitchFamily="34" charset="-120"/>
              </a:rPr>
              <a:t>SPOTLIGHT: STEAL THIS SHORTCUT</a:t>
            </a:r>
            <a:endParaRPr lang="en-US" sz="1200" dirty="0"/>
          </a:p>
        </p:txBody>
      </p:sp>
      <p:sp>
        <p:nvSpPr>
          <p:cNvPr id="60" name="Text 52"/>
          <p:cNvSpPr txBox="1"/>
          <p:nvPr/>
        </p:nvSpPr>
        <p:spPr>
          <a:xfrm>
            <a:off x="731520" y="4919472"/>
            <a:ext cx="5074920" cy="685800"/>
          </a:xfrm>
          <a:prstGeom prst="rect">
            <a:avLst/>
          </a:prstGeom>
          <a:noFill/>
          <a:ln/>
        </p:spPr>
        <p:txBody>
          <a:bodyPr wrap="square" lIns="0" tIns="0" rIns="0" bIns="0" rtlCol="0" anchor="t"/>
          <a:lstStyle/>
          <a:p>
            <a:pPr indent="0" marL="0">
              <a:buNone/>
            </a:pPr>
            <a:r>
              <a:rPr lang="en-US" sz="1350" dirty="0">
                <a:solidFill>
                  <a:srgbClr val="222E2D"/>
                </a:solidFill>
                <a:latin typeface="Calibri" pitchFamily="34" charset="0"/>
                <a:ea typeface="Calibri" pitchFamily="34" charset="-122"/>
                <a:cs typeface="Calibri" pitchFamily="34" charset="-120"/>
              </a:rPr>
              <a:t>To test a possible factor, substitute first. If p(a) is not zero you have just found the remainder, so no division is wasted.</a:t>
            </a:r>
            <a:endParaRPr lang="en-US" sz="1350" dirty="0"/>
          </a:p>
        </p:txBody>
      </p:sp>
      <p:sp>
        <p:nvSpPr>
          <p:cNvPr id="61" name="Shape 53"/>
          <p:cNvSpPr/>
          <p:nvPr/>
        </p:nvSpPr>
        <p:spPr>
          <a:xfrm>
            <a:off x="731520" y="5669280"/>
            <a:ext cx="5074920" cy="502920"/>
          </a:xfrm>
          <a:prstGeom prst="roundRect">
            <a:avLst>
              <a:gd name="adj" fmla="val 18182"/>
            </a:avLst>
          </a:prstGeom>
          <a:solidFill>
            <a:srgbClr val="FFFFFF"/>
          </a:solidFill>
          <a:ln w="12700">
            <a:solidFill>
              <a:srgbClr val="FFFFFF"/>
            </a:solidFill>
            <a:prstDash val="solid"/>
          </a:ln>
        </p:spPr>
      </p:sp>
      <p:pic>
        <p:nvPicPr>
          <p:cNvPr id="62" name="Image 5" descr="m_L3-4w10/k34f7180429.png">    </p:cNvPr>
          <p:cNvPicPr>
            <a:picLocks noChangeAspect="1"/>
          </p:cNvPicPr>
          <p:nvPr/>
        </p:nvPicPr>
        <p:blipFill>
          <a:blip r:embed="rId6"/>
          <a:stretch>
            <a:fillRect/>
          </a:stretch>
        </p:blipFill>
        <p:spPr>
          <a:xfrm>
            <a:off x="2922240" y="5715000"/>
            <a:ext cx="693481" cy="228234"/>
          </a:xfrm>
          <a:prstGeom prst="rect">
            <a:avLst/>
          </a:prstGeom>
        </p:spPr>
      </p:pic>
      <p:sp>
        <p:nvSpPr>
          <p:cNvPr id="63" name="Shape 54"/>
          <p:cNvSpPr/>
          <p:nvPr/>
        </p:nvSpPr>
        <p:spPr>
          <a:xfrm>
            <a:off x="6263640" y="4526280"/>
            <a:ext cx="5440680" cy="1737360"/>
          </a:xfrm>
          <a:prstGeom prst="roundRect">
            <a:avLst>
              <a:gd name="adj" fmla="val 6316"/>
            </a:avLst>
          </a:prstGeom>
          <a:solidFill>
            <a:srgbClr val="FFF1C9"/>
          </a:solidFill>
          <a:ln w="28575">
            <a:solidFill>
              <a:srgbClr val="F0B323"/>
            </a:solidFill>
            <a:prstDash val="solid"/>
          </a:ln>
          <a:effectLst>
            <a:outerShdw sx="100000" sy="100000" kx="0" ky="0" algn="bl" rotWithShape="0" blurRad="101600" dist="25400" dir="5400000">
              <a:srgbClr val="000000">
                <a:alpha val="15000"/>
              </a:srgbClr>
            </a:outerShdw>
          </a:effectLst>
        </p:spPr>
      </p:sp>
      <p:sp>
        <p:nvSpPr>
          <p:cNvPr id="64" name="Text 55"/>
          <p:cNvSpPr txBox="1"/>
          <p:nvPr/>
        </p:nvSpPr>
        <p:spPr>
          <a:xfrm>
            <a:off x="6492240" y="4617720"/>
            <a:ext cx="2743200" cy="256032"/>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WHAT IF...?</a:t>
            </a:r>
            <a:endParaRPr lang="en-US" sz="1200" dirty="0"/>
          </a:p>
        </p:txBody>
      </p:sp>
      <p:sp>
        <p:nvSpPr>
          <p:cNvPr id="65" name="Text 56"/>
          <p:cNvSpPr txBox="1"/>
          <p:nvPr/>
        </p:nvSpPr>
        <p:spPr>
          <a:xfrm>
            <a:off x="6492240" y="4910328"/>
            <a:ext cx="4983480" cy="1280160"/>
          </a:xfrm>
          <a:prstGeom prst="rect">
            <a:avLst/>
          </a:prstGeom>
          <a:noFill/>
          <a:ln/>
        </p:spPr>
        <p:txBody>
          <a:bodyPr wrap="square" lIns="0" tIns="0" rIns="0" bIns="0" rtlCol="0" anchor="t"/>
          <a:lstStyle/>
          <a:p>
            <a:pPr indent="0" marL="0">
              <a:buNone/>
            </a:pPr>
            <a:r>
              <a:rPr lang="en-US" sz="1400" dirty="0">
                <a:solidFill>
                  <a:srgbClr val="222E2D"/>
                </a:solidFill>
                <a:latin typeface="Calibri" pitchFamily="34" charset="0"/>
                <a:ea typeface="Calibri" pitchFamily="34" charset="-122"/>
                <a:cs typeface="Calibri" pitchFamily="34" charset="-120"/>
              </a:rPr>
              <a:t>What if the remainder is 0? Predict what that tells you about the graph of p, then check with p(x) = x³ + x² − 14x − 24 at x = 4.</a:t>
            </a:r>
            <a:endParaRPr lang="en-US" sz="1400" dirty="0"/>
          </a:p>
        </p:txBody>
      </p:sp>
      <p:pic>
        <p:nvPicPr>
          <p:cNvPr id="66" name="Image 6" descr="m_L3-4w10/keaeb25ab54.png">    </p:cNvPr>
          <p:cNvPicPr>
            <a:picLocks noChangeAspect="1"/>
          </p:cNvPicPr>
          <p:nvPr/>
        </p:nvPicPr>
        <p:blipFill>
          <a:blip r:embed="rId7"/>
          <a:stretch>
            <a:fillRect/>
          </a:stretch>
        </p:blipFill>
        <p:spPr>
          <a:xfrm>
            <a:off x="6492240" y="5760720"/>
            <a:ext cx="2698577" cy="26627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HSA.APR.B.2 · HSA.APR.D.6 · HSA.SSE.A.2</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Production: Freight crate for the rail terminal</a:t>
            </a:r>
            <a:endParaRPr lang="en-US" sz="30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143000"/>
          </a:xfrm>
          <a:prstGeom prst="rect">
            <a:avLst/>
          </a:prstGeom>
          <a:noFill/>
          <a:ln/>
        </p:spPr>
        <p:txBody>
          <a:bodyPr wrap="square" lIns="0" tIns="0" rIns="0" bIns="0" rtlCol="0" anchor="t"/>
          <a:lstStyle/>
          <a:p>
            <a:pPr indent="0" marL="0">
              <a:buNone/>
            </a:pPr>
            <a:r>
              <a:rPr lang="en-US" sz="1500" dirty="0">
                <a:solidFill>
                  <a:srgbClr val="222E2D"/>
                </a:solidFill>
                <a:latin typeface="Calibri" pitchFamily="34" charset="0"/>
                <a:ea typeface="Calibri" pitchFamily="34" charset="-122"/>
                <a:cs typeface="Calibri" pitchFamily="34" charset="-120"/>
              </a:rPr>
              <a:t>A model freight crate for a Haramain rail terminal in Jeddah (model values only, not real data) has volume V(x) = x³ + 9x² + 26x + 24 cubic metres. Its height is (x + 2) m, and the base is a rectangle.</a:t>
            </a:r>
            <a:endParaRPr lang="en-US" sz="1500" dirty="0"/>
          </a:p>
        </p:txBody>
      </p:sp>
      <p:pic>
        <p:nvPicPr>
          <p:cNvPr id="32" name="Image 2" descr="m_L3-4w10/kd7adbcf6e7.png">    </p:cNvPr>
          <p:cNvPicPr>
            <a:picLocks noChangeAspect="1"/>
          </p:cNvPicPr>
          <p:nvPr/>
        </p:nvPicPr>
        <p:blipFill>
          <a:blip r:embed="rId3"/>
          <a:stretch>
            <a:fillRect/>
          </a:stretch>
        </p:blipFill>
        <p:spPr>
          <a:xfrm>
            <a:off x="1901220" y="3429000"/>
            <a:ext cx="2964119" cy="327721"/>
          </a:xfrm>
          <a:prstGeom prst="rect">
            <a:avLst/>
          </a:prstGeom>
        </p:spPr>
      </p:pic>
      <p:pic>
        <p:nvPicPr>
          <p:cNvPr id="33" name="Image 3" descr="m_L3-4w10/k8476542fa8.png">    </p:cNvPr>
          <p:cNvPicPr>
            <a:picLocks noChangeAspect="1"/>
          </p:cNvPicPr>
          <p:nvPr/>
        </p:nvPicPr>
        <p:blipFill>
          <a:blip r:embed="rId4"/>
          <a:stretch>
            <a:fillRect/>
          </a:stretch>
        </p:blipFill>
        <p:spPr>
          <a:xfrm>
            <a:off x="2487900" y="3866449"/>
            <a:ext cx="1790761" cy="304312"/>
          </a:xfrm>
          <a:prstGeom prst="rect">
            <a:avLst/>
          </a:prstGeom>
        </p:spPr>
      </p:pic>
      <p:sp>
        <p:nvSpPr>
          <p:cNvPr id="34" name="Text 27"/>
          <p:cNvSpPr txBox="1"/>
          <p:nvPr/>
        </p:nvSpPr>
        <p:spPr>
          <a:xfrm>
            <a:off x="731520" y="4417649"/>
            <a:ext cx="5303520" cy="1800271"/>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Use synthetic division to find the base area, and factor it into the two sides of the base.</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the three dimensions when x = 3 and check the volume.</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A second crate has volume x³ + 9x² + 26x + 30 with the same height (x + 2). Find the remainder and say what it means.</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40280"/>
            <a:ext cx="4663440" cy="21031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The box number is −2 and the base area is x² + 7x + 12.</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The base factors as (x + 3)(x + 4) and the dimensions at x = 3 are 5, 6 and 7 m.</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The volume 210 m³ is checked as 5 × 6 × 7.</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The remainder 6 is found with p(−2) and is explained as a non-exact fit.</a:t>
            </a:r>
            <a:endParaRPr lang="en-US" sz="1200" dirty="0"/>
          </a:p>
        </p:txBody>
      </p:sp>
      <p:sp>
        <p:nvSpPr>
          <p:cNvPr id="38" name="Text 31"/>
          <p:cNvSpPr txBox="1"/>
          <p:nvPr/>
        </p:nvSpPr>
        <p:spPr>
          <a:xfrm>
            <a:off x="6766560" y="4389120"/>
            <a:ext cx="4663440" cy="548640"/>
          </a:xfrm>
          <a:prstGeom prst="rect">
            <a:avLst/>
          </a:prstGeom>
          <a:noFill/>
          <a:ln/>
        </p:spPr>
        <p:txBody>
          <a:bodyPr wrap="square" lIns="0" tIns="0" rIns="0" bIns="0" rtlCol="0" anchor="t"/>
          <a:lstStyle/>
          <a:p>
            <a:pPr indent="0" marL="0">
              <a:buNone/>
            </a:pPr>
            <a:r>
              <a:rPr lang="en-US" sz="1150" i="1" dirty="0">
                <a:solidFill>
                  <a:srgbClr val="F0B323"/>
                </a:solidFill>
                <a:latin typeface="Calibri" pitchFamily="34" charset="0"/>
                <a:ea typeface="Calibri" pitchFamily="34" charset="-122"/>
                <a:cs typeface="Calibri" pitchFamily="34" charset="-120"/>
              </a:rPr>
              <a:t>Hint for solving: the divisor x + 2 is x − (−2), so the box holds −2.</a:t>
            </a:r>
            <a:endParaRPr lang="en-US" sz="1150" dirty="0"/>
          </a:p>
        </p:txBody>
      </p:sp>
      <p:sp>
        <p:nvSpPr>
          <p:cNvPr id="39" name="Shape 32"/>
          <p:cNvSpPr/>
          <p:nvPr/>
        </p:nvSpPr>
        <p:spPr>
          <a:xfrm>
            <a:off x="6675120" y="5029200"/>
            <a:ext cx="4846320" cy="1143000"/>
          </a:xfrm>
          <a:prstGeom prst="roundRect">
            <a:avLst>
              <a:gd name="adj" fmla="val 8000"/>
            </a:avLst>
          </a:prstGeom>
          <a:solidFill>
            <a:srgbClr val="FFF1C9"/>
          </a:solidFill>
          <a:ln w="25400">
            <a:solidFill>
              <a:srgbClr val="F0B323"/>
            </a:solidFill>
            <a:prstDash val="solid"/>
          </a:ln>
        </p:spPr>
      </p:sp>
      <p:sp>
        <p:nvSpPr>
          <p:cNvPr id="40" name="Text 33"/>
          <p:cNvSpPr txBox="1"/>
          <p:nvPr/>
        </p:nvSpPr>
        <p:spPr>
          <a:xfrm>
            <a:off x="6812280" y="5047488"/>
            <a:ext cx="4572000" cy="1097280"/>
          </a:xfrm>
          <a:prstGeom prst="rect">
            <a:avLst/>
          </a:prstGeom>
          <a:noFill/>
          <a:ln/>
        </p:spPr>
        <p:txBody>
          <a:bodyPr wrap="square" lIns="0" tIns="0" rIns="0" bIns="0" rtlCol="0" anchor="ctr"/>
          <a:lstStyle/>
          <a:p>
            <a:pPr indent="0" marL="0">
              <a:buNone/>
            </a:pPr>
            <a:r>
              <a:rPr lang="en-US" sz="1100" b="1" spc="200" kern="0" dirty="0">
                <a:solidFill>
                  <a:srgbClr val="E8762C"/>
                </a:solidFill>
                <a:latin typeface="Calibri" pitchFamily="34" charset="0"/>
                <a:ea typeface="Calibri" pitchFamily="34" charset="-122"/>
                <a:cs typeface="Calibri" pitchFamily="34" charset="-120"/>
              </a:rPr>
              <a:t>WHAT IF...?  </a:t>
            </a:r>
            <a:endParaRPr lang="en-US" sz="1600" dirty="0"/>
          </a:p>
          <a:p>
            <a:pPr indent="0" marL="0">
              <a:buNone/>
            </a:pPr>
            <a:r>
              <a:rPr lang="en-US" sz="1300" dirty="0">
                <a:solidFill>
                  <a:srgbClr val="222E2D"/>
                </a:solidFill>
                <a:latin typeface="Calibri" pitchFamily="34" charset="0"/>
                <a:ea typeface="Calibri" pitchFamily="34" charset="-122"/>
                <a:cs typeface="Calibri" pitchFamily="34" charset="-120"/>
              </a:rPr>
              <a:t>What if the height is (x + 3) for the first crate? Predict whether it is also a fit, using p(−3), then find the base area.</a:t>
            </a:r>
            <a:endParaRPr lang="en-US" sz="16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HSA.APR.B.2 · HSA.APR.D.6 · HSA.SSE.A.2</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12</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3-4w10/k46c47f73de.png">    </p:cNvPr>
          <p:cNvPicPr>
            <a:picLocks noChangeAspect="1"/>
          </p:cNvPicPr>
          <p:nvPr/>
        </p:nvPicPr>
        <p:blipFill>
          <a:blip r:embed="rId3"/>
          <a:stretch>
            <a:fillRect/>
          </a:stretch>
        </p:blipFill>
        <p:spPr>
          <a:xfrm>
            <a:off x="685800" y="2743200"/>
            <a:ext cx="3200400" cy="323798"/>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3-4w10/k6429ea2009.png">    </p:cNvPr>
          <p:cNvPicPr>
            <a:picLocks noChangeAspect="1"/>
          </p:cNvPicPr>
          <p:nvPr/>
        </p:nvPicPr>
        <p:blipFill>
          <a:blip r:embed="rId4"/>
          <a:stretch>
            <a:fillRect/>
          </a:stretch>
        </p:blipFill>
        <p:spPr>
          <a:xfrm>
            <a:off x="4434840" y="2743200"/>
            <a:ext cx="3200400" cy="223330"/>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3-4w10/ke1266cea91.png">    </p:cNvPr>
          <p:cNvPicPr>
            <a:picLocks noChangeAspect="1"/>
          </p:cNvPicPr>
          <p:nvPr/>
        </p:nvPicPr>
        <p:blipFill>
          <a:blip r:embed="rId5"/>
          <a:stretch>
            <a:fillRect/>
          </a:stretch>
        </p:blipFill>
        <p:spPr>
          <a:xfrm>
            <a:off x="8183880" y="2743200"/>
            <a:ext cx="3200400" cy="207984"/>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HSA.APR.B.2 · HSA.APR.D.6 · HSA.SSE.A.2</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13</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Choose a quadratic with two integer zeros and multiply by one more factor to build a cubic p(x).</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Use the Factor Theorem to show one of your factors, and divide to check the quotient.</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Swap with a partner and check their work. Then add a What if...? question (change one coefficient) and test your prediction.</a:t>
            </a:r>
            <a:endParaRPr lang="en-US" sz="15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your cubic expands correctly, the Factor Theorem check and the division agree, and your What if...? question has a prediction and a test.</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L3-4w10/k232165f6c4.png">    </p:cNvPr>
          <p:cNvPicPr>
            <a:picLocks noChangeAspect="1"/>
          </p:cNvPicPr>
          <p:nvPr/>
        </p:nvPicPr>
        <p:blipFill>
          <a:blip r:embed="rId3"/>
          <a:stretch>
            <a:fillRect/>
          </a:stretch>
        </p:blipFill>
        <p:spPr>
          <a:xfrm>
            <a:off x="6873362" y="3703320"/>
            <a:ext cx="4175516" cy="327721"/>
          </a:xfrm>
          <a:prstGeom prst="rect">
            <a:avLst/>
          </a:prstGeom>
        </p:spPr>
      </p:pic>
      <p:pic>
        <p:nvPicPr>
          <p:cNvPr id="40" name="Image 3" descr="m_L3-4w10/kb09fcf49e0.png">    </p:cNvPr>
          <p:cNvPicPr>
            <a:picLocks noChangeAspect="1"/>
          </p:cNvPicPr>
          <p:nvPr/>
        </p:nvPicPr>
        <p:blipFill>
          <a:blip r:embed="rId4"/>
          <a:stretch>
            <a:fillRect/>
          </a:stretch>
        </p:blipFill>
        <p:spPr>
          <a:xfrm>
            <a:off x="6994794" y="4122481"/>
            <a:ext cx="3932652" cy="286756"/>
          </a:xfrm>
          <a:prstGeom prst="rect">
            <a:avLst/>
          </a:prstGeom>
        </p:spPr>
      </p:pic>
      <p:sp>
        <p:nvSpPr>
          <p:cNvPr id="41"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more on zeros of polynomial functions.</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HSA.APR.B.2 · HSA.APR.D.6 · HSA.SSE.A.2</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14</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Exam connections</a:t>
            </a:r>
            <a:endParaRPr lang="en-US" sz="3000" dirty="0"/>
          </a:p>
        </p:txBody>
      </p:sp>
      <p:sp>
        <p:nvSpPr>
          <p:cNvPr id="11" name="Shape 6"/>
          <p:cNvSpPr/>
          <p:nvPr/>
        </p:nvSpPr>
        <p:spPr>
          <a:xfrm>
            <a:off x="457200" y="1280160"/>
            <a:ext cx="3611880" cy="548640"/>
          </a:xfrm>
          <a:prstGeom prst="roundRect">
            <a:avLst>
              <a:gd name="adj" fmla="val 20000"/>
            </a:avLst>
          </a:prstGeom>
          <a:solidFill>
            <a:srgbClr val="17A199"/>
          </a:solidFill>
          <a:ln w="12700">
            <a:solidFill>
              <a:srgbClr val="FFFFFF"/>
            </a:solidFill>
            <a:prstDash val="solid"/>
          </a:ln>
        </p:spPr>
      </p:sp>
      <p:sp>
        <p:nvSpPr>
          <p:cNvPr id="12" name="Text 7"/>
          <p:cNvSpPr txBox="1"/>
          <p:nvPr/>
        </p:nvSpPr>
        <p:spPr>
          <a:xfrm>
            <a:off x="68580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SAT</a:t>
            </a:r>
            <a:endParaRPr lang="en-US" sz="2000" dirty="0"/>
          </a:p>
        </p:txBody>
      </p:sp>
      <p:sp>
        <p:nvSpPr>
          <p:cNvPr id="13" name="Shape 8"/>
          <p:cNvSpPr/>
          <p:nvPr/>
        </p:nvSpPr>
        <p:spPr>
          <a:xfrm>
            <a:off x="45720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14" name="Image 2" descr="m_L3-4w10/k5b3129f9ff.png">    </p:cNvPr>
          <p:cNvPicPr>
            <a:picLocks noChangeAspect="1"/>
          </p:cNvPicPr>
          <p:nvPr/>
        </p:nvPicPr>
        <p:blipFill>
          <a:blip r:embed="rId3"/>
          <a:stretch>
            <a:fillRect/>
          </a:stretch>
        </p:blipFill>
        <p:spPr>
          <a:xfrm>
            <a:off x="594360" y="2148840"/>
            <a:ext cx="3337560" cy="239677"/>
          </a:xfrm>
          <a:prstGeom prst="rect">
            <a:avLst/>
          </a:prstGeom>
        </p:spPr>
      </p:pic>
      <p:pic>
        <p:nvPicPr>
          <p:cNvPr id="15" name="Image 3" descr="m_L3-4w10/k6208311247.png">    </p:cNvPr>
          <p:cNvPicPr>
            <a:picLocks noChangeAspect="1"/>
          </p:cNvPicPr>
          <p:nvPr/>
        </p:nvPicPr>
        <p:blipFill>
          <a:blip r:embed="rId4"/>
          <a:stretch>
            <a:fillRect/>
          </a:stretch>
        </p:blipFill>
        <p:spPr>
          <a:xfrm>
            <a:off x="1121969" y="2479957"/>
            <a:ext cx="2282342" cy="216713"/>
          </a:xfrm>
          <a:prstGeom prst="rect">
            <a:avLst/>
          </a:prstGeom>
        </p:spPr>
      </p:pic>
      <p:sp>
        <p:nvSpPr>
          <p:cNvPr id="16" name="Text 9"/>
          <p:cNvSpPr txBox="1"/>
          <p:nvPr/>
        </p:nvSpPr>
        <p:spPr>
          <a:xfrm>
            <a:off x="68580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17" name="Text 10"/>
          <p:cNvSpPr txBox="1"/>
          <p:nvPr/>
        </p:nvSpPr>
        <p:spPr>
          <a:xfrm>
            <a:off x="685800" y="356616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1</a:t>
            </a:r>
            <a:endParaRPr lang="en-US" sz="1600" dirty="0"/>
          </a:p>
        </p:txBody>
      </p:sp>
      <p:pic>
        <p:nvPicPr>
          <p:cNvPr id="18" name="Image 4" descr="m_L3-4w10/k99e109ef83.png">    </p:cNvPr>
          <p:cNvPicPr>
            <a:picLocks noChangeAspect="1"/>
          </p:cNvPicPr>
          <p:nvPr/>
        </p:nvPicPr>
        <p:blipFill>
          <a:blip r:embed="rId5"/>
          <a:stretch>
            <a:fillRect/>
          </a:stretch>
        </p:blipFill>
        <p:spPr>
          <a:xfrm>
            <a:off x="1097280" y="3566160"/>
            <a:ext cx="2834640" cy="289875"/>
          </a:xfrm>
          <a:prstGeom prst="rect">
            <a:avLst/>
          </a:prstGeom>
        </p:spPr>
      </p:pic>
      <p:sp>
        <p:nvSpPr>
          <p:cNvPr id="19" name="Text 11"/>
          <p:cNvSpPr txBox="1"/>
          <p:nvPr/>
        </p:nvSpPr>
        <p:spPr>
          <a:xfrm>
            <a:off x="685800" y="441960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2</a:t>
            </a:r>
            <a:endParaRPr lang="en-US" sz="1600" dirty="0"/>
          </a:p>
        </p:txBody>
      </p:sp>
      <p:pic>
        <p:nvPicPr>
          <p:cNvPr id="20" name="Image 5" descr="m_L3-4w10/kec3e5acd75.png">    </p:cNvPr>
          <p:cNvPicPr>
            <a:picLocks noChangeAspect="1"/>
          </p:cNvPicPr>
          <p:nvPr/>
        </p:nvPicPr>
        <p:blipFill>
          <a:blip r:embed="rId6"/>
          <a:stretch>
            <a:fillRect/>
          </a:stretch>
        </p:blipFill>
        <p:spPr>
          <a:xfrm>
            <a:off x="1097280" y="4419600"/>
            <a:ext cx="1287475" cy="251643"/>
          </a:xfrm>
          <a:prstGeom prst="rect">
            <a:avLst/>
          </a:prstGeom>
        </p:spPr>
      </p:pic>
      <p:sp>
        <p:nvSpPr>
          <p:cNvPr id="21" name="Text 12"/>
          <p:cNvSpPr txBox="1"/>
          <p:nvPr/>
        </p:nvSpPr>
        <p:spPr>
          <a:xfrm>
            <a:off x="685800" y="527304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3</a:t>
            </a:r>
            <a:endParaRPr lang="en-US" sz="1600" dirty="0"/>
          </a:p>
        </p:txBody>
      </p:sp>
      <p:pic>
        <p:nvPicPr>
          <p:cNvPr id="22" name="Image 6" descr="m_L3-4w10/kba90bbc9b2.png">    </p:cNvPr>
          <p:cNvPicPr>
            <a:picLocks noChangeAspect="1"/>
          </p:cNvPicPr>
          <p:nvPr/>
        </p:nvPicPr>
        <p:blipFill>
          <a:blip r:embed="rId7"/>
          <a:stretch>
            <a:fillRect/>
          </a:stretch>
        </p:blipFill>
        <p:spPr>
          <a:xfrm>
            <a:off x="1097280" y="5273040"/>
            <a:ext cx="632033" cy="231160"/>
          </a:xfrm>
          <a:prstGeom prst="rect">
            <a:avLst/>
          </a:prstGeom>
        </p:spPr>
      </p:pic>
      <p:sp>
        <p:nvSpPr>
          <p:cNvPr id="23" name="Shape 13"/>
          <p:cNvSpPr/>
          <p:nvPr/>
        </p:nvSpPr>
        <p:spPr>
          <a:xfrm>
            <a:off x="4251960" y="1280160"/>
            <a:ext cx="3611880" cy="548640"/>
          </a:xfrm>
          <a:prstGeom prst="roundRect">
            <a:avLst>
              <a:gd name="adj" fmla="val 20000"/>
            </a:avLst>
          </a:prstGeom>
          <a:solidFill>
            <a:srgbClr val="E8762C"/>
          </a:solidFill>
          <a:ln w="12700">
            <a:solidFill>
              <a:srgbClr val="FFFFFF"/>
            </a:solidFill>
            <a:prstDash val="solid"/>
          </a:ln>
        </p:spPr>
      </p:sp>
      <p:sp>
        <p:nvSpPr>
          <p:cNvPr id="24" name="Text 14"/>
          <p:cNvSpPr txBox="1"/>
          <p:nvPr/>
        </p:nvSpPr>
        <p:spPr>
          <a:xfrm>
            <a:off x="448056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GAT</a:t>
            </a:r>
            <a:endParaRPr lang="en-US" sz="2000" dirty="0"/>
          </a:p>
        </p:txBody>
      </p:sp>
      <p:sp>
        <p:nvSpPr>
          <p:cNvPr id="25" name="Shape 15"/>
          <p:cNvSpPr/>
          <p:nvPr/>
        </p:nvSpPr>
        <p:spPr>
          <a:xfrm>
            <a:off x="425196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26" name="Image 7" descr="m_L3-4w10/k68a07b1275.png">    </p:cNvPr>
          <p:cNvPicPr>
            <a:picLocks noChangeAspect="1"/>
          </p:cNvPicPr>
          <p:nvPr/>
        </p:nvPicPr>
        <p:blipFill>
          <a:blip r:embed="rId8"/>
          <a:stretch>
            <a:fillRect/>
          </a:stretch>
        </p:blipFill>
        <p:spPr>
          <a:xfrm>
            <a:off x="4724705" y="2148840"/>
            <a:ext cx="2666390" cy="260604"/>
          </a:xfrm>
          <a:prstGeom prst="rect">
            <a:avLst/>
          </a:prstGeom>
        </p:spPr>
      </p:pic>
      <p:pic>
        <p:nvPicPr>
          <p:cNvPr id="27" name="Image 8" descr="m_L3-4w10/k4e695555ba.png">    </p:cNvPr>
          <p:cNvPicPr>
            <a:picLocks noChangeAspect="1"/>
          </p:cNvPicPr>
          <p:nvPr/>
        </p:nvPicPr>
        <p:blipFill>
          <a:blip r:embed="rId9"/>
          <a:stretch>
            <a:fillRect/>
          </a:stretch>
        </p:blipFill>
        <p:spPr>
          <a:xfrm>
            <a:off x="4389120" y="2500884"/>
            <a:ext cx="3337560" cy="592751"/>
          </a:xfrm>
          <a:prstGeom prst="rect">
            <a:avLst/>
          </a:prstGeom>
        </p:spPr>
      </p:pic>
      <p:sp>
        <p:nvSpPr>
          <p:cNvPr id="28" name="Text 16"/>
          <p:cNvSpPr txBox="1"/>
          <p:nvPr/>
        </p:nvSpPr>
        <p:spPr>
          <a:xfrm>
            <a:off x="4480560" y="3276515"/>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29" name="Text 17"/>
          <p:cNvSpPr txBox="1"/>
          <p:nvPr/>
        </p:nvSpPr>
        <p:spPr>
          <a:xfrm>
            <a:off x="4480560" y="356616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1</a:t>
            </a:r>
            <a:endParaRPr lang="en-US" sz="1600" dirty="0"/>
          </a:p>
        </p:txBody>
      </p:sp>
      <p:pic>
        <p:nvPicPr>
          <p:cNvPr id="30" name="Image 9" descr="m_L3-4w10/k008d8876ac.png">    </p:cNvPr>
          <p:cNvPicPr>
            <a:picLocks noChangeAspect="1"/>
          </p:cNvPicPr>
          <p:nvPr/>
        </p:nvPicPr>
        <p:blipFill>
          <a:blip r:embed="rId10"/>
          <a:stretch>
            <a:fillRect/>
          </a:stretch>
        </p:blipFill>
        <p:spPr>
          <a:xfrm>
            <a:off x="4892040" y="3566160"/>
            <a:ext cx="1433779" cy="327721"/>
          </a:xfrm>
          <a:prstGeom prst="rect">
            <a:avLst/>
          </a:prstGeom>
        </p:spPr>
      </p:pic>
      <p:sp>
        <p:nvSpPr>
          <p:cNvPr id="31" name="Text 18"/>
          <p:cNvSpPr txBox="1"/>
          <p:nvPr/>
        </p:nvSpPr>
        <p:spPr>
          <a:xfrm>
            <a:off x="4480560" y="441960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2</a:t>
            </a:r>
            <a:endParaRPr lang="en-US" sz="1600" dirty="0"/>
          </a:p>
        </p:txBody>
      </p:sp>
      <p:pic>
        <p:nvPicPr>
          <p:cNvPr id="32" name="Image 10" descr="m_L3-4w10/k270453a586.png">    </p:cNvPr>
          <p:cNvPicPr>
            <a:picLocks noChangeAspect="1"/>
          </p:cNvPicPr>
          <p:nvPr/>
        </p:nvPicPr>
        <p:blipFill>
          <a:blip r:embed="rId11"/>
          <a:stretch>
            <a:fillRect/>
          </a:stretch>
        </p:blipFill>
        <p:spPr>
          <a:xfrm>
            <a:off x="4892040" y="4419600"/>
            <a:ext cx="433060" cy="219456"/>
          </a:xfrm>
          <a:prstGeom prst="rect">
            <a:avLst/>
          </a:prstGeom>
        </p:spPr>
      </p:pic>
      <p:sp>
        <p:nvSpPr>
          <p:cNvPr id="33" name="Text 19"/>
          <p:cNvSpPr txBox="1"/>
          <p:nvPr/>
        </p:nvSpPr>
        <p:spPr>
          <a:xfrm>
            <a:off x="4480560" y="527304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3</a:t>
            </a:r>
            <a:endParaRPr lang="en-US" sz="1600" dirty="0"/>
          </a:p>
        </p:txBody>
      </p:sp>
      <p:pic>
        <p:nvPicPr>
          <p:cNvPr id="34" name="Image 11" descr="m_L3-4w10/kbd556cc75c.png">    </p:cNvPr>
          <p:cNvPicPr>
            <a:picLocks noChangeAspect="1"/>
          </p:cNvPicPr>
          <p:nvPr/>
        </p:nvPicPr>
        <p:blipFill>
          <a:blip r:embed="rId12"/>
          <a:stretch>
            <a:fillRect/>
          </a:stretch>
        </p:blipFill>
        <p:spPr>
          <a:xfrm>
            <a:off x="4892040" y="5273040"/>
            <a:ext cx="2220895" cy="275052"/>
          </a:xfrm>
          <a:prstGeom prst="rect">
            <a:avLst/>
          </a:prstGeom>
        </p:spPr>
      </p:pic>
      <p:sp>
        <p:nvSpPr>
          <p:cNvPr id="35" name="Shape 20"/>
          <p:cNvSpPr/>
          <p:nvPr/>
        </p:nvSpPr>
        <p:spPr>
          <a:xfrm>
            <a:off x="8046720" y="1280160"/>
            <a:ext cx="3611880" cy="548640"/>
          </a:xfrm>
          <a:prstGeom prst="roundRect">
            <a:avLst>
              <a:gd name="adj" fmla="val 20000"/>
            </a:avLst>
          </a:prstGeom>
          <a:solidFill>
            <a:srgbClr val="1F3864"/>
          </a:solidFill>
          <a:ln w="12700">
            <a:solidFill>
              <a:srgbClr val="FFFFFF"/>
            </a:solidFill>
            <a:prstDash val="solid"/>
          </a:ln>
        </p:spPr>
      </p:sp>
      <p:sp>
        <p:nvSpPr>
          <p:cNvPr id="36" name="Text 21"/>
          <p:cNvSpPr txBox="1"/>
          <p:nvPr/>
        </p:nvSpPr>
        <p:spPr>
          <a:xfrm>
            <a:off x="827532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SAAT</a:t>
            </a:r>
            <a:endParaRPr lang="en-US" sz="2000" dirty="0"/>
          </a:p>
        </p:txBody>
      </p:sp>
      <p:sp>
        <p:nvSpPr>
          <p:cNvPr id="37" name="Shape 22"/>
          <p:cNvSpPr/>
          <p:nvPr/>
        </p:nvSpPr>
        <p:spPr>
          <a:xfrm>
            <a:off x="804672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8" name="Image 12" descr="m_L3-4w10/kc81f2d115d.png">    </p:cNvPr>
          <p:cNvPicPr>
            <a:picLocks noChangeAspect="1"/>
          </p:cNvPicPr>
          <p:nvPr/>
        </p:nvPicPr>
        <p:blipFill>
          <a:blip r:embed="rId13"/>
          <a:stretch>
            <a:fillRect/>
          </a:stretch>
        </p:blipFill>
        <p:spPr>
          <a:xfrm>
            <a:off x="8380933" y="2148840"/>
            <a:ext cx="2943454" cy="268834"/>
          </a:xfrm>
          <a:prstGeom prst="rect">
            <a:avLst/>
          </a:prstGeom>
        </p:spPr>
      </p:pic>
      <p:pic>
        <p:nvPicPr>
          <p:cNvPr id="39" name="Image 13" descr="m_L3-4w10/kf1934eef7f.png">    </p:cNvPr>
          <p:cNvPicPr>
            <a:picLocks noChangeAspect="1"/>
          </p:cNvPicPr>
          <p:nvPr/>
        </p:nvPicPr>
        <p:blipFill>
          <a:blip r:embed="rId14"/>
          <a:stretch>
            <a:fillRect/>
          </a:stretch>
        </p:blipFill>
        <p:spPr>
          <a:xfrm>
            <a:off x="8876081" y="2509114"/>
            <a:ext cx="1953158" cy="260604"/>
          </a:xfrm>
          <a:prstGeom prst="rect">
            <a:avLst/>
          </a:prstGeom>
        </p:spPr>
      </p:pic>
      <p:sp>
        <p:nvSpPr>
          <p:cNvPr id="40" name="Text 23"/>
          <p:cNvSpPr txBox="1"/>
          <p:nvPr/>
        </p:nvSpPr>
        <p:spPr>
          <a:xfrm>
            <a:off x="827532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41" name="Text 24"/>
          <p:cNvSpPr txBox="1"/>
          <p:nvPr/>
        </p:nvSpPr>
        <p:spPr>
          <a:xfrm>
            <a:off x="8275320" y="356616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1</a:t>
            </a:r>
            <a:endParaRPr lang="en-US" sz="1600" dirty="0"/>
          </a:p>
        </p:txBody>
      </p:sp>
      <p:pic>
        <p:nvPicPr>
          <p:cNvPr id="42" name="Image 14" descr="m_L3-4w10/k9caa6022c9.png">    </p:cNvPr>
          <p:cNvPicPr>
            <a:picLocks noChangeAspect="1"/>
          </p:cNvPicPr>
          <p:nvPr/>
        </p:nvPicPr>
        <p:blipFill>
          <a:blip r:embed="rId15"/>
          <a:stretch>
            <a:fillRect/>
          </a:stretch>
        </p:blipFill>
        <p:spPr>
          <a:xfrm>
            <a:off x="8686800" y="3566160"/>
            <a:ext cx="2834640" cy="320040"/>
          </a:xfrm>
          <a:prstGeom prst="rect">
            <a:avLst/>
          </a:prstGeom>
        </p:spPr>
      </p:pic>
      <p:sp>
        <p:nvSpPr>
          <p:cNvPr id="43" name="Text 25"/>
          <p:cNvSpPr txBox="1"/>
          <p:nvPr/>
        </p:nvSpPr>
        <p:spPr>
          <a:xfrm>
            <a:off x="8275320" y="441960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2</a:t>
            </a:r>
            <a:endParaRPr lang="en-US" sz="1600" dirty="0"/>
          </a:p>
        </p:txBody>
      </p:sp>
      <p:pic>
        <p:nvPicPr>
          <p:cNvPr id="44" name="Image 15" descr="m_L3-4w10/kb9c542f02f.png">    </p:cNvPr>
          <p:cNvPicPr>
            <a:picLocks noChangeAspect="1"/>
          </p:cNvPicPr>
          <p:nvPr/>
        </p:nvPicPr>
        <p:blipFill>
          <a:blip r:embed="rId16"/>
          <a:stretch>
            <a:fillRect/>
          </a:stretch>
        </p:blipFill>
        <p:spPr>
          <a:xfrm>
            <a:off x="8686800" y="4419600"/>
            <a:ext cx="1445484" cy="239939"/>
          </a:xfrm>
          <a:prstGeom prst="rect">
            <a:avLst/>
          </a:prstGeom>
        </p:spPr>
      </p:pic>
      <p:sp>
        <p:nvSpPr>
          <p:cNvPr id="45" name="Text 26"/>
          <p:cNvSpPr txBox="1"/>
          <p:nvPr/>
        </p:nvSpPr>
        <p:spPr>
          <a:xfrm>
            <a:off x="8275320" y="527304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3</a:t>
            </a:r>
            <a:endParaRPr lang="en-US" sz="1600" dirty="0"/>
          </a:p>
        </p:txBody>
      </p:sp>
      <p:pic>
        <p:nvPicPr>
          <p:cNvPr id="46" name="Image 16" descr="m_L3-4w10/k88f67238b8.png">    </p:cNvPr>
          <p:cNvPicPr>
            <a:picLocks noChangeAspect="1"/>
          </p:cNvPicPr>
          <p:nvPr/>
        </p:nvPicPr>
        <p:blipFill>
          <a:blip r:embed="rId17"/>
          <a:stretch>
            <a:fillRect/>
          </a:stretch>
        </p:blipFill>
        <p:spPr>
          <a:xfrm>
            <a:off x="8686800" y="5273040"/>
            <a:ext cx="433060" cy="21945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Dividing a polynomial by x − a gives a quotient and a remainder, the remainder equals p(a), and a zero remainder means x − a is a factor.</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3-4 Dividing Polynomials presentation</dc:title>
  <dc:subject>PptxGenJS Presentation</dc:subject>
  <dc:creator>Mr Malek Thiab</dc:creator>
  <cp:lastModifiedBy>Mr Malek Thiab</cp:lastModifiedBy>
  <cp:revision>1</cp:revision>
  <dcterms:created xsi:type="dcterms:W3CDTF">2026-10-29T04:25:23Z</dcterms:created>
  <dcterms:modified xsi:type="dcterms:W3CDTF">2026-10-29T04:25:23Z</dcterms:modified>
</cp:coreProperties>
</file>