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Mawhiba Grade 9, Unit 3 Linear functions and relations, Activity 2 Paired variables (Tasks 1 and 2), one session of about 40 minutes. Crews of four form before the session (Grapher, Algebraist, Checker, Reporter; roles rotate each task; stuck ladder: re-read, ask your crew, ask another crew, then the teacher). Advanced performance characteristics to develop: tolerate ambiguity and work with inexact relationships; show insight into the nature of different types of linear relationships in mathematics and science. Reminder: scatter graphs from Activity 1 plot paired observations that may show a relationship; open by asking why it is useful to present data this way (visualise relationships, spot outliers, line of best fit gives an estimate, predictions can be tested, informs further hypotheses). All data on the slides are model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four stations, 40 minutes (Match it 8, Read it 14, Judge it 8, Apply and present 10). Each station zooms in as students arrive; no ability labels, every crew starts at station 1. Pre-session home task covered independent and dependent variables and exact and inexact relationships, so spend no more than two minutes on definitions. Materials: the 3-page worksheet, a ruler, a sharp pencil, a spreadsheet or GeoGebra if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Task 1, minutes 1 to 8. Cut-up cards labelled Unit 3 Activity 2 Task 1 Variables (eighteen cards, nine pairs). Definitions: independent variables answer the question What do I change? Dependent variables answer What do I observe? Example if needed: in a lift the number of people is changed and the total weight is recorded. Let students work without interruption, then pairs join fours to compare and explain context and reasons. Possible pairings from the Guide: number of people in a lift and total weight of passengers; temperature and seedling growth; time in months and children's heights; mileage and petrol consumption; number of TVs and life span; time in hours and virus multiplication; time in years and radioactive decay; pressure and wind speed; amount of fertiliser applied to a crop whilst growing and the crop yield produced. There is more than one way of pairing the cards, so accept any pairing with a justified context. What if (gold strip): temperature could be paired with seedling growth or with wind speed in a weather context; time in hours could pair with virus multiplication or with seedling growth. Verbal misconceptions: the independent variable is the one that is easier to measure; the dependent variable always goes second in time; a pair must be a causal pair (number of TVs and life span are associated, not causal; a third variable such as wealth could sit behind both). Adaptive routing: if &gt;30% of crews cannot start, give the lift example and re-ask the two questions; crews that finish early write for each pair which variable goes on the x-axis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Task 2, minutes 9 to 14 (part 1 of 2). Show the three graphs and contexts, in pairs then fours, using the vocabulary: exact linear relationship, inexact linear relationship, experimental errors, limited assumptions, complex assumptions. Graph A (model values, adapted from the Guide's car-hire graph): hiring a car in Jeddah costs SAR 280 a day with the first 100 km included, then SAR 0.80 per extra km, so cost C = 0.8d + 280 for d km over 100. Every point lies exactly on the line: for example (10, 288) and (60, 328) give gradient (328 − 288) ÷ (60 − 10) = 0.8 and intercept 288 − 0.8 × 10 = 280. This is an EXACT linear relationship with few, simple assumptions (once the contract is agreed any difference should be marginal). Graph B: a spring stretched by added masses; ideal length 10 + 0.04 × mass, but the measured lengths differ by up to 0.4 cm: an INEXACT linear relationship caused by EXPERIMENTAL ERRORS (reading the ruler, parallax) and LIMITED assumptions (the spring is not stretched past its elastic limit). Graph C: dates harvested per palm against fertiliser; the harvest rises, levels off and falls, so there is a weak, curved or inexact linear relationship with COMPLEX assumptions (soil, water, heat, pests, palm age all interact). Verbal misconceptions: exact means real data, inexact means the experiment was done badly; a high correlation means exact; a model with no complex assumptions must be simple physics. Adaptive routing: if &gt;30% call graph B exact, ask whether any dot sits off the line; if &gt;30% struggle with graph C, ask what else besides fertiliser changes the harvest.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Task 2, minutes 15 to 22 (part 2 of 2). Graph B data (mass in g, length in cm): (50, 12.2), (100, 13.8), (150, 16.3), (200, 17.7), (250, 20.4), (300, 21.9), (350, 24.2), (400, 26.1), (450, 27.8), (500, 30.3). A line of best fit is y = 0.04x + 10 (gradient 0.04 cm per gram, so every extra 100 g stretches the spring by 4 cm; intercept 10 cm is the natural length with no mass). The largest gap between a dot and the line is 0.4 cm, so the relationship is strong but INEXACT. What if (gold strip): 5 kg is 5000 g, and the line predicts 10 + 0.04 × 5000 = 210 cm, which is impossible for a real spring because it would pass its elastic limit and stay stretched; the line is only trusted inside the range of the readings (50 g to 500 g). Done when: the crew can name the relationship (inexact linear), give a reason (dots scatter about the line, experimental errors), and interpret the gradient and intercept in context. Verbal misconceptions: reading the intercept as the length after 50 g; swapping the axes (length is the dependent variable because it is what we observe); believing the line is wrong because dots are off it. Adaptive routing: if &gt;30% cannot interpret the gradient, ask 'how much longer does the spring get for 100 g?'; crews that finish early compare the three graphs by listing the assumptions behind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judge the claims, minutes 23 to 30. Claim A: FALSE. Graph B has dots off the line but a strong linear pattern; inexact linear relationships are very common and useful, and the model need not touch every dot. Claim B: FALSE as written, or SOMETIMES. Several pairings can be justified (temperature could be paired with seedling growth or with wind speed in a weather context), so the answer depends on the context chosen; require crews to state their context. Claim C: FALSE. The line gives 10 + 0.04 × 5000 = 210 cm at 5000 g, beyond the readings (50 g to 500 g) and past the elastic limit of any real spring. Assumption checks: does a model need to touch every dot; which context did I choose; does the spring still behave the same far beyond the readings. Plenary: which graph gave the strongest evidence (the exact car-hire graph) and how an inexact graph can still support a useful prediction inside its range. Verbal misconceptions: 'one counter-example is not enough'; 'exact and strong are the same'. Adaptive routing: if &gt;30% mark Claim C true, ask them to compute the length at 5000 g and imagine the spring.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apply and present, minutes 31 to 40. Model values, not real charger data. Charge (%) against time (min): (0, 8), (10, 23), (20, 38), (30, 52), (40, 66), (50, 78), (60, 87). 1) Independent: charging time (what I change); dependent: battery charge (what I observe). 2) Using the first five readings, the points (10, 23) and (30, 52) give gradient (52 − 23) ÷ (30 − 10) = 1.45 and intercept 23 − 1.45 × 10 = 8.5, so y = 1.45x + 8.5; the other early readings are within 1 percentage point of this line. 3) At 25 minutes: 1.45 × 25 + 8.5 = 44.75, about 45%. 4) What if 90 minutes: the line gives 1.45 × 90 + 8.5 = 139%, which is impossible (a battery cannot exceed 100%); the later readings already fall below the line (at 60 minutes the line says 95.5% but the reading is 87%), because the charger slows down as the battery fills. So the relationship is inexact and linear only for the first 40 minutes or so; the assumptions are complex (battery management, temperature, charger power). Presentation: two reporters, one minute each. Mawhiba record: tick a value shown today and add evidence to the cumulative record. Verbal misconceptions: using all seven dots for one line; reading 139% as a valid answer; calling it exact because the first dots are close. Adaptive routing: if &gt;30% mix up the variables, return to the two questions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MAWHIBA  ·  GRADE 9  ·  WEEK 10</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Unit 3 · Activity 2</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4200" b="1" dirty="0">
                <a:solidFill>
                  <a:srgbClr val="1F3864"/>
                </a:solidFill>
                <a:latin typeface="Cambria" pitchFamily="34" charset="0"/>
                <a:ea typeface="Cambria" pitchFamily="34" charset="-122"/>
                <a:cs typeface="Cambria" pitchFamily="34" charset="-120"/>
              </a:rPr>
              <a:t>Paired Variables</a:t>
            </a:r>
            <a:endParaRPr lang="en-US" sz="4200" dirty="0"/>
          </a:p>
        </p:txBody>
      </p:sp>
      <p:sp>
        <p:nvSpPr>
          <p:cNvPr id="11" name="Text 6"/>
          <p:cNvSpPr txBox="1"/>
          <p:nvPr/>
        </p:nvSpPr>
        <p:spPr>
          <a:xfrm>
            <a:off x="640080" y="4526280"/>
            <a:ext cx="5852160" cy="68580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Which variable do I change, and how exact is the relationship?</a:t>
            </a:r>
            <a:endParaRPr lang="en-US" sz="1800" dirty="0"/>
          </a:p>
        </p:txBody>
      </p:sp>
      <p:sp>
        <p:nvSpPr>
          <p:cNvPr id="12" name="Text 7"/>
          <p:cNvSpPr txBox="1"/>
          <p:nvPr/>
        </p:nvSpPr>
        <p:spPr>
          <a:xfrm>
            <a:off x="640080" y="534924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fig/title_s.png">    </p:cNvPr>
          <p:cNvPicPr>
            <a:picLocks noChangeAspect="1"/>
          </p:cNvPicPr>
          <p:nvPr/>
        </p:nvPicPr>
        <p:blipFill>
          <a:blip r:embed="rId4"/>
          <a:stretch>
            <a:fillRect/>
          </a:stretch>
        </p:blipFill>
        <p:spPr>
          <a:xfrm>
            <a:off x="8229600" y="1920240"/>
            <a:ext cx="3566160" cy="2743200"/>
          </a:xfrm>
          <a:prstGeom prst="rect">
            <a:avLst/>
          </a:prstGeom>
        </p:spPr>
      </p:pic>
      <p:sp>
        <p:nvSpPr>
          <p:cNvPr id="14" name="Text 8"/>
          <p:cNvSpPr txBox="1"/>
          <p:nvPr/>
        </p:nvSpPr>
        <p:spPr>
          <a:xfrm>
            <a:off x="7863840" y="5029200"/>
            <a:ext cx="438912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Your crew leads. Your teacher facilitates.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Your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Four stations, 40 minutes, and plenty of What if...? Each station zooms in as you arrive.</a:t>
            </a:r>
            <a:endParaRPr lang="en-US" sz="1800" dirty="0"/>
          </a:p>
        </p:txBody>
      </p:sp>
      <p:sp>
        <p:nvSpPr>
          <p:cNvPr id="8" name="path1"/>
          <p:cNvSpPr/>
          <p:nvPr/>
        </p:nvSpPr>
        <p:spPr>
          <a:xfrm flipV="1">
            <a:off x="1371600" y="3200400"/>
            <a:ext cx="3322320" cy="1097280"/>
          </a:xfrm>
          <a:prstGeom prst="line">
            <a:avLst/>
          </a:prstGeom>
          <a:noFill/>
          <a:ln w="38100">
            <a:solidFill>
              <a:srgbClr val="F0B323"/>
            </a:solidFill>
            <a:prstDash val="dash"/>
          </a:ln>
        </p:spPr>
      </p:sp>
      <p:sp>
        <p:nvSpPr>
          <p:cNvPr id="9" name="path2"/>
          <p:cNvSpPr/>
          <p:nvPr/>
        </p:nvSpPr>
        <p:spPr>
          <a:xfrm>
            <a:off x="4693920" y="3200400"/>
            <a:ext cx="3322320" cy="1097280"/>
          </a:xfrm>
          <a:prstGeom prst="line">
            <a:avLst/>
          </a:prstGeom>
          <a:noFill/>
          <a:ln w="38100">
            <a:solidFill>
              <a:srgbClr val="F0B323"/>
            </a:solidFill>
            <a:prstDash val="dash"/>
          </a:ln>
        </p:spPr>
      </p:sp>
      <p:sp>
        <p:nvSpPr>
          <p:cNvPr id="10" name="path3"/>
          <p:cNvSpPr/>
          <p:nvPr/>
        </p:nvSpPr>
        <p:spPr>
          <a:xfrm flipV="1">
            <a:off x="8016240" y="3200400"/>
            <a:ext cx="3322320" cy="1097280"/>
          </a:xfrm>
          <a:prstGeom prst="line">
            <a:avLst/>
          </a:prstGeom>
          <a:noFill/>
          <a:ln w="38100">
            <a:solidFill>
              <a:srgbClr val="F0B323"/>
            </a:solidFill>
            <a:prstDash val="dash"/>
          </a:ln>
        </p:spPr>
      </p:sp>
      <p:sp>
        <p:nvSpPr>
          <p:cNvPr id="11"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2" name="Text 8"/>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3" name="Text 9"/>
          <p:cNvSpPr txBox="1"/>
          <p:nvPr/>
        </p:nvSpPr>
        <p:spPr>
          <a:xfrm>
            <a:off x="365760" y="5070348"/>
            <a:ext cx="2011680" cy="73152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Match it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8 min</a:t>
            </a:r>
            <a:endParaRPr lang="en-US" sz="1600" dirty="0"/>
          </a:p>
        </p:txBody>
      </p:sp>
      <p:sp>
        <p:nvSpPr>
          <p:cNvPr id="14" name="stn2"/>
          <p:cNvSpPr/>
          <p:nvPr/>
        </p:nvSpPr>
        <p:spPr>
          <a:xfrm>
            <a:off x="4030980" y="2537460"/>
            <a:ext cx="1325880" cy="1325880"/>
          </a:xfrm>
          <a:prstGeom prst="ellipse">
            <a:avLst/>
          </a:prstGeom>
          <a:solidFill>
            <a:srgbClr val="17A199"/>
          </a:solidFill>
          <a:ln w="38100">
            <a:solidFill>
              <a:srgbClr val="FFFFFF"/>
            </a:solidFill>
            <a:prstDash val="solid"/>
          </a:ln>
        </p:spPr>
      </p:sp>
      <p:sp>
        <p:nvSpPr>
          <p:cNvPr id="15" name="Text 11"/>
          <p:cNvSpPr txBox="1"/>
          <p:nvPr/>
        </p:nvSpPr>
        <p:spPr>
          <a:xfrm>
            <a:off x="432816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6" name="Text 12"/>
          <p:cNvSpPr txBox="1"/>
          <p:nvPr/>
        </p:nvSpPr>
        <p:spPr>
          <a:xfrm>
            <a:off x="3688080" y="1668780"/>
            <a:ext cx="2011680" cy="7315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Read it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14 min</a:t>
            </a:r>
            <a:endParaRPr lang="en-US" sz="1600" dirty="0"/>
          </a:p>
        </p:txBody>
      </p:sp>
      <p:sp>
        <p:nvSpPr>
          <p:cNvPr id="17" name="stn3"/>
          <p:cNvSpPr/>
          <p:nvPr/>
        </p:nvSpPr>
        <p:spPr>
          <a:xfrm>
            <a:off x="7353300" y="3634740"/>
            <a:ext cx="1325880" cy="1325880"/>
          </a:xfrm>
          <a:prstGeom prst="ellipse">
            <a:avLst/>
          </a:prstGeom>
          <a:solidFill>
            <a:srgbClr val="17A199"/>
          </a:solidFill>
          <a:ln w="38100">
            <a:solidFill>
              <a:srgbClr val="FFFFFF"/>
            </a:solidFill>
            <a:prstDash val="solid"/>
          </a:ln>
        </p:spPr>
      </p:sp>
      <p:sp>
        <p:nvSpPr>
          <p:cNvPr id="18" name="Text 14"/>
          <p:cNvSpPr txBox="1"/>
          <p:nvPr/>
        </p:nvSpPr>
        <p:spPr>
          <a:xfrm>
            <a:off x="76504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9" name="Text 15"/>
          <p:cNvSpPr txBox="1"/>
          <p:nvPr/>
        </p:nvSpPr>
        <p:spPr>
          <a:xfrm>
            <a:off x="7010400" y="5070348"/>
            <a:ext cx="2011680" cy="73152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Judge it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8 min</a:t>
            </a:r>
            <a:endParaRPr lang="en-US" sz="1600" dirty="0"/>
          </a:p>
        </p:txBody>
      </p:sp>
      <p:sp>
        <p:nvSpPr>
          <p:cNvPr id="20" name="stn4"/>
          <p:cNvSpPr/>
          <p:nvPr/>
        </p:nvSpPr>
        <p:spPr>
          <a:xfrm>
            <a:off x="10675620" y="2537460"/>
            <a:ext cx="1325880" cy="1325880"/>
          </a:xfrm>
          <a:prstGeom prst="ellipse">
            <a:avLst/>
          </a:prstGeom>
          <a:solidFill>
            <a:srgbClr val="17A199"/>
          </a:solidFill>
          <a:ln w="38100">
            <a:solidFill>
              <a:srgbClr val="FFFFFF"/>
            </a:solidFill>
            <a:prstDash val="solid"/>
          </a:ln>
        </p:spPr>
      </p:sp>
      <p:sp>
        <p:nvSpPr>
          <p:cNvPr id="21" name="Text 17"/>
          <p:cNvSpPr txBox="1"/>
          <p:nvPr/>
        </p:nvSpPr>
        <p:spPr>
          <a:xfrm>
            <a:off x="10972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2" name="Text 18"/>
          <p:cNvSpPr txBox="1"/>
          <p:nvPr/>
        </p:nvSpPr>
        <p:spPr>
          <a:xfrm>
            <a:off x="10332720" y="1668780"/>
            <a:ext cx="2011680" cy="7315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Apply and present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10 min</a:t>
            </a:r>
            <a:endParaRPr lang="en-US" sz="1600" dirty="0"/>
          </a:p>
        </p:txBody>
      </p:sp>
      <p:sp>
        <p:nvSpPr>
          <p:cNvPr id="23" name="Text 19"/>
          <p:cNvSpPr txBox="1"/>
          <p:nvPr/>
        </p:nvSpPr>
        <p:spPr>
          <a:xfrm>
            <a:off x="548640" y="5806440"/>
            <a:ext cx="11064240" cy="54864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You will need: the worksheet, a clear ruler, a sharp pencil, and a spreadsheet or GeoGebra if you have one.</a:t>
            </a:r>
            <a:endParaRPr lang="en-US" sz="1500" dirty="0"/>
          </a:p>
        </p:txBody>
      </p:sp>
      <p:sp>
        <p:nvSpPr>
          <p:cNvPr id="24" name="Text 20"/>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10  ·  UNIT 3  ·  ACTIVITY 2</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stn1"/>
          <p:cNvSpPr/>
          <p:nvPr/>
        </p:nvSpPr>
        <p:spPr>
          <a:xfrm>
            <a:off x="5294376"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534009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5769864" y="457200"/>
            <a:ext cx="329184" cy="0"/>
          </a:xfrm>
          <a:prstGeom prst="line">
            <a:avLst/>
          </a:prstGeom>
          <a:noFill/>
          <a:ln w="25400">
            <a:solidFill>
              <a:srgbClr val="17A199"/>
            </a:solidFill>
            <a:prstDash val="dash"/>
          </a:ln>
        </p:spPr>
      </p:sp>
      <p:sp>
        <p:nvSpPr>
          <p:cNvPr id="12" name="stn2"/>
          <p:cNvSpPr/>
          <p:nvPr/>
        </p:nvSpPr>
        <p:spPr>
          <a:xfrm>
            <a:off x="6099048"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605332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391656" y="457200"/>
            <a:ext cx="420624" cy="0"/>
          </a:xfrm>
          <a:prstGeom prst="line">
            <a:avLst/>
          </a:prstGeom>
          <a:noFill/>
          <a:ln w="25400">
            <a:solidFill>
              <a:srgbClr val="17A199"/>
            </a:solidFill>
            <a:prstDash val="dash"/>
          </a:ln>
        </p:spPr>
      </p:sp>
      <p:sp>
        <p:nvSpPr>
          <p:cNvPr id="15" name="stn3"/>
          <p:cNvSpPr/>
          <p:nvPr/>
        </p:nvSpPr>
        <p:spPr>
          <a:xfrm>
            <a:off x="6812280"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76656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7104888" y="457200"/>
            <a:ext cx="420624" cy="0"/>
          </a:xfrm>
          <a:prstGeom prst="line">
            <a:avLst/>
          </a:prstGeom>
          <a:noFill/>
          <a:ln w="25400">
            <a:solidFill>
              <a:srgbClr val="17A199"/>
            </a:solidFill>
            <a:prstDash val="dash"/>
          </a:ln>
        </p:spPr>
      </p:sp>
      <p:sp>
        <p:nvSpPr>
          <p:cNvPr id="18" name="stn4"/>
          <p:cNvSpPr/>
          <p:nvPr/>
        </p:nvSpPr>
        <p:spPr>
          <a:xfrm>
            <a:off x="7525512"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47979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6"/>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MATCH IT  ·  8 MIN</a:t>
            </a:r>
            <a:endParaRPr lang="en-US" sz="1200" dirty="0"/>
          </a:p>
        </p:txBody>
      </p:sp>
      <p:sp>
        <p:nvSpPr>
          <p:cNvPr id="21" name="Text 17"/>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Task 1: match the paired variables</a:t>
            </a:r>
            <a:endParaRPr lang="en-US" sz="3000" dirty="0"/>
          </a:p>
        </p:txBody>
      </p:sp>
      <p:sp>
        <p:nvSpPr>
          <p:cNvPr id="23" name="Shape 18"/>
          <p:cNvSpPr/>
          <p:nvPr/>
        </p:nvSpPr>
        <p:spPr>
          <a:xfrm>
            <a:off x="457200" y="1783080"/>
            <a:ext cx="7406640" cy="3977640"/>
          </a:xfrm>
          <a:prstGeom prst="roundRect">
            <a:avLst>
              <a:gd name="adj" fmla="val 2759"/>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4" name="Text 19"/>
          <p:cNvSpPr txBox="1"/>
          <p:nvPr/>
        </p:nvSpPr>
        <p:spPr>
          <a:xfrm>
            <a:off x="731520" y="1856232"/>
            <a:ext cx="54864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EIGHTEEN CARDS  ·  NINE PAIRS</a:t>
            </a:r>
            <a:endParaRPr lang="en-US" sz="1100" dirty="0"/>
          </a:p>
        </p:txBody>
      </p:sp>
      <p:sp>
        <p:nvSpPr>
          <p:cNvPr id="25" name="Shape 20"/>
          <p:cNvSpPr/>
          <p:nvPr/>
        </p:nvSpPr>
        <p:spPr>
          <a:xfrm>
            <a:off x="685800" y="2194560"/>
            <a:ext cx="1115568" cy="1051560"/>
          </a:xfrm>
          <a:prstGeom prst="roundRect">
            <a:avLst>
              <a:gd name="adj" fmla="val 6957"/>
            </a:avLst>
          </a:prstGeom>
          <a:solidFill>
            <a:srgbClr val="FFF1C9"/>
          </a:solidFill>
          <a:ln w="15875">
            <a:solidFill>
              <a:srgbClr val="F0B323"/>
            </a:solidFill>
            <a:prstDash val="solid"/>
          </a:ln>
        </p:spPr>
      </p:sp>
      <p:sp>
        <p:nvSpPr>
          <p:cNvPr id="26" name="Text 21"/>
          <p:cNvSpPr txBox="1"/>
          <p:nvPr/>
        </p:nvSpPr>
        <p:spPr>
          <a:xfrm>
            <a:off x="740664" y="2231136"/>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Temperature</a:t>
            </a:r>
            <a:endParaRPr lang="en-US" sz="1050" dirty="0"/>
          </a:p>
        </p:txBody>
      </p:sp>
      <p:sp>
        <p:nvSpPr>
          <p:cNvPr id="27" name="Shape 22"/>
          <p:cNvSpPr/>
          <p:nvPr/>
        </p:nvSpPr>
        <p:spPr>
          <a:xfrm>
            <a:off x="1874520" y="2194560"/>
            <a:ext cx="1115568" cy="1051560"/>
          </a:xfrm>
          <a:prstGeom prst="roundRect">
            <a:avLst>
              <a:gd name="adj" fmla="val 6957"/>
            </a:avLst>
          </a:prstGeom>
          <a:solidFill>
            <a:srgbClr val="E8F4F2"/>
          </a:solidFill>
          <a:ln w="15875">
            <a:solidFill>
              <a:srgbClr val="17A199"/>
            </a:solidFill>
            <a:prstDash val="solid"/>
          </a:ln>
        </p:spPr>
      </p:sp>
      <p:sp>
        <p:nvSpPr>
          <p:cNvPr id="28" name="Text 23"/>
          <p:cNvSpPr txBox="1"/>
          <p:nvPr/>
        </p:nvSpPr>
        <p:spPr>
          <a:xfrm>
            <a:off x="1929384" y="2231136"/>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Radioactive decay</a:t>
            </a:r>
            <a:endParaRPr lang="en-US" sz="1050" dirty="0"/>
          </a:p>
        </p:txBody>
      </p:sp>
      <p:sp>
        <p:nvSpPr>
          <p:cNvPr id="29" name="Shape 24"/>
          <p:cNvSpPr/>
          <p:nvPr/>
        </p:nvSpPr>
        <p:spPr>
          <a:xfrm>
            <a:off x="3063240" y="2194560"/>
            <a:ext cx="1115568" cy="1051560"/>
          </a:xfrm>
          <a:prstGeom prst="roundRect">
            <a:avLst>
              <a:gd name="adj" fmla="val 6957"/>
            </a:avLst>
          </a:prstGeom>
          <a:solidFill>
            <a:srgbClr val="FFF1C9"/>
          </a:solidFill>
          <a:ln w="15875">
            <a:solidFill>
              <a:srgbClr val="F0B323"/>
            </a:solidFill>
            <a:prstDash val="solid"/>
          </a:ln>
        </p:spPr>
      </p:sp>
      <p:sp>
        <p:nvSpPr>
          <p:cNvPr id="30" name="Text 25"/>
          <p:cNvSpPr txBox="1"/>
          <p:nvPr/>
        </p:nvSpPr>
        <p:spPr>
          <a:xfrm>
            <a:off x="3118104" y="2231136"/>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Number of people in a lift</a:t>
            </a:r>
            <a:endParaRPr lang="en-US" sz="1050" dirty="0"/>
          </a:p>
        </p:txBody>
      </p:sp>
      <p:sp>
        <p:nvSpPr>
          <p:cNvPr id="31" name="Shape 26"/>
          <p:cNvSpPr/>
          <p:nvPr/>
        </p:nvSpPr>
        <p:spPr>
          <a:xfrm>
            <a:off x="4251960" y="2194560"/>
            <a:ext cx="1115568" cy="1051560"/>
          </a:xfrm>
          <a:prstGeom prst="roundRect">
            <a:avLst>
              <a:gd name="adj" fmla="val 6957"/>
            </a:avLst>
          </a:prstGeom>
          <a:solidFill>
            <a:srgbClr val="E8F4F2"/>
          </a:solidFill>
          <a:ln w="15875">
            <a:solidFill>
              <a:srgbClr val="17A199"/>
            </a:solidFill>
            <a:prstDash val="solid"/>
          </a:ln>
        </p:spPr>
      </p:sp>
      <p:sp>
        <p:nvSpPr>
          <p:cNvPr id="32" name="Text 27"/>
          <p:cNvSpPr txBox="1"/>
          <p:nvPr/>
        </p:nvSpPr>
        <p:spPr>
          <a:xfrm>
            <a:off x="4306824" y="2231136"/>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Life span</a:t>
            </a:r>
            <a:endParaRPr lang="en-US" sz="1050" dirty="0"/>
          </a:p>
        </p:txBody>
      </p:sp>
      <p:sp>
        <p:nvSpPr>
          <p:cNvPr id="33" name="Shape 28"/>
          <p:cNvSpPr/>
          <p:nvPr/>
        </p:nvSpPr>
        <p:spPr>
          <a:xfrm>
            <a:off x="5440680" y="2194560"/>
            <a:ext cx="1115568" cy="1051560"/>
          </a:xfrm>
          <a:prstGeom prst="roundRect">
            <a:avLst>
              <a:gd name="adj" fmla="val 6957"/>
            </a:avLst>
          </a:prstGeom>
          <a:solidFill>
            <a:srgbClr val="FFF1C9"/>
          </a:solidFill>
          <a:ln w="15875">
            <a:solidFill>
              <a:srgbClr val="F0B323"/>
            </a:solidFill>
            <a:prstDash val="solid"/>
          </a:ln>
        </p:spPr>
      </p:sp>
      <p:sp>
        <p:nvSpPr>
          <p:cNvPr id="34" name="Text 29"/>
          <p:cNvSpPr txBox="1"/>
          <p:nvPr/>
        </p:nvSpPr>
        <p:spPr>
          <a:xfrm>
            <a:off x="5495544" y="2231136"/>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Mileage</a:t>
            </a:r>
            <a:endParaRPr lang="en-US" sz="1050" dirty="0"/>
          </a:p>
        </p:txBody>
      </p:sp>
      <p:sp>
        <p:nvSpPr>
          <p:cNvPr id="35" name="Shape 30"/>
          <p:cNvSpPr/>
          <p:nvPr/>
        </p:nvSpPr>
        <p:spPr>
          <a:xfrm>
            <a:off x="6629400" y="2194560"/>
            <a:ext cx="1115568" cy="1051560"/>
          </a:xfrm>
          <a:prstGeom prst="roundRect">
            <a:avLst>
              <a:gd name="adj" fmla="val 6957"/>
            </a:avLst>
          </a:prstGeom>
          <a:solidFill>
            <a:srgbClr val="E8F4F2"/>
          </a:solidFill>
          <a:ln w="15875">
            <a:solidFill>
              <a:srgbClr val="17A199"/>
            </a:solidFill>
            <a:prstDash val="solid"/>
          </a:ln>
        </p:spPr>
      </p:sp>
      <p:sp>
        <p:nvSpPr>
          <p:cNvPr id="36" name="Text 31"/>
          <p:cNvSpPr txBox="1"/>
          <p:nvPr/>
        </p:nvSpPr>
        <p:spPr>
          <a:xfrm>
            <a:off x="6684264" y="2231136"/>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The crop yield produced</a:t>
            </a:r>
            <a:endParaRPr lang="en-US" sz="1050" dirty="0"/>
          </a:p>
        </p:txBody>
      </p:sp>
      <p:sp>
        <p:nvSpPr>
          <p:cNvPr id="37" name="Shape 32"/>
          <p:cNvSpPr/>
          <p:nvPr/>
        </p:nvSpPr>
        <p:spPr>
          <a:xfrm>
            <a:off x="685800" y="3364992"/>
            <a:ext cx="1115568" cy="1051560"/>
          </a:xfrm>
          <a:prstGeom prst="roundRect">
            <a:avLst>
              <a:gd name="adj" fmla="val 6957"/>
            </a:avLst>
          </a:prstGeom>
          <a:solidFill>
            <a:srgbClr val="FFF1C9"/>
          </a:solidFill>
          <a:ln w="15875">
            <a:solidFill>
              <a:srgbClr val="F0B323"/>
            </a:solidFill>
            <a:prstDash val="solid"/>
          </a:ln>
        </p:spPr>
      </p:sp>
      <p:sp>
        <p:nvSpPr>
          <p:cNvPr id="38" name="Text 33"/>
          <p:cNvSpPr txBox="1"/>
          <p:nvPr/>
        </p:nvSpPr>
        <p:spPr>
          <a:xfrm>
            <a:off x="740664" y="3401568"/>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Time in months</a:t>
            </a:r>
            <a:endParaRPr lang="en-US" sz="1050" dirty="0"/>
          </a:p>
        </p:txBody>
      </p:sp>
      <p:sp>
        <p:nvSpPr>
          <p:cNvPr id="39" name="Shape 34"/>
          <p:cNvSpPr/>
          <p:nvPr/>
        </p:nvSpPr>
        <p:spPr>
          <a:xfrm>
            <a:off x="1874520" y="3364992"/>
            <a:ext cx="1115568" cy="1051560"/>
          </a:xfrm>
          <a:prstGeom prst="roundRect">
            <a:avLst>
              <a:gd name="adj" fmla="val 6957"/>
            </a:avLst>
          </a:prstGeom>
          <a:solidFill>
            <a:srgbClr val="E8F4F2"/>
          </a:solidFill>
          <a:ln w="15875">
            <a:solidFill>
              <a:srgbClr val="17A199"/>
            </a:solidFill>
            <a:prstDash val="solid"/>
          </a:ln>
        </p:spPr>
      </p:sp>
      <p:sp>
        <p:nvSpPr>
          <p:cNvPr id="40" name="Text 35"/>
          <p:cNvSpPr txBox="1"/>
          <p:nvPr/>
        </p:nvSpPr>
        <p:spPr>
          <a:xfrm>
            <a:off x="1929384" y="3401568"/>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Seedling growth</a:t>
            </a:r>
            <a:endParaRPr lang="en-US" sz="1050" dirty="0"/>
          </a:p>
        </p:txBody>
      </p:sp>
      <p:sp>
        <p:nvSpPr>
          <p:cNvPr id="41" name="Shape 36"/>
          <p:cNvSpPr/>
          <p:nvPr/>
        </p:nvSpPr>
        <p:spPr>
          <a:xfrm>
            <a:off x="3063240" y="3364992"/>
            <a:ext cx="1115568" cy="1051560"/>
          </a:xfrm>
          <a:prstGeom prst="roundRect">
            <a:avLst>
              <a:gd name="adj" fmla="val 6957"/>
            </a:avLst>
          </a:prstGeom>
          <a:solidFill>
            <a:srgbClr val="FFF1C9"/>
          </a:solidFill>
          <a:ln w="15875">
            <a:solidFill>
              <a:srgbClr val="F0B323"/>
            </a:solidFill>
            <a:prstDash val="solid"/>
          </a:ln>
        </p:spPr>
      </p:sp>
      <p:sp>
        <p:nvSpPr>
          <p:cNvPr id="42" name="Text 37"/>
          <p:cNvSpPr txBox="1"/>
          <p:nvPr/>
        </p:nvSpPr>
        <p:spPr>
          <a:xfrm>
            <a:off x="3118104" y="3401568"/>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Time in hours</a:t>
            </a:r>
            <a:endParaRPr lang="en-US" sz="1050" dirty="0"/>
          </a:p>
        </p:txBody>
      </p:sp>
      <p:sp>
        <p:nvSpPr>
          <p:cNvPr id="43" name="Shape 38"/>
          <p:cNvSpPr/>
          <p:nvPr/>
        </p:nvSpPr>
        <p:spPr>
          <a:xfrm>
            <a:off x="4251960" y="3364992"/>
            <a:ext cx="1115568" cy="1051560"/>
          </a:xfrm>
          <a:prstGeom prst="roundRect">
            <a:avLst>
              <a:gd name="adj" fmla="val 6957"/>
            </a:avLst>
          </a:prstGeom>
          <a:solidFill>
            <a:srgbClr val="E8F4F2"/>
          </a:solidFill>
          <a:ln w="15875">
            <a:solidFill>
              <a:srgbClr val="17A199"/>
            </a:solidFill>
            <a:prstDash val="solid"/>
          </a:ln>
        </p:spPr>
      </p:sp>
      <p:sp>
        <p:nvSpPr>
          <p:cNvPr id="44" name="Text 39"/>
          <p:cNvSpPr txBox="1"/>
          <p:nvPr/>
        </p:nvSpPr>
        <p:spPr>
          <a:xfrm>
            <a:off x="4306824" y="3401568"/>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Wind speed</a:t>
            </a:r>
            <a:endParaRPr lang="en-US" sz="1050" dirty="0"/>
          </a:p>
        </p:txBody>
      </p:sp>
      <p:sp>
        <p:nvSpPr>
          <p:cNvPr id="45" name="Shape 40"/>
          <p:cNvSpPr/>
          <p:nvPr/>
        </p:nvSpPr>
        <p:spPr>
          <a:xfrm>
            <a:off x="5440680" y="3364992"/>
            <a:ext cx="1115568" cy="1051560"/>
          </a:xfrm>
          <a:prstGeom prst="roundRect">
            <a:avLst>
              <a:gd name="adj" fmla="val 6957"/>
            </a:avLst>
          </a:prstGeom>
          <a:solidFill>
            <a:srgbClr val="FFF1C9"/>
          </a:solidFill>
          <a:ln w="15875">
            <a:solidFill>
              <a:srgbClr val="F0B323"/>
            </a:solidFill>
            <a:prstDash val="solid"/>
          </a:ln>
        </p:spPr>
      </p:sp>
      <p:sp>
        <p:nvSpPr>
          <p:cNvPr id="46" name="Text 41"/>
          <p:cNvSpPr txBox="1"/>
          <p:nvPr/>
        </p:nvSpPr>
        <p:spPr>
          <a:xfrm>
            <a:off x="5495544" y="3401568"/>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Number of TVs</a:t>
            </a:r>
            <a:endParaRPr lang="en-US" sz="1050" dirty="0"/>
          </a:p>
        </p:txBody>
      </p:sp>
      <p:sp>
        <p:nvSpPr>
          <p:cNvPr id="47" name="Shape 42"/>
          <p:cNvSpPr/>
          <p:nvPr/>
        </p:nvSpPr>
        <p:spPr>
          <a:xfrm>
            <a:off x="6629400" y="3364992"/>
            <a:ext cx="1115568" cy="1051560"/>
          </a:xfrm>
          <a:prstGeom prst="roundRect">
            <a:avLst>
              <a:gd name="adj" fmla="val 6957"/>
            </a:avLst>
          </a:prstGeom>
          <a:solidFill>
            <a:srgbClr val="E8F4F2"/>
          </a:solidFill>
          <a:ln w="15875">
            <a:solidFill>
              <a:srgbClr val="17A199"/>
            </a:solidFill>
            <a:prstDash val="solid"/>
          </a:ln>
        </p:spPr>
      </p:sp>
      <p:sp>
        <p:nvSpPr>
          <p:cNvPr id="48" name="Text 43"/>
          <p:cNvSpPr txBox="1"/>
          <p:nvPr/>
        </p:nvSpPr>
        <p:spPr>
          <a:xfrm>
            <a:off x="6684264" y="3401568"/>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Total weight of passengers</a:t>
            </a:r>
            <a:endParaRPr lang="en-US" sz="1050" dirty="0"/>
          </a:p>
        </p:txBody>
      </p:sp>
      <p:sp>
        <p:nvSpPr>
          <p:cNvPr id="49" name="Shape 44"/>
          <p:cNvSpPr/>
          <p:nvPr/>
        </p:nvSpPr>
        <p:spPr>
          <a:xfrm>
            <a:off x="685800" y="4535424"/>
            <a:ext cx="1115568" cy="1051560"/>
          </a:xfrm>
          <a:prstGeom prst="roundRect">
            <a:avLst>
              <a:gd name="adj" fmla="val 6957"/>
            </a:avLst>
          </a:prstGeom>
          <a:solidFill>
            <a:srgbClr val="FFF1C9"/>
          </a:solidFill>
          <a:ln w="15875">
            <a:solidFill>
              <a:srgbClr val="F0B323"/>
            </a:solidFill>
            <a:prstDash val="solid"/>
          </a:ln>
        </p:spPr>
      </p:sp>
      <p:sp>
        <p:nvSpPr>
          <p:cNvPr id="50" name="Text 45"/>
          <p:cNvSpPr txBox="1"/>
          <p:nvPr/>
        </p:nvSpPr>
        <p:spPr>
          <a:xfrm>
            <a:off x="740664" y="4572000"/>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Pressure</a:t>
            </a:r>
            <a:endParaRPr lang="en-US" sz="1050" dirty="0"/>
          </a:p>
        </p:txBody>
      </p:sp>
      <p:sp>
        <p:nvSpPr>
          <p:cNvPr id="51" name="Shape 46"/>
          <p:cNvSpPr/>
          <p:nvPr/>
        </p:nvSpPr>
        <p:spPr>
          <a:xfrm>
            <a:off x="1874520" y="4535424"/>
            <a:ext cx="1115568" cy="1051560"/>
          </a:xfrm>
          <a:prstGeom prst="roundRect">
            <a:avLst>
              <a:gd name="adj" fmla="val 6957"/>
            </a:avLst>
          </a:prstGeom>
          <a:solidFill>
            <a:srgbClr val="E8F4F2"/>
          </a:solidFill>
          <a:ln w="15875">
            <a:solidFill>
              <a:srgbClr val="17A199"/>
            </a:solidFill>
            <a:prstDash val="solid"/>
          </a:ln>
        </p:spPr>
      </p:sp>
      <p:sp>
        <p:nvSpPr>
          <p:cNvPr id="52" name="Text 47"/>
          <p:cNvSpPr txBox="1"/>
          <p:nvPr/>
        </p:nvSpPr>
        <p:spPr>
          <a:xfrm>
            <a:off x="1929384" y="4572000"/>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Children’s heights</a:t>
            </a:r>
            <a:endParaRPr lang="en-US" sz="1050" dirty="0"/>
          </a:p>
        </p:txBody>
      </p:sp>
      <p:sp>
        <p:nvSpPr>
          <p:cNvPr id="53" name="Shape 48"/>
          <p:cNvSpPr/>
          <p:nvPr/>
        </p:nvSpPr>
        <p:spPr>
          <a:xfrm>
            <a:off x="3063240" y="4535424"/>
            <a:ext cx="1115568" cy="1051560"/>
          </a:xfrm>
          <a:prstGeom prst="roundRect">
            <a:avLst>
              <a:gd name="adj" fmla="val 6957"/>
            </a:avLst>
          </a:prstGeom>
          <a:solidFill>
            <a:srgbClr val="FFF1C9"/>
          </a:solidFill>
          <a:ln w="15875">
            <a:solidFill>
              <a:srgbClr val="F0B323"/>
            </a:solidFill>
            <a:prstDash val="solid"/>
          </a:ln>
        </p:spPr>
      </p:sp>
      <p:sp>
        <p:nvSpPr>
          <p:cNvPr id="54" name="Text 49"/>
          <p:cNvSpPr txBox="1"/>
          <p:nvPr/>
        </p:nvSpPr>
        <p:spPr>
          <a:xfrm>
            <a:off x="3118104" y="4572000"/>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Time in years</a:t>
            </a:r>
            <a:endParaRPr lang="en-US" sz="1050" dirty="0"/>
          </a:p>
        </p:txBody>
      </p:sp>
      <p:sp>
        <p:nvSpPr>
          <p:cNvPr id="55" name="Shape 50"/>
          <p:cNvSpPr/>
          <p:nvPr/>
        </p:nvSpPr>
        <p:spPr>
          <a:xfrm>
            <a:off x="4251960" y="4535424"/>
            <a:ext cx="1115568" cy="1051560"/>
          </a:xfrm>
          <a:prstGeom prst="roundRect">
            <a:avLst>
              <a:gd name="adj" fmla="val 6957"/>
            </a:avLst>
          </a:prstGeom>
          <a:solidFill>
            <a:srgbClr val="E8F4F2"/>
          </a:solidFill>
          <a:ln w="15875">
            <a:solidFill>
              <a:srgbClr val="17A199"/>
            </a:solidFill>
            <a:prstDash val="solid"/>
          </a:ln>
        </p:spPr>
      </p:sp>
      <p:sp>
        <p:nvSpPr>
          <p:cNvPr id="56" name="Text 51"/>
          <p:cNvSpPr txBox="1"/>
          <p:nvPr/>
        </p:nvSpPr>
        <p:spPr>
          <a:xfrm>
            <a:off x="4306824" y="4572000"/>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Virus multiplication</a:t>
            </a:r>
            <a:endParaRPr lang="en-US" sz="1050" dirty="0"/>
          </a:p>
        </p:txBody>
      </p:sp>
      <p:sp>
        <p:nvSpPr>
          <p:cNvPr id="57" name="Shape 52"/>
          <p:cNvSpPr/>
          <p:nvPr/>
        </p:nvSpPr>
        <p:spPr>
          <a:xfrm>
            <a:off x="5440680" y="4535424"/>
            <a:ext cx="1115568" cy="1051560"/>
          </a:xfrm>
          <a:prstGeom prst="roundRect">
            <a:avLst>
              <a:gd name="adj" fmla="val 6957"/>
            </a:avLst>
          </a:prstGeom>
          <a:solidFill>
            <a:srgbClr val="FFF1C9"/>
          </a:solidFill>
          <a:ln w="15875">
            <a:solidFill>
              <a:srgbClr val="F0B323"/>
            </a:solidFill>
            <a:prstDash val="solid"/>
          </a:ln>
        </p:spPr>
      </p:sp>
      <p:sp>
        <p:nvSpPr>
          <p:cNvPr id="58" name="Text 53"/>
          <p:cNvSpPr txBox="1"/>
          <p:nvPr/>
        </p:nvSpPr>
        <p:spPr>
          <a:xfrm>
            <a:off x="5495544" y="4572000"/>
            <a:ext cx="1005840" cy="978408"/>
          </a:xfrm>
          <a:prstGeom prst="rect">
            <a:avLst/>
          </a:prstGeom>
          <a:noFill/>
          <a:ln/>
        </p:spPr>
        <p:txBody>
          <a:bodyPr wrap="square" lIns="0" tIns="0" rIns="0" bIns="0" rtlCol="0" anchor="ctr"/>
          <a:lstStyle/>
          <a:p>
            <a:pPr algn="ctr" indent="0" marL="0">
              <a:buNone/>
            </a:pPr>
            <a:r>
              <a:rPr lang="en-US" sz="850" b="1" dirty="0">
                <a:solidFill>
                  <a:srgbClr val="1F3864"/>
                </a:solidFill>
                <a:latin typeface="Calibri" pitchFamily="34" charset="0"/>
                <a:ea typeface="Calibri" pitchFamily="34" charset="-122"/>
                <a:cs typeface="Calibri" pitchFamily="34" charset="-120"/>
              </a:rPr>
              <a:t>Amount of fertiliser applied to a crop whilst growing</a:t>
            </a:r>
            <a:endParaRPr lang="en-US" sz="850" dirty="0"/>
          </a:p>
        </p:txBody>
      </p:sp>
      <p:sp>
        <p:nvSpPr>
          <p:cNvPr id="59" name="Shape 54"/>
          <p:cNvSpPr/>
          <p:nvPr/>
        </p:nvSpPr>
        <p:spPr>
          <a:xfrm>
            <a:off x="6629400" y="4535424"/>
            <a:ext cx="1115568" cy="1051560"/>
          </a:xfrm>
          <a:prstGeom prst="roundRect">
            <a:avLst>
              <a:gd name="adj" fmla="val 6957"/>
            </a:avLst>
          </a:prstGeom>
          <a:solidFill>
            <a:srgbClr val="E8F4F2"/>
          </a:solidFill>
          <a:ln w="15875">
            <a:solidFill>
              <a:srgbClr val="17A199"/>
            </a:solidFill>
            <a:prstDash val="solid"/>
          </a:ln>
        </p:spPr>
      </p:sp>
      <p:sp>
        <p:nvSpPr>
          <p:cNvPr id="60" name="Text 55"/>
          <p:cNvSpPr txBox="1"/>
          <p:nvPr/>
        </p:nvSpPr>
        <p:spPr>
          <a:xfrm>
            <a:off x="6684264" y="4572000"/>
            <a:ext cx="1005840" cy="978408"/>
          </a:xfrm>
          <a:prstGeom prst="rect">
            <a:avLst/>
          </a:prstGeom>
          <a:noFill/>
          <a:ln/>
        </p:spPr>
        <p:txBody>
          <a:bodyPr wrap="square" lIns="0" tIns="0" rIns="0" bIns="0" rtlCol="0" anchor="ctr"/>
          <a:lstStyle/>
          <a:p>
            <a:pPr algn="ctr" indent="0" marL="0">
              <a:buNone/>
            </a:pPr>
            <a:r>
              <a:rPr lang="en-US" sz="1050" b="1" dirty="0">
                <a:solidFill>
                  <a:srgbClr val="1F3864"/>
                </a:solidFill>
                <a:latin typeface="Calibri" pitchFamily="34" charset="0"/>
                <a:ea typeface="Calibri" pitchFamily="34" charset="-122"/>
                <a:cs typeface="Calibri" pitchFamily="34" charset="-120"/>
              </a:rPr>
              <a:t>Petrol consumption</a:t>
            </a:r>
            <a:endParaRPr lang="en-US" sz="1050" dirty="0"/>
          </a:p>
        </p:txBody>
      </p:sp>
      <p:sp>
        <p:nvSpPr>
          <p:cNvPr id="61" name="Shape 56"/>
          <p:cNvSpPr/>
          <p:nvPr/>
        </p:nvSpPr>
        <p:spPr>
          <a:xfrm>
            <a:off x="8046720" y="1783080"/>
            <a:ext cx="3657600" cy="2240280"/>
          </a:xfrm>
          <a:prstGeom prst="roundRect">
            <a:avLst>
              <a:gd name="adj" fmla="val 4898"/>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62" name="Text 57"/>
          <p:cNvSpPr txBox="1"/>
          <p:nvPr/>
        </p:nvSpPr>
        <p:spPr>
          <a:xfrm>
            <a:off x="8275320" y="1856232"/>
            <a:ext cx="329184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TASK 1  ·  PAIRS, THEN FOURS</a:t>
            </a:r>
            <a:endParaRPr lang="en-US" sz="1200" dirty="0"/>
          </a:p>
        </p:txBody>
      </p:sp>
      <p:sp>
        <p:nvSpPr>
          <p:cNvPr id="63" name="Text 58"/>
          <p:cNvSpPr txBox="1"/>
          <p:nvPr/>
        </p:nvSpPr>
        <p:spPr>
          <a:xfrm>
            <a:off x="8275320" y="2194560"/>
            <a:ext cx="3200400" cy="1737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Match the cards into pairs. One card is the independent variable, one is the dependent variable. Explain the context you chose.</a:t>
            </a:r>
            <a:endParaRPr lang="en-US" sz="1400" dirty="0"/>
          </a:p>
        </p:txBody>
      </p:sp>
      <p:sp>
        <p:nvSpPr>
          <p:cNvPr id="64" name="Shape 59"/>
          <p:cNvSpPr/>
          <p:nvPr/>
        </p:nvSpPr>
        <p:spPr>
          <a:xfrm>
            <a:off x="8046720" y="4160520"/>
            <a:ext cx="3657600" cy="1600200"/>
          </a:xfrm>
          <a:prstGeom prst="roundRect">
            <a:avLst>
              <a:gd name="adj" fmla="val 6857"/>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65" name="Text 60"/>
          <p:cNvSpPr txBox="1"/>
          <p:nvPr/>
        </p:nvSpPr>
        <p:spPr>
          <a:xfrm>
            <a:off x="8275320" y="4233672"/>
            <a:ext cx="32004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TWO QUESTIONS</a:t>
            </a:r>
            <a:endParaRPr lang="en-US" sz="1100" dirty="0"/>
          </a:p>
        </p:txBody>
      </p:sp>
      <p:sp>
        <p:nvSpPr>
          <p:cNvPr id="66" name="Text 61"/>
          <p:cNvSpPr txBox="1"/>
          <p:nvPr/>
        </p:nvSpPr>
        <p:spPr>
          <a:xfrm>
            <a:off x="8275320" y="4526280"/>
            <a:ext cx="32004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E2D"/>
                </a:solidFill>
                <a:latin typeface="Calibri" pitchFamily="34" charset="0"/>
                <a:ea typeface="Calibri" pitchFamily="34" charset="-122"/>
                <a:cs typeface="Calibri" pitchFamily="34" charset="-120"/>
              </a:rPr>
              <a:t>Independent: “What do I change?”</a:t>
            </a:r>
            <a:endParaRPr lang="en-US" sz="1400" dirty="0"/>
          </a:p>
          <a:p>
            <a:pPr marL="342900" indent="-342900">
              <a:spcAft>
                <a:spcPts val="600"/>
              </a:spcAft>
              <a:buSzPct val="100000"/>
              <a:buChar char="•"/>
            </a:pPr>
            <a:r>
              <a:rPr lang="en-US" sz="1400" dirty="0">
                <a:solidFill>
                  <a:srgbClr val="222E2D"/>
                </a:solidFill>
                <a:latin typeface="Calibri" pitchFamily="34" charset="0"/>
                <a:ea typeface="Calibri" pitchFamily="34" charset="-122"/>
                <a:cs typeface="Calibri" pitchFamily="34" charset="-120"/>
              </a:rPr>
              <a:t>Dependent: “What do I observe?”</a:t>
            </a:r>
            <a:endParaRPr lang="en-US" sz="1400" dirty="0"/>
          </a:p>
        </p:txBody>
      </p:sp>
      <p:sp>
        <p:nvSpPr>
          <p:cNvPr id="67" name="Shape 62"/>
          <p:cNvSpPr/>
          <p:nvPr/>
        </p:nvSpPr>
        <p:spPr>
          <a:xfrm>
            <a:off x="457200" y="5852160"/>
            <a:ext cx="11247120" cy="566928"/>
          </a:xfrm>
          <a:prstGeom prst="roundRect">
            <a:avLst>
              <a:gd name="adj" fmla="val 19355"/>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68" name="Text 63"/>
          <p:cNvSpPr txBox="1"/>
          <p:nvPr/>
        </p:nvSpPr>
        <p:spPr>
          <a:xfrm>
            <a:off x="685800" y="5961888"/>
            <a:ext cx="27432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69" name="Text 64"/>
          <p:cNvSpPr txBox="1"/>
          <p:nvPr/>
        </p:nvSpPr>
        <p:spPr>
          <a:xfrm>
            <a:off x="685800" y="6263640"/>
            <a:ext cx="10789920" cy="64008"/>
          </a:xfrm>
          <a:prstGeom prst="rect">
            <a:avLst/>
          </a:prstGeom>
          <a:noFill/>
          <a:ln/>
        </p:spPr>
        <p:txBody>
          <a:bodyPr wrap="square" lIns="0" tIns="0" rIns="0" bIns="0" rtlCol="0" anchor="t"/>
          <a:lstStyle/>
          <a:p>
            <a:pPr indent="0" marL="0">
              <a:buNone/>
            </a:pPr>
            <a:endParaRPr lang="en-US" sz="1400" dirty="0"/>
          </a:p>
        </p:txBody>
      </p:sp>
      <p:sp>
        <p:nvSpPr>
          <p:cNvPr id="70" name="Text 65"/>
          <p:cNvSpPr txBox="1"/>
          <p:nvPr/>
        </p:nvSpPr>
        <p:spPr>
          <a:xfrm>
            <a:off x="2834640" y="5943600"/>
            <a:ext cx="8686800" cy="411480"/>
          </a:xfrm>
          <a:prstGeom prst="rect">
            <a:avLst/>
          </a:prstGeom>
          <a:noFill/>
          <a:ln/>
        </p:spPr>
        <p:txBody>
          <a:bodyPr wrap="square" lIns="0" tIns="0" rIns="0" bIns="0" rtlCol="0" anchor="ctr"/>
          <a:lstStyle/>
          <a:p>
            <a:pPr indent="0" marL="0">
              <a:buNone/>
            </a:pPr>
            <a:r>
              <a:rPr lang="en-US" sz="1400" dirty="0">
                <a:solidFill>
                  <a:srgbClr val="222E2D"/>
                </a:solidFill>
                <a:latin typeface="Calibri" pitchFamily="34" charset="0"/>
                <a:ea typeface="Calibri" pitchFamily="34" charset="-122"/>
                <a:cs typeface="Calibri" pitchFamily="34" charset="-120"/>
              </a:rPr>
              <a:t>What if a card could go with more than one partner? Find a card with two possible partners and explain each context.</a:t>
            </a:r>
            <a:endParaRPr lang="en-US" sz="14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10  ·  UNIT 3  ·  ACTIVITY 2</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5385816"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534009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678424" y="457200"/>
            <a:ext cx="329184" cy="0"/>
          </a:xfrm>
          <a:prstGeom prst="line">
            <a:avLst/>
          </a:prstGeom>
          <a:noFill/>
          <a:ln w="25400">
            <a:solidFill>
              <a:srgbClr val="17A199"/>
            </a:solidFill>
            <a:prstDash val="dash"/>
          </a:ln>
        </p:spPr>
      </p:sp>
      <p:sp>
        <p:nvSpPr>
          <p:cNvPr id="12" name="stn2"/>
          <p:cNvSpPr/>
          <p:nvPr/>
        </p:nvSpPr>
        <p:spPr>
          <a:xfrm>
            <a:off x="6007608"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605332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6483096" y="457200"/>
            <a:ext cx="329184" cy="0"/>
          </a:xfrm>
          <a:prstGeom prst="line">
            <a:avLst/>
          </a:prstGeom>
          <a:noFill/>
          <a:ln w="25400">
            <a:solidFill>
              <a:srgbClr val="17A199"/>
            </a:solidFill>
            <a:prstDash val="dash"/>
          </a:ln>
        </p:spPr>
      </p:sp>
      <p:sp>
        <p:nvSpPr>
          <p:cNvPr id="15" name="stn3"/>
          <p:cNvSpPr/>
          <p:nvPr/>
        </p:nvSpPr>
        <p:spPr>
          <a:xfrm>
            <a:off x="6812280"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76656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7104888" y="457200"/>
            <a:ext cx="420624" cy="0"/>
          </a:xfrm>
          <a:prstGeom prst="line">
            <a:avLst/>
          </a:prstGeom>
          <a:noFill/>
          <a:ln w="25400">
            <a:solidFill>
              <a:srgbClr val="17A199"/>
            </a:solidFill>
            <a:prstDash val="dash"/>
          </a:ln>
        </p:spPr>
      </p:sp>
      <p:sp>
        <p:nvSpPr>
          <p:cNvPr id="18" name="stn4"/>
          <p:cNvSpPr/>
          <p:nvPr/>
        </p:nvSpPr>
        <p:spPr>
          <a:xfrm>
            <a:off x="7525512"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47979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6"/>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READ IT  ·  14 MIN</a:t>
            </a:r>
            <a:endParaRPr lang="en-US" sz="1200" dirty="0"/>
          </a:p>
        </p:txBody>
      </p:sp>
      <p:sp>
        <p:nvSpPr>
          <p:cNvPr id="21" name="Text 17"/>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Task 2: three graphs, three kinds of relationship</a:t>
            </a:r>
            <a:endParaRPr lang="en-US" sz="3000" dirty="0"/>
          </a:p>
        </p:txBody>
      </p:sp>
      <p:sp>
        <p:nvSpPr>
          <p:cNvPr id="23" name="Shape 18"/>
          <p:cNvSpPr/>
          <p:nvPr/>
        </p:nvSpPr>
        <p:spPr>
          <a:xfrm>
            <a:off x="457200" y="1783080"/>
            <a:ext cx="3657600" cy="3429000"/>
          </a:xfrm>
          <a:prstGeom prst="roundRect">
            <a:avLst>
              <a:gd name="adj" fmla="val 32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4" name="Text 19"/>
          <p:cNvSpPr txBox="1"/>
          <p:nvPr/>
        </p:nvSpPr>
        <p:spPr>
          <a:xfrm>
            <a:off x="594360" y="1856232"/>
            <a:ext cx="365760" cy="365760"/>
          </a:xfrm>
          <a:prstGeom prst="rect">
            <a:avLst/>
          </a:prstGeom>
          <a:noFill/>
          <a:ln/>
        </p:spPr>
        <p:txBody>
          <a:bodyPr wrap="square" lIns="0" tIns="0" rIns="0" bIns="0" rtlCol="0" anchor="t"/>
          <a:lstStyle/>
          <a:p>
            <a:pPr indent="0" marL="0">
              <a:buNone/>
            </a:pPr>
            <a:r>
              <a:rPr lang="en-US" sz="2000" b="1" dirty="0">
                <a:solidFill>
                  <a:srgbClr val="E8762C"/>
                </a:solidFill>
                <a:latin typeface="Cambria" pitchFamily="34" charset="0"/>
                <a:ea typeface="Cambria" pitchFamily="34" charset="-122"/>
                <a:cs typeface="Cambria" pitchFamily="34" charset="-120"/>
              </a:rPr>
              <a:t>A</a:t>
            </a:r>
            <a:endParaRPr lang="en-US" sz="2000" dirty="0"/>
          </a:p>
        </p:txBody>
      </p:sp>
      <p:sp>
        <p:nvSpPr>
          <p:cNvPr id="25" name="Text 20"/>
          <p:cNvSpPr txBox="1"/>
          <p:nvPr/>
        </p:nvSpPr>
        <p:spPr>
          <a:xfrm>
            <a:off x="1005840" y="1892808"/>
            <a:ext cx="3017520" cy="320040"/>
          </a:xfrm>
          <a:prstGeom prst="rect">
            <a:avLst/>
          </a:prstGeom>
          <a:noFill/>
          <a:ln/>
        </p:spPr>
        <p:txBody>
          <a:bodyPr wrap="square" lIns="0" tIns="0" rIns="0" bIns="0" rtlCol="0" anchor="t"/>
          <a:lstStyle/>
          <a:p>
            <a:pPr indent="0" marL="0">
              <a:buNone/>
            </a:pPr>
            <a:r>
              <a:rPr lang="en-US" sz="1500" b="1" dirty="0">
                <a:solidFill>
                  <a:srgbClr val="1F3864"/>
                </a:solidFill>
                <a:latin typeface="Cambria" pitchFamily="34" charset="0"/>
                <a:ea typeface="Cambria" pitchFamily="34" charset="-122"/>
                <a:cs typeface="Cambria" pitchFamily="34" charset="-120"/>
              </a:rPr>
              <a:t>Hiring a car in Jeddah</a:t>
            </a:r>
            <a:endParaRPr lang="en-US" sz="1500" dirty="0"/>
          </a:p>
        </p:txBody>
      </p:sp>
      <p:pic>
        <p:nvPicPr>
          <p:cNvPr id="26" name="Image 2" descr="fig/th_car_s.png">    </p:cNvPr>
          <p:cNvPicPr>
            <a:picLocks noChangeAspect="1"/>
          </p:cNvPicPr>
          <p:nvPr/>
        </p:nvPicPr>
        <p:blipFill>
          <a:blip r:embed="rId3"/>
          <a:stretch>
            <a:fillRect/>
          </a:stretch>
        </p:blipFill>
        <p:spPr>
          <a:xfrm>
            <a:off x="731520" y="2286000"/>
            <a:ext cx="3108960" cy="2253996"/>
          </a:xfrm>
          <a:prstGeom prst="rect">
            <a:avLst/>
          </a:prstGeom>
        </p:spPr>
      </p:pic>
      <p:sp>
        <p:nvSpPr>
          <p:cNvPr id="27" name="Text 21"/>
          <p:cNvSpPr txBox="1"/>
          <p:nvPr/>
        </p:nvSpPr>
        <p:spPr>
          <a:xfrm>
            <a:off x="640080" y="4558284"/>
            <a:ext cx="3291840" cy="548640"/>
          </a:xfrm>
          <a:prstGeom prst="rect">
            <a:avLst/>
          </a:prstGeom>
          <a:noFill/>
          <a:ln/>
        </p:spPr>
        <p:txBody>
          <a:bodyPr wrap="square" lIns="0" tIns="0" rIns="0" bIns="0" rtlCol="0" anchor="t"/>
          <a:lstStyle/>
          <a:p>
            <a:pPr indent="0" marL="0">
              <a:buNone/>
            </a:pPr>
            <a:r>
              <a:rPr lang="en-US" sz="1050" dirty="0">
                <a:solidFill>
                  <a:srgbClr val="3F4B49"/>
                </a:solidFill>
                <a:latin typeface="Calibri" pitchFamily="34" charset="0"/>
                <a:ea typeface="Calibri" pitchFamily="34" charset="-122"/>
                <a:cs typeface="Calibri" pitchFamily="34" charset="-120"/>
              </a:rPr>
              <a:t>SAR 280 a day, first 100 km included, then SAR 0.80 for each extra km.</a:t>
            </a:r>
            <a:endParaRPr lang="en-US" sz="1050" dirty="0"/>
          </a:p>
        </p:txBody>
      </p:sp>
      <p:sp>
        <p:nvSpPr>
          <p:cNvPr id="28" name="Shape 22"/>
          <p:cNvSpPr/>
          <p:nvPr/>
        </p:nvSpPr>
        <p:spPr>
          <a:xfrm>
            <a:off x="4251960" y="1783080"/>
            <a:ext cx="3657600" cy="3429000"/>
          </a:xfrm>
          <a:prstGeom prst="roundRect">
            <a:avLst>
              <a:gd name="adj" fmla="val 32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9" name="Text 23"/>
          <p:cNvSpPr txBox="1"/>
          <p:nvPr/>
        </p:nvSpPr>
        <p:spPr>
          <a:xfrm>
            <a:off x="4389120" y="1856232"/>
            <a:ext cx="365760" cy="365760"/>
          </a:xfrm>
          <a:prstGeom prst="rect">
            <a:avLst/>
          </a:prstGeom>
          <a:noFill/>
          <a:ln/>
        </p:spPr>
        <p:txBody>
          <a:bodyPr wrap="square" lIns="0" tIns="0" rIns="0" bIns="0" rtlCol="0" anchor="t"/>
          <a:lstStyle/>
          <a:p>
            <a:pPr indent="0" marL="0">
              <a:buNone/>
            </a:pPr>
            <a:r>
              <a:rPr lang="en-US" sz="2000" b="1" dirty="0">
                <a:solidFill>
                  <a:srgbClr val="E8762C"/>
                </a:solidFill>
                <a:latin typeface="Cambria" pitchFamily="34" charset="0"/>
                <a:ea typeface="Cambria" pitchFamily="34" charset="-122"/>
                <a:cs typeface="Cambria" pitchFamily="34" charset="-120"/>
              </a:rPr>
              <a:t>B</a:t>
            </a:r>
            <a:endParaRPr lang="en-US" sz="2000" dirty="0"/>
          </a:p>
        </p:txBody>
      </p:sp>
      <p:sp>
        <p:nvSpPr>
          <p:cNvPr id="30" name="Text 24"/>
          <p:cNvSpPr txBox="1"/>
          <p:nvPr/>
        </p:nvSpPr>
        <p:spPr>
          <a:xfrm>
            <a:off x="4800600" y="1892808"/>
            <a:ext cx="3017520" cy="320040"/>
          </a:xfrm>
          <a:prstGeom prst="rect">
            <a:avLst/>
          </a:prstGeom>
          <a:noFill/>
          <a:ln/>
        </p:spPr>
        <p:txBody>
          <a:bodyPr wrap="square" lIns="0" tIns="0" rIns="0" bIns="0" rtlCol="0" anchor="t"/>
          <a:lstStyle/>
          <a:p>
            <a:pPr indent="0" marL="0">
              <a:buNone/>
            </a:pPr>
            <a:r>
              <a:rPr lang="en-US" sz="1500" b="1" dirty="0">
                <a:solidFill>
                  <a:srgbClr val="1F3864"/>
                </a:solidFill>
                <a:latin typeface="Cambria" pitchFamily="34" charset="0"/>
                <a:ea typeface="Cambria" pitchFamily="34" charset="-122"/>
                <a:cs typeface="Cambria" pitchFamily="34" charset="-120"/>
              </a:rPr>
              <a:t>Stretching a spring</a:t>
            </a:r>
            <a:endParaRPr lang="en-US" sz="1500" dirty="0"/>
          </a:p>
        </p:txBody>
      </p:sp>
      <p:pic>
        <p:nvPicPr>
          <p:cNvPr id="31" name="Image 3" descr="fig/th_spr_s.png">    </p:cNvPr>
          <p:cNvPicPr>
            <a:picLocks noChangeAspect="1"/>
          </p:cNvPicPr>
          <p:nvPr/>
        </p:nvPicPr>
        <p:blipFill>
          <a:blip r:embed="rId4"/>
          <a:stretch>
            <a:fillRect/>
          </a:stretch>
        </p:blipFill>
        <p:spPr>
          <a:xfrm>
            <a:off x="4526280" y="2286000"/>
            <a:ext cx="3108960" cy="2253996"/>
          </a:xfrm>
          <a:prstGeom prst="rect">
            <a:avLst/>
          </a:prstGeom>
        </p:spPr>
      </p:pic>
      <p:sp>
        <p:nvSpPr>
          <p:cNvPr id="32" name="Text 25"/>
          <p:cNvSpPr txBox="1"/>
          <p:nvPr/>
        </p:nvSpPr>
        <p:spPr>
          <a:xfrm>
            <a:off x="4434840" y="4558284"/>
            <a:ext cx="3291840" cy="548640"/>
          </a:xfrm>
          <a:prstGeom prst="rect">
            <a:avLst/>
          </a:prstGeom>
          <a:noFill/>
          <a:ln/>
        </p:spPr>
        <p:txBody>
          <a:bodyPr wrap="square" lIns="0" tIns="0" rIns="0" bIns="0" rtlCol="0" anchor="t"/>
          <a:lstStyle/>
          <a:p>
            <a:pPr indent="0" marL="0">
              <a:buNone/>
            </a:pPr>
            <a:r>
              <a:rPr lang="en-US" sz="1050" dirty="0">
                <a:solidFill>
                  <a:srgbClr val="3F4B49"/>
                </a:solidFill>
                <a:latin typeface="Calibri" pitchFamily="34" charset="0"/>
                <a:ea typeface="Calibri" pitchFamily="34" charset="-122"/>
                <a:cs typeface="Calibri" pitchFamily="34" charset="-120"/>
              </a:rPr>
              <a:t>Masses are added to a spring and its length is measured with a ruler.</a:t>
            </a:r>
            <a:endParaRPr lang="en-US" sz="1050" dirty="0"/>
          </a:p>
        </p:txBody>
      </p:sp>
      <p:sp>
        <p:nvSpPr>
          <p:cNvPr id="33" name="Shape 26"/>
          <p:cNvSpPr/>
          <p:nvPr/>
        </p:nvSpPr>
        <p:spPr>
          <a:xfrm>
            <a:off x="8046720" y="1783080"/>
            <a:ext cx="3657600" cy="3429000"/>
          </a:xfrm>
          <a:prstGeom prst="roundRect">
            <a:avLst>
              <a:gd name="adj" fmla="val 32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Text 27"/>
          <p:cNvSpPr txBox="1"/>
          <p:nvPr/>
        </p:nvSpPr>
        <p:spPr>
          <a:xfrm>
            <a:off x="8183880" y="1856232"/>
            <a:ext cx="365760" cy="365760"/>
          </a:xfrm>
          <a:prstGeom prst="rect">
            <a:avLst/>
          </a:prstGeom>
          <a:noFill/>
          <a:ln/>
        </p:spPr>
        <p:txBody>
          <a:bodyPr wrap="square" lIns="0" tIns="0" rIns="0" bIns="0" rtlCol="0" anchor="t"/>
          <a:lstStyle/>
          <a:p>
            <a:pPr indent="0" marL="0">
              <a:buNone/>
            </a:pPr>
            <a:r>
              <a:rPr lang="en-US" sz="2000" b="1" dirty="0">
                <a:solidFill>
                  <a:srgbClr val="E8762C"/>
                </a:solidFill>
                <a:latin typeface="Cambria" pitchFamily="34" charset="0"/>
                <a:ea typeface="Cambria" pitchFamily="34" charset="-122"/>
                <a:cs typeface="Cambria" pitchFamily="34" charset="-120"/>
              </a:rPr>
              <a:t>C</a:t>
            </a:r>
            <a:endParaRPr lang="en-US" sz="2000" dirty="0"/>
          </a:p>
        </p:txBody>
      </p:sp>
      <p:sp>
        <p:nvSpPr>
          <p:cNvPr id="35" name="Text 28"/>
          <p:cNvSpPr txBox="1"/>
          <p:nvPr/>
        </p:nvSpPr>
        <p:spPr>
          <a:xfrm>
            <a:off x="8595360" y="1892808"/>
            <a:ext cx="3017520" cy="320040"/>
          </a:xfrm>
          <a:prstGeom prst="rect">
            <a:avLst/>
          </a:prstGeom>
          <a:noFill/>
          <a:ln/>
        </p:spPr>
        <p:txBody>
          <a:bodyPr wrap="square" lIns="0" tIns="0" rIns="0" bIns="0" rtlCol="0" anchor="t"/>
          <a:lstStyle/>
          <a:p>
            <a:pPr indent="0" marL="0">
              <a:buNone/>
            </a:pPr>
            <a:r>
              <a:rPr lang="en-US" sz="1500" b="1" dirty="0">
                <a:solidFill>
                  <a:srgbClr val="1F3864"/>
                </a:solidFill>
                <a:latin typeface="Cambria" pitchFamily="34" charset="0"/>
                <a:ea typeface="Cambria" pitchFamily="34" charset="-122"/>
                <a:cs typeface="Cambria" pitchFamily="34" charset="-120"/>
              </a:rPr>
              <a:t>Fertiliser on date palms</a:t>
            </a:r>
            <a:endParaRPr lang="en-US" sz="1500" dirty="0"/>
          </a:p>
        </p:txBody>
      </p:sp>
      <p:pic>
        <p:nvPicPr>
          <p:cNvPr id="36" name="Image 4" descr="fig/th_fer_s.png">    </p:cNvPr>
          <p:cNvPicPr>
            <a:picLocks noChangeAspect="1"/>
          </p:cNvPicPr>
          <p:nvPr/>
        </p:nvPicPr>
        <p:blipFill>
          <a:blip r:embed="rId5"/>
          <a:stretch>
            <a:fillRect/>
          </a:stretch>
        </p:blipFill>
        <p:spPr>
          <a:xfrm>
            <a:off x="8321040" y="2286000"/>
            <a:ext cx="3108960" cy="2253996"/>
          </a:xfrm>
          <a:prstGeom prst="rect">
            <a:avLst/>
          </a:prstGeom>
        </p:spPr>
      </p:pic>
      <p:sp>
        <p:nvSpPr>
          <p:cNvPr id="37" name="Text 29"/>
          <p:cNvSpPr txBox="1"/>
          <p:nvPr/>
        </p:nvSpPr>
        <p:spPr>
          <a:xfrm>
            <a:off x="8229600" y="4558284"/>
            <a:ext cx="3291840" cy="548640"/>
          </a:xfrm>
          <a:prstGeom prst="rect">
            <a:avLst/>
          </a:prstGeom>
          <a:noFill/>
          <a:ln/>
        </p:spPr>
        <p:txBody>
          <a:bodyPr wrap="square" lIns="0" tIns="0" rIns="0" bIns="0" rtlCol="0" anchor="t"/>
          <a:lstStyle/>
          <a:p>
            <a:pPr indent="0" marL="0">
              <a:buNone/>
            </a:pPr>
            <a:r>
              <a:rPr lang="en-US" sz="1050" dirty="0">
                <a:solidFill>
                  <a:srgbClr val="3F4B49"/>
                </a:solidFill>
                <a:latin typeface="Calibri" pitchFamily="34" charset="0"/>
                <a:ea typeface="Calibri" pitchFamily="34" charset="-122"/>
                <a:cs typeface="Calibri" pitchFamily="34" charset="-120"/>
              </a:rPr>
              <a:t>A farm in Al-Ahsa records fertiliser used and dates harvested per palm.</a:t>
            </a:r>
            <a:endParaRPr lang="en-US" sz="1050" dirty="0"/>
          </a:p>
        </p:txBody>
      </p:sp>
      <p:sp>
        <p:nvSpPr>
          <p:cNvPr id="38" name="Shape 30"/>
          <p:cNvSpPr/>
          <p:nvPr/>
        </p:nvSpPr>
        <p:spPr>
          <a:xfrm>
            <a:off x="457200" y="5349240"/>
            <a:ext cx="11247120" cy="1005840"/>
          </a:xfrm>
          <a:prstGeom prst="roundRect">
            <a:avLst>
              <a:gd name="adj" fmla="val 1090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31"/>
          <p:cNvSpPr txBox="1"/>
          <p:nvPr/>
        </p:nvSpPr>
        <p:spPr>
          <a:xfrm>
            <a:off x="731520" y="5413248"/>
            <a:ext cx="45720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USE THIS VOCABULARY</a:t>
            </a:r>
            <a:endParaRPr lang="en-US" sz="1200" dirty="0"/>
          </a:p>
        </p:txBody>
      </p:sp>
      <p:sp>
        <p:nvSpPr>
          <p:cNvPr id="40" name="Shape 32"/>
          <p:cNvSpPr/>
          <p:nvPr/>
        </p:nvSpPr>
        <p:spPr>
          <a:xfrm>
            <a:off x="731520" y="5760720"/>
            <a:ext cx="2103120" cy="457200"/>
          </a:xfrm>
          <a:prstGeom prst="roundRect">
            <a:avLst>
              <a:gd name="adj" fmla="val 50000"/>
            </a:avLst>
          </a:prstGeom>
          <a:solidFill>
            <a:srgbClr val="FFFFFF"/>
          </a:solidFill>
          <a:ln w="19050">
            <a:solidFill>
              <a:srgbClr val="F0B323"/>
            </a:solidFill>
            <a:prstDash val="solid"/>
          </a:ln>
        </p:spPr>
      </p:sp>
      <p:sp>
        <p:nvSpPr>
          <p:cNvPr id="41" name="Text 33"/>
          <p:cNvSpPr txBox="1"/>
          <p:nvPr/>
        </p:nvSpPr>
        <p:spPr>
          <a:xfrm>
            <a:off x="731520" y="5760720"/>
            <a:ext cx="2103120" cy="457200"/>
          </a:xfrm>
          <a:prstGeom prst="rect">
            <a:avLst/>
          </a:prstGeom>
          <a:noFill/>
          <a:ln/>
        </p:spPr>
        <p:txBody>
          <a:bodyPr wrap="square" lIns="0" tIns="0" rIns="0" bIns="0" rtlCol="0" anchor="ctr"/>
          <a:lstStyle/>
          <a:p>
            <a:pPr algn="ctr" indent="0" marL="0">
              <a:buNone/>
            </a:pPr>
            <a:r>
              <a:rPr lang="en-US" sz="1100" b="1" dirty="0">
                <a:solidFill>
                  <a:srgbClr val="1F3864"/>
                </a:solidFill>
                <a:latin typeface="Calibri" pitchFamily="34" charset="0"/>
                <a:ea typeface="Calibri" pitchFamily="34" charset="-122"/>
                <a:cs typeface="Calibri" pitchFamily="34" charset="-120"/>
              </a:rPr>
              <a:t>exact linear relationship</a:t>
            </a:r>
            <a:endParaRPr lang="en-US" sz="1100" dirty="0"/>
          </a:p>
        </p:txBody>
      </p:sp>
      <p:sp>
        <p:nvSpPr>
          <p:cNvPr id="42" name="Shape 34"/>
          <p:cNvSpPr/>
          <p:nvPr/>
        </p:nvSpPr>
        <p:spPr>
          <a:xfrm>
            <a:off x="2926080" y="5760720"/>
            <a:ext cx="2103120" cy="457200"/>
          </a:xfrm>
          <a:prstGeom prst="roundRect">
            <a:avLst>
              <a:gd name="adj" fmla="val 50000"/>
            </a:avLst>
          </a:prstGeom>
          <a:solidFill>
            <a:srgbClr val="FFFFFF"/>
          </a:solidFill>
          <a:ln w="19050">
            <a:solidFill>
              <a:srgbClr val="F0B323"/>
            </a:solidFill>
            <a:prstDash val="solid"/>
          </a:ln>
        </p:spPr>
      </p:sp>
      <p:sp>
        <p:nvSpPr>
          <p:cNvPr id="43" name="Text 35"/>
          <p:cNvSpPr txBox="1"/>
          <p:nvPr/>
        </p:nvSpPr>
        <p:spPr>
          <a:xfrm>
            <a:off x="2926080" y="5760720"/>
            <a:ext cx="2103120" cy="457200"/>
          </a:xfrm>
          <a:prstGeom prst="rect">
            <a:avLst/>
          </a:prstGeom>
          <a:noFill/>
          <a:ln/>
        </p:spPr>
        <p:txBody>
          <a:bodyPr wrap="square" lIns="0" tIns="0" rIns="0" bIns="0" rtlCol="0" anchor="ctr"/>
          <a:lstStyle/>
          <a:p>
            <a:pPr algn="ctr" indent="0" marL="0">
              <a:buNone/>
            </a:pPr>
            <a:r>
              <a:rPr lang="en-US" sz="1100" b="1" dirty="0">
                <a:solidFill>
                  <a:srgbClr val="1F3864"/>
                </a:solidFill>
                <a:latin typeface="Calibri" pitchFamily="34" charset="0"/>
                <a:ea typeface="Calibri" pitchFamily="34" charset="-122"/>
                <a:cs typeface="Calibri" pitchFamily="34" charset="-120"/>
              </a:rPr>
              <a:t>inexact linear relationship</a:t>
            </a:r>
            <a:endParaRPr lang="en-US" sz="1100" dirty="0"/>
          </a:p>
        </p:txBody>
      </p:sp>
      <p:sp>
        <p:nvSpPr>
          <p:cNvPr id="44" name="Shape 36"/>
          <p:cNvSpPr/>
          <p:nvPr/>
        </p:nvSpPr>
        <p:spPr>
          <a:xfrm>
            <a:off x="5120640" y="5760720"/>
            <a:ext cx="2103120" cy="457200"/>
          </a:xfrm>
          <a:prstGeom prst="roundRect">
            <a:avLst>
              <a:gd name="adj" fmla="val 50000"/>
            </a:avLst>
          </a:prstGeom>
          <a:solidFill>
            <a:srgbClr val="FFFFFF"/>
          </a:solidFill>
          <a:ln w="19050">
            <a:solidFill>
              <a:srgbClr val="F0B323"/>
            </a:solidFill>
            <a:prstDash val="solid"/>
          </a:ln>
        </p:spPr>
      </p:sp>
      <p:sp>
        <p:nvSpPr>
          <p:cNvPr id="45" name="Text 37"/>
          <p:cNvSpPr txBox="1"/>
          <p:nvPr/>
        </p:nvSpPr>
        <p:spPr>
          <a:xfrm>
            <a:off x="5120640" y="5760720"/>
            <a:ext cx="2103120" cy="457200"/>
          </a:xfrm>
          <a:prstGeom prst="rect">
            <a:avLst/>
          </a:prstGeom>
          <a:noFill/>
          <a:ln/>
        </p:spPr>
        <p:txBody>
          <a:bodyPr wrap="square" lIns="0" tIns="0" rIns="0" bIns="0" rtlCol="0" anchor="ctr"/>
          <a:lstStyle/>
          <a:p>
            <a:pPr algn="ctr" indent="0" marL="0">
              <a:buNone/>
            </a:pPr>
            <a:r>
              <a:rPr lang="en-US" sz="1100" b="1" dirty="0">
                <a:solidFill>
                  <a:srgbClr val="1F3864"/>
                </a:solidFill>
                <a:latin typeface="Calibri" pitchFamily="34" charset="0"/>
                <a:ea typeface="Calibri" pitchFamily="34" charset="-122"/>
                <a:cs typeface="Calibri" pitchFamily="34" charset="-120"/>
              </a:rPr>
              <a:t>experimental errors</a:t>
            </a:r>
            <a:endParaRPr lang="en-US" sz="1100" dirty="0"/>
          </a:p>
        </p:txBody>
      </p:sp>
      <p:sp>
        <p:nvSpPr>
          <p:cNvPr id="46" name="Shape 38"/>
          <p:cNvSpPr/>
          <p:nvPr/>
        </p:nvSpPr>
        <p:spPr>
          <a:xfrm>
            <a:off x="7315200" y="5760720"/>
            <a:ext cx="2103120" cy="457200"/>
          </a:xfrm>
          <a:prstGeom prst="roundRect">
            <a:avLst>
              <a:gd name="adj" fmla="val 50000"/>
            </a:avLst>
          </a:prstGeom>
          <a:solidFill>
            <a:srgbClr val="FFFFFF"/>
          </a:solidFill>
          <a:ln w="19050">
            <a:solidFill>
              <a:srgbClr val="F0B323"/>
            </a:solidFill>
            <a:prstDash val="solid"/>
          </a:ln>
        </p:spPr>
      </p:sp>
      <p:sp>
        <p:nvSpPr>
          <p:cNvPr id="47" name="Text 39"/>
          <p:cNvSpPr txBox="1"/>
          <p:nvPr/>
        </p:nvSpPr>
        <p:spPr>
          <a:xfrm>
            <a:off x="7315200" y="5760720"/>
            <a:ext cx="2103120" cy="457200"/>
          </a:xfrm>
          <a:prstGeom prst="rect">
            <a:avLst/>
          </a:prstGeom>
          <a:noFill/>
          <a:ln/>
        </p:spPr>
        <p:txBody>
          <a:bodyPr wrap="square" lIns="0" tIns="0" rIns="0" bIns="0" rtlCol="0" anchor="ctr"/>
          <a:lstStyle/>
          <a:p>
            <a:pPr algn="ctr" indent="0" marL="0">
              <a:buNone/>
            </a:pPr>
            <a:r>
              <a:rPr lang="en-US" sz="1100" b="1" dirty="0">
                <a:solidFill>
                  <a:srgbClr val="1F3864"/>
                </a:solidFill>
                <a:latin typeface="Calibri" pitchFamily="34" charset="0"/>
                <a:ea typeface="Calibri" pitchFamily="34" charset="-122"/>
                <a:cs typeface="Calibri" pitchFamily="34" charset="-120"/>
              </a:rPr>
              <a:t>limited assumptions</a:t>
            </a:r>
            <a:endParaRPr lang="en-US" sz="1100" dirty="0"/>
          </a:p>
        </p:txBody>
      </p:sp>
      <p:sp>
        <p:nvSpPr>
          <p:cNvPr id="48" name="Shape 40"/>
          <p:cNvSpPr/>
          <p:nvPr/>
        </p:nvSpPr>
        <p:spPr>
          <a:xfrm>
            <a:off x="9509760" y="5760720"/>
            <a:ext cx="2103120" cy="457200"/>
          </a:xfrm>
          <a:prstGeom prst="roundRect">
            <a:avLst>
              <a:gd name="adj" fmla="val 50000"/>
            </a:avLst>
          </a:prstGeom>
          <a:solidFill>
            <a:srgbClr val="FFFFFF"/>
          </a:solidFill>
          <a:ln w="19050">
            <a:solidFill>
              <a:srgbClr val="F0B323"/>
            </a:solidFill>
            <a:prstDash val="solid"/>
          </a:ln>
        </p:spPr>
      </p:sp>
      <p:sp>
        <p:nvSpPr>
          <p:cNvPr id="49" name="Text 41"/>
          <p:cNvSpPr txBox="1"/>
          <p:nvPr/>
        </p:nvSpPr>
        <p:spPr>
          <a:xfrm>
            <a:off x="9509760" y="5760720"/>
            <a:ext cx="2103120" cy="457200"/>
          </a:xfrm>
          <a:prstGeom prst="rect">
            <a:avLst/>
          </a:prstGeom>
          <a:noFill/>
          <a:ln/>
        </p:spPr>
        <p:txBody>
          <a:bodyPr wrap="square" lIns="0" tIns="0" rIns="0" bIns="0" rtlCol="0" anchor="ctr"/>
          <a:lstStyle/>
          <a:p>
            <a:pPr algn="ctr" indent="0" marL="0">
              <a:buNone/>
            </a:pPr>
            <a:r>
              <a:rPr lang="en-US" sz="1100" b="1" dirty="0">
                <a:solidFill>
                  <a:srgbClr val="1F3864"/>
                </a:solidFill>
                <a:latin typeface="Calibri" pitchFamily="34" charset="0"/>
                <a:ea typeface="Calibri" pitchFamily="34" charset="-122"/>
                <a:cs typeface="Calibri" pitchFamily="34" charset="-120"/>
              </a:rPr>
              <a:t>complex assumptions</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10  ·  UNIT 3  ·  ACTIVITY 2</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5385816"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534009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678424" y="457200"/>
            <a:ext cx="329184" cy="0"/>
          </a:xfrm>
          <a:prstGeom prst="line">
            <a:avLst/>
          </a:prstGeom>
          <a:noFill/>
          <a:ln w="25400">
            <a:solidFill>
              <a:srgbClr val="17A199"/>
            </a:solidFill>
            <a:prstDash val="dash"/>
          </a:ln>
        </p:spPr>
      </p:sp>
      <p:sp>
        <p:nvSpPr>
          <p:cNvPr id="12" name="stn2"/>
          <p:cNvSpPr/>
          <p:nvPr/>
        </p:nvSpPr>
        <p:spPr>
          <a:xfrm>
            <a:off x="6007608"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605332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6483096" y="457200"/>
            <a:ext cx="329184" cy="0"/>
          </a:xfrm>
          <a:prstGeom prst="line">
            <a:avLst/>
          </a:prstGeom>
          <a:noFill/>
          <a:ln w="25400">
            <a:solidFill>
              <a:srgbClr val="17A199"/>
            </a:solidFill>
            <a:prstDash val="dash"/>
          </a:ln>
        </p:spPr>
      </p:sp>
      <p:sp>
        <p:nvSpPr>
          <p:cNvPr id="15" name="stn3"/>
          <p:cNvSpPr/>
          <p:nvPr/>
        </p:nvSpPr>
        <p:spPr>
          <a:xfrm>
            <a:off x="6812280"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76656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7104888" y="457200"/>
            <a:ext cx="420624" cy="0"/>
          </a:xfrm>
          <a:prstGeom prst="line">
            <a:avLst/>
          </a:prstGeom>
          <a:noFill/>
          <a:ln w="25400">
            <a:solidFill>
              <a:srgbClr val="17A199"/>
            </a:solidFill>
            <a:prstDash val="dash"/>
          </a:ln>
        </p:spPr>
      </p:sp>
      <p:sp>
        <p:nvSpPr>
          <p:cNvPr id="18" name="stn4"/>
          <p:cNvSpPr/>
          <p:nvPr/>
        </p:nvSpPr>
        <p:spPr>
          <a:xfrm>
            <a:off x="7525512"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47979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6"/>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READ IT  ·  14 MIN</a:t>
            </a:r>
            <a:endParaRPr lang="en-US" sz="1200" dirty="0"/>
          </a:p>
        </p:txBody>
      </p:sp>
      <p:sp>
        <p:nvSpPr>
          <p:cNvPr id="21" name="Text 17"/>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Task 2: how exact is the spring graph?</a:t>
            </a:r>
            <a:endParaRPr lang="en-US" sz="3000" dirty="0"/>
          </a:p>
        </p:txBody>
      </p:sp>
      <p:sp>
        <p:nvSpPr>
          <p:cNvPr id="23" name="Shape 18"/>
          <p:cNvSpPr/>
          <p:nvPr/>
        </p:nvSpPr>
        <p:spPr>
          <a:xfrm>
            <a:off x="457200" y="1783080"/>
            <a:ext cx="5669280" cy="4160520"/>
          </a:xfrm>
          <a:prstGeom prst="roundRect">
            <a:avLst>
              <a:gd name="adj" fmla="val 2637"/>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4" name="Text 19"/>
          <p:cNvSpPr txBox="1"/>
          <p:nvPr/>
        </p:nvSpPr>
        <p:spPr>
          <a:xfrm>
            <a:off x="731520" y="1856232"/>
            <a:ext cx="512064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GRAPH B  ·  A LINE THROUGH THE SPRING DATA</a:t>
            </a:r>
            <a:endParaRPr lang="en-US" sz="1100" dirty="0"/>
          </a:p>
        </p:txBody>
      </p:sp>
      <p:pic>
        <p:nvPicPr>
          <p:cNvPr id="25" name="Image 2" descr="fig/spr_fit_s.png">    </p:cNvPr>
          <p:cNvPicPr>
            <a:picLocks noChangeAspect="1"/>
          </p:cNvPicPr>
          <p:nvPr/>
        </p:nvPicPr>
        <p:blipFill>
          <a:blip r:embed="rId3"/>
          <a:stretch>
            <a:fillRect/>
          </a:stretch>
        </p:blipFill>
        <p:spPr>
          <a:xfrm>
            <a:off x="914400" y="2103120"/>
            <a:ext cx="4206240" cy="3154680"/>
          </a:xfrm>
          <a:prstGeom prst="rect">
            <a:avLst/>
          </a:prstGeom>
        </p:spPr>
      </p:pic>
      <p:pic>
        <p:nvPicPr>
          <p:cNvPr id="26" name="Image 3" descr="mw10/sprL.png">    </p:cNvPr>
          <p:cNvPicPr>
            <a:picLocks noChangeAspect="1"/>
          </p:cNvPicPr>
          <p:nvPr/>
        </p:nvPicPr>
        <p:blipFill>
          <a:blip r:embed="rId4"/>
          <a:stretch>
            <a:fillRect/>
          </a:stretch>
        </p:blipFill>
        <p:spPr>
          <a:xfrm>
            <a:off x="2793492" y="5285232"/>
            <a:ext cx="996696" cy="166421"/>
          </a:xfrm>
          <a:prstGeom prst="rect">
            <a:avLst/>
          </a:prstGeom>
        </p:spPr>
      </p:pic>
      <p:sp>
        <p:nvSpPr>
          <p:cNvPr id="27" name="Shape 20"/>
          <p:cNvSpPr/>
          <p:nvPr/>
        </p:nvSpPr>
        <p:spPr>
          <a:xfrm>
            <a:off x="6309360" y="1783080"/>
            <a:ext cx="5394960" cy="2331720"/>
          </a:xfrm>
          <a:prstGeom prst="roundRect">
            <a:avLst>
              <a:gd name="adj" fmla="val 4706"/>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8" name="Text 21"/>
          <p:cNvSpPr txBox="1"/>
          <p:nvPr/>
        </p:nvSpPr>
        <p:spPr>
          <a:xfrm>
            <a:off x="6583680" y="1856232"/>
            <a:ext cx="36576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DO THIS</a:t>
            </a:r>
            <a:endParaRPr lang="en-US" sz="1200" dirty="0"/>
          </a:p>
        </p:txBody>
      </p:sp>
      <p:sp>
        <p:nvSpPr>
          <p:cNvPr id="29" name="Text 22"/>
          <p:cNvSpPr txBox="1"/>
          <p:nvPr/>
        </p:nvSpPr>
        <p:spPr>
          <a:xfrm>
            <a:off x="6583680" y="2176272"/>
            <a:ext cx="4937760" cy="192024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Do the dots lie exactly on the line? Say what that means.</a:t>
            </a:r>
            <a:endParaRPr lang="en-US" sz="1300" dirty="0"/>
          </a:p>
          <a:p>
            <a:pPr marL="342900" indent="-342900">
              <a:spcAft>
                <a:spcPts val="3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Read the gradient and the intercept from the line.</a:t>
            </a:r>
            <a:endParaRPr lang="en-US" sz="1300" dirty="0"/>
          </a:p>
          <a:p>
            <a:pPr marL="342900" indent="-342900">
              <a:spcAft>
                <a:spcPts val="3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Name one source of experimental error.</a:t>
            </a:r>
            <a:endParaRPr lang="en-US" sz="1300" dirty="0"/>
          </a:p>
          <a:p>
            <a:pPr marL="342900" indent="-342900">
              <a:spcAft>
                <a:spcPts val="3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Name one limited assumption about the spring.</a:t>
            </a:r>
            <a:endParaRPr lang="en-US" sz="1300" dirty="0"/>
          </a:p>
        </p:txBody>
      </p:sp>
      <p:sp>
        <p:nvSpPr>
          <p:cNvPr id="30" name="Shape 23"/>
          <p:cNvSpPr/>
          <p:nvPr/>
        </p:nvSpPr>
        <p:spPr>
          <a:xfrm>
            <a:off x="6309360" y="4251960"/>
            <a:ext cx="5394960" cy="868680"/>
          </a:xfrm>
          <a:prstGeom prst="roundRect">
            <a:avLst>
              <a:gd name="adj" fmla="val 12632"/>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31" name="Text 24"/>
          <p:cNvSpPr txBox="1"/>
          <p:nvPr/>
        </p:nvSpPr>
        <p:spPr>
          <a:xfrm>
            <a:off x="6537960" y="4361688"/>
            <a:ext cx="27432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32" name="Text 25"/>
          <p:cNvSpPr txBox="1"/>
          <p:nvPr/>
        </p:nvSpPr>
        <p:spPr>
          <a:xfrm>
            <a:off x="6537960" y="4663440"/>
            <a:ext cx="4937760" cy="365760"/>
          </a:xfrm>
          <a:prstGeom prst="rect">
            <a:avLst/>
          </a:prstGeom>
          <a:noFill/>
          <a:ln/>
        </p:spPr>
        <p:txBody>
          <a:bodyPr wrap="square" lIns="0" tIns="0" rIns="0" bIns="0" rtlCol="0" anchor="t"/>
          <a:lstStyle/>
          <a:p>
            <a:pPr indent="0" marL="0">
              <a:buNone/>
            </a:pPr>
            <a:endParaRPr lang="en-US" sz="1400" dirty="0"/>
          </a:p>
        </p:txBody>
      </p:sp>
      <p:sp>
        <p:nvSpPr>
          <p:cNvPr id="33" name="Text 26"/>
          <p:cNvSpPr txBox="1"/>
          <p:nvPr/>
        </p:nvSpPr>
        <p:spPr>
          <a:xfrm>
            <a:off x="6537960" y="4572000"/>
            <a:ext cx="5029200" cy="548640"/>
          </a:xfrm>
          <a:prstGeom prst="rect">
            <a:avLst/>
          </a:prstGeom>
          <a:noFill/>
          <a:ln/>
        </p:spPr>
        <p:txBody>
          <a:bodyPr wrap="square" lIns="0" tIns="0" rIns="0" bIns="0" rtlCol="0" anchor="t"/>
          <a:lstStyle/>
          <a:p>
            <a:pPr indent="0" marL="0">
              <a:buNone/>
            </a:pPr>
            <a:r>
              <a:rPr lang="en-US" sz="1300" dirty="0">
                <a:solidFill>
                  <a:srgbClr val="222E2D"/>
                </a:solidFill>
                <a:latin typeface="Calibri" pitchFamily="34" charset="0"/>
                <a:ea typeface="Calibri" pitchFamily="34" charset="-122"/>
                <a:cs typeface="Calibri" pitchFamily="34" charset="-120"/>
              </a:rPr>
              <a:t>What if you hang 5 kg on this spring? Use the line to predict, then decide whether to trust it.</a:t>
            </a:r>
            <a:endParaRPr lang="en-US" sz="1300" dirty="0"/>
          </a:p>
        </p:txBody>
      </p:sp>
      <p:sp>
        <p:nvSpPr>
          <p:cNvPr id="34" name="Shape 27"/>
          <p:cNvSpPr/>
          <p:nvPr/>
        </p:nvSpPr>
        <p:spPr>
          <a:xfrm>
            <a:off x="6309360" y="5257800"/>
            <a:ext cx="5394960" cy="685800"/>
          </a:xfrm>
          <a:prstGeom prst="roundRect">
            <a:avLst>
              <a:gd name="adj" fmla="val 16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8"/>
          <p:cNvSpPr txBox="1"/>
          <p:nvPr/>
        </p:nvSpPr>
        <p:spPr>
          <a:xfrm>
            <a:off x="6537960" y="5349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6" name="Text 29"/>
          <p:cNvSpPr txBox="1"/>
          <p:nvPr/>
        </p:nvSpPr>
        <p:spPr>
          <a:xfrm>
            <a:off x="6537960" y="5605272"/>
            <a:ext cx="4937760" cy="27432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You can name the relationship, give a reason, and interpret the gradient and intercept.</a:t>
            </a:r>
            <a:endParaRPr lang="en-US" sz="14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10  ·  UNIT 3  ·  ACTIVITY 2</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5385816"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534009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678424" y="457200"/>
            <a:ext cx="420624" cy="0"/>
          </a:xfrm>
          <a:prstGeom prst="line">
            <a:avLst/>
          </a:prstGeom>
          <a:noFill/>
          <a:ln w="25400">
            <a:solidFill>
              <a:srgbClr val="17A199"/>
            </a:solidFill>
            <a:prstDash val="dash"/>
          </a:ln>
        </p:spPr>
      </p:sp>
      <p:sp>
        <p:nvSpPr>
          <p:cNvPr id="12" name="stn2"/>
          <p:cNvSpPr/>
          <p:nvPr/>
        </p:nvSpPr>
        <p:spPr>
          <a:xfrm>
            <a:off x="6099048"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605332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391656" y="457200"/>
            <a:ext cx="329184" cy="0"/>
          </a:xfrm>
          <a:prstGeom prst="line">
            <a:avLst/>
          </a:prstGeom>
          <a:noFill/>
          <a:ln w="25400">
            <a:solidFill>
              <a:srgbClr val="17A199"/>
            </a:solidFill>
            <a:prstDash val="dash"/>
          </a:ln>
        </p:spPr>
      </p:sp>
      <p:sp>
        <p:nvSpPr>
          <p:cNvPr id="15" name="stn3"/>
          <p:cNvSpPr/>
          <p:nvPr/>
        </p:nvSpPr>
        <p:spPr>
          <a:xfrm>
            <a:off x="6720840"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676656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7196328" y="457200"/>
            <a:ext cx="329184" cy="0"/>
          </a:xfrm>
          <a:prstGeom prst="line">
            <a:avLst/>
          </a:prstGeom>
          <a:noFill/>
          <a:ln w="25400">
            <a:solidFill>
              <a:srgbClr val="17A199"/>
            </a:solidFill>
            <a:prstDash val="dash"/>
          </a:ln>
        </p:spPr>
      </p:sp>
      <p:sp>
        <p:nvSpPr>
          <p:cNvPr id="18" name="stn4"/>
          <p:cNvSpPr/>
          <p:nvPr/>
        </p:nvSpPr>
        <p:spPr>
          <a:xfrm>
            <a:off x="7525512"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47979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6"/>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JUDGE IT  ·  8 MIN</a:t>
            </a:r>
            <a:endParaRPr lang="en-US" sz="1200" dirty="0"/>
          </a:p>
        </p:txBody>
      </p:sp>
      <p:sp>
        <p:nvSpPr>
          <p:cNvPr id="21" name="Text 17"/>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Judge the claims: true, false or sometimes?</a:t>
            </a:r>
            <a:endParaRPr lang="en-US" sz="3000" dirty="0"/>
          </a:p>
        </p:txBody>
      </p:sp>
      <p:sp>
        <p:nvSpPr>
          <p:cNvPr id="23" name="Shape 18"/>
          <p:cNvSpPr/>
          <p:nvPr/>
        </p:nvSpPr>
        <p:spPr>
          <a:xfrm>
            <a:off x="457200" y="1783080"/>
            <a:ext cx="3657600" cy="384048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4" name="Text 19"/>
          <p:cNvSpPr txBox="1"/>
          <p:nvPr/>
        </p:nvSpPr>
        <p:spPr>
          <a:xfrm>
            <a:off x="685800" y="1920240"/>
            <a:ext cx="32004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CLAIM A</a:t>
            </a:r>
            <a:endParaRPr lang="en-US" sz="1200" dirty="0"/>
          </a:p>
        </p:txBody>
      </p:sp>
      <p:sp>
        <p:nvSpPr>
          <p:cNvPr id="25" name="Text 20"/>
          <p:cNvSpPr txBox="1"/>
          <p:nvPr/>
        </p:nvSpPr>
        <p:spPr>
          <a:xfrm>
            <a:off x="685800" y="2221992"/>
            <a:ext cx="3200400" cy="868680"/>
          </a:xfrm>
          <a:prstGeom prst="rect">
            <a:avLst/>
          </a:prstGeom>
          <a:noFill/>
          <a:ln/>
        </p:spPr>
        <p:txBody>
          <a:bodyPr wrap="square" lIns="0" tIns="0" rIns="0" bIns="0" rtlCol="0" anchor="t"/>
          <a:lstStyle/>
          <a:p>
            <a:pPr indent="0" marL="0">
              <a:buNone/>
            </a:pPr>
            <a:r>
              <a:rPr lang="en-US" sz="1600" b="1" dirty="0">
                <a:solidFill>
                  <a:srgbClr val="1F3864"/>
                </a:solidFill>
                <a:latin typeface="Cambria" pitchFamily="34" charset="0"/>
                <a:ea typeface="Cambria" pitchFamily="34" charset="-122"/>
                <a:cs typeface="Cambria" pitchFamily="34" charset="-120"/>
              </a:rPr>
              <a:t>If the dots do not lie exactly on a line, there is no linear relationship.</a:t>
            </a:r>
            <a:endParaRPr lang="en-US" sz="1600" dirty="0"/>
          </a:p>
        </p:txBody>
      </p:sp>
      <p:sp>
        <p:nvSpPr>
          <p:cNvPr id="26" name="Text 21"/>
          <p:cNvSpPr txBox="1"/>
          <p:nvPr/>
        </p:nvSpPr>
        <p:spPr>
          <a:xfrm>
            <a:off x="685800" y="3154680"/>
            <a:ext cx="2743200" cy="228600"/>
          </a:xfrm>
          <a:prstGeom prst="rect">
            <a:avLst/>
          </a:prstGeom>
          <a:noFill/>
          <a:ln/>
        </p:spPr>
        <p:txBody>
          <a:bodyPr wrap="square" lIns="0" tIns="0" rIns="0" bIns="0" rtlCol="0" anchor="t"/>
          <a:lstStyle/>
          <a:p>
            <a:pPr indent="0" marL="0">
              <a:buNone/>
            </a:pPr>
            <a:r>
              <a:rPr lang="en-US" sz="1000" b="1" spc="200" kern="0" dirty="0">
                <a:solidFill>
                  <a:srgbClr val="6B7977"/>
                </a:solidFill>
                <a:latin typeface="Calibri" pitchFamily="34" charset="0"/>
                <a:ea typeface="Calibri" pitchFamily="34" charset="-122"/>
                <a:cs typeface="Calibri" pitchFamily="34" charset="-120"/>
              </a:rPr>
              <a:t>TEST IT</a:t>
            </a:r>
            <a:endParaRPr lang="en-US" sz="1000" dirty="0"/>
          </a:p>
        </p:txBody>
      </p:sp>
      <p:sp>
        <p:nvSpPr>
          <p:cNvPr id="27" name="Text 22"/>
          <p:cNvSpPr txBox="1"/>
          <p:nvPr/>
        </p:nvSpPr>
        <p:spPr>
          <a:xfrm>
            <a:off x="685800" y="3383280"/>
            <a:ext cx="3200400" cy="502920"/>
          </a:xfrm>
          <a:prstGeom prst="rect">
            <a:avLst/>
          </a:prstGeom>
          <a:noFill/>
          <a:ln/>
        </p:spPr>
        <p:txBody>
          <a:bodyPr wrap="square" lIns="0" tIns="0" rIns="0" bIns="0" rtlCol="0" anchor="t"/>
          <a:lstStyle/>
          <a:p>
            <a:pPr indent="0" marL="0">
              <a:buNone/>
            </a:pPr>
            <a:r>
              <a:rPr lang="en-US" sz="1300" dirty="0">
                <a:solidFill>
                  <a:srgbClr val="222E2D"/>
                </a:solidFill>
                <a:latin typeface="Calibri" pitchFamily="34" charset="0"/>
                <a:ea typeface="Calibri" pitchFamily="34" charset="-122"/>
                <a:cs typeface="Calibri" pitchFamily="34" charset="-120"/>
              </a:rPr>
              <a:t>Look again at graph B.</a:t>
            </a:r>
            <a:endParaRPr lang="en-US" sz="1300" dirty="0"/>
          </a:p>
        </p:txBody>
      </p:sp>
      <p:sp>
        <p:nvSpPr>
          <p:cNvPr id="28" name="Shape 23"/>
          <p:cNvSpPr/>
          <p:nvPr/>
        </p:nvSpPr>
        <p:spPr>
          <a:xfrm>
            <a:off x="685800" y="3977640"/>
            <a:ext cx="1024128" cy="329184"/>
          </a:xfrm>
          <a:prstGeom prst="roundRect">
            <a:avLst>
              <a:gd name="adj" fmla="val 50000"/>
            </a:avLst>
          </a:prstGeom>
          <a:solidFill>
            <a:srgbClr val="FFFFFF"/>
          </a:solidFill>
          <a:ln w="19050">
            <a:solidFill>
              <a:srgbClr val="1F3864"/>
            </a:solidFill>
            <a:prstDash val="solid"/>
          </a:ln>
        </p:spPr>
      </p:sp>
      <p:sp>
        <p:nvSpPr>
          <p:cNvPr id="29" name="Text 24"/>
          <p:cNvSpPr txBox="1"/>
          <p:nvPr/>
        </p:nvSpPr>
        <p:spPr>
          <a:xfrm>
            <a:off x="68580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TRUE</a:t>
            </a:r>
            <a:endParaRPr lang="en-US" sz="950" dirty="0"/>
          </a:p>
        </p:txBody>
      </p:sp>
      <p:sp>
        <p:nvSpPr>
          <p:cNvPr id="30" name="Shape 25"/>
          <p:cNvSpPr/>
          <p:nvPr/>
        </p:nvSpPr>
        <p:spPr>
          <a:xfrm>
            <a:off x="1783080" y="3977640"/>
            <a:ext cx="1024128" cy="329184"/>
          </a:xfrm>
          <a:prstGeom prst="roundRect">
            <a:avLst>
              <a:gd name="adj" fmla="val 50000"/>
            </a:avLst>
          </a:prstGeom>
          <a:solidFill>
            <a:srgbClr val="FFFFFF"/>
          </a:solidFill>
          <a:ln w="19050">
            <a:solidFill>
              <a:srgbClr val="1F3864"/>
            </a:solidFill>
            <a:prstDash val="solid"/>
          </a:ln>
        </p:spPr>
      </p:sp>
      <p:sp>
        <p:nvSpPr>
          <p:cNvPr id="31" name="Text 26"/>
          <p:cNvSpPr txBox="1"/>
          <p:nvPr/>
        </p:nvSpPr>
        <p:spPr>
          <a:xfrm>
            <a:off x="178308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FALSE</a:t>
            </a:r>
            <a:endParaRPr lang="en-US" sz="950" dirty="0"/>
          </a:p>
        </p:txBody>
      </p:sp>
      <p:sp>
        <p:nvSpPr>
          <p:cNvPr id="32" name="Shape 27"/>
          <p:cNvSpPr/>
          <p:nvPr/>
        </p:nvSpPr>
        <p:spPr>
          <a:xfrm>
            <a:off x="2880360" y="3977640"/>
            <a:ext cx="1024128" cy="329184"/>
          </a:xfrm>
          <a:prstGeom prst="roundRect">
            <a:avLst>
              <a:gd name="adj" fmla="val 50000"/>
            </a:avLst>
          </a:prstGeom>
          <a:solidFill>
            <a:srgbClr val="FFFFFF"/>
          </a:solidFill>
          <a:ln w="19050">
            <a:solidFill>
              <a:srgbClr val="1F3864"/>
            </a:solidFill>
            <a:prstDash val="solid"/>
          </a:ln>
        </p:spPr>
      </p:sp>
      <p:sp>
        <p:nvSpPr>
          <p:cNvPr id="33" name="Text 28"/>
          <p:cNvSpPr txBox="1"/>
          <p:nvPr/>
        </p:nvSpPr>
        <p:spPr>
          <a:xfrm>
            <a:off x="288036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SOMETIMES</a:t>
            </a:r>
            <a:endParaRPr lang="en-US" sz="950" dirty="0"/>
          </a:p>
        </p:txBody>
      </p:sp>
      <p:sp>
        <p:nvSpPr>
          <p:cNvPr id="34" name="Text 29"/>
          <p:cNvSpPr txBox="1"/>
          <p:nvPr/>
        </p:nvSpPr>
        <p:spPr>
          <a:xfrm>
            <a:off x="685800" y="4416552"/>
            <a:ext cx="3200400" cy="274320"/>
          </a:xfrm>
          <a:prstGeom prst="rect">
            <a:avLst/>
          </a:prstGeom>
          <a:noFill/>
          <a:ln/>
        </p:spPr>
        <p:txBody>
          <a:bodyPr wrap="square" lIns="0" tIns="0" rIns="0" bIns="0" rtlCol="0" anchor="t"/>
          <a:lstStyle/>
          <a:p>
            <a:pPr indent="0" marL="0">
              <a:buNone/>
            </a:pPr>
            <a:r>
              <a:rPr lang="en-US" sz="1200" dirty="0">
                <a:solidFill>
                  <a:srgbClr val="6B7977"/>
                </a:solidFill>
                <a:latin typeface="Calibri" pitchFamily="34" charset="0"/>
                <a:ea typeface="Calibri" pitchFamily="34" charset="-122"/>
                <a:cs typeface="Calibri" pitchFamily="34" charset="-120"/>
              </a:rPr>
              <a:t>Because ........................................</a:t>
            </a:r>
            <a:endParaRPr lang="en-US" sz="1200" dirty="0"/>
          </a:p>
        </p:txBody>
      </p:sp>
      <p:sp>
        <p:nvSpPr>
          <p:cNvPr id="35" name="Shape 30"/>
          <p:cNvSpPr/>
          <p:nvPr/>
        </p:nvSpPr>
        <p:spPr>
          <a:xfrm>
            <a:off x="640080" y="4846320"/>
            <a:ext cx="3291840" cy="658368"/>
          </a:xfrm>
          <a:prstGeom prst="roundRect">
            <a:avLst>
              <a:gd name="adj" fmla="val 13889"/>
            </a:avLst>
          </a:prstGeom>
          <a:solidFill>
            <a:srgbClr val="FFF1C9"/>
          </a:solidFill>
          <a:ln w="19050">
            <a:solidFill>
              <a:srgbClr val="F0B323"/>
            </a:solidFill>
            <a:prstDash val="solid"/>
          </a:ln>
        </p:spPr>
      </p:sp>
      <p:sp>
        <p:nvSpPr>
          <p:cNvPr id="36" name="Text 31"/>
          <p:cNvSpPr txBox="1"/>
          <p:nvPr/>
        </p:nvSpPr>
        <p:spPr>
          <a:xfrm>
            <a:off x="777240" y="4892040"/>
            <a:ext cx="3017520" cy="201168"/>
          </a:xfrm>
          <a:prstGeom prst="rect">
            <a:avLst/>
          </a:prstGeom>
          <a:noFill/>
          <a:ln/>
        </p:spPr>
        <p:txBody>
          <a:bodyPr wrap="square" lIns="0" tIns="0" rIns="0" bIns="0" rtlCol="0" anchor="t"/>
          <a:lstStyle/>
          <a:p>
            <a:pPr indent="0" marL="0">
              <a:buNone/>
            </a:pPr>
            <a:r>
              <a:rPr lang="en-US" sz="900" b="1" spc="200" kern="0" dirty="0">
                <a:solidFill>
                  <a:srgbClr val="E8762C"/>
                </a:solidFill>
                <a:latin typeface="Calibri" pitchFamily="34" charset="0"/>
                <a:ea typeface="Calibri" pitchFamily="34" charset="-122"/>
                <a:cs typeface="Calibri" pitchFamily="34" charset="-120"/>
              </a:rPr>
              <a:t>ASSUMPTION CHECK</a:t>
            </a:r>
            <a:endParaRPr lang="en-US" sz="900" dirty="0"/>
          </a:p>
        </p:txBody>
      </p:sp>
      <p:sp>
        <p:nvSpPr>
          <p:cNvPr id="37" name="Text 32"/>
          <p:cNvSpPr txBox="1"/>
          <p:nvPr/>
        </p:nvSpPr>
        <p:spPr>
          <a:xfrm>
            <a:off x="777240" y="5111496"/>
            <a:ext cx="3017520" cy="365760"/>
          </a:xfrm>
          <a:prstGeom prst="rect">
            <a:avLst/>
          </a:prstGeom>
          <a:noFill/>
          <a:ln/>
        </p:spPr>
        <p:txBody>
          <a:bodyPr wrap="square" lIns="0" tIns="0" rIns="0" bIns="0" rtlCol="0" anchor="t"/>
          <a:lstStyle/>
          <a:p>
            <a:pPr indent="0" marL="0">
              <a:buNone/>
            </a:pPr>
            <a:r>
              <a:rPr lang="en-US" sz="1150" dirty="0">
                <a:solidFill>
                  <a:srgbClr val="222E2D"/>
                </a:solidFill>
                <a:latin typeface="Calibri" pitchFamily="34" charset="0"/>
                <a:ea typeface="Calibri" pitchFamily="34" charset="-122"/>
                <a:cs typeface="Calibri" pitchFamily="34" charset="-120"/>
              </a:rPr>
              <a:t>Does a model need to touch every dot to be useful?</a:t>
            </a:r>
            <a:endParaRPr lang="en-US" sz="1150" dirty="0"/>
          </a:p>
        </p:txBody>
      </p:sp>
      <p:sp>
        <p:nvSpPr>
          <p:cNvPr id="38" name="Shape 33"/>
          <p:cNvSpPr/>
          <p:nvPr/>
        </p:nvSpPr>
        <p:spPr>
          <a:xfrm>
            <a:off x="4251960" y="1783080"/>
            <a:ext cx="3657600" cy="384048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34"/>
          <p:cNvSpPr txBox="1"/>
          <p:nvPr/>
        </p:nvSpPr>
        <p:spPr>
          <a:xfrm>
            <a:off x="4480560" y="1920240"/>
            <a:ext cx="32004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CLAIM B</a:t>
            </a:r>
            <a:endParaRPr lang="en-US" sz="1200" dirty="0"/>
          </a:p>
        </p:txBody>
      </p:sp>
      <p:sp>
        <p:nvSpPr>
          <p:cNvPr id="40" name="Text 35"/>
          <p:cNvSpPr txBox="1"/>
          <p:nvPr/>
        </p:nvSpPr>
        <p:spPr>
          <a:xfrm>
            <a:off x="4480560" y="2221992"/>
            <a:ext cx="3200400" cy="868680"/>
          </a:xfrm>
          <a:prstGeom prst="rect">
            <a:avLst/>
          </a:prstGeom>
          <a:noFill/>
          <a:ln/>
        </p:spPr>
        <p:txBody>
          <a:bodyPr wrap="square" lIns="0" tIns="0" rIns="0" bIns="0" rtlCol="0" anchor="t"/>
          <a:lstStyle/>
          <a:p>
            <a:pPr indent="0" marL="0">
              <a:buNone/>
            </a:pPr>
            <a:r>
              <a:rPr lang="en-US" sz="1600" b="1" dirty="0">
                <a:solidFill>
                  <a:srgbClr val="1F3864"/>
                </a:solidFill>
                <a:latin typeface="Cambria" pitchFamily="34" charset="0"/>
                <a:ea typeface="Cambria" pitchFamily="34" charset="-122"/>
                <a:cs typeface="Cambria" pitchFamily="34" charset="-120"/>
              </a:rPr>
              <a:t>Only one way of pairing the cards is correct.</a:t>
            </a:r>
            <a:endParaRPr lang="en-US" sz="1600" dirty="0"/>
          </a:p>
        </p:txBody>
      </p:sp>
      <p:sp>
        <p:nvSpPr>
          <p:cNvPr id="41" name="Text 36"/>
          <p:cNvSpPr txBox="1"/>
          <p:nvPr/>
        </p:nvSpPr>
        <p:spPr>
          <a:xfrm>
            <a:off x="4480560" y="3154680"/>
            <a:ext cx="2743200" cy="228600"/>
          </a:xfrm>
          <a:prstGeom prst="rect">
            <a:avLst/>
          </a:prstGeom>
          <a:noFill/>
          <a:ln/>
        </p:spPr>
        <p:txBody>
          <a:bodyPr wrap="square" lIns="0" tIns="0" rIns="0" bIns="0" rtlCol="0" anchor="t"/>
          <a:lstStyle/>
          <a:p>
            <a:pPr indent="0" marL="0">
              <a:buNone/>
            </a:pPr>
            <a:r>
              <a:rPr lang="en-US" sz="1000" b="1" spc="200" kern="0" dirty="0">
                <a:solidFill>
                  <a:srgbClr val="6B7977"/>
                </a:solidFill>
                <a:latin typeface="Calibri" pitchFamily="34" charset="0"/>
                <a:ea typeface="Calibri" pitchFamily="34" charset="-122"/>
                <a:cs typeface="Calibri" pitchFamily="34" charset="-120"/>
              </a:rPr>
              <a:t>TEST IT</a:t>
            </a:r>
            <a:endParaRPr lang="en-US" sz="1000" dirty="0"/>
          </a:p>
        </p:txBody>
      </p:sp>
      <p:sp>
        <p:nvSpPr>
          <p:cNvPr id="42" name="Text 37"/>
          <p:cNvSpPr txBox="1"/>
          <p:nvPr/>
        </p:nvSpPr>
        <p:spPr>
          <a:xfrm>
            <a:off x="4480560" y="3383280"/>
            <a:ext cx="3200400" cy="502920"/>
          </a:xfrm>
          <a:prstGeom prst="rect">
            <a:avLst/>
          </a:prstGeom>
          <a:noFill/>
          <a:ln/>
        </p:spPr>
        <p:txBody>
          <a:bodyPr wrap="square" lIns="0" tIns="0" rIns="0" bIns="0" rtlCol="0" anchor="t"/>
          <a:lstStyle/>
          <a:p>
            <a:pPr indent="0" marL="0">
              <a:buNone/>
            </a:pPr>
            <a:r>
              <a:rPr lang="en-US" sz="1300" dirty="0">
                <a:solidFill>
                  <a:srgbClr val="222E2D"/>
                </a:solidFill>
                <a:latin typeface="Calibri" pitchFamily="34" charset="0"/>
                <a:ea typeface="Calibri" pitchFamily="34" charset="-122"/>
                <a:cs typeface="Calibri" pitchFamily="34" charset="-120"/>
              </a:rPr>
              <a:t>Find a card with two possible partners.</a:t>
            </a:r>
            <a:endParaRPr lang="en-US" sz="1300" dirty="0"/>
          </a:p>
        </p:txBody>
      </p:sp>
      <p:sp>
        <p:nvSpPr>
          <p:cNvPr id="43" name="Shape 38"/>
          <p:cNvSpPr/>
          <p:nvPr/>
        </p:nvSpPr>
        <p:spPr>
          <a:xfrm>
            <a:off x="4480560" y="3977640"/>
            <a:ext cx="1024128" cy="329184"/>
          </a:xfrm>
          <a:prstGeom prst="roundRect">
            <a:avLst>
              <a:gd name="adj" fmla="val 50000"/>
            </a:avLst>
          </a:prstGeom>
          <a:solidFill>
            <a:srgbClr val="FFFFFF"/>
          </a:solidFill>
          <a:ln w="19050">
            <a:solidFill>
              <a:srgbClr val="1F3864"/>
            </a:solidFill>
            <a:prstDash val="solid"/>
          </a:ln>
        </p:spPr>
      </p:sp>
      <p:sp>
        <p:nvSpPr>
          <p:cNvPr id="44" name="Text 39"/>
          <p:cNvSpPr txBox="1"/>
          <p:nvPr/>
        </p:nvSpPr>
        <p:spPr>
          <a:xfrm>
            <a:off x="448056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TRUE</a:t>
            </a:r>
            <a:endParaRPr lang="en-US" sz="950" dirty="0"/>
          </a:p>
        </p:txBody>
      </p:sp>
      <p:sp>
        <p:nvSpPr>
          <p:cNvPr id="45" name="Shape 40"/>
          <p:cNvSpPr/>
          <p:nvPr/>
        </p:nvSpPr>
        <p:spPr>
          <a:xfrm>
            <a:off x="5577840" y="3977640"/>
            <a:ext cx="1024128" cy="329184"/>
          </a:xfrm>
          <a:prstGeom prst="roundRect">
            <a:avLst>
              <a:gd name="adj" fmla="val 50000"/>
            </a:avLst>
          </a:prstGeom>
          <a:solidFill>
            <a:srgbClr val="FFFFFF"/>
          </a:solidFill>
          <a:ln w="19050">
            <a:solidFill>
              <a:srgbClr val="1F3864"/>
            </a:solidFill>
            <a:prstDash val="solid"/>
          </a:ln>
        </p:spPr>
      </p:sp>
      <p:sp>
        <p:nvSpPr>
          <p:cNvPr id="46" name="Text 41"/>
          <p:cNvSpPr txBox="1"/>
          <p:nvPr/>
        </p:nvSpPr>
        <p:spPr>
          <a:xfrm>
            <a:off x="557784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FALSE</a:t>
            </a:r>
            <a:endParaRPr lang="en-US" sz="950" dirty="0"/>
          </a:p>
        </p:txBody>
      </p:sp>
      <p:sp>
        <p:nvSpPr>
          <p:cNvPr id="47" name="Shape 42"/>
          <p:cNvSpPr/>
          <p:nvPr/>
        </p:nvSpPr>
        <p:spPr>
          <a:xfrm>
            <a:off x="6675120" y="3977640"/>
            <a:ext cx="1024128" cy="329184"/>
          </a:xfrm>
          <a:prstGeom prst="roundRect">
            <a:avLst>
              <a:gd name="adj" fmla="val 50000"/>
            </a:avLst>
          </a:prstGeom>
          <a:solidFill>
            <a:srgbClr val="FFFFFF"/>
          </a:solidFill>
          <a:ln w="19050">
            <a:solidFill>
              <a:srgbClr val="1F3864"/>
            </a:solidFill>
            <a:prstDash val="solid"/>
          </a:ln>
        </p:spPr>
      </p:sp>
      <p:sp>
        <p:nvSpPr>
          <p:cNvPr id="48" name="Text 43"/>
          <p:cNvSpPr txBox="1"/>
          <p:nvPr/>
        </p:nvSpPr>
        <p:spPr>
          <a:xfrm>
            <a:off x="667512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SOMETIMES</a:t>
            </a:r>
            <a:endParaRPr lang="en-US" sz="950" dirty="0"/>
          </a:p>
        </p:txBody>
      </p:sp>
      <p:sp>
        <p:nvSpPr>
          <p:cNvPr id="49" name="Text 44"/>
          <p:cNvSpPr txBox="1"/>
          <p:nvPr/>
        </p:nvSpPr>
        <p:spPr>
          <a:xfrm>
            <a:off x="4480560" y="4416552"/>
            <a:ext cx="3200400" cy="274320"/>
          </a:xfrm>
          <a:prstGeom prst="rect">
            <a:avLst/>
          </a:prstGeom>
          <a:noFill/>
          <a:ln/>
        </p:spPr>
        <p:txBody>
          <a:bodyPr wrap="square" lIns="0" tIns="0" rIns="0" bIns="0" rtlCol="0" anchor="t"/>
          <a:lstStyle/>
          <a:p>
            <a:pPr indent="0" marL="0">
              <a:buNone/>
            </a:pPr>
            <a:r>
              <a:rPr lang="en-US" sz="1200" dirty="0">
                <a:solidFill>
                  <a:srgbClr val="6B7977"/>
                </a:solidFill>
                <a:latin typeface="Calibri" pitchFamily="34" charset="0"/>
                <a:ea typeface="Calibri" pitchFamily="34" charset="-122"/>
                <a:cs typeface="Calibri" pitchFamily="34" charset="-120"/>
              </a:rPr>
              <a:t>Because ........................................</a:t>
            </a:r>
            <a:endParaRPr lang="en-US" sz="1200" dirty="0"/>
          </a:p>
        </p:txBody>
      </p:sp>
      <p:sp>
        <p:nvSpPr>
          <p:cNvPr id="50" name="Shape 45"/>
          <p:cNvSpPr/>
          <p:nvPr/>
        </p:nvSpPr>
        <p:spPr>
          <a:xfrm>
            <a:off x="4434840" y="4846320"/>
            <a:ext cx="3291840" cy="658368"/>
          </a:xfrm>
          <a:prstGeom prst="roundRect">
            <a:avLst>
              <a:gd name="adj" fmla="val 13889"/>
            </a:avLst>
          </a:prstGeom>
          <a:solidFill>
            <a:srgbClr val="FFF1C9"/>
          </a:solidFill>
          <a:ln w="19050">
            <a:solidFill>
              <a:srgbClr val="F0B323"/>
            </a:solidFill>
            <a:prstDash val="solid"/>
          </a:ln>
        </p:spPr>
      </p:sp>
      <p:sp>
        <p:nvSpPr>
          <p:cNvPr id="51" name="Text 46"/>
          <p:cNvSpPr txBox="1"/>
          <p:nvPr/>
        </p:nvSpPr>
        <p:spPr>
          <a:xfrm>
            <a:off x="4572000" y="4892040"/>
            <a:ext cx="3017520" cy="201168"/>
          </a:xfrm>
          <a:prstGeom prst="rect">
            <a:avLst/>
          </a:prstGeom>
          <a:noFill/>
          <a:ln/>
        </p:spPr>
        <p:txBody>
          <a:bodyPr wrap="square" lIns="0" tIns="0" rIns="0" bIns="0" rtlCol="0" anchor="t"/>
          <a:lstStyle/>
          <a:p>
            <a:pPr indent="0" marL="0">
              <a:buNone/>
            </a:pPr>
            <a:r>
              <a:rPr lang="en-US" sz="900" b="1" spc="200" kern="0" dirty="0">
                <a:solidFill>
                  <a:srgbClr val="E8762C"/>
                </a:solidFill>
                <a:latin typeface="Calibri" pitchFamily="34" charset="0"/>
                <a:ea typeface="Calibri" pitchFamily="34" charset="-122"/>
                <a:cs typeface="Calibri" pitchFamily="34" charset="-120"/>
              </a:rPr>
              <a:t>ASSUMPTION CHECK</a:t>
            </a:r>
            <a:endParaRPr lang="en-US" sz="900" dirty="0"/>
          </a:p>
        </p:txBody>
      </p:sp>
      <p:sp>
        <p:nvSpPr>
          <p:cNvPr id="52" name="Text 47"/>
          <p:cNvSpPr txBox="1"/>
          <p:nvPr/>
        </p:nvSpPr>
        <p:spPr>
          <a:xfrm>
            <a:off x="4572000" y="5111496"/>
            <a:ext cx="3017520" cy="365760"/>
          </a:xfrm>
          <a:prstGeom prst="rect">
            <a:avLst/>
          </a:prstGeom>
          <a:noFill/>
          <a:ln/>
        </p:spPr>
        <p:txBody>
          <a:bodyPr wrap="square" lIns="0" tIns="0" rIns="0" bIns="0" rtlCol="0" anchor="t"/>
          <a:lstStyle/>
          <a:p>
            <a:pPr indent="0" marL="0">
              <a:buNone/>
            </a:pPr>
            <a:r>
              <a:rPr lang="en-US" sz="1150" dirty="0">
                <a:solidFill>
                  <a:srgbClr val="222E2D"/>
                </a:solidFill>
                <a:latin typeface="Calibri" pitchFamily="34" charset="0"/>
                <a:ea typeface="Calibri" pitchFamily="34" charset="-122"/>
                <a:cs typeface="Calibri" pitchFamily="34" charset="-120"/>
              </a:rPr>
              <a:t>Did I say which context I chose?</a:t>
            </a:r>
            <a:endParaRPr lang="en-US" sz="1150" dirty="0"/>
          </a:p>
        </p:txBody>
      </p:sp>
      <p:sp>
        <p:nvSpPr>
          <p:cNvPr id="53" name="Shape 48"/>
          <p:cNvSpPr/>
          <p:nvPr/>
        </p:nvSpPr>
        <p:spPr>
          <a:xfrm>
            <a:off x="8046720" y="1783080"/>
            <a:ext cx="3657600" cy="384048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54" name="Text 49"/>
          <p:cNvSpPr txBox="1"/>
          <p:nvPr/>
        </p:nvSpPr>
        <p:spPr>
          <a:xfrm>
            <a:off x="8275320" y="1920240"/>
            <a:ext cx="32004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CLAIM C</a:t>
            </a:r>
            <a:endParaRPr lang="en-US" sz="1200" dirty="0"/>
          </a:p>
        </p:txBody>
      </p:sp>
      <p:sp>
        <p:nvSpPr>
          <p:cNvPr id="55" name="Text 50"/>
          <p:cNvSpPr txBox="1"/>
          <p:nvPr/>
        </p:nvSpPr>
        <p:spPr>
          <a:xfrm>
            <a:off x="8275320" y="2221992"/>
            <a:ext cx="3200400" cy="868680"/>
          </a:xfrm>
          <a:prstGeom prst="rect">
            <a:avLst/>
          </a:prstGeom>
          <a:noFill/>
          <a:ln/>
        </p:spPr>
        <p:txBody>
          <a:bodyPr wrap="square" lIns="0" tIns="0" rIns="0" bIns="0" rtlCol="0" anchor="t"/>
          <a:lstStyle/>
          <a:p>
            <a:pPr indent="0" marL="0">
              <a:buNone/>
            </a:pPr>
            <a:r>
              <a:rPr lang="en-US" sz="1600" b="1" dirty="0">
                <a:solidFill>
                  <a:srgbClr val="1F3864"/>
                </a:solidFill>
                <a:latin typeface="Cambria" pitchFamily="34" charset="0"/>
                <a:ea typeface="Cambria" pitchFamily="34" charset="-122"/>
                <a:cs typeface="Cambria" pitchFamily="34" charset="-120"/>
              </a:rPr>
              <a:t>The spring line is reliable for any mass.</a:t>
            </a:r>
            <a:endParaRPr lang="en-US" sz="1600" dirty="0"/>
          </a:p>
        </p:txBody>
      </p:sp>
      <p:sp>
        <p:nvSpPr>
          <p:cNvPr id="56" name="Text 51"/>
          <p:cNvSpPr txBox="1"/>
          <p:nvPr/>
        </p:nvSpPr>
        <p:spPr>
          <a:xfrm>
            <a:off x="8275320" y="3154680"/>
            <a:ext cx="2743200" cy="228600"/>
          </a:xfrm>
          <a:prstGeom prst="rect">
            <a:avLst/>
          </a:prstGeom>
          <a:noFill/>
          <a:ln/>
        </p:spPr>
        <p:txBody>
          <a:bodyPr wrap="square" lIns="0" tIns="0" rIns="0" bIns="0" rtlCol="0" anchor="t"/>
          <a:lstStyle/>
          <a:p>
            <a:pPr indent="0" marL="0">
              <a:buNone/>
            </a:pPr>
            <a:r>
              <a:rPr lang="en-US" sz="1000" b="1" spc="200" kern="0" dirty="0">
                <a:solidFill>
                  <a:srgbClr val="6B7977"/>
                </a:solidFill>
                <a:latin typeface="Calibri" pitchFamily="34" charset="0"/>
                <a:ea typeface="Calibri" pitchFamily="34" charset="-122"/>
                <a:cs typeface="Calibri" pitchFamily="34" charset="-120"/>
              </a:rPr>
              <a:t>TEST IT</a:t>
            </a:r>
            <a:endParaRPr lang="en-US" sz="1000" dirty="0"/>
          </a:p>
        </p:txBody>
      </p:sp>
      <p:sp>
        <p:nvSpPr>
          <p:cNvPr id="57" name="Text 52"/>
          <p:cNvSpPr txBox="1"/>
          <p:nvPr/>
        </p:nvSpPr>
        <p:spPr>
          <a:xfrm>
            <a:off x="8275320" y="3383280"/>
            <a:ext cx="3200400" cy="502920"/>
          </a:xfrm>
          <a:prstGeom prst="rect">
            <a:avLst/>
          </a:prstGeom>
          <a:noFill/>
          <a:ln/>
        </p:spPr>
        <p:txBody>
          <a:bodyPr wrap="square" lIns="0" tIns="0" rIns="0" bIns="0" rtlCol="0" anchor="t"/>
          <a:lstStyle/>
          <a:p>
            <a:pPr indent="0" marL="0">
              <a:buNone/>
            </a:pPr>
            <a:r>
              <a:rPr lang="en-US" sz="1300" dirty="0">
                <a:solidFill>
                  <a:srgbClr val="222E2D"/>
                </a:solidFill>
                <a:latin typeface="Calibri" pitchFamily="34" charset="0"/>
                <a:ea typeface="Calibri" pitchFamily="34" charset="-122"/>
                <a:cs typeface="Calibri" pitchFamily="34" charset="-120"/>
              </a:rPr>
              <a:t>Put 5000 g into the line.</a:t>
            </a:r>
            <a:endParaRPr lang="en-US" sz="1300" dirty="0"/>
          </a:p>
        </p:txBody>
      </p:sp>
      <p:sp>
        <p:nvSpPr>
          <p:cNvPr id="58" name="Shape 53"/>
          <p:cNvSpPr/>
          <p:nvPr/>
        </p:nvSpPr>
        <p:spPr>
          <a:xfrm>
            <a:off x="8275320" y="3977640"/>
            <a:ext cx="1024128" cy="329184"/>
          </a:xfrm>
          <a:prstGeom prst="roundRect">
            <a:avLst>
              <a:gd name="adj" fmla="val 50000"/>
            </a:avLst>
          </a:prstGeom>
          <a:solidFill>
            <a:srgbClr val="FFFFFF"/>
          </a:solidFill>
          <a:ln w="19050">
            <a:solidFill>
              <a:srgbClr val="1F3864"/>
            </a:solidFill>
            <a:prstDash val="solid"/>
          </a:ln>
        </p:spPr>
      </p:sp>
      <p:sp>
        <p:nvSpPr>
          <p:cNvPr id="59" name="Text 54"/>
          <p:cNvSpPr txBox="1"/>
          <p:nvPr/>
        </p:nvSpPr>
        <p:spPr>
          <a:xfrm>
            <a:off x="827532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TRUE</a:t>
            </a:r>
            <a:endParaRPr lang="en-US" sz="950" dirty="0"/>
          </a:p>
        </p:txBody>
      </p:sp>
      <p:sp>
        <p:nvSpPr>
          <p:cNvPr id="60" name="Shape 55"/>
          <p:cNvSpPr/>
          <p:nvPr/>
        </p:nvSpPr>
        <p:spPr>
          <a:xfrm>
            <a:off x="9372600" y="3977640"/>
            <a:ext cx="1024128" cy="329184"/>
          </a:xfrm>
          <a:prstGeom prst="roundRect">
            <a:avLst>
              <a:gd name="adj" fmla="val 50000"/>
            </a:avLst>
          </a:prstGeom>
          <a:solidFill>
            <a:srgbClr val="FFFFFF"/>
          </a:solidFill>
          <a:ln w="19050">
            <a:solidFill>
              <a:srgbClr val="1F3864"/>
            </a:solidFill>
            <a:prstDash val="solid"/>
          </a:ln>
        </p:spPr>
      </p:sp>
      <p:sp>
        <p:nvSpPr>
          <p:cNvPr id="61" name="Text 56"/>
          <p:cNvSpPr txBox="1"/>
          <p:nvPr/>
        </p:nvSpPr>
        <p:spPr>
          <a:xfrm>
            <a:off x="937260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FALSE</a:t>
            </a:r>
            <a:endParaRPr lang="en-US" sz="950" dirty="0"/>
          </a:p>
        </p:txBody>
      </p:sp>
      <p:sp>
        <p:nvSpPr>
          <p:cNvPr id="62" name="Shape 57"/>
          <p:cNvSpPr/>
          <p:nvPr/>
        </p:nvSpPr>
        <p:spPr>
          <a:xfrm>
            <a:off x="10469880" y="3977640"/>
            <a:ext cx="1024128" cy="329184"/>
          </a:xfrm>
          <a:prstGeom prst="roundRect">
            <a:avLst>
              <a:gd name="adj" fmla="val 50000"/>
            </a:avLst>
          </a:prstGeom>
          <a:solidFill>
            <a:srgbClr val="FFFFFF"/>
          </a:solidFill>
          <a:ln w="19050">
            <a:solidFill>
              <a:srgbClr val="1F3864"/>
            </a:solidFill>
            <a:prstDash val="solid"/>
          </a:ln>
        </p:spPr>
      </p:sp>
      <p:sp>
        <p:nvSpPr>
          <p:cNvPr id="63" name="Text 58"/>
          <p:cNvSpPr txBox="1"/>
          <p:nvPr/>
        </p:nvSpPr>
        <p:spPr>
          <a:xfrm>
            <a:off x="10469880" y="3977640"/>
            <a:ext cx="1024128" cy="329184"/>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SOMETIMES</a:t>
            </a:r>
            <a:endParaRPr lang="en-US" sz="950" dirty="0"/>
          </a:p>
        </p:txBody>
      </p:sp>
      <p:sp>
        <p:nvSpPr>
          <p:cNvPr id="64" name="Text 59"/>
          <p:cNvSpPr txBox="1"/>
          <p:nvPr/>
        </p:nvSpPr>
        <p:spPr>
          <a:xfrm>
            <a:off x="8275320" y="4416552"/>
            <a:ext cx="3200400" cy="274320"/>
          </a:xfrm>
          <a:prstGeom prst="rect">
            <a:avLst/>
          </a:prstGeom>
          <a:noFill/>
          <a:ln/>
        </p:spPr>
        <p:txBody>
          <a:bodyPr wrap="square" lIns="0" tIns="0" rIns="0" bIns="0" rtlCol="0" anchor="t"/>
          <a:lstStyle/>
          <a:p>
            <a:pPr indent="0" marL="0">
              <a:buNone/>
            </a:pPr>
            <a:r>
              <a:rPr lang="en-US" sz="1200" dirty="0">
                <a:solidFill>
                  <a:srgbClr val="6B7977"/>
                </a:solidFill>
                <a:latin typeface="Calibri" pitchFamily="34" charset="0"/>
                <a:ea typeface="Calibri" pitchFamily="34" charset="-122"/>
                <a:cs typeface="Calibri" pitchFamily="34" charset="-120"/>
              </a:rPr>
              <a:t>Because ........................................</a:t>
            </a:r>
            <a:endParaRPr lang="en-US" sz="1200" dirty="0"/>
          </a:p>
        </p:txBody>
      </p:sp>
      <p:sp>
        <p:nvSpPr>
          <p:cNvPr id="65" name="Shape 60"/>
          <p:cNvSpPr/>
          <p:nvPr/>
        </p:nvSpPr>
        <p:spPr>
          <a:xfrm>
            <a:off x="8229600" y="4846320"/>
            <a:ext cx="3291840" cy="658368"/>
          </a:xfrm>
          <a:prstGeom prst="roundRect">
            <a:avLst>
              <a:gd name="adj" fmla="val 13889"/>
            </a:avLst>
          </a:prstGeom>
          <a:solidFill>
            <a:srgbClr val="FFF1C9"/>
          </a:solidFill>
          <a:ln w="19050">
            <a:solidFill>
              <a:srgbClr val="F0B323"/>
            </a:solidFill>
            <a:prstDash val="solid"/>
          </a:ln>
        </p:spPr>
      </p:sp>
      <p:sp>
        <p:nvSpPr>
          <p:cNvPr id="66" name="Text 61"/>
          <p:cNvSpPr txBox="1"/>
          <p:nvPr/>
        </p:nvSpPr>
        <p:spPr>
          <a:xfrm>
            <a:off x="8366760" y="4892040"/>
            <a:ext cx="3017520" cy="201168"/>
          </a:xfrm>
          <a:prstGeom prst="rect">
            <a:avLst/>
          </a:prstGeom>
          <a:noFill/>
          <a:ln/>
        </p:spPr>
        <p:txBody>
          <a:bodyPr wrap="square" lIns="0" tIns="0" rIns="0" bIns="0" rtlCol="0" anchor="t"/>
          <a:lstStyle/>
          <a:p>
            <a:pPr indent="0" marL="0">
              <a:buNone/>
            </a:pPr>
            <a:r>
              <a:rPr lang="en-US" sz="900" b="1" spc="200" kern="0" dirty="0">
                <a:solidFill>
                  <a:srgbClr val="E8762C"/>
                </a:solidFill>
                <a:latin typeface="Calibri" pitchFamily="34" charset="0"/>
                <a:ea typeface="Calibri" pitchFamily="34" charset="-122"/>
                <a:cs typeface="Calibri" pitchFamily="34" charset="-120"/>
              </a:rPr>
              <a:t>ASSUMPTION CHECK</a:t>
            </a:r>
            <a:endParaRPr lang="en-US" sz="900" dirty="0"/>
          </a:p>
        </p:txBody>
      </p:sp>
      <p:sp>
        <p:nvSpPr>
          <p:cNvPr id="67" name="Text 62"/>
          <p:cNvSpPr txBox="1"/>
          <p:nvPr/>
        </p:nvSpPr>
        <p:spPr>
          <a:xfrm>
            <a:off x="8366760" y="5111496"/>
            <a:ext cx="3017520" cy="365760"/>
          </a:xfrm>
          <a:prstGeom prst="rect">
            <a:avLst/>
          </a:prstGeom>
          <a:noFill/>
          <a:ln/>
        </p:spPr>
        <p:txBody>
          <a:bodyPr wrap="square" lIns="0" tIns="0" rIns="0" bIns="0" rtlCol="0" anchor="t"/>
          <a:lstStyle/>
          <a:p>
            <a:pPr indent="0" marL="0">
              <a:buNone/>
            </a:pPr>
            <a:r>
              <a:rPr lang="en-US" sz="1150" dirty="0">
                <a:solidFill>
                  <a:srgbClr val="222E2D"/>
                </a:solidFill>
                <a:latin typeface="Calibri" pitchFamily="34" charset="0"/>
                <a:ea typeface="Calibri" pitchFamily="34" charset="-122"/>
                <a:cs typeface="Calibri" pitchFamily="34" charset="-120"/>
              </a:rPr>
              <a:t>Does the spring still behave the same far beyond the readings?</a:t>
            </a:r>
            <a:endParaRPr lang="en-US" sz="1150" dirty="0"/>
          </a:p>
        </p:txBody>
      </p:sp>
      <p:sp>
        <p:nvSpPr>
          <p:cNvPr id="68" name="Shape 63"/>
          <p:cNvSpPr/>
          <p:nvPr/>
        </p:nvSpPr>
        <p:spPr>
          <a:xfrm>
            <a:off x="457200" y="5760720"/>
            <a:ext cx="11247120" cy="594360"/>
          </a:xfrm>
          <a:prstGeom prst="roundRect">
            <a:avLst>
              <a:gd name="adj" fmla="val 18462"/>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69" name="Text 64"/>
          <p:cNvSpPr txBox="1"/>
          <p:nvPr/>
        </p:nvSpPr>
        <p:spPr>
          <a:xfrm>
            <a:off x="731520" y="5760720"/>
            <a:ext cx="1069848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Which graph gave you the strongest evidence: an exact one, an inexact one, or one with complex assumptions? What made you decide?</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10  ·  UNIT 3  ·  ACTIVITY 2</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5385816"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534009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678424" y="457200"/>
            <a:ext cx="420624" cy="0"/>
          </a:xfrm>
          <a:prstGeom prst="line">
            <a:avLst/>
          </a:prstGeom>
          <a:noFill/>
          <a:ln w="25400">
            <a:solidFill>
              <a:srgbClr val="17A199"/>
            </a:solidFill>
            <a:prstDash val="dash"/>
          </a:ln>
        </p:spPr>
      </p:sp>
      <p:sp>
        <p:nvSpPr>
          <p:cNvPr id="12" name="stn2"/>
          <p:cNvSpPr/>
          <p:nvPr/>
        </p:nvSpPr>
        <p:spPr>
          <a:xfrm>
            <a:off x="6099048"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605332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391656" y="457200"/>
            <a:ext cx="420624" cy="0"/>
          </a:xfrm>
          <a:prstGeom prst="line">
            <a:avLst/>
          </a:prstGeom>
          <a:noFill/>
          <a:ln w="25400">
            <a:solidFill>
              <a:srgbClr val="17A199"/>
            </a:solidFill>
            <a:prstDash val="dash"/>
          </a:ln>
        </p:spPr>
      </p:sp>
      <p:sp>
        <p:nvSpPr>
          <p:cNvPr id="15" name="stn3"/>
          <p:cNvSpPr/>
          <p:nvPr/>
        </p:nvSpPr>
        <p:spPr>
          <a:xfrm>
            <a:off x="6812280"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76656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7104888" y="457200"/>
            <a:ext cx="329184" cy="0"/>
          </a:xfrm>
          <a:prstGeom prst="line">
            <a:avLst/>
          </a:prstGeom>
          <a:noFill/>
          <a:ln w="25400">
            <a:solidFill>
              <a:srgbClr val="17A199"/>
            </a:solidFill>
            <a:prstDash val="dash"/>
          </a:ln>
        </p:spPr>
      </p:sp>
      <p:sp>
        <p:nvSpPr>
          <p:cNvPr id="18" name="stn4"/>
          <p:cNvSpPr/>
          <p:nvPr/>
        </p:nvSpPr>
        <p:spPr>
          <a:xfrm>
            <a:off x="7434072"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747979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6"/>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APPLY AND PRESENT  ·  10 MIN</a:t>
            </a:r>
            <a:endParaRPr lang="en-US" sz="1200" dirty="0"/>
          </a:p>
        </p:txBody>
      </p:sp>
      <p:sp>
        <p:nvSpPr>
          <p:cNvPr id="21" name="Text 17"/>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Apply and present: a fast charger near Jeddah</a:t>
            </a:r>
            <a:endParaRPr lang="en-US" sz="3000" dirty="0"/>
          </a:p>
        </p:txBody>
      </p:sp>
      <p:sp>
        <p:nvSpPr>
          <p:cNvPr id="23" name="Shape 18"/>
          <p:cNvSpPr/>
          <p:nvPr/>
        </p:nvSpPr>
        <p:spPr>
          <a:xfrm>
            <a:off x="457200" y="1783080"/>
            <a:ext cx="6675120" cy="4526280"/>
          </a:xfrm>
          <a:prstGeom prst="roundRect">
            <a:avLst>
              <a:gd name="adj" fmla="val 24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4" name="Text 19"/>
          <p:cNvSpPr txBox="1"/>
          <p:nvPr/>
        </p:nvSpPr>
        <p:spPr>
          <a:xfrm>
            <a:off x="731520" y="1856232"/>
            <a:ext cx="621792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MODEL VALUES (ILLUSTRATIVE, NOT REAL CHARGER DATA)</a:t>
            </a:r>
            <a:endParaRPr lang="en-US" sz="1100" dirty="0"/>
          </a:p>
        </p:txBody>
      </p:sp>
      <p:sp>
        <p:nvSpPr>
          <p:cNvPr id="25" name="Text 20"/>
          <p:cNvSpPr txBox="1"/>
          <p:nvPr/>
        </p:nvSpPr>
        <p:spPr>
          <a:xfrm>
            <a:off x="731520" y="2148840"/>
            <a:ext cx="6126480" cy="68580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An electric car is plugged into a fast charger. The battery charge is recorded every 10 minutes.</a:t>
            </a:r>
            <a:endParaRPr lang="en-US" sz="1400" dirty="0"/>
          </a:p>
        </p:txBody>
      </p:sp>
      <p:pic>
        <p:nvPicPr>
          <p:cNvPr id="26" name="Image 2" descr="fig/chg_s.png">    </p:cNvPr>
          <p:cNvPicPr>
            <a:picLocks noChangeAspect="1"/>
          </p:cNvPicPr>
          <p:nvPr/>
        </p:nvPicPr>
        <p:blipFill>
          <a:blip r:embed="rId3"/>
          <a:stretch>
            <a:fillRect/>
          </a:stretch>
        </p:blipFill>
        <p:spPr>
          <a:xfrm>
            <a:off x="548640" y="2926080"/>
            <a:ext cx="3657600" cy="2603715"/>
          </a:xfrm>
          <a:prstGeom prst="rect">
            <a:avLst/>
          </a:prstGeom>
        </p:spPr>
      </p:pic>
      <p:sp>
        <p:nvSpPr>
          <p:cNvPr id="27" name="Text 21"/>
          <p:cNvSpPr txBox="1"/>
          <p:nvPr/>
        </p:nvSpPr>
        <p:spPr>
          <a:xfrm>
            <a:off x="4343400" y="2926080"/>
            <a:ext cx="2697480" cy="3337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200" dirty="0">
                <a:solidFill>
                  <a:srgbClr val="222E2D"/>
                </a:solidFill>
                <a:latin typeface="Calibri" pitchFamily="34" charset="0"/>
                <a:ea typeface="Calibri" pitchFamily="34" charset="-122"/>
                <a:cs typeface="Calibri" pitchFamily="34" charset="-120"/>
              </a:rPr>
              <a:t>Which variable is independent? Which is dependent?</a:t>
            </a:r>
            <a:endParaRPr lang="en-US" sz="1200" dirty="0"/>
          </a:p>
          <a:p>
            <a:pPr marL="342900" indent="-342900">
              <a:spcAft>
                <a:spcPts val="400"/>
              </a:spcAft>
              <a:buSzPct val="100000"/>
              <a:buFont typeface="+mj-lt"/>
              <a:buAutoNum type="arabicPeriod" startAt="1"/>
            </a:pPr>
            <a:r>
              <a:rPr lang="en-US" sz="1200" dirty="0">
                <a:solidFill>
                  <a:srgbClr val="222E2D"/>
                </a:solidFill>
                <a:latin typeface="Calibri" pitchFamily="34" charset="0"/>
                <a:ea typeface="Calibri" pitchFamily="34" charset="-122"/>
                <a:cs typeface="Calibri" pitchFamily="34" charset="-120"/>
              </a:rPr>
              <a:t>Use the first five readings: find a line and its equation.</a:t>
            </a:r>
            <a:endParaRPr lang="en-US" sz="1200" dirty="0"/>
          </a:p>
          <a:p>
            <a:pPr marL="342900" indent="-342900">
              <a:spcAft>
                <a:spcPts val="400"/>
              </a:spcAft>
              <a:buSzPct val="100000"/>
              <a:buFont typeface="+mj-lt"/>
              <a:buAutoNum type="arabicPeriod" startAt="1"/>
            </a:pPr>
            <a:r>
              <a:rPr lang="en-US" sz="1200" dirty="0">
                <a:solidFill>
                  <a:srgbClr val="222E2D"/>
                </a:solidFill>
                <a:latin typeface="Calibri" pitchFamily="34" charset="0"/>
                <a:ea typeface="Calibri" pitchFamily="34" charset="-122"/>
                <a:cs typeface="Calibri" pitchFamily="34" charset="-120"/>
              </a:rPr>
              <a:t>Predict the charge after 25 minutes.</a:t>
            </a:r>
            <a:endParaRPr lang="en-US" sz="1200" dirty="0"/>
          </a:p>
          <a:p>
            <a:pPr marL="342900" indent="-342900">
              <a:spcAft>
                <a:spcPts val="400"/>
              </a:spcAft>
              <a:buSzPct val="100000"/>
              <a:buFont typeface="+mj-lt"/>
              <a:buAutoNum type="arabicPeriod" startAt="1"/>
            </a:pPr>
            <a:r>
              <a:rPr lang="en-US" sz="1200" dirty="0">
                <a:solidFill>
                  <a:srgbClr val="222E2D"/>
                </a:solidFill>
                <a:latin typeface="Calibri" pitchFamily="34" charset="0"/>
                <a:ea typeface="Calibri" pitchFamily="34" charset="-122"/>
                <a:cs typeface="Calibri" pitchFamily="34" charset="-120"/>
              </a:rPr>
              <a:t>What if the car stays 90 minutes? Is the line still sensible? Say exact or inexact, and why.</a:t>
            </a:r>
            <a:endParaRPr lang="en-US" sz="1200" dirty="0"/>
          </a:p>
        </p:txBody>
      </p:sp>
      <p:sp>
        <p:nvSpPr>
          <p:cNvPr id="28" name="Shape 22"/>
          <p:cNvSpPr/>
          <p:nvPr/>
        </p:nvSpPr>
        <p:spPr>
          <a:xfrm>
            <a:off x="7315200" y="1783080"/>
            <a:ext cx="4389120" cy="1965960"/>
          </a:xfrm>
          <a:prstGeom prst="roundRect">
            <a:avLst>
              <a:gd name="adj" fmla="val 5581"/>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9" name="Text 23"/>
          <p:cNvSpPr txBox="1"/>
          <p:nvPr/>
        </p:nvSpPr>
        <p:spPr>
          <a:xfrm>
            <a:off x="7589520" y="1874520"/>
            <a:ext cx="402336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PRESENT  ·  1 MINUTE EACH</a:t>
            </a:r>
            <a:endParaRPr lang="en-US" sz="1200" dirty="0"/>
          </a:p>
        </p:txBody>
      </p:sp>
      <p:sp>
        <p:nvSpPr>
          <p:cNvPr id="30" name="Text 24"/>
          <p:cNvSpPr txBox="1"/>
          <p:nvPr/>
        </p:nvSpPr>
        <p:spPr>
          <a:xfrm>
            <a:off x="7589520" y="2194560"/>
            <a:ext cx="39319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Two reporters share evidence: a graph, an equation or numbers.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Share one What if...? your crew asked and one idea that is your own.</a:t>
            </a:r>
            <a:endParaRPr lang="en-US" sz="1400" dirty="0"/>
          </a:p>
        </p:txBody>
      </p:sp>
      <p:sp>
        <p:nvSpPr>
          <p:cNvPr id="31" name="Shape 25"/>
          <p:cNvSpPr/>
          <p:nvPr/>
        </p:nvSpPr>
        <p:spPr>
          <a:xfrm>
            <a:off x="7315200" y="3886200"/>
            <a:ext cx="4389120" cy="2423160"/>
          </a:xfrm>
          <a:prstGeom prst="roundRect">
            <a:avLst>
              <a:gd name="adj" fmla="val 452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2" name="Text 26"/>
          <p:cNvSpPr txBox="1"/>
          <p:nvPr/>
        </p:nvSpPr>
        <p:spPr>
          <a:xfrm>
            <a:off x="7589520" y="3959352"/>
            <a:ext cx="402336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MY MAWHIBA RECORD: TICK A VALUE</a:t>
            </a:r>
            <a:endParaRPr lang="en-US" sz="1100" dirty="0"/>
          </a:p>
        </p:txBody>
      </p:sp>
      <p:sp>
        <p:nvSpPr>
          <p:cNvPr id="33" name="Shape 27"/>
          <p:cNvSpPr/>
          <p:nvPr/>
        </p:nvSpPr>
        <p:spPr>
          <a:xfrm>
            <a:off x="7589520" y="4389120"/>
            <a:ext cx="237744" cy="237744"/>
          </a:xfrm>
          <a:prstGeom prst="rect">
            <a:avLst/>
          </a:prstGeom>
          <a:solidFill>
            <a:srgbClr val="FFFFFF"/>
          </a:solidFill>
          <a:ln w="19050">
            <a:solidFill>
              <a:srgbClr val="1F3864"/>
            </a:solidFill>
            <a:prstDash val="solid"/>
          </a:ln>
        </p:spPr>
      </p:sp>
      <p:sp>
        <p:nvSpPr>
          <p:cNvPr id="34" name="Text 28"/>
          <p:cNvSpPr txBox="1"/>
          <p:nvPr/>
        </p:nvSpPr>
        <p:spPr>
          <a:xfrm>
            <a:off x="7909560" y="4297680"/>
            <a:ext cx="1691640" cy="42062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Inquiry</a:t>
            </a:r>
            <a:endParaRPr lang="en-US" sz="1200" dirty="0"/>
          </a:p>
        </p:txBody>
      </p:sp>
      <p:sp>
        <p:nvSpPr>
          <p:cNvPr id="35" name="Shape 29"/>
          <p:cNvSpPr/>
          <p:nvPr/>
        </p:nvSpPr>
        <p:spPr>
          <a:xfrm>
            <a:off x="9646920" y="4389120"/>
            <a:ext cx="237744" cy="237744"/>
          </a:xfrm>
          <a:prstGeom prst="rect">
            <a:avLst/>
          </a:prstGeom>
          <a:solidFill>
            <a:srgbClr val="FFFFFF"/>
          </a:solidFill>
          <a:ln w="19050">
            <a:solidFill>
              <a:srgbClr val="1F3864"/>
            </a:solidFill>
            <a:prstDash val="solid"/>
          </a:ln>
        </p:spPr>
      </p:sp>
      <p:sp>
        <p:nvSpPr>
          <p:cNvPr id="36" name="Text 30"/>
          <p:cNvSpPr txBox="1"/>
          <p:nvPr/>
        </p:nvSpPr>
        <p:spPr>
          <a:xfrm>
            <a:off x="9966960" y="4297680"/>
            <a:ext cx="1691640" cy="42062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Risk taking</a:t>
            </a:r>
            <a:endParaRPr lang="en-US" sz="1200" dirty="0"/>
          </a:p>
        </p:txBody>
      </p:sp>
      <p:sp>
        <p:nvSpPr>
          <p:cNvPr id="37" name="Shape 31"/>
          <p:cNvSpPr/>
          <p:nvPr/>
        </p:nvSpPr>
        <p:spPr>
          <a:xfrm>
            <a:off x="7589520" y="4956048"/>
            <a:ext cx="237744" cy="237744"/>
          </a:xfrm>
          <a:prstGeom prst="rect">
            <a:avLst/>
          </a:prstGeom>
          <a:solidFill>
            <a:srgbClr val="FFFFFF"/>
          </a:solidFill>
          <a:ln w="19050">
            <a:solidFill>
              <a:srgbClr val="1F3864"/>
            </a:solidFill>
            <a:prstDash val="solid"/>
          </a:ln>
        </p:spPr>
      </p:sp>
      <p:sp>
        <p:nvSpPr>
          <p:cNvPr id="38" name="Text 32"/>
          <p:cNvSpPr txBox="1"/>
          <p:nvPr/>
        </p:nvSpPr>
        <p:spPr>
          <a:xfrm>
            <a:off x="7909560" y="4864608"/>
            <a:ext cx="1691640" cy="42062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Perseverance</a:t>
            </a:r>
            <a:endParaRPr lang="en-US" sz="1200" dirty="0"/>
          </a:p>
        </p:txBody>
      </p:sp>
      <p:sp>
        <p:nvSpPr>
          <p:cNvPr id="39" name="Shape 33"/>
          <p:cNvSpPr/>
          <p:nvPr/>
        </p:nvSpPr>
        <p:spPr>
          <a:xfrm>
            <a:off x="9646920" y="4956048"/>
            <a:ext cx="237744" cy="237744"/>
          </a:xfrm>
          <a:prstGeom prst="rect">
            <a:avLst/>
          </a:prstGeom>
          <a:solidFill>
            <a:srgbClr val="FFFFFF"/>
          </a:solidFill>
          <a:ln w="19050">
            <a:solidFill>
              <a:srgbClr val="1F3864"/>
            </a:solidFill>
            <a:prstDash val="solid"/>
          </a:ln>
        </p:spPr>
      </p:sp>
      <p:sp>
        <p:nvSpPr>
          <p:cNvPr id="40" name="Text 34"/>
          <p:cNvSpPr txBox="1"/>
          <p:nvPr/>
        </p:nvSpPr>
        <p:spPr>
          <a:xfrm>
            <a:off x="9966960" y="4864608"/>
            <a:ext cx="1691640" cy="42062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Collaboration</a:t>
            </a:r>
            <a:endParaRPr lang="en-US" sz="1200" dirty="0"/>
          </a:p>
        </p:txBody>
      </p:sp>
      <p:sp>
        <p:nvSpPr>
          <p:cNvPr id="41" name="Shape 35"/>
          <p:cNvSpPr/>
          <p:nvPr/>
        </p:nvSpPr>
        <p:spPr>
          <a:xfrm>
            <a:off x="7589520" y="5522976"/>
            <a:ext cx="237744" cy="237744"/>
          </a:xfrm>
          <a:prstGeom prst="rect">
            <a:avLst/>
          </a:prstGeom>
          <a:solidFill>
            <a:srgbClr val="FFFFFF"/>
          </a:solidFill>
          <a:ln w="19050">
            <a:solidFill>
              <a:srgbClr val="1F3864"/>
            </a:solidFill>
            <a:prstDash val="solid"/>
          </a:ln>
        </p:spPr>
      </p:sp>
      <p:sp>
        <p:nvSpPr>
          <p:cNvPr id="42" name="Text 36"/>
          <p:cNvSpPr txBox="1"/>
          <p:nvPr/>
        </p:nvSpPr>
        <p:spPr>
          <a:xfrm>
            <a:off x="7909560" y="5431536"/>
            <a:ext cx="1691640" cy="42062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Concern for society</a:t>
            </a:r>
            <a:endParaRPr lang="en-US" sz="1200" dirty="0"/>
          </a:p>
        </p:txBody>
      </p:sp>
      <p:sp>
        <p:nvSpPr>
          <p:cNvPr id="43" name="Text 37"/>
          <p:cNvSpPr txBox="1"/>
          <p:nvPr/>
        </p:nvSpPr>
        <p:spPr>
          <a:xfrm>
            <a:off x="7589520" y="5852160"/>
            <a:ext cx="3931920" cy="411480"/>
          </a:xfrm>
          <a:prstGeom prst="rect">
            <a:avLst/>
          </a:prstGeom>
          <a:noFill/>
          <a:ln/>
        </p:spPr>
        <p:txBody>
          <a:bodyPr wrap="square" lIns="0" tIns="0" rIns="0" bIns="0" rtlCol="0" anchor="t"/>
          <a:lstStyle/>
          <a:p>
            <a:pPr indent="0" marL="0">
              <a:buNone/>
            </a:pPr>
            <a:r>
              <a:rPr lang="en-US" sz="1200" dirty="0">
                <a:solidFill>
                  <a:srgbClr val="3F4B49"/>
                </a:solidFill>
                <a:latin typeface="Calibri" pitchFamily="34" charset="0"/>
                <a:ea typeface="Calibri" pitchFamily="34" charset="-122"/>
                <a:cs typeface="Calibri" pitchFamily="34" charset="-120"/>
              </a:rPr>
              <a:t>Add today’s evidence to your cumulative record.</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Mawhiba Unit 3 Activity 2 Paired Variables presentation</dc:title>
  <dc:subject>PptxGenJS Presentation</dc:subject>
  <dc:creator>Mr Malek Thiab</dc:creator>
  <cp:lastModifiedBy>Mr Malek Thiab</cp:lastModifiedBy>
  <cp:revision>1</cp:revision>
  <dcterms:created xsi:type="dcterms:W3CDTF">2026-10-29T04:29:23Z</dcterms:created>
  <dcterms:modified xsi:type="dcterms:W3CDTF">2026-10-29T04:29:23Z</dcterms:modified>
</cp:coreProperties>
</file>