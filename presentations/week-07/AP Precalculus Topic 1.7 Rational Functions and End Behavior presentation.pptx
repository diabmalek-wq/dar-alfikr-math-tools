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Topic 1.7: Rational Functions and End Behavior.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(Compare the leading terms; Three cases, three pictures; Approaching, crossing, and what an asymptote means), Practice (Practice, Apply, Investigate), Production (cost per batch at a bottling plant),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rational function, end behavior, horizontal asymptote, leading term, degree, limit notation.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Speaker notes (Diagnose, 6 min, no calculator).
Solutions: Q1 2x^3 (reorder to 2x^3 - x^2 + 4 first). Q2 2. Q3 0 (1/100 = 0.01, 1/1000 = 0.001).
Verbal misconceptions: 'the leading term is the first term written'; 'x^2 over x^2 is x'; '1 over a huge number is huge'.
Adaptive routing: if more than 30% miss Q1, route to slide 5 (leading terms). If Q2 or Q3 is missed by more than 30%, route to slide 6 (three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3):
Speaker notes (Targeted Instruction, block 1 of 3).
Worked solutions: Example A: leading terms 3x^2 and x^2 (the denominator is x^2 - 5, leading term x^2). Ratio 3, so the limit is 3 at both ends and y = 3 is the horizontal asymptote. Example B: leading terms 2x and x^2. The ratio 2x/x^2 = 2/x tends to 0, so the limit is 0 and y = 0 is the horizontal asymptote.
Verbal misconceptions: 'divide every term' (only the leading terms matter far from zero); 'the constant terms decide'.
Adaptive routing: if more than 30% miss Gate Q1, return to this slide and redo Example B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3):
Speaker notes (Targeted Instruction, block 2 of 3).
Worked solutions: Example A: numerator degree 3 is greater than denominator degree 2, so the quotient behaves like x/2: it tends to infinity as x tends to infinity and to negative infinity as x tends to negative infinity; there is no horizontal asymptote. Example B: equal degrees; ratio of leading coefficients -1/2, so y = -1/2.
Verbal misconceptions: 'a limit of infinity means a horizontal asymptote at infinity' (no asymptote exists); 'the order of terms in the numerator changes the leading term' (always find the highest power).
Adaptive routing: if more than 30% miss Gate Q2 or Q3, route to this slide and sort the three cases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3):
Speaker notes (Targeted Instruction, block 3 of 3).
Worked solutions: Example A: divide to write (2x + 3)/(x - 1) = 2 + 5/(x - 1). For large positive x, 5/(x - 1) is positive, so f is above 2; for large negative x it is negative, so f is below 2. Example B: degree of the denominator is larger so the limit is 0, but r(0) = 0, so the graph meets its own horizontal asymptote at the origin.
Verbal misconceptions: 'the graph can never touch a horizontal asymptote' (it can; the asymptote only describes the far ends); 'approach from above at both ends'.
Adaptive routing: if more than 30% of students say the graph cannot touch y = 0, show Example B on the calculator before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Speaker notes (Practice, 12 min; tierless: students choose the starting column and may move across).
Answers: Practice: ratio 6x^2 over 3x^2 = 2, so the limit is 2 and y = 2. Apply: ratio 5/2, y = 5/2. Investigate: a horizontal asymptote describes behaviour for large |x| only; at x = 0 the function equals 0, which is its asymptote value, so it crosses there.
Verbal misconceptions: 'asymptotes are walls the graph cannot touch'.
Adaptive routing: finished students move to Apply then Investigate; stuck students return to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Speaker notes (Production, 12 min).
Solutions: A(n) = 450 + 12000/n. Task 1: the fraction tends to 0, so the limit is 450 dollars: the cost per batch never falls below the 450 dollar variable cost. Task 2: A(100) = 570 dollars; A(1000) = 462 dollars. Task 3: (12000 + 450n)/n = 500, so 12000 + 450n = 500n and n = 240 batches.
Verbal misconceptions: 'the average cost reaches 450 after enough batches' (it only approaches 450); cross-multiplying incorrectly.
Adaptive routing: if students cannot start, send them to slide 5 Example B (leading terms) and the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Speaker notes (Mastery Gate, 6 min, no calculator).
Answers: Q1 0 (numerator degree 3, denominator degree 4). Q2 -1/3 (ratio of leading coefficients -1 and 3). Q3 negative infinity (leading terms x^2/x = x, and x tends to negative infinity).
Verbal misconceptions: Q1 'the larger number 7 beats 2 so the limit is 7/2'; Q2 'drop the minus sign'; Q3 'infinity over infinity is 1'.
Adaptive routing: Q1 missed, route to slide 6; Q2 missed, route to slide 5 Example A; Q3 missed, route to slide 6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Speaker notes (Smart Production, 6 min).
Exit answer: 8x^2 over 2x^2 = 4, so y = 4.
Verbal misconceptions: students write 8/2x or give y = 3 from the constants. Ask: which terms matter when x is huge?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Compare the leading terms: smaller degree on top gives zero, equal degrees give the ratio, larger degree on top has no horizontal asymptote. Collect the Time to Check responses. Next lesson: Topic 1.8 Equivalent Representations of Polynomial and Rational Expressions.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9-10  ·  AP PRECALCULUS  ·  UNIT 1</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Topic 1.7</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3800" b="1" dirty="0">
                <a:solidFill>
                  <a:srgbClr val="1F3864"/>
                </a:solidFill>
                <a:latin typeface="Cambria" pitchFamily="34" charset="0"/>
                <a:ea typeface="Cambria" pitchFamily="34" charset="-122"/>
                <a:cs typeface="Cambria" pitchFamily="34" charset="-120"/>
              </a:rPr>
              <a:t>Rational Functions</a:t>
            </a:r>
            <a:endParaRPr lang="en-US" sz="3800" dirty="0"/>
          </a:p>
          <a:p>
            <a:pPr indent="0" marL="0">
              <a:buNone/>
            </a:pPr>
            <a:r>
              <a:rPr lang="en-US" sz="3800" b="1" dirty="0">
                <a:solidFill>
                  <a:srgbClr val="1F3864"/>
                </a:solidFill>
                <a:latin typeface="Cambria" pitchFamily="34" charset="0"/>
                <a:ea typeface="Cambria" pitchFamily="34" charset="-122"/>
                <a:cs typeface="Cambria" pitchFamily="34" charset="-120"/>
              </a:rPr>
              <a:t>and End Behavior</a:t>
            </a:r>
            <a:endParaRPr lang="en-US" sz="38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and Rational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AP1-7/ke7da842707.png">    </p:cNvPr>
          <p:cNvPicPr>
            <a:picLocks noChangeAspect="1"/>
          </p:cNvPicPr>
          <p:nvPr/>
        </p:nvPicPr>
        <p:blipFill>
          <a:blip r:embed="rId4"/>
          <a:stretch>
            <a:fillRect/>
          </a:stretch>
        </p:blipFill>
        <p:spPr>
          <a:xfrm>
            <a:off x="9202522" y="3017520"/>
            <a:ext cx="1711757" cy="1031809"/>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1.7.A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Describe end behavior of rational functions.</a:t>
            </a:r>
            <a:endParaRPr lang="en-US" sz="1700" dirty="0"/>
          </a:p>
        </p:txBody>
      </p:sp>
      <p:sp>
        <p:nvSpPr>
          <p:cNvPr id="14" name="Shape 9"/>
          <p:cNvSpPr/>
          <p:nvPr/>
        </p:nvSpPr>
        <p:spPr>
          <a:xfrm>
            <a:off x="6400800" y="1280160"/>
            <a:ext cx="5303520" cy="1545336"/>
          </a:xfrm>
          <a:prstGeom prst="roundRect">
            <a:avLst>
              <a:gd name="adj" fmla="val 7101"/>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rational function</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behavior</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horizontal asymptote</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leading term</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degree</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limit notation</a:t>
            </a:r>
            <a:endParaRPr lang="en-US" sz="1100" dirty="0"/>
          </a:p>
        </p:txBody>
      </p:sp>
      <p:sp>
        <p:nvSpPr>
          <p:cNvPr id="28" name="Shape 23"/>
          <p:cNvSpPr/>
          <p:nvPr/>
        </p:nvSpPr>
        <p:spPr>
          <a:xfrm>
            <a:off x="6400800" y="2962656"/>
            <a:ext cx="5303520" cy="3346704"/>
          </a:xfrm>
          <a:prstGeom prst="roundRect">
            <a:avLst>
              <a:gd name="adj" fmla="val 3279"/>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9" name="Text 24"/>
          <p:cNvSpPr txBox="1"/>
          <p:nvPr/>
        </p:nvSpPr>
        <p:spPr>
          <a:xfrm>
            <a:off x="6675120" y="3035808"/>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0" name="Text 25"/>
          <p:cNvSpPr txBox="1"/>
          <p:nvPr/>
        </p:nvSpPr>
        <p:spPr>
          <a:xfrm>
            <a:off x="6675120" y="3328416"/>
            <a:ext cx="4846320" cy="2889504"/>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LO 1.7.A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Describe end behavior of rational functions.</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1.7.A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7/kccf02f7bf7.png">    </p:cNvPr>
          <p:cNvPicPr>
            <a:picLocks noChangeAspect="1"/>
          </p:cNvPicPr>
          <p:nvPr/>
        </p:nvPicPr>
        <p:blipFill>
          <a:blip r:embed="rId3"/>
          <a:stretch>
            <a:fillRect/>
          </a:stretch>
        </p:blipFill>
        <p:spPr>
          <a:xfrm>
            <a:off x="594360" y="2697480"/>
            <a:ext cx="3383280" cy="342489"/>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7/k7185196191.png">    </p:cNvPr>
          <p:cNvPicPr>
            <a:picLocks noChangeAspect="1"/>
          </p:cNvPicPr>
          <p:nvPr/>
        </p:nvPicPr>
        <p:blipFill>
          <a:blip r:embed="rId4"/>
          <a:stretch>
            <a:fillRect/>
          </a:stretch>
        </p:blipFill>
        <p:spPr>
          <a:xfrm>
            <a:off x="5160874" y="2697480"/>
            <a:ext cx="1748333" cy="731520"/>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7/k84f9fe71a4.png">    </p:cNvPr>
          <p:cNvPicPr>
            <a:picLocks noChangeAspect="1"/>
          </p:cNvPicPr>
          <p:nvPr/>
        </p:nvPicPr>
        <p:blipFill>
          <a:blip r:embed="rId5"/>
          <a:stretch>
            <a:fillRect/>
          </a:stretch>
        </p:blipFill>
        <p:spPr>
          <a:xfrm>
            <a:off x="8149133" y="2697480"/>
            <a:ext cx="3269894" cy="1053389"/>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what happens to a fraction when its denominator becomes huge.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1.7.A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Compare the leading terms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7/k786974ffca.png">    </p:cNvPr>
          <p:cNvPicPr>
            <a:picLocks noChangeAspect="1"/>
          </p:cNvPicPr>
          <p:nvPr/>
        </p:nvPicPr>
        <p:blipFill>
          <a:blip r:embed="rId3"/>
          <a:stretch>
            <a:fillRect/>
          </a:stretch>
        </p:blipFill>
        <p:spPr>
          <a:xfrm>
            <a:off x="2523744" y="1951330"/>
            <a:ext cx="5182819" cy="760781"/>
          </a:xfrm>
          <a:prstGeom prst="rect">
            <a:avLst/>
          </a:prstGeom>
        </p:spPr>
      </p:pic>
      <p:pic>
        <p:nvPicPr>
          <p:cNvPr id="31" name="Image 3" descr="m_AP1-7/ka3d2970fc0.png">    </p:cNvPr>
          <p:cNvPicPr>
            <a:picLocks noChangeAspect="1"/>
          </p:cNvPicPr>
          <p:nvPr/>
        </p:nvPicPr>
        <p:blipFill>
          <a:blip r:embed="rId4"/>
          <a:stretch>
            <a:fillRect/>
          </a:stretch>
        </p:blipFill>
        <p:spPr>
          <a:xfrm>
            <a:off x="8346643" y="1934870"/>
            <a:ext cx="1291133" cy="793699"/>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7/kd13bacba68.png">    </p:cNvPr>
          <p:cNvPicPr>
            <a:picLocks noChangeAspect="1"/>
          </p:cNvPicPr>
          <p:nvPr/>
        </p:nvPicPr>
        <p:blipFill>
          <a:blip r:embed="rId5"/>
          <a:stretch>
            <a:fillRect/>
          </a:stretch>
        </p:blipFill>
        <p:spPr>
          <a:xfrm>
            <a:off x="2256508" y="3566160"/>
            <a:ext cx="1933505" cy="707130"/>
          </a:xfrm>
          <a:prstGeom prst="rect">
            <a:avLst/>
          </a:prstGeom>
        </p:spPr>
      </p:pic>
      <p:pic>
        <p:nvPicPr>
          <p:cNvPr id="35" name="Image 5" descr="m_AP1-7/k32c9ae44a5.png">    </p:cNvPr>
          <p:cNvPicPr>
            <a:picLocks noChangeAspect="1"/>
          </p:cNvPicPr>
          <p:nvPr/>
        </p:nvPicPr>
        <p:blipFill>
          <a:blip r:embed="rId6"/>
          <a:stretch>
            <a:fillRect/>
          </a:stretch>
        </p:blipFill>
        <p:spPr>
          <a:xfrm>
            <a:off x="2722234" y="4426923"/>
            <a:ext cx="1002052" cy="650683"/>
          </a:xfrm>
          <a:prstGeom prst="rect">
            <a:avLst/>
          </a:prstGeom>
        </p:spPr>
      </p:pic>
      <p:pic>
        <p:nvPicPr>
          <p:cNvPr id="36" name="Image 6" descr="m_AP1-7/k9cd9a4254f.png">    </p:cNvPr>
          <p:cNvPicPr>
            <a:picLocks noChangeAspect="1"/>
          </p:cNvPicPr>
          <p:nvPr/>
        </p:nvPicPr>
        <p:blipFill>
          <a:blip r:embed="rId7"/>
          <a:stretch>
            <a:fillRect/>
          </a:stretch>
        </p:blipFill>
        <p:spPr>
          <a:xfrm>
            <a:off x="2344838" y="5231240"/>
            <a:ext cx="1756844" cy="478252"/>
          </a:xfrm>
          <a:prstGeom prst="rect">
            <a:avLst/>
          </a:prstGeom>
        </p:spPr>
      </p:pic>
      <p:pic>
        <p:nvPicPr>
          <p:cNvPr id="37" name="Image 7" descr="m_AP1-7/k5d77b3bfc8.png">    </p:cNvPr>
          <p:cNvPicPr>
            <a:picLocks noChangeAspect="1"/>
          </p:cNvPicPr>
          <p:nvPr/>
        </p:nvPicPr>
        <p:blipFill>
          <a:blip r:embed="rId8"/>
          <a:stretch>
            <a:fillRect/>
          </a:stretch>
        </p:blipFill>
        <p:spPr>
          <a:xfrm>
            <a:off x="1611193" y="5863126"/>
            <a:ext cx="3224135" cy="309074"/>
          </a:xfrm>
          <a:prstGeom prst="rect">
            <a:avLst/>
          </a:prstGeom>
        </p:spPr>
      </p:pic>
      <p:sp>
        <p:nvSpPr>
          <p:cNvPr id="38"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7/k71f4dd6fae.png">    </p:cNvPr>
          <p:cNvPicPr>
            <a:picLocks noChangeAspect="1"/>
          </p:cNvPicPr>
          <p:nvPr/>
        </p:nvPicPr>
        <p:blipFill>
          <a:blip r:embed="rId9"/>
          <a:stretch>
            <a:fillRect/>
          </a:stretch>
        </p:blipFill>
        <p:spPr>
          <a:xfrm>
            <a:off x="8029218" y="3566160"/>
            <a:ext cx="1818083" cy="670548"/>
          </a:xfrm>
          <a:prstGeom prst="rect">
            <a:avLst/>
          </a:prstGeom>
        </p:spPr>
      </p:pic>
      <p:pic>
        <p:nvPicPr>
          <p:cNvPr id="41" name="Image 9" descr="m_AP1-7/kced7d2181d.png">    </p:cNvPr>
          <p:cNvPicPr>
            <a:picLocks noChangeAspect="1"/>
          </p:cNvPicPr>
          <p:nvPr/>
        </p:nvPicPr>
        <p:blipFill>
          <a:blip r:embed="rId10"/>
          <a:stretch>
            <a:fillRect/>
          </a:stretch>
        </p:blipFill>
        <p:spPr>
          <a:xfrm>
            <a:off x="8169615" y="4392156"/>
            <a:ext cx="1537289" cy="618866"/>
          </a:xfrm>
          <a:prstGeom prst="rect">
            <a:avLst/>
          </a:prstGeom>
        </p:spPr>
      </p:pic>
      <p:pic>
        <p:nvPicPr>
          <p:cNvPr id="42" name="Image 10" descr="m_AP1-7/ke901067a82.png">    </p:cNvPr>
          <p:cNvPicPr>
            <a:picLocks noChangeAspect="1"/>
          </p:cNvPicPr>
          <p:nvPr/>
        </p:nvPicPr>
        <p:blipFill>
          <a:blip r:embed="rId11"/>
          <a:stretch>
            <a:fillRect/>
          </a:stretch>
        </p:blipFill>
        <p:spPr>
          <a:xfrm>
            <a:off x="8060985" y="5166470"/>
            <a:ext cx="1754551" cy="483900"/>
          </a:xfrm>
          <a:prstGeom prst="rect">
            <a:avLst/>
          </a:prstGeom>
        </p:spPr>
      </p:pic>
      <p:pic>
        <p:nvPicPr>
          <p:cNvPr id="43" name="Image 11" descr="m_AP1-7/k444086f1ce.png">    </p:cNvPr>
          <p:cNvPicPr>
            <a:picLocks noChangeAspect="1"/>
          </p:cNvPicPr>
          <p:nvPr/>
        </p:nvPicPr>
        <p:blipFill>
          <a:blip r:embed="rId12"/>
          <a:stretch>
            <a:fillRect/>
          </a:stretch>
        </p:blipFill>
        <p:spPr>
          <a:xfrm>
            <a:off x="7307153" y="5805818"/>
            <a:ext cx="3262213" cy="3127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1.7.A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Three cases, three pictures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7/kaef079461c.png">    </p:cNvPr>
          <p:cNvPicPr>
            <a:picLocks noChangeAspect="1"/>
          </p:cNvPicPr>
          <p:nvPr/>
        </p:nvPicPr>
        <p:blipFill>
          <a:blip r:embed="rId3"/>
          <a:stretch>
            <a:fillRect/>
          </a:stretch>
        </p:blipFill>
        <p:spPr>
          <a:xfrm>
            <a:off x="731520" y="2162262"/>
            <a:ext cx="3125170" cy="338917"/>
          </a:xfrm>
          <a:prstGeom prst="rect">
            <a:avLst/>
          </a:prstGeom>
        </p:spPr>
      </p:pic>
      <p:pic>
        <p:nvPicPr>
          <p:cNvPr id="31" name="Image 3" descr="m_AP1-7/k3390f6cf21.png">    </p:cNvPr>
          <p:cNvPicPr>
            <a:picLocks noChangeAspect="1"/>
          </p:cNvPicPr>
          <p:nvPr/>
        </p:nvPicPr>
        <p:blipFill>
          <a:blip r:embed="rId4"/>
          <a:stretch>
            <a:fillRect/>
          </a:stretch>
        </p:blipFill>
        <p:spPr>
          <a:xfrm>
            <a:off x="4496770" y="2162262"/>
            <a:ext cx="3578248" cy="338917"/>
          </a:xfrm>
          <a:prstGeom prst="rect">
            <a:avLst/>
          </a:prstGeom>
        </p:spPr>
      </p:pic>
      <p:pic>
        <p:nvPicPr>
          <p:cNvPr id="32" name="Image 4" descr="m_AP1-7/kfcfee6ddad.png">    </p:cNvPr>
          <p:cNvPicPr>
            <a:picLocks noChangeAspect="1"/>
          </p:cNvPicPr>
          <p:nvPr/>
        </p:nvPicPr>
        <p:blipFill>
          <a:blip r:embed="rId5"/>
          <a:stretch>
            <a:fillRect/>
          </a:stretch>
        </p:blipFill>
        <p:spPr>
          <a:xfrm>
            <a:off x="8715098" y="2162262"/>
            <a:ext cx="2714902" cy="338917"/>
          </a:xfrm>
          <a:prstGeom prst="rect">
            <a:avLst/>
          </a:prstGeom>
        </p:spPr>
      </p:pic>
      <p:sp>
        <p:nvSpPr>
          <p:cNvPr id="33"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4" name="Image 5" descr="figs/AP1-7_cases.png">    </p:cNvPr>
          <p:cNvPicPr>
            <a:picLocks noChangeAspect="1"/>
          </p:cNvPicPr>
          <p:nvPr/>
        </p:nvPicPr>
        <p:blipFill>
          <a:blip r:embed="rId6"/>
          <a:stretch>
            <a:fillRect/>
          </a:stretch>
        </p:blipFill>
        <p:spPr>
          <a:xfrm>
            <a:off x="594360" y="3946705"/>
            <a:ext cx="3657600" cy="1479191"/>
          </a:xfrm>
          <a:prstGeom prst="rect">
            <a:avLst/>
          </a:prstGeom>
        </p:spPr>
      </p:pic>
      <p:sp>
        <p:nvSpPr>
          <p:cNvPr id="35"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7" name="Image 6" descr="m_AP1-7/kc194eb57dc.png">    </p:cNvPr>
          <p:cNvPicPr>
            <a:picLocks noChangeAspect="1"/>
          </p:cNvPicPr>
          <p:nvPr/>
        </p:nvPicPr>
        <p:blipFill>
          <a:blip r:embed="rId7"/>
          <a:stretch>
            <a:fillRect/>
          </a:stretch>
        </p:blipFill>
        <p:spPr>
          <a:xfrm>
            <a:off x="5376555" y="3566160"/>
            <a:ext cx="1819890" cy="667938"/>
          </a:xfrm>
          <a:prstGeom prst="rect">
            <a:avLst/>
          </a:prstGeom>
        </p:spPr>
      </p:pic>
      <p:pic>
        <p:nvPicPr>
          <p:cNvPr id="38" name="Image 7" descr="m_AP1-7/kfdf4570acc.png">    </p:cNvPr>
          <p:cNvPicPr>
            <a:picLocks noChangeAspect="1"/>
          </p:cNvPicPr>
          <p:nvPr/>
        </p:nvPicPr>
        <p:blipFill>
          <a:blip r:embed="rId8"/>
          <a:stretch>
            <a:fillRect/>
          </a:stretch>
        </p:blipFill>
        <p:spPr>
          <a:xfrm>
            <a:off x="5779439" y="4379217"/>
            <a:ext cx="1014123" cy="614620"/>
          </a:xfrm>
          <a:prstGeom prst="rect">
            <a:avLst/>
          </a:prstGeom>
        </p:spPr>
      </p:pic>
      <p:pic>
        <p:nvPicPr>
          <p:cNvPr id="39" name="Image 8" descr="m_AP1-7/kc5b7b97a24.png">    </p:cNvPr>
          <p:cNvPicPr>
            <a:picLocks noChangeAspect="1"/>
          </p:cNvPicPr>
          <p:nvPr/>
        </p:nvPicPr>
        <p:blipFill>
          <a:blip r:embed="rId9"/>
          <a:stretch>
            <a:fillRect/>
          </a:stretch>
        </p:blipFill>
        <p:spPr>
          <a:xfrm>
            <a:off x="5465982" y="5138955"/>
            <a:ext cx="1641035" cy="436380"/>
          </a:xfrm>
          <a:prstGeom prst="rect">
            <a:avLst/>
          </a:prstGeom>
        </p:spPr>
      </p:pic>
      <p:pic>
        <p:nvPicPr>
          <p:cNvPr id="40" name="Image 9" descr="m_AP1-7/k6c3e7a3050.png">    </p:cNvPr>
          <p:cNvPicPr>
            <a:picLocks noChangeAspect="1"/>
          </p:cNvPicPr>
          <p:nvPr/>
        </p:nvPicPr>
        <p:blipFill>
          <a:blip r:embed="rId10"/>
          <a:stretch>
            <a:fillRect/>
          </a:stretch>
        </p:blipFill>
        <p:spPr>
          <a:xfrm>
            <a:off x="5295425" y="5720454"/>
            <a:ext cx="1982149" cy="451746"/>
          </a:xfrm>
          <a:prstGeom prst="rect">
            <a:avLst/>
          </a:prstGeom>
        </p:spPr>
      </p:pic>
      <p:sp>
        <p:nvSpPr>
          <p:cNvPr id="41"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3" name="Image 10" descr="m_AP1-7/k81f3542fd9.png">    </p:cNvPr>
          <p:cNvPicPr>
            <a:picLocks noChangeAspect="1"/>
          </p:cNvPicPr>
          <p:nvPr/>
        </p:nvPicPr>
        <p:blipFill>
          <a:blip r:embed="rId11"/>
          <a:stretch>
            <a:fillRect/>
          </a:stretch>
        </p:blipFill>
        <p:spPr>
          <a:xfrm>
            <a:off x="9110214" y="3566160"/>
            <a:ext cx="1667773" cy="614286"/>
          </a:xfrm>
          <a:prstGeom prst="rect">
            <a:avLst/>
          </a:prstGeom>
        </p:spPr>
      </p:pic>
      <p:pic>
        <p:nvPicPr>
          <p:cNvPr id="44" name="Image 11" descr="m_AP1-7/k74e5e637dd.png">    </p:cNvPr>
          <p:cNvPicPr>
            <a:picLocks noChangeAspect="1"/>
          </p:cNvPicPr>
          <p:nvPr/>
        </p:nvPicPr>
        <p:blipFill>
          <a:blip r:embed="rId12"/>
          <a:stretch>
            <a:fillRect/>
          </a:stretch>
        </p:blipFill>
        <p:spPr>
          <a:xfrm>
            <a:off x="9360478" y="4313908"/>
            <a:ext cx="1167243" cy="565251"/>
          </a:xfrm>
          <a:prstGeom prst="rect">
            <a:avLst/>
          </a:prstGeom>
        </p:spPr>
      </p:pic>
      <p:pic>
        <p:nvPicPr>
          <p:cNvPr id="45" name="Image 12" descr="m_AP1-7/kf1a6acede6.png">    </p:cNvPr>
          <p:cNvPicPr>
            <a:picLocks noChangeAspect="1"/>
          </p:cNvPicPr>
          <p:nvPr/>
        </p:nvPicPr>
        <p:blipFill>
          <a:blip r:embed="rId13"/>
          <a:stretch>
            <a:fillRect/>
          </a:stretch>
        </p:blipFill>
        <p:spPr>
          <a:xfrm>
            <a:off x="9080679" y="5012621"/>
            <a:ext cx="1726841" cy="551120"/>
          </a:xfrm>
          <a:prstGeom prst="rect">
            <a:avLst/>
          </a:prstGeom>
        </p:spPr>
      </p:pic>
      <p:pic>
        <p:nvPicPr>
          <p:cNvPr id="46" name="Image 13" descr="m_AP1-7/k4ec4d83f64.png">    </p:cNvPr>
          <p:cNvPicPr>
            <a:picLocks noChangeAspect="1"/>
          </p:cNvPicPr>
          <p:nvPr/>
        </p:nvPicPr>
        <p:blipFill>
          <a:blip r:embed="rId14"/>
          <a:stretch>
            <a:fillRect/>
          </a:stretch>
        </p:blipFill>
        <p:spPr>
          <a:xfrm>
            <a:off x="8589853" y="5697203"/>
            <a:ext cx="2708494" cy="4749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1.7.A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Approaching, crossing, and what an asymptote means</a:t>
            </a:r>
            <a:endParaRPr lang="en-US" sz="26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7/k94572ff6b0.png">    </p:cNvPr>
          <p:cNvPicPr>
            <a:picLocks noChangeAspect="1"/>
          </p:cNvPicPr>
          <p:nvPr/>
        </p:nvPicPr>
        <p:blipFill>
          <a:blip r:embed="rId3"/>
          <a:stretch>
            <a:fillRect/>
          </a:stretch>
        </p:blipFill>
        <p:spPr>
          <a:xfrm>
            <a:off x="2968142" y="2141525"/>
            <a:ext cx="6225235" cy="380390"/>
          </a:xfrm>
          <a:prstGeom prst="rect">
            <a:avLst/>
          </a:prstGeom>
        </p:spPr>
      </p:pic>
      <p:sp>
        <p:nvSpPr>
          <p:cNvPr id="31"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2"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3" name="Image 3" descr="m_AP1-7/k60d460c2a3.png">    </p:cNvPr>
          <p:cNvPicPr>
            <a:picLocks noChangeAspect="1"/>
          </p:cNvPicPr>
          <p:nvPr/>
        </p:nvPicPr>
        <p:blipFill>
          <a:blip r:embed="rId4"/>
          <a:stretch>
            <a:fillRect/>
          </a:stretch>
        </p:blipFill>
        <p:spPr>
          <a:xfrm>
            <a:off x="1515783" y="3566160"/>
            <a:ext cx="3414955" cy="674004"/>
          </a:xfrm>
          <a:prstGeom prst="rect">
            <a:avLst/>
          </a:prstGeom>
        </p:spPr>
      </p:pic>
      <p:pic>
        <p:nvPicPr>
          <p:cNvPr id="34" name="Image 4" descr="m_AP1-7/k7b8820664e.png">    </p:cNvPr>
          <p:cNvPicPr>
            <a:picLocks noChangeAspect="1"/>
          </p:cNvPicPr>
          <p:nvPr/>
        </p:nvPicPr>
        <p:blipFill>
          <a:blip r:embed="rId5"/>
          <a:stretch>
            <a:fillRect/>
          </a:stretch>
        </p:blipFill>
        <p:spPr>
          <a:xfrm>
            <a:off x="2021738" y="4395612"/>
            <a:ext cx="2403043" cy="641909"/>
          </a:xfrm>
          <a:prstGeom prst="rect">
            <a:avLst/>
          </a:prstGeom>
        </p:spPr>
      </p:pic>
      <p:pic>
        <p:nvPicPr>
          <p:cNvPr id="35" name="Image 5" descr="m_AP1-7/k8c8b60d676.png">    </p:cNvPr>
          <p:cNvPicPr>
            <a:picLocks noChangeAspect="1"/>
          </p:cNvPicPr>
          <p:nvPr/>
        </p:nvPicPr>
        <p:blipFill>
          <a:blip r:embed="rId6"/>
          <a:stretch>
            <a:fillRect/>
          </a:stretch>
        </p:blipFill>
        <p:spPr>
          <a:xfrm>
            <a:off x="1488460" y="5192969"/>
            <a:ext cx="3469599" cy="312725"/>
          </a:xfrm>
          <a:prstGeom prst="rect">
            <a:avLst/>
          </a:prstGeom>
        </p:spPr>
      </p:pic>
      <p:pic>
        <p:nvPicPr>
          <p:cNvPr id="36" name="Image 6" descr="m_AP1-7/k5874c546a8.png">    </p:cNvPr>
          <p:cNvPicPr>
            <a:picLocks noChangeAspect="1"/>
          </p:cNvPicPr>
          <p:nvPr/>
        </p:nvPicPr>
        <p:blipFill>
          <a:blip r:embed="rId7"/>
          <a:stretch>
            <a:fillRect/>
          </a:stretch>
        </p:blipFill>
        <p:spPr>
          <a:xfrm>
            <a:off x="1848917" y="5661142"/>
            <a:ext cx="2748686" cy="283098"/>
          </a:xfrm>
          <a:prstGeom prst="rect">
            <a:avLst/>
          </a:prstGeom>
        </p:spPr>
      </p:pic>
      <p:sp>
        <p:nvSpPr>
          <p:cNvPr id="37"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AP1-7/k7fbc1a8634.png">    </p:cNvPr>
          <p:cNvPicPr>
            <a:picLocks noChangeAspect="1"/>
          </p:cNvPicPr>
          <p:nvPr/>
        </p:nvPicPr>
        <p:blipFill>
          <a:blip r:embed="rId8"/>
          <a:stretch>
            <a:fillRect/>
          </a:stretch>
        </p:blipFill>
        <p:spPr>
          <a:xfrm>
            <a:off x="8048229" y="3566160"/>
            <a:ext cx="1780062" cy="608332"/>
          </a:xfrm>
          <a:prstGeom prst="rect">
            <a:avLst/>
          </a:prstGeom>
        </p:spPr>
      </p:pic>
      <p:pic>
        <p:nvPicPr>
          <p:cNvPr id="40" name="Image 8" descr="m_AP1-7/ke48d285e0a.png">    </p:cNvPr>
          <p:cNvPicPr>
            <a:picLocks noChangeAspect="1"/>
          </p:cNvPicPr>
          <p:nvPr/>
        </p:nvPicPr>
        <p:blipFill>
          <a:blip r:embed="rId9"/>
          <a:stretch>
            <a:fillRect/>
          </a:stretch>
        </p:blipFill>
        <p:spPr>
          <a:xfrm>
            <a:off x="8065922" y="4329940"/>
            <a:ext cx="1744675" cy="483900"/>
          </a:xfrm>
          <a:prstGeom prst="rect">
            <a:avLst/>
          </a:prstGeom>
        </p:spPr>
      </p:pic>
      <p:pic>
        <p:nvPicPr>
          <p:cNvPr id="41" name="Image 9" descr="m_AP1-7/k369d3dc762.png">    </p:cNvPr>
          <p:cNvPicPr>
            <a:picLocks noChangeAspect="1"/>
          </p:cNvPicPr>
          <p:nvPr/>
        </p:nvPicPr>
        <p:blipFill>
          <a:blip r:embed="rId10"/>
          <a:stretch>
            <a:fillRect/>
          </a:stretch>
        </p:blipFill>
        <p:spPr>
          <a:xfrm>
            <a:off x="8421441" y="4969289"/>
            <a:ext cx="1033638" cy="342351"/>
          </a:xfrm>
          <a:prstGeom prst="rect">
            <a:avLst/>
          </a:prstGeom>
        </p:spPr>
      </p:pic>
      <p:pic>
        <p:nvPicPr>
          <p:cNvPr id="42" name="Image 10" descr="m_AP1-7/k8d1934a1a2.png">    </p:cNvPr>
          <p:cNvPicPr>
            <a:picLocks noChangeAspect="1"/>
          </p:cNvPicPr>
          <p:nvPr/>
        </p:nvPicPr>
        <p:blipFill>
          <a:blip r:embed="rId11"/>
          <a:stretch>
            <a:fillRect/>
          </a:stretch>
        </p:blipFill>
        <p:spPr>
          <a:xfrm>
            <a:off x="6992783" y="5467088"/>
            <a:ext cx="3890955" cy="3127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1.7.A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AP1-7/kc981171893.png">    </p:cNvPr>
          <p:cNvPicPr>
            <a:picLocks noChangeAspect="1"/>
          </p:cNvPicPr>
          <p:nvPr/>
        </p:nvPicPr>
        <p:blipFill>
          <a:blip r:embed="rId3"/>
          <a:stretch>
            <a:fillRect/>
          </a:stretch>
        </p:blipFill>
        <p:spPr>
          <a:xfrm>
            <a:off x="571500" y="2926080"/>
            <a:ext cx="3383280" cy="911911"/>
          </a:xfrm>
          <a:prstGeom prst="rect">
            <a:avLst/>
          </a:prstGeom>
        </p:spPr>
      </p:pic>
      <p:sp>
        <p:nvSpPr>
          <p:cNvPr id="34"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the limit is written in full notation and the leading terms are named.</a:t>
            </a:r>
            <a:endParaRPr lang="en-US" sz="1250" dirty="0"/>
          </a:p>
        </p:txBody>
      </p:sp>
      <p:sp>
        <p:nvSpPr>
          <p:cNvPr id="35"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6"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7"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8"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9" name="Image 3" descr="m_AP1-7/k6fb4402523.png">    </p:cNvPr>
          <p:cNvPicPr>
            <a:picLocks noChangeAspect="1"/>
          </p:cNvPicPr>
          <p:nvPr/>
        </p:nvPicPr>
        <p:blipFill>
          <a:blip r:embed="rId4"/>
          <a:stretch>
            <a:fillRect/>
          </a:stretch>
        </p:blipFill>
        <p:spPr>
          <a:xfrm>
            <a:off x="4366260" y="2926080"/>
            <a:ext cx="3383280" cy="1094486"/>
          </a:xfrm>
          <a:prstGeom prst="rect">
            <a:avLst/>
          </a:prstGeom>
        </p:spPr>
      </p:pic>
      <p:sp>
        <p:nvSpPr>
          <p:cNvPr id="40"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 state the asymptote and say which two leading terms you compared.</a:t>
            </a:r>
            <a:endParaRPr lang="en-US" sz="1250" dirty="0"/>
          </a:p>
        </p:txBody>
      </p:sp>
      <p:sp>
        <p:nvSpPr>
          <p:cNvPr id="41"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2"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3"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4"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5" name="Image 4" descr="m_AP1-7/k335dfcf108.png">    </p:cNvPr>
          <p:cNvPicPr>
            <a:picLocks noChangeAspect="1"/>
          </p:cNvPicPr>
          <p:nvPr/>
        </p:nvPicPr>
        <p:blipFill>
          <a:blip r:embed="rId5"/>
          <a:stretch>
            <a:fillRect/>
          </a:stretch>
        </p:blipFill>
        <p:spPr>
          <a:xfrm>
            <a:off x="8161020" y="2926080"/>
            <a:ext cx="3383280" cy="688588"/>
          </a:xfrm>
          <a:prstGeom prst="rect">
            <a:avLst/>
          </a:prstGeom>
        </p:spPr>
      </p:pic>
      <p:sp>
        <p:nvSpPr>
          <p:cNvPr id="46"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your explanation says what an asymptote describes and points to a value of x.</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1.7.A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cost per batch at a bottling plant</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A bottling plant produces drinks in batches. The model below uses a fixed set-up cost and a cost per batch. The numbers are model values for practice, not real plant costs. A(n) is the average cost per batch, in dollars, after n batches.</a:t>
            </a:r>
            <a:endParaRPr lang="en-US" sz="1500" dirty="0"/>
          </a:p>
        </p:txBody>
      </p:sp>
      <p:pic>
        <p:nvPicPr>
          <p:cNvPr id="32" name="Image 2" descr="m_AP1-7/k04843d7f81.png">    </p:cNvPr>
          <p:cNvPicPr>
            <a:picLocks noChangeAspect="1"/>
          </p:cNvPicPr>
          <p:nvPr/>
        </p:nvPicPr>
        <p:blipFill>
          <a:blip r:embed="rId3"/>
          <a:stretch>
            <a:fillRect/>
          </a:stretch>
        </p:blipFill>
        <p:spPr>
          <a:xfrm>
            <a:off x="2221626" y="3429000"/>
            <a:ext cx="2323308" cy="550103"/>
          </a:xfrm>
          <a:prstGeom prst="rect">
            <a:avLst/>
          </a:prstGeom>
        </p:spPr>
      </p:pic>
      <p:pic>
        <p:nvPicPr>
          <p:cNvPr id="33" name="Image 3" descr="m_AP1-7/kf2711ad968.png">    </p:cNvPr>
          <p:cNvPicPr>
            <a:picLocks noChangeAspect="1"/>
          </p:cNvPicPr>
          <p:nvPr/>
        </p:nvPicPr>
        <p:blipFill>
          <a:blip r:embed="rId4"/>
          <a:stretch>
            <a:fillRect/>
          </a:stretch>
        </p:blipFill>
        <p:spPr>
          <a:xfrm>
            <a:off x="3059948" y="4088831"/>
            <a:ext cx="646664" cy="251643"/>
          </a:xfrm>
          <a:prstGeom prst="rect">
            <a:avLst/>
          </a:prstGeom>
        </p:spPr>
      </p:pic>
      <p:sp>
        <p:nvSpPr>
          <p:cNvPr id="34" name="Text 27"/>
          <p:cNvSpPr txBox="1"/>
          <p:nvPr/>
        </p:nvSpPr>
        <p:spPr>
          <a:xfrm>
            <a:off x="731520" y="4587362"/>
            <a:ext cx="5303520" cy="1630558"/>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400" dirty="0">
                <a:solidFill>
                  <a:srgbClr val="222E2D"/>
                </a:solidFill>
                <a:latin typeface="Calibri" pitchFamily="34" charset="0"/>
                <a:ea typeface="Calibri" pitchFamily="34" charset="-122"/>
                <a:cs typeface="Calibri" pitchFamily="34" charset="-120"/>
              </a:rPr>
              <a:t>Find the limit of A as n grows without bound and say what it means.</a:t>
            </a:r>
            <a:endParaRPr lang="en-US" sz="1400" dirty="0"/>
          </a:p>
          <a:p>
            <a:pPr marL="342900" indent="-342900">
              <a:spcAft>
                <a:spcPts val="400"/>
              </a:spcAft>
              <a:buSzPct val="100000"/>
              <a:buFont typeface="+mj-lt"/>
              <a:buAutoNum type="arabicPeriod" startAt="1"/>
            </a:pPr>
            <a:r>
              <a:rPr lang="en-US" sz="1400" dirty="0">
                <a:solidFill>
                  <a:srgbClr val="222E2D"/>
                </a:solidFill>
                <a:latin typeface="Calibri" pitchFamily="34" charset="0"/>
                <a:ea typeface="Calibri" pitchFamily="34" charset="-122"/>
                <a:cs typeface="Calibri" pitchFamily="34" charset="-120"/>
              </a:rPr>
              <a:t>Find A(100) and A(1000).</a:t>
            </a:r>
            <a:endParaRPr lang="en-US" sz="1400" dirty="0"/>
          </a:p>
          <a:p>
            <a:pPr marL="342900" indent="-342900">
              <a:spcAft>
                <a:spcPts val="400"/>
              </a:spcAft>
              <a:buSzPct val="100000"/>
              <a:buFont typeface="+mj-lt"/>
              <a:buAutoNum type="arabicPeriod" startAt="1"/>
            </a:pPr>
            <a:r>
              <a:rPr lang="en-US" sz="1400" dirty="0">
                <a:solidFill>
                  <a:srgbClr val="222E2D"/>
                </a:solidFill>
                <a:latin typeface="Calibri" pitchFamily="34" charset="0"/>
                <a:ea typeface="Calibri" pitchFamily="34" charset="-122"/>
                <a:cs typeface="Calibri" pitchFamily="34" charset="-120"/>
              </a:rPr>
              <a:t>Find how many batches give an average cost of 500 dollars.</a:t>
            </a:r>
            <a:endParaRPr lang="en-US" sz="14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limit is written in limit notation with units (dollars).</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Both averages are given to the nearest dollar.</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equation for 500 dollars is solved in two clear steps.</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meaning of 450 is explained in one sentence.</a:t>
            </a:r>
            <a:endParaRPr lang="en-US" sz="155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write A(n) as 450 plus a fraction, then think about the fraction as n grows.</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1.7.A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7/kc88a3b5c82.png">    </p:cNvPr>
          <p:cNvPicPr>
            <a:picLocks noChangeAspect="1"/>
          </p:cNvPicPr>
          <p:nvPr/>
        </p:nvPicPr>
        <p:blipFill>
          <a:blip r:embed="rId3"/>
          <a:stretch>
            <a:fillRect/>
          </a:stretch>
        </p:blipFill>
        <p:spPr>
          <a:xfrm>
            <a:off x="1372149" y="2743200"/>
            <a:ext cx="1827703" cy="1164031"/>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7/kf87faf5372.png">    </p:cNvPr>
          <p:cNvPicPr>
            <a:picLocks noChangeAspect="1"/>
          </p:cNvPicPr>
          <p:nvPr/>
        </p:nvPicPr>
        <p:blipFill>
          <a:blip r:embed="rId4"/>
          <a:stretch>
            <a:fillRect/>
          </a:stretch>
        </p:blipFill>
        <p:spPr>
          <a:xfrm>
            <a:off x="5122926" y="2743200"/>
            <a:ext cx="1824228" cy="1184880"/>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7/k0665107cb7.png">    </p:cNvPr>
          <p:cNvPicPr>
            <a:picLocks noChangeAspect="1"/>
          </p:cNvPicPr>
          <p:nvPr/>
        </p:nvPicPr>
        <p:blipFill>
          <a:blip r:embed="rId5"/>
          <a:stretch>
            <a:fillRect/>
          </a:stretch>
        </p:blipFill>
        <p:spPr>
          <a:xfrm>
            <a:off x="8951885" y="2743200"/>
            <a:ext cx="1664391" cy="1184880"/>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1.7.A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Write a rational function whose horizontal asymptote is y = 3.</a:t>
            </a:r>
            <a:endParaRPr lang="en-US" sz="1700" dirty="0"/>
          </a:p>
          <a:p>
            <a:pPr marL="342900" indent="-342900">
              <a:spcAft>
                <a:spcPts val="8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Write its limit in limit notation on the back.</a:t>
            </a:r>
            <a:endParaRPr lang="en-US" sz="1700" dirty="0"/>
          </a:p>
          <a:p>
            <a:pPr marL="342900" indent="-342900">
              <a:spcAft>
                <a:spcPts val="8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Swap with a partner: they name both leading terms and check the asymptote.</a:t>
            </a:r>
            <a:endParaRPr lang="en-US" sz="17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partner confirms the degrees, the ratio of leading coefficients and the asymptote.</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AP1-7/kf57dd8c734.png">    </p:cNvPr>
          <p:cNvPicPr>
            <a:picLocks noChangeAspect="1"/>
          </p:cNvPicPr>
          <p:nvPr/>
        </p:nvPicPr>
        <p:blipFill>
          <a:blip r:embed="rId3"/>
          <a:stretch>
            <a:fillRect/>
          </a:stretch>
        </p:blipFill>
        <p:spPr>
          <a:xfrm>
            <a:off x="7572695" y="3703320"/>
            <a:ext cx="2776850" cy="898307"/>
          </a:xfrm>
          <a:prstGeom prst="rect">
            <a:avLst/>
          </a:prstGeom>
        </p:spPr>
      </p:pic>
      <p:sp>
        <p:nvSpPr>
          <p:cNvPr id="40"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Topic 1.8 Equivalent Representations of Polynomial and Rational Expressions.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Compare the leading terms: smaller degree on top gives zero, equal degrees give the ratio, larger degree on top has no horizontal asymptote.</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Precalculus Topic 1.7 Rational Functions and End Behavior presentation</dc:title>
  <dc:subject>PptxGenJS Presentation</dc:subject>
  <dc:creator>Mr Malek Thiab</dc:creator>
  <cp:lastModifiedBy>Mr Malek Thiab</cp:lastModifiedBy>
  <cp:revision>1</cp:revision>
  <dcterms:created xsi:type="dcterms:W3CDTF">2026-10-12T10:24:21Z</dcterms:created>
  <dcterms:modified xsi:type="dcterms:W3CDTF">2026-10-12T10:24:21Z</dcterms:modified>
</cp:coreProperties>
</file>