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Topic 1.6: Polynomial Functions and End Behavior.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(End behavior and limit notation; Degree and leading coefficient decide; Factored form and turning points), Practice (Practice, Apply, Investigate), Production (national park visitors),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end behavior, degree, leading term, leading coefficient, limit notation, turning point.
Standards are listed on this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Speaker notes (Diagnose, 6 min, no calculator).
Solutions: Q1 2x^4 - x^3 + 5x - 9 (highest power first). Q2 (-1)^7 = -1 and (-1)^8 = 1. Q3 x^3 is bigger for large positive x (try x = 100: 10^6 against 10^4).
Verbal misconceptions: 'standard form means the order I was given', 'a negative base always gives a negative answer'. Say: the sign depends on whether the power is odd or even.
Adaptive routing: if more than 30% miss Q1, route to slide 5 (leading term first). If more than 30% miss Q2, route to slide 6 (odd and even powers). If Q3 is missed, show x = 100 on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3):
Speaker notes (Targeted Instruction, block 1 of 3).
Worked solutions: Example A: leading term -x^4. As x to infinity, -x^4 to -infinity; as x to -infinity, (-x)^4 is still positive so -x^4 to -infinity. Both ends down. Example B: reorder to -x^3 + 3x + 2. Leading term -x^3. As x to infinity, f to -infinity. As x to -infinity, x^3 is negative so -x^3 is positive, f to +infinity.
Verbal misconceptions: 'the middle hump decides the ends' (only the leading term decides far from zero); 'write f of infinity' (infinity is not an input, the limit describes a direction).
Adaptive routing: if more than 30% miss the Gate Q1, return to this slide and redo Example B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3):
Speaker notes (Targeted Instruction, block 2 of 3).
Worked solutions: Example A: -2x^5 has odd degree and negative coefficient, so the right end falls and the left end rises. Example B: x^4 has even degree and positive coefficient, so both ends rise. Use the four panels in the figure to match each pair of limits to a picture.
Verbal misconceptions: 'negative always means both ends down' (only for even degree; for odd degree a negative coefficient swaps the ends); 'the other terms can change the ends' (they only change the middle).
Adaptive routing: if more than 30% miss Gate Q2, route back to slide 6 and ask students to sketch both ends before writing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3):
Speaker notes (Targeted Instruction, block 3 of 3).
Worked solutions: Example A: multiply the leading terms of the three factors: x * x * (-x) = -x^3, so odd degree, negative: left end up, right end down. Example B: reorder to 2x^4 - x^3 + 5x - 9, leading term 2x^4, both ends rise; degree 4 gives at most 3 turning points. Example C: degree 6 gives at most 5 turning points; both ends point the same way, so the number of turning points is odd: 1, 3, or 5.
Verbal misconceptions: 'the leading term is the first one written' (reorder first); 'exactly n-1 turning points' (it is at most n-1).
Adaptive routing: if more than 30% miss Gate Q3, route back to slide 7 Example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Speaker notes (Practice, 12 min; tierless: students choose the starting column and may move across).
Answers: Practice: leading term -3x^4, limit as x to infinity is -infinity and as x to -infinity is -infinity. Apply: leading term -0.5t^3, limit as t to infinity is -infinity; the model eventually predicts negative values, which is impossible, so it cannot be used for all large t. Investigate: an odd power of a large negative input is negative, so a degree 5 polynomial with a positive leading coefficient falls on the left; with a negative one it falls on the right. One end always falls.
Verbal misconceptions: 'both ends of every polynomial go the same way'.
Adaptive routing: students who finish Practice move to Apply; stuck students return to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Speaker notes (Production, 12 min, calculator allowed).
Solutions: Task 1: leading term -0.5t^3, so V tends to -infinity as t tends to infinity. Task 2: V'(t) = -1.5t^2 + 18t + 4 = 0 gives t = 12.218 years; V(12.218) = 480.439 thousand visitors, about 480,439 visitors, in the year 2037 (2025 + 12.218 = 2037.218). Task 3: V(20) = -320, a negative number of visitors, which is impossible; the model first reaches 0 at t = 9 + sqrt(89) = 18.434, about 2043.
Verbal misconceptions: 'maximum value' versus 'time of the maximum' (two different answers); rounding t early.
Adaptive routing: if students cannot find the maximum, send them to slide 5 limit notation then the calculator 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Speaker notes (Mastery Gate, 6 min, no calculator).
Answers: Q1 -infinity (odd degree, positive coefficient, left end falls). Q2 leading term (-x)(x^2) = -x^3, so as x to infinity w tends to -infinity. Q3 degree 4 (degree n has at most n-1 turning points, so n - 1 &gt;= 3).
Verbal misconceptions: Q1 'x to negative infinity gives positive infinity because of the minus sign'; Q2 'the first factor decides'; Q3 'degree equals the number of turning points'.
Adaptive routing: Q1 missed, route to slide 5; Q2 missed, route to slide 7 Example A; Q3 missed, route to slide 7 Example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Speaker notes (Smart Production, 6 min).
Exit answer: leading term -2x^3, so as x to infinity f tends to -infinity and as x to -infinity f tends to +infinity.
Verbal misconceptions: students write both limits equal to -infinity. Ask: what does x^3 do to a negative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Find the leading term, read the degree and the sign, and both ends of a polynomial follow. Collect the Time to Check responses. Next lesson: Topic 1.7 Rational Functions and End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slideLayout" Target="../slideLayouts/slideLayout1.xml"/><Relationship Id="rId1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9-10  ·  AP PRECALCULUS  ·  UNIT 1</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Topic 1.6</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3800" b="1" dirty="0">
                <a:solidFill>
                  <a:srgbClr val="1F3864"/>
                </a:solidFill>
                <a:latin typeface="Cambria" pitchFamily="34" charset="0"/>
                <a:ea typeface="Cambria" pitchFamily="34" charset="-122"/>
                <a:cs typeface="Cambria" pitchFamily="34" charset="-120"/>
              </a:rPr>
              <a:t>Polynomial Functions</a:t>
            </a:r>
            <a:endParaRPr lang="en-US" sz="3800" dirty="0"/>
          </a:p>
          <a:p>
            <a:pPr indent="0" marL="0">
              <a:buNone/>
            </a:pPr>
            <a:r>
              <a:rPr lang="en-US" sz="3800" b="1" dirty="0">
                <a:solidFill>
                  <a:srgbClr val="1F3864"/>
                </a:solidFill>
                <a:latin typeface="Cambria" pitchFamily="34" charset="0"/>
                <a:ea typeface="Cambria" pitchFamily="34" charset="-122"/>
                <a:cs typeface="Cambria" pitchFamily="34" charset="-120"/>
              </a:rPr>
              <a:t>and End Behavior</a:t>
            </a:r>
            <a:endParaRPr lang="en-US" sz="38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Polynomial and Rational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AP1-6/k6e86503f5c.png">    </p:cNvPr>
          <p:cNvPicPr>
            <a:picLocks noChangeAspect="1"/>
          </p:cNvPicPr>
          <p:nvPr/>
        </p:nvPicPr>
        <p:blipFill>
          <a:blip r:embed="rId4"/>
          <a:stretch>
            <a:fillRect/>
          </a:stretch>
        </p:blipFill>
        <p:spPr>
          <a:xfrm>
            <a:off x="8879190" y="3017520"/>
            <a:ext cx="2358420" cy="675193"/>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1.6.A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Describe end behavior of polynomial functions.</a:t>
            </a:r>
            <a:endParaRPr lang="en-US" sz="1700" dirty="0"/>
          </a:p>
        </p:txBody>
      </p:sp>
      <p:sp>
        <p:nvSpPr>
          <p:cNvPr id="14" name="Shape 9"/>
          <p:cNvSpPr/>
          <p:nvPr/>
        </p:nvSpPr>
        <p:spPr>
          <a:xfrm>
            <a:off x="6400800" y="1280160"/>
            <a:ext cx="5303520" cy="1545336"/>
          </a:xfrm>
          <a:prstGeom prst="roundRect">
            <a:avLst>
              <a:gd name="adj" fmla="val 7101"/>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end behavior</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degree</a:t>
            </a:r>
            <a:endParaRPr lang="en-US" sz="1100" dirty="0"/>
          </a:p>
        </p:txBody>
      </p:sp>
      <p:sp>
        <p:nvSpPr>
          <p:cNvPr id="20" name="Shape 15"/>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1" name="Text 16"/>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leading term</a:t>
            </a:r>
            <a:endParaRPr lang="en-US" sz="1100" dirty="0"/>
          </a:p>
        </p:txBody>
      </p:sp>
      <p:sp>
        <p:nvSpPr>
          <p:cNvPr id="22" name="Shape 17"/>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3" name="Text 18"/>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leading coefficient</a:t>
            </a:r>
            <a:endParaRPr lang="en-US" sz="1100" dirty="0"/>
          </a:p>
        </p:txBody>
      </p:sp>
      <p:sp>
        <p:nvSpPr>
          <p:cNvPr id="24" name="Shape 19"/>
          <p:cNvSpPr/>
          <p:nvPr/>
        </p:nvSpPr>
        <p:spPr>
          <a:xfrm>
            <a:off x="6629400" y="2295144"/>
            <a:ext cx="2468880" cy="265176"/>
          </a:xfrm>
          <a:prstGeom prst="roundRect">
            <a:avLst>
              <a:gd name="adj" fmla="val 48276"/>
            </a:avLst>
          </a:prstGeom>
          <a:solidFill>
            <a:srgbClr val="E8762C"/>
          </a:solidFill>
          <a:ln w="12700">
            <a:solidFill>
              <a:srgbClr val="FFFFFF"/>
            </a:solidFill>
            <a:prstDash val="solid"/>
          </a:ln>
        </p:spPr>
      </p:sp>
      <p:sp>
        <p:nvSpPr>
          <p:cNvPr id="25" name="Text 20"/>
          <p:cNvSpPr txBox="1"/>
          <p:nvPr/>
        </p:nvSpPr>
        <p:spPr>
          <a:xfrm>
            <a:off x="662940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limit notation</a:t>
            </a:r>
            <a:endParaRPr lang="en-US" sz="1100" dirty="0"/>
          </a:p>
        </p:txBody>
      </p:sp>
      <p:sp>
        <p:nvSpPr>
          <p:cNvPr id="26" name="Shape 21"/>
          <p:cNvSpPr/>
          <p:nvPr/>
        </p:nvSpPr>
        <p:spPr>
          <a:xfrm>
            <a:off x="9189720" y="2295144"/>
            <a:ext cx="2468880" cy="265176"/>
          </a:xfrm>
          <a:prstGeom prst="roundRect">
            <a:avLst>
              <a:gd name="adj" fmla="val 48276"/>
            </a:avLst>
          </a:prstGeom>
          <a:solidFill>
            <a:srgbClr val="E8762C"/>
          </a:solidFill>
          <a:ln w="12700">
            <a:solidFill>
              <a:srgbClr val="FFFFFF"/>
            </a:solidFill>
            <a:prstDash val="solid"/>
          </a:ln>
        </p:spPr>
      </p:sp>
      <p:sp>
        <p:nvSpPr>
          <p:cNvPr id="27" name="Text 22"/>
          <p:cNvSpPr txBox="1"/>
          <p:nvPr/>
        </p:nvSpPr>
        <p:spPr>
          <a:xfrm>
            <a:off x="918972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turning point</a:t>
            </a:r>
            <a:endParaRPr lang="en-US" sz="1100" dirty="0"/>
          </a:p>
        </p:txBody>
      </p:sp>
      <p:sp>
        <p:nvSpPr>
          <p:cNvPr id="28" name="Shape 23"/>
          <p:cNvSpPr/>
          <p:nvPr/>
        </p:nvSpPr>
        <p:spPr>
          <a:xfrm>
            <a:off x="6400800" y="2962656"/>
            <a:ext cx="5303520" cy="3346704"/>
          </a:xfrm>
          <a:prstGeom prst="roundRect">
            <a:avLst>
              <a:gd name="adj" fmla="val 3279"/>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9" name="Text 24"/>
          <p:cNvSpPr txBox="1"/>
          <p:nvPr/>
        </p:nvSpPr>
        <p:spPr>
          <a:xfrm>
            <a:off x="6675120" y="3035808"/>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30" name="Text 25"/>
          <p:cNvSpPr txBox="1"/>
          <p:nvPr/>
        </p:nvSpPr>
        <p:spPr>
          <a:xfrm>
            <a:off x="6675120" y="3328416"/>
            <a:ext cx="4846320" cy="2889504"/>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LO 1.6.A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Describe end behavior of polynomial functions.</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1.6.A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6/k65be0a983e.png">    </p:cNvPr>
          <p:cNvPicPr>
            <a:picLocks noChangeAspect="1"/>
          </p:cNvPicPr>
          <p:nvPr/>
        </p:nvPicPr>
        <p:blipFill>
          <a:blip r:embed="rId3"/>
          <a:stretch>
            <a:fillRect/>
          </a:stretch>
        </p:blipFill>
        <p:spPr>
          <a:xfrm>
            <a:off x="594360" y="2697480"/>
            <a:ext cx="3383280" cy="793962"/>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6/kf1f4f593e1.png">    </p:cNvPr>
          <p:cNvPicPr>
            <a:picLocks noChangeAspect="1"/>
          </p:cNvPicPr>
          <p:nvPr/>
        </p:nvPicPr>
        <p:blipFill>
          <a:blip r:embed="rId4"/>
          <a:stretch>
            <a:fillRect/>
          </a:stretch>
        </p:blipFill>
        <p:spPr>
          <a:xfrm>
            <a:off x="4343400" y="2697480"/>
            <a:ext cx="3383280" cy="400134"/>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6/k571fac76e3.png">    </p:cNvPr>
          <p:cNvPicPr>
            <a:picLocks noChangeAspect="1"/>
          </p:cNvPicPr>
          <p:nvPr/>
        </p:nvPicPr>
        <p:blipFill>
          <a:blip r:embed="rId5"/>
          <a:stretch>
            <a:fillRect/>
          </a:stretch>
        </p:blipFill>
        <p:spPr>
          <a:xfrm>
            <a:off x="8092440" y="2697480"/>
            <a:ext cx="3383280" cy="692886"/>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which term of a polynomial matters most when x is very large.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1.6.A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End behavior and limit notation</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6/k6d94a23b86.png">    </p:cNvPr>
          <p:cNvPicPr>
            <a:picLocks noChangeAspect="1"/>
          </p:cNvPicPr>
          <p:nvPr/>
        </p:nvPicPr>
        <p:blipFill>
          <a:blip r:embed="rId3"/>
          <a:stretch>
            <a:fillRect/>
          </a:stretch>
        </p:blipFill>
        <p:spPr>
          <a:xfrm>
            <a:off x="2774290" y="2072030"/>
            <a:ext cx="1964131" cy="519379"/>
          </a:xfrm>
          <a:prstGeom prst="rect">
            <a:avLst/>
          </a:prstGeom>
        </p:spPr>
      </p:pic>
      <p:pic>
        <p:nvPicPr>
          <p:cNvPr id="31" name="Image 3" descr="m_AP1-6/k69fea6c53c.png">    </p:cNvPr>
          <p:cNvPicPr>
            <a:picLocks noChangeAspect="1"/>
          </p:cNvPicPr>
          <p:nvPr/>
        </p:nvPicPr>
        <p:blipFill>
          <a:blip r:embed="rId4"/>
          <a:stretch>
            <a:fillRect/>
          </a:stretch>
        </p:blipFill>
        <p:spPr>
          <a:xfrm>
            <a:off x="5378501" y="2157984"/>
            <a:ext cx="4008730" cy="347472"/>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AP1-6/k9d2e94a5f2.png">    </p:cNvPr>
          <p:cNvPicPr>
            <a:picLocks noChangeAspect="1"/>
          </p:cNvPicPr>
          <p:nvPr/>
        </p:nvPicPr>
        <p:blipFill>
          <a:blip r:embed="rId5"/>
          <a:stretch>
            <a:fillRect/>
          </a:stretch>
        </p:blipFill>
        <p:spPr>
          <a:xfrm>
            <a:off x="1849328" y="3566160"/>
            <a:ext cx="2747863" cy="387120"/>
          </a:xfrm>
          <a:prstGeom prst="rect">
            <a:avLst/>
          </a:prstGeom>
        </p:spPr>
      </p:pic>
      <p:pic>
        <p:nvPicPr>
          <p:cNvPr id="35" name="Image 5" descr="m_AP1-6/kc858fd5067.png">    </p:cNvPr>
          <p:cNvPicPr>
            <a:picLocks noChangeAspect="1"/>
          </p:cNvPicPr>
          <p:nvPr/>
        </p:nvPicPr>
        <p:blipFill>
          <a:blip r:embed="rId6"/>
          <a:stretch>
            <a:fillRect/>
          </a:stretch>
        </p:blipFill>
        <p:spPr>
          <a:xfrm>
            <a:off x="2011863" y="4108728"/>
            <a:ext cx="2422794" cy="352227"/>
          </a:xfrm>
          <a:prstGeom prst="rect">
            <a:avLst/>
          </a:prstGeom>
        </p:spPr>
      </p:pic>
      <p:pic>
        <p:nvPicPr>
          <p:cNvPr id="36" name="Image 6" descr="m_AP1-6/ka68f17eb18.png">    </p:cNvPr>
          <p:cNvPicPr>
            <a:picLocks noChangeAspect="1"/>
          </p:cNvPicPr>
          <p:nvPr/>
        </p:nvPicPr>
        <p:blipFill>
          <a:blip r:embed="rId7"/>
          <a:stretch>
            <a:fillRect/>
          </a:stretch>
        </p:blipFill>
        <p:spPr>
          <a:xfrm>
            <a:off x="2234062" y="4616403"/>
            <a:ext cx="1978396" cy="467441"/>
          </a:xfrm>
          <a:prstGeom prst="rect">
            <a:avLst/>
          </a:prstGeom>
        </p:spPr>
      </p:pic>
      <p:pic>
        <p:nvPicPr>
          <p:cNvPr id="37" name="Image 7" descr="m_AP1-6/k3b2c37e422.png">    </p:cNvPr>
          <p:cNvPicPr>
            <a:picLocks noChangeAspect="1"/>
          </p:cNvPicPr>
          <p:nvPr/>
        </p:nvPicPr>
        <p:blipFill>
          <a:blip r:embed="rId8"/>
          <a:stretch>
            <a:fillRect/>
          </a:stretch>
        </p:blipFill>
        <p:spPr>
          <a:xfrm>
            <a:off x="2158350" y="5239293"/>
            <a:ext cx="2129820" cy="483900"/>
          </a:xfrm>
          <a:prstGeom prst="rect">
            <a:avLst/>
          </a:prstGeom>
        </p:spPr>
      </p:pic>
      <p:sp>
        <p:nvSpPr>
          <p:cNvPr id="38"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AP1-6/ka9e1153197.png">    </p:cNvPr>
          <p:cNvPicPr>
            <a:picLocks noChangeAspect="1"/>
          </p:cNvPicPr>
          <p:nvPr/>
        </p:nvPicPr>
        <p:blipFill>
          <a:blip r:embed="rId9"/>
          <a:stretch>
            <a:fillRect/>
          </a:stretch>
        </p:blipFill>
        <p:spPr>
          <a:xfrm>
            <a:off x="7745791" y="3566160"/>
            <a:ext cx="2384938" cy="387120"/>
          </a:xfrm>
          <a:prstGeom prst="rect">
            <a:avLst/>
          </a:prstGeom>
        </p:spPr>
      </p:pic>
      <p:pic>
        <p:nvPicPr>
          <p:cNvPr id="41" name="Image 9" descr="m_AP1-6/k17de8f03e5.png">    </p:cNvPr>
          <p:cNvPicPr>
            <a:picLocks noChangeAspect="1"/>
          </p:cNvPicPr>
          <p:nvPr/>
        </p:nvPicPr>
        <p:blipFill>
          <a:blip r:embed="rId10"/>
          <a:stretch>
            <a:fillRect/>
          </a:stretch>
        </p:blipFill>
        <p:spPr>
          <a:xfrm>
            <a:off x="7507956" y="4108728"/>
            <a:ext cx="2860609" cy="322600"/>
          </a:xfrm>
          <a:prstGeom prst="rect">
            <a:avLst/>
          </a:prstGeom>
        </p:spPr>
      </p:pic>
      <p:pic>
        <p:nvPicPr>
          <p:cNvPr id="42" name="Image 10" descr="m_AP1-6/kabc1f7c53c.png">    </p:cNvPr>
          <p:cNvPicPr>
            <a:picLocks noChangeAspect="1"/>
          </p:cNvPicPr>
          <p:nvPr/>
        </p:nvPicPr>
        <p:blipFill>
          <a:blip r:embed="rId11"/>
          <a:stretch>
            <a:fillRect/>
          </a:stretch>
        </p:blipFill>
        <p:spPr>
          <a:xfrm>
            <a:off x="7960584" y="4586777"/>
            <a:ext cx="1955353" cy="467441"/>
          </a:xfrm>
          <a:prstGeom prst="rect">
            <a:avLst/>
          </a:prstGeom>
        </p:spPr>
      </p:pic>
      <p:pic>
        <p:nvPicPr>
          <p:cNvPr id="43" name="Image 11" descr="m_AP1-6/k5e12349900.png">    </p:cNvPr>
          <p:cNvPicPr>
            <a:picLocks noChangeAspect="1"/>
          </p:cNvPicPr>
          <p:nvPr/>
        </p:nvPicPr>
        <p:blipFill>
          <a:blip r:embed="rId12"/>
          <a:stretch>
            <a:fillRect/>
          </a:stretch>
        </p:blipFill>
        <p:spPr>
          <a:xfrm>
            <a:off x="7991856" y="5209666"/>
            <a:ext cx="1892808" cy="4839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1.6.A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Degree and leading coefficient decide</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6/kd096f765ae.png">    </p:cNvPr>
          <p:cNvPicPr>
            <a:picLocks noChangeAspect="1"/>
          </p:cNvPicPr>
          <p:nvPr/>
        </p:nvPicPr>
        <p:blipFill>
          <a:blip r:embed="rId3"/>
          <a:stretch>
            <a:fillRect/>
          </a:stretch>
        </p:blipFill>
        <p:spPr>
          <a:xfrm>
            <a:off x="1468526" y="2157984"/>
            <a:ext cx="3924605" cy="347472"/>
          </a:xfrm>
          <a:prstGeom prst="rect">
            <a:avLst/>
          </a:prstGeom>
        </p:spPr>
      </p:pic>
      <p:pic>
        <p:nvPicPr>
          <p:cNvPr id="31" name="Image 3" descr="m_AP1-6/k32719508e7.png">    </p:cNvPr>
          <p:cNvPicPr>
            <a:picLocks noChangeAspect="1"/>
          </p:cNvPicPr>
          <p:nvPr/>
        </p:nvPicPr>
        <p:blipFill>
          <a:blip r:embed="rId4"/>
          <a:stretch>
            <a:fillRect/>
          </a:stretch>
        </p:blipFill>
        <p:spPr>
          <a:xfrm>
            <a:off x="6033211" y="2157984"/>
            <a:ext cx="4659782" cy="347472"/>
          </a:xfrm>
          <a:prstGeom prst="rect">
            <a:avLst/>
          </a:prstGeom>
        </p:spPr>
      </p:pic>
      <p:sp>
        <p:nvSpPr>
          <p:cNvPr id="32"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4" descr="figs/AP1-6_ends.png">    </p:cNvPr>
          <p:cNvPicPr>
            <a:picLocks noChangeAspect="1"/>
          </p:cNvPicPr>
          <p:nvPr/>
        </p:nvPicPr>
        <p:blipFill>
          <a:blip r:embed="rId5"/>
          <a:stretch>
            <a:fillRect/>
          </a:stretch>
        </p:blipFill>
        <p:spPr>
          <a:xfrm>
            <a:off x="740210" y="3246120"/>
            <a:ext cx="3365899" cy="2880360"/>
          </a:xfrm>
          <a:prstGeom prst="rect">
            <a:avLst/>
          </a:prstGeom>
        </p:spPr>
      </p:pic>
      <p:sp>
        <p:nvSpPr>
          <p:cNvPr id="34"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6" name="Image 5" descr="m_AP1-6/k6057a5c1bf.png">    </p:cNvPr>
          <p:cNvPicPr>
            <a:picLocks noChangeAspect="1"/>
          </p:cNvPicPr>
          <p:nvPr/>
        </p:nvPicPr>
        <p:blipFill>
          <a:blip r:embed="rId6"/>
          <a:stretch>
            <a:fillRect/>
          </a:stretch>
        </p:blipFill>
        <p:spPr>
          <a:xfrm>
            <a:off x="4843440" y="3566160"/>
            <a:ext cx="2886121" cy="387120"/>
          </a:xfrm>
          <a:prstGeom prst="rect">
            <a:avLst/>
          </a:prstGeom>
        </p:spPr>
      </p:pic>
      <p:pic>
        <p:nvPicPr>
          <p:cNvPr id="37" name="Image 6" descr="m_AP1-6/ke4db05196b.png">    </p:cNvPr>
          <p:cNvPicPr>
            <a:picLocks noChangeAspect="1"/>
          </p:cNvPicPr>
          <p:nvPr/>
        </p:nvPicPr>
        <p:blipFill>
          <a:blip r:embed="rId7"/>
          <a:stretch>
            <a:fillRect/>
          </a:stretch>
        </p:blipFill>
        <p:spPr>
          <a:xfrm>
            <a:off x="5050414" y="4108728"/>
            <a:ext cx="2472172" cy="312725"/>
          </a:xfrm>
          <a:prstGeom prst="rect">
            <a:avLst/>
          </a:prstGeom>
        </p:spPr>
      </p:pic>
      <p:pic>
        <p:nvPicPr>
          <p:cNvPr id="38" name="Image 7" descr="m_AP1-6/ka68f17eb18.png">    </p:cNvPr>
          <p:cNvPicPr>
            <a:picLocks noChangeAspect="1"/>
          </p:cNvPicPr>
          <p:nvPr/>
        </p:nvPicPr>
        <p:blipFill>
          <a:blip r:embed="rId8"/>
          <a:stretch>
            <a:fillRect/>
          </a:stretch>
        </p:blipFill>
        <p:spPr>
          <a:xfrm>
            <a:off x="5297302" y="4576901"/>
            <a:ext cx="1978396" cy="467441"/>
          </a:xfrm>
          <a:prstGeom prst="rect">
            <a:avLst/>
          </a:prstGeom>
        </p:spPr>
      </p:pic>
      <p:pic>
        <p:nvPicPr>
          <p:cNvPr id="39" name="Image 8" descr="m_AP1-6/kc1c4dc6498.png">    </p:cNvPr>
          <p:cNvPicPr>
            <a:picLocks noChangeAspect="1"/>
          </p:cNvPicPr>
          <p:nvPr/>
        </p:nvPicPr>
        <p:blipFill>
          <a:blip r:embed="rId9"/>
          <a:stretch>
            <a:fillRect/>
          </a:stretch>
        </p:blipFill>
        <p:spPr>
          <a:xfrm>
            <a:off x="5328575" y="5199790"/>
            <a:ext cx="1915851" cy="483900"/>
          </a:xfrm>
          <a:prstGeom prst="rect">
            <a:avLst/>
          </a:prstGeom>
        </p:spPr>
      </p:pic>
      <p:sp>
        <p:nvSpPr>
          <p:cNvPr id="40"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1"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2" name="Image 9" descr="m_AP1-6/k4775c7bb23.png">    </p:cNvPr>
          <p:cNvPicPr>
            <a:picLocks noChangeAspect="1"/>
          </p:cNvPicPr>
          <p:nvPr/>
        </p:nvPicPr>
        <p:blipFill>
          <a:blip r:embed="rId10"/>
          <a:stretch>
            <a:fillRect/>
          </a:stretch>
        </p:blipFill>
        <p:spPr>
          <a:xfrm>
            <a:off x="8685959" y="3566160"/>
            <a:ext cx="2516282" cy="387120"/>
          </a:xfrm>
          <a:prstGeom prst="rect">
            <a:avLst/>
          </a:prstGeom>
        </p:spPr>
      </p:pic>
      <p:pic>
        <p:nvPicPr>
          <p:cNvPr id="43" name="Image 10" descr="m_AP1-6/k83f11ec9ba.png">    </p:cNvPr>
          <p:cNvPicPr>
            <a:picLocks noChangeAspect="1"/>
          </p:cNvPicPr>
          <p:nvPr/>
        </p:nvPicPr>
        <p:blipFill>
          <a:blip r:embed="rId11"/>
          <a:stretch>
            <a:fillRect/>
          </a:stretch>
        </p:blipFill>
        <p:spPr>
          <a:xfrm>
            <a:off x="8699784" y="4108728"/>
            <a:ext cx="2488631" cy="312725"/>
          </a:xfrm>
          <a:prstGeom prst="rect">
            <a:avLst/>
          </a:prstGeom>
        </p:spPr>
      </p:pic>
      <p:pic>
        <p:nvPicPr>
          <p:cNvPr id="44" name="Image 11" descr="m_AP1-6/k9c72a327e3.png">    </p:cNvPr>
          <p:cNvPicPr>
            <a:picLocks noChangeAspect="1"/>
          </p:cNvPicPr>
          <p:nvPr/>
        </p:nvPicPr>
        <p:blipFill>
          <a:blip r:embed="rId12"/>
          <a:stretch>
            <a:fillRect/>
          </a:stretch>
        </p:blipFill>
        <p:spPr>
          <a:xfrm>
            <a:off x="9071762" y="4576901"/>
            <a:ext cx="1744675" cy="467441"/>
          </a:xfrm>
          <a:prstGeom prst="rect">
            <a:avLst/>
          </a:prstGeom>
        </p:spPr>
      </p:pic>
      <p:pic>
        <p:nvPicPr>
          <p:cNvPr id="45" name="Image 12" descr="m_AP1-6/k5e12349900.png">    </p:cNvPr>
          <p:cNvPicPr>
            <a:picLocks noChangeAspect="1"/>
          </p:cNvPicPr>
          <p:nvPr/>
        </p:nvPicPr>
        <p:blipFill>
          <a:blip r:embed="rId13"/>
          <a:stretch>
            <a:fillRect/>
          </a:stretch>
        </p:blipFill>
        <p:spPr>
          <a:xfrm>
            <a:off x="8997696" y="5199790"/>
            <a:ext cx="1892808" cy="4839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1.6.A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Factored form and turning points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6/k2e86f120d2.png">    </p:cNvPr>
          <p:cNvPicPr>
            <a:picLocks noChangeAspect="1"/>
          </p:cNvPicPr>
          <p:nvPr/>
        </p:nvPicPr>
        <p:blipFill>
          <a:blip r:embed="rId3"/>
          <a:stretch>
            <a:fillRect/>
          </a:stretch>
        </p:blipFill>
        <p:spPr>
          <a:xfrm>
            <a:off x="1139342" y="2157984"/>
            <a:ext cx="5424221" cy="347472"/>
          </a:xfrm>
          <a:prstGeom prst="rect">
            <a:avLst/>
          </a:prstGeom>
        </p:spPr>
      </p:pic>
      <p:pic>
        <p:nvPicPr>
          <p:cNvPr id="31" name="Image 3" descr="m_AP1-6/k182c6117a0.png">    </p:cNvPr>
          <p:cNvPicPr>
            <a:picLocks noChangeAspect="1"/>
          </p:cNvPicPr>
          <p:nvPr/>
        </p:nvPicPr>
        <p:blipFill>
          <a:blip r:embed="rId4"/>
          <a:stretch>
            <a:fillRect/>
          </a:stretch>
        </p:blipFill>
        <p:spPr>
          <a:xfrm>
            <a:off x="7203643" y="2163470"/>
            <a:ext cx="3818534" cy="336499"/>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AP1-6/k14b2380029.png">    </p:cNvPr>
          <p:cNvPicPr>
            <a:picLocks noChangeAspect="1"/>
          </p:cNvPicPr>
          <p:nvPr/>
        </p:nvPicPr>
        <p:blipFill>
          <a:blip r:embed="rId5"/>
          <a:stretch>
            <a:fillRect/>
          </a:stretch>
        </p:blipFill>
        <p:spPr>
          <a:xfrm>
            <a:off x="640080" y="3566160"/>
            <a:ext cx="3291840" cy="329184"/>
          </a:xfrm>
          <a:prstGeom prst="rect">
            <a:avLst/>
          </a:prstGeom>
        </p:spPr>
      </p:pic>
      <p:pic>
        <p:nvPicPr>
          <p:cNvPr id="35" name="Image 5" descr="m_AP1-6/kf93e4d2f31.png">    </p:cNvPr>
          <p:cNvPicPr>
            <a:picLocks noChangeAspect="1"/>
          </p:cNvPicPr>
          <p:nvPr/>
        </p:nvPicPr>
        <p:blipFill>
          <a:blip r:embed="rId6"/>
          <a:stretch>
            <a:fillRect/>
          </a:stretch>
        </p:blipFill>
        <p:spPr>
          <a:xfrm>
            <a:off x="1198047" y="4050792"/>
            <a:ext cx="2175906" cy="368686"/>
          </a:xfrm>
          <a:prstGeom prst="rect">
            <a:avLst/>
          </a:prstGeom>
        </p:spPr>
      </p:pic>
      <p:pic>
        <p:nvPicPr>
          <p:cNvPr id="36" name="Image 6" descr="m_AP1-6/kea45e15993.png">    </p:cNvPr>
          <p:cNvPicPr>
            <a:picLocks noChangeAspect="1"/>
          </p:cNvPicPr>
          <p:nvPr/>
        </p:nvPicPr>
        <p:blipFill>
          <a:blip r:embed="rId7"/>
          <a:stretch>
            <a:fillRect/>
          </a:stretch>
        </p:blipFill>
        <p:spPr>
          <a:xfrm>
            <a:off x="1300094" y="4574926"/>
            <a:ext cx="1971812" cy="467441"/>
          </a:xfrm>
          <a:prstGeom prst="rect">
            <a:avLst/>
          </a:prstGeom>
        </p:spPr>
      </p:pic>
      <p:pic>
        <p:nvPicPr>
          <p:cNvPr id="37" name="Image 7" descr="m_AP1-6/k1931d7bdf6.png">    </p:cNvPr>
          <p:cNvPicPr>
            <a:picLocks noChangeAspect="1"/>
          </p:cNvPicPr>
          <p:nvPr/>
        </p:nvPicPr>
        <p:blipFill>
          <a:blip r:embed="rId8"/>
          <a:stretch>
            <a:fillRect/>
          </a:stretch>
        </p:blipFill>
        <p:spPr>
          <a:xfrm>
            <a:off x="1331366" y="5197815"/>
            <a:ext cx="1909267" cy="483900"/>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AP1-6/k471d8ef7f3.png">    </p:cNvPr>
          <p:cNvPicPr>
            <a:picLocks noChangeAspect="1"/>
          </p:cNvPicPr>
          <p:nvPr/>
        </p:nvPicPr>
        <p:blipFill>
          <a:blip r:embed="rId9"/>
          <a:stretch>
            <a:fillRect/>
          </a:stretch>
        </p:blipFill>
        <p:spPr>
          <a:xfrm>
            <a:off x="4508083" y="3566160"/>
            <a:ext cx="3145353" cy="387120"/>
          </a:xfrm>
          <a:prstGeom prst="rect">
            <a:avLst/>
          </a:prstGeom>
        </p:spPr>
      </p:pic>
      <p:pic>
        <p:nvPicPr>
          <p:cNvPr id="41" name="Image 9" descr="m_AP1-6/k3de3101b0f.png">    </p:cNvPr>
          <p:cNvPicPr>
            <a:picLocks noChangeAspect="1"/>
          </p:cNvPicPr>
          <p:nvPr/>
        </p:nvPicPr>
        <p:blipFill>
          <a:blip r:embed="rId10"/>
          <a:stretch>
            <a:fillRect/>
          </a:stretch>
        </p:blipFill>
        <p:spPr>
          <a:xfrm>
            <a:off x="4969764" y="4108728"/>
            <a:ext cx="2221992" cy="352227"/>
          </a:xfrm>
          <a:prstGeom prst="rect">
            <a:avLst/>
          </a:prstGeom>
        </p:spPr>
      </p:pic>
      <p:pic>
        <p:nvPicPr>
          <p:cNvPr id="42" name="Image 10" descr="m_AP1-6/k8ca5228d3f.png">    </p:cNvPr>
          <p:cNvPicPr>
            <a:picLocks noChangeAspect="1"/>
          </p:cNvPicPr>
          <p:nvPr/>
        </p:nvPicPr>
        <p:blipFill>
          <a:blip r:embed="rId11"/>
          <a:stretch>
            <a:fillRect/>
          </a:stretch>
        </p:blipFill>
        <p:spPr>
          <a:xfrm>
            <a:off x="5223236" y="4616403"/>
            <a:ext cx="1715049" cy="260055"/>
          </a:xfrm>
          <a:prstGeom prst="rect">
            <a:avLst/>
          </a:prstGeom>
        </p:spPr>
      </p:pic>
      <p:pic>
        <p:nvPicPr>
          <p:cNvPr id="43" name="Image 11" descr="m_AP1-6/k7e4d3e6e34.png">    </p:cNvPr>
          <p:cNvPicPr>
            <a:picLocks noChangeAspect="1"/>
          </p:cNvPicPr>
          <p:nvPr/>
        </p:nvPicPr>
        <p:blipFill>
          <a:blip r:embed="rId12"/>
          <a:stretch>
            <a:fillRect/>
          </a:stretch>
        </p:blipFill>
        <p:spPr>
          <a:xfrm>
            <a:off x="4609308" y="5031907"/>
            <a:ext cx="2942905" cy="302849"/>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AP1-6/k4a0f0ff919.png">    </p:cNvPr>
          <p:cNvPicPr>
            <a:picLocks noChangeAspect="1"/>
          </p:cNvPicPr>
          <p:nvPr/>
        </p:nvPicPr>
        <p:blipFill>
          <a:blip r:embed="rId13"/>
          <a:stretch>
            <a:fillRect/>
          </a:stretch>
        </p:blipFill>
        <p:spPr>
          <a:xfrm>
            <a:off x="8575902" y="3566160"/>
            <a:ext cx="2599237" cy="328361"/>
          </a:xfrm>
          <a:prstGeom prst="rect">
            <a:avLst/>
          </a:prstGeom>
        </p:spPr>
      </p:pic>
      <p:pic>
        <p:nvPicPr>
          <p:cNvPr id="47" name="Image 13" descr="m_AP1-6/ke03d3824b9.png">    </p:cNvPr>
          <p:cNvPicPr>
            <a:picLocks noChangeAspect="1"/>
          </p:cNvPicPr>
          <p:nvPr/>
        </p:nvPicPr>
        <p:blipFill>
          <a:blip r:embed="rId14"/>
          <a:stretch>
            <a:fillRect/>
          </a:stretch>
        </p:blipFill>
        <p:spPr>
          <a:xfrm>
            <a:off x="8229600" y="4049969"/>
            <a:ext cx="3291840" cy="255354"/>
          </a:xfrm>
          <a:prstGeom prst="rect">
            <a:avLst/>
          </a:prstGeom>
        </p:spPr>
      </p:pic>
      <p:pic>
        <p:nvPicPr>
          <p:cNvPr id="48" name="Image 14" descr="m_AP1-6/kc2154fa608.png">    </p:cNvPr>
          <p:cNvPicPr>
            <a:picLocks noChangeAspect="1"/>
          </p:cNvPicPr>
          <p:nvPr/>
        </p:nvPicPr>
        <p:blipFill>
          <a:blip r:embed="rId15"/>
          <a:stretch>
            <a:fillRect/>
          </a:stretch>
        </p:blipFill>
        <p:spPr>
          <a:xfrm>
            <a:off x="8246059" y="4460771"/>
            <a:ext cx="3258922" cy="312725"/>
          </a:xfrm>
          <a:prstGeom prst="rect">
            <a:avLst/>
          </a:prstGeom>
        </p:spPr>
      </p:pic>
      <p:pic>
        <p:nvPicPr>
          <p:cNvPr id="49" name="Image 15" descr="m_AP1-6/kb9e587094c.png">    </p:cNvPr>
          <p:cNvPicPr>
            <a:picLocks noChangeAspect="1"/>
          </p:cNvPicPr>
          <p:nvPr/>
        </p:nvPicPr>
        <p:blipFill>
          <a:blip r:embed="rId16"/>
          <a:stretch>
            <a:fillRect/>
          </a:stretch>
        </p:blipFill>
        <p:spPr>
          <a:xfrm>
            <a:off x="9148023" y="4928943"/>
            <a:ext cx="1454993" cy="29955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1.6.A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AP1-6/k975704e1d9.png">    </p:cNvPr>
          <p:cNvPicPr>
            <a:picLocks noChangeAspect="1"/>
          </p:cNvPicPr>
          <p:nvPr/>
        </p:nvPicPr>
        <p:blipFill>
          <a:blip r:embed="rId3"/>
          <a:stretch>
            <a:fillRect/>
          </a:stretch>
        </p:blipFill>
        <p:spPr>
          <a:xfrm>
            <a:off x="825703" y="2926080"/>
            <a:ext cx="2874874" cy="811987"/>
          </a:xfrm>
          <a:prstGeom prst="rect">
            <a:avLst/>
          </a:prstGeom>
        </p:spPr>
      </p:pic>
      <p:sp>
        <p:nvSpPr>
          <p:cNvPr id="34"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both limits are written in full limit notation and you can name the leading term.</a:t>
            </a:r>
            <a:endParaRPr lang="en-US" sz="1150" dirty="0"/>
          </a:p>
        </p:txBody>
      </p:sp>
      <p:sp>
        <p:nvSpPr>
          <p:cNvPr id="35"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6"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7"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8"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9" name="Image 3" descr="m_AP1-6/kcb86a3473f.png">    </p:cNvPr>
          <p:cNvPicPr>
            <a:picLocks noChangeAspect="1"/>
          </p:cNvPicPr>
          <p:nvPr/>
        </p:nvPicPr>
        <p:blipFill>
          <a:blip r:embed="rId4"/>
          <a:stretch>
            <a:fillRect/>
          </a:stretch>
        </p:blipFill>
        <p:spPr>
          <a:xfrm>
            <a:off x="4437583" y="2926080"/>
            <a:ext cx="3240634" cy="409651"/>
          </a:xfrm>
          <a:prstGeom prst="rect">
            <a:avLst/>
          </a:prstGeom>
        </p:spPr>
      </p:pic>
      <p:pic>
        <p:nvPicPr>
          <p:cNvPr id="40" name="Image 4" descr="m_AP1-6/k1c9fe3777d.png">    </p:cNvPr>
          <p:cNvPicPr>
            <a:picLocks noChangeAspect="1"/>
          </p:cNvPicPr>
          <p:nvPr/>
        </p:nvPicPr>
        <p:blipFill>
          <a:blip r:embed="rId5"/>
          <a:stretch>
            <a:fillRect/>
          </a:stretch>
        </p:blipFill>
        <p:spPr>
          <a:xfrm>
            <a:off x="5084978" y="3610051"/>
            <a:ext cx="1945843" cy="519379"/>
          </a:xfrm>
          <a:prstGeom prst="rect">
            <a:avLst/>
          </a:prstGeom>
        </p:spPr>
      </p:pic>
      <p:sp>
        <p:nvSpPr>
          <p:cNvPr id="41"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250" dirty="0">
                <a:solidFill>
                  <a:srgbClr val="3F4B49"/>
                </a:solidFill>
                <a:latin typeface="Calibri" pitchFamily="34" charset="0"/>
                <a:ea typeface="Calibri" pitchFamily="34" charset="-122"/>
                <a:cs typeface="Calibri" pitchFamily="34" charset="-120"/>
              </a:rPr>
              <a:t>Done when: you state the limit and say in one sentence what it means for the model.</a:t>
            </a:r>
            <a:endParaRPr lang="en-US" sz="1250" dirty="0"/>
          </a:p>
        </p:txBody>
      </p:sp>
      <p:sp>
        <p:nvSpPr>
          <p:cNvPr id="42"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3"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4"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5"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6" name="Image 5" descr="m_AP1-6/k95b1dea266.png">    </p:cNvPr>
          <p:cNvPicPr>
            <a:picLocks noChangeAspect="1"/>
          </p:cNvPicPr>
          <p:nvPr/>
        </p:nvPicPr>
        <p:blipFill>
          <a:blip r:embed="rId6"/>
          <a:stretch>
            <a:fillRect/>
          </a:stretch>
        </p:blipFill>
        <p:spPr>
          <a:xfrm>
            <a:off x="8161020" y="2926080"/>
            <a:ext cx="3383280" cy="617164"/>
          </a:xfrm>
          <a:prstGeom prst="rect">
            <a:avLst/>
          </a:prstGeom>
        </p:spPr>
      </p:pic>
      <p:sp>
        <p:nvSpPr>
          <p:cNvPr id="47"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250" dirty="0">
                <a:solidFill>
                  <a:srgbClr val="3F4B49"/>
                </a:solidFill>
                <a:latin typeface="Calibri" pitchFamily="34" charset="0"/>
                <a:ea typeface="Calibri" pitchFamily="34" charset="-122"/>
                <a:cs typeface="Calibri" pitchFamily="34" charset="-120"/>
              </a:rPr>
              <a:t>Done when: your explanation uses what happens to odd powers of negative inputs.</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1.6.A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national park visitors</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143000"/>
          </a:xfrm>
          <a:prstGeom prst="rect">
            <a:avLst/>
          </a:prstGeom>
          <a:noFill/>
          <a:ln/>
        </p:spPr>
        <p:txBody>
          <a:bodyPr wrap="square" lIns="0" tIns="0" rIns="0" bIns="0" rtlCol="0" anchor="t"/>
          <a:lstStyle/>
          <a:p>
            <a:pPr indent="0" marL="0">
              <a:buNone/>
            </a:pPr>
            <a:r>
              <a:rPr lang="en-US" sz="1500" dirty="0">
                <a:solidFill>
                  <a:srgbClr val="222E2D"/>
                </a:solidFill>
                <a:latin typeface="Calibri" pitchFamily="34" charset="0"/>
                <a:ea typeface="Calibri" pitchFamily="34" charset="-122"/>
                <a:cs typeface="Calibri" pitchFamily="34" charset="-120"/>
              </a:rPr>
              <a:t>A national park models yearly visitors, in thousands, with a cubic function. The numbers below are model values for practice, not official forecasts. Time t is measured in years after 2025.</a:t>
            </a:r>
            <a:endParaRPr lang="en-US" sz="1500" dirty="0"/>
          </a:p>
        </p:txBody>
      </p:sp>
      <p:pic>
        <p:nvPicPr>
          <p:cNvPr id="32" name="Image 2" descr="m_AP1-6/k88405c4a88.png">    </p:cNvPr>
          <p:cNvPicPr>
            <a:picLocks noChangeAspect="1"/>
          </p:cNvPicPr>
          <p:nvPr/>
        </p:nvPicPr>
        <p:blipFill>
          <a:blip r:embed="rId3"/>
          <a:stretch>
            <a:fillRect/>
          </a:stretch>
        </p:blipFill>
        <p:spPr>
          <a:xfrm>
            <a:off x="2078248" y="3429000"/>
            <a:ext cx="2610063" cy="327721"/>
          </a:xfrm>
          <a:prstGeom prst="rect">
            <a:avLst/>
          </a:prstGeom>
        </p:spPr>
      </p:pic>
      <p:pic>
        <p:nvPicPr>
          <p:cNvPr id="33" name="Image 3" descr="m_AP1-6/ka19e27a958.png">    </p:cNvPr>
          <p:cNvPicPr>
            <a:picLocks noChangeAspect="1"/>
          </p:cNvPicPr>
          <p:nvPr/>
        </p:nvPicPr>
        <p:blipFill>
          <a:blip r:embed="rId4"/>
          <a:stretch>
            <a:fillRect/>
          </a:stretch>
        </p:blipFill>
        <p:spPr>
          <a:xfrm>
            <a:off x="2806842" y="3866449"/>
            <a:ext cx="1152876" cy="251643"/>
          </a:xfrm>
          <a:prstGeom prst="rect">
            <a:avLst/>
          </a:prstGeom>
        </p:spPr>
      </p:pic>
      <p:sp>
        <p:nvSpPr>
          <p:cNvPr id="34" name="Text 27"/>
          <p:cNvSpPr txBox="1"/>
          <p:nvPr/>
        </p:nvSpPr>
        <p:spPr>
          <a:xfrm>
            <a:off x="731520" y="4364980"/>
            <a:ext cx="5303520" cy="185294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limit of V as t grows without bound.</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Use a calculator to find the greatest number of visitors and the year it happens.</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Explain why the model cannot be trusted for all large t.</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limit is written in limit notation.</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maximum is given to three decimal places with units (thousands).</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year is stated as a calendar year, not just a value of t.</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explanation mentions that the model gives negative visitors.</a:t>
            </a:r>
            <a:endParaRPr lang="en-US" sz="155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press the maximum command on the graph, then add t to 2025.</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1.6.A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6/kb46b42c7bf.png">    </p:cNvPr>
          <p:cNvPicPr>
            <a:picLocks noChangeAspect="1"/>
          </p:cNvPicPr>
          <p:nvPr/>
        </p:nvPicPr>
        <p:blipFill>
          <a:blip r:embed="rId3"/>
          <a:stretch>
            <a:fillRect/>
          </a:stretch>
        </p:blipFill>
        <p:spPr>
          <a:xfrm>
            <a:off x="1069848" y="2743200"/>
            <a:ext cx="2432304" cy="538582"/>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6/ka1922a51c2.png">    </p:cNvPr>
          <p:cNvPicPr>
            <a:picLocks noChangeAspect="1"/>
          </p:cNvPicPr>
          <p:nvPr/>
        </p:nvPicPr>
        <p:blipFill>
          <a:blip r:embed="rId4"/>
          <a:stretch>
            <a:fillRect/>
          </a:stretch>
        </p:blipFill>
        <p:spPr>
          <a:xfrm>
            <a:off x="4464467" y="2743200"/>
            <a:ext cx="3141147" cy="771388"/>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6/k1286adbad8.png">    </p:cNvPr>
          <p:cNvPicPr>
            <a:picLocks noChangeAspect="1"/>
          </p:cNvPicPr>
          <p:nvPr/>
        </p:nvPicPr>
        <p:blipFill>
          <a:blip r:embed="rId5"/>
          <a:stretch>
            <a:fillRect/>
          </a:stretch>
        </p:blipFill>
        <p:spPr>
          <a:xfrm>
            <a:off x="8305587" y="2743200"/>
            <a:ext cx="2956987" cy="771388"/>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1.6.A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Write a polynomial of degree 4 or 5 whose ends go in a given pair of directions.</a:t>
            </a:r>
            <a:endParaRPr lang="en-US" sz="1700" dirty="0"/>
          </a:p>
          <a:p>
            <a:pPr marL="342900" indent="-342900">
              <a:spcAft>
                <a:spcPts val="8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Write its two limits in limit notation on the back.</a:t>
            </a:r>
            <a:endParaRPr lang="en-US" sz="1700" dirty="0"/>
          </a:p>
          <a:p>
            <a:pPr marL="342900" indent="-342900">
              <a:spcAft>
                <a:spcPts val="8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Swap with a partner: they check the leading term and both limits.</a:t>
            </a:r>
            <a:endParaRPr lang="en-US" sz="17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partner confirms the degree, the sign of the leading coefficient and both limits.</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AP1-6/k3efb2831c5.png">    </p:cNvPr>
          <p:cNvPicPr>
            <a:picLocks noChangeAspect="1"/>
          </p:cNvPicPr>
          <p:nvPr/>
        </p:nvPicPr>
        <p:blipFill>
          <a:blip r:embed="rId3"/>
          <a:stretch>
            <a:fillRect/>
          </a:stretch>
        </p:blipFill>
        <p:spPr>
          <a:xfrm>
            <a:off x="7069409" y="3703320"/>
            <a:ext cx="3783421" cy="327721"/>
          </a:xfrm>
          <a:prstGeom prst="rect">
            <a:avLst/>
          </a:prstGeom>
        </p:spPr>
      </p:pic>
      <p:sp>
        <p:nvSpPr>
          <p:cNvPr id="40"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Topic 1.7 Rational Functions and End Behavior.</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900" b="1" dirty="0">
                <a:solidFill>
                  <a:srgbClr val="F0B323"/>
                </a:solidFill>
                <a:latin typeface="Calibri" pitchFamily="34" charset="0"/>
                <a:ea typeface="Calibri" pitchFamily="34" charset="-122"/>
                <a:cs typeface="Calibri" pitchFamily="34" charset="-120"/>
              </a:rPr>
              <a:t>Find the leading term, read the degree and the sign, and both ends of a polynomial follow.</a:t>
            </a:r>
            <a:endParaRPr lang="en-US" sz="19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 Precalculus Topic 1.6 Polynomial Functions and End Behavior presentation</dc:title>
  <dc:subject>PptxGenJS Presentation</dc:subject>
  <dc:creator>Mr Malek Thiab</dc:creator>
  <cp:lastModifiedBy>Mr Malek Thiab</cp:lastModifiedBy>
  <cp:revision>1</cp:revision>
  <dcterms:created xsi:type="dcterms:W3CDTF">2026-10-12T10:24:07Z</dcterms:created>
  <dcterms:modified xsi:type="dcterms:W3CDTF">2026-10-12T10:24:07Z</dcterms:modified>
</cp:coreProperties>
</file>