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6-5: Properties of Logarithms.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(Products and quotients become sums and differences; Powers come to the front; The change of base formula; Logarithms and geometric sequences), Practice (Practice, Apply, Investigate), Production (Red Sea tourism growth),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change of base formula, logarithmic properties.
Standards are listed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ask 'which power of 2 gives 32?' 2^5 = 32, so log_2 32 = 5. Q2: same base, add the exponents: 3 + 4 = 7, so 2^7 (which is 128). This is the seed of the product rule. Q3: 0.01 = 10^(-2), so log_10 0.01 = -2. Verbal misconceptions: Q2 students multiply the exponents (3 x 4 = 12) or add the bases; Q3 students answer 2 (dropping the negative sign) or 0.01; Q1 students answer 16 (dividing 32 by 2). Adaptive routing: if &gt;30% miss Q1 or Q3, spend 3 minutes on converting between log form and exponential form (Lesson 6-3) before slide 5; if &gt;30% miss Q2, recap the exponent laws on the board, then go to slide 5. If 90% of the class is correct, move quickly through slide 5 and spend the saved time on slide 7 and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Why the rules work: let M = b^u and N = b^v. Then MN = b^(u+v), so log_b(MN) = u + v = log_b M + log_b N; the quotient is the same idea with subtraction (M/N = b^(u-v)). This is HSA.SSE.A.2: the structure of the expression tells us how to rewrite it. Assume x &gt; 0 and y &gt; 0 so every logarithm exists. Example A, expand log_2(8x): step 1 split the product: log_2 8 + log_2 x; step 2 log_2 8 = 3 because 2^3 = 8; result 3 + log_2 x. Example B, expand log_5(25/y): step 1 split the quotient: log_5 25 - log_5 y; step 2 log_5 25 = 2; result 2 - log_5 y. Example C, condense log 4 + log 25 (base 10): step 1 a sum of logs is the log of the product: log(4 x 25); step 2 log 100 = 2. Verbal misconceptions: (1) log(M + N) is NOT log M + log N; only a product or quotient INSIDE splits. (2) For quotients the order matters: log M - log N, never log N - log M. (3) The bases must match before the rules apply. (4) log_2 8 + log_2 x is not 'log_2 of 8 plus x'. Adaptive routing: if &gt;30% get Example C wrong on whiteboards, repeat Example A with 4x and 5x; if students stumble on 25/y, redo with 9/y. Gate Q1 and Q3 route back to this slide and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Why: let M = b^u. Then M^p = b^(up), so log_b(M^p) = up = p log_b M. A square root is the power one half, so log_b(sqrt(M)) = (1/2) log_b M. Example A, expand log_5( x^2 sqrt(y) / z^3 ): step 1 split the product and the quotient: log_5 x^2 + log_5 y^(1/2) - log_5 z^3; step 2 bring each exponent to the front: 2 log_5 x + (1/2) log_5 y - 3 log_5 z. Example B, condense 3 log_2 x - log_2 y: step 1 move the coefficient up as a power of x only: log_2 x^3 - log_2 y; step 2 combine into a quotient: log_2( x^3 / y ). Verbal misconceptions: (1) log(x^2) = 2 log x, but (log x)^2 is a different thing; (2) the coefficient 3 becomes a power of x only, not of y; (3) a square root is the power one half, not 2; (4) log x^2 is not 2 log(2x). Adaptive routing: if students stumble on the square root, use the second rule banner and redo Example A with sqrt(y) alone; if &gt;30% miss Example B, redo with 2 log_3 x + log_3 5 = log_3(5x^2). Gate Q1 and Q3 route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Why the formula works: let y = log_b x, so b^y = x. Take the log (any base a) of both sides: y log_a b = log_a x, so y = log_a x / log_a b. Calculators only have LOG (base 10) and LN (base e), so any other base is evaluated as a ratio. This is HSF.LE.A.4: express the solution as a logarithm, then evaluate it using technology. Example A, evaluate log_5 40: step 1 rewrite as ln 40 / ln 5; step 2 ln 40 = 3.68888 and ln 5 = 1.60944 (keep all the digits in the calculator); step 3 divide: about 2.292. Check: 5^2.292 is about 40. Example B, exactly log_4 8: choose base 2 because 8 = 2^3 and 4 = 2^2: step 1 log_2 8 / log_2 4; step 2 3 / 2. Check: 4^(3/2) = 8. Example C, solve 3 x 2^t = 100: step 1 divide by 3: 2^t = 100/3; step 2 write as a logarithm: t = log_2(100/3); step 3 change of base: ln(33.33)/ln 2 = 3.5066 / 0.6931, about 5.059. Check: 3 x 2^5.059 is about 100. Verbal misconceptions: (1) the formula is a RATIO of two logs, not log x minus log b; (2) argument on top, base on the bottom, never the reverse; (3) do not round ln 40 and ln 5 before dividing; (4) use LOG on top and bottom, or LN on top and bottom, never one of each. Adaptive routing: if &gt;30% put the base on top in Example A, say 'the number goes on top, the base goes underneath' and redo with log_3 20; students who finish early try log_8 32 = 5/3. Gate Q2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This block covers HSF.BF.A.2: write a geometric sequence recursively and with an explicit formula, translate between the two forms, and use it to model a situation; logarithms are the tool that finds WHICH term. Example A: a_1 = 3 and a_(n+1) = 2 a_n is the recursive form; the explicit form is a_n = 3 x 2^(n-1). Set 3 x 2^(n-1) = 768; divide by 3: 2^(n-1) = 256; since 2^8 = 256, n - 1 = log_2 256 = 8, so n = 9. Check: 3 x 2^8 = 768. Example B: a_n = 5 x 1.5^(n-1) &gt; 100; divide by 5: 1.5^(n-1) &gt; 20; take the logarithm: n - 1 &gt; ln 20 / ln 1.5 = 2.9957 / 0.4055 = 7.39; n is a whole number, so n - 1 = 8 and n = 9. Check: a_8 = 5 x 1.5^7 = 85.4 (below 100) and a_9 = 5 x 1.5^8 = 128.1 (above 100). Verbal misconceptions: (1) the exponent is n - 1, not n; (2) stop at 7.39 and say 'term 7.39': the term number must be a whole number, so round UP when the question says 'first term above'; (3) dividing 100 by 5 gives 20, not 95. Adaptive routing: if &gt;30% write the exponent as n, return to the explicit formula with a_1 = 3 and list the first four terms; if &gt;30% cannot round correctly, test the terms either side of the answer as in Example B. Production tasks 1 and 2 route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log_3(9x^2) = log_3 9 + log_3 x^2 (product rule) = 2 + 2 log_3 x (power rule). Practice 2: log_6 10 = ln 10 / ln 6 = 2.302585 / 1.791759 = 1.285. Apply 1: 18 = 2 x 3^2, so log_b 18 = log_b 2 + 2 log_b 3 = 0.3 + 2(0.48) = 0.3 + 0.96 = 1.26 (these are model values). Apply 2: a_n = 2 x 3^(n-1) = 486; 3^(n-1) = 243; n - 1 = log_3 243 = 5; n = 6. Check: 2 x 3^5 = 486. Investigate 1: take M = N = 10: log(10 + 10) = log 20 = 1.301 but log 10 + log 10 = 2, so they are not equal; only a PRODUCT inside splits. Investigate 2: let M = b^u. Then M^p = b^(up), so log_b M^p = up, and u = log_b M, so it equals p log_b M. Verbal misconceptions: writing log_3 9x^2 = 2 + log_3 x (power applied to the 9 only), reading log_b 18 as 0.3 + 0.48 = 0.78 (adding instead of using 18 = 2 x 3 x 3), rounding ln 10 and ln 6 early. Adaptive routing: if &gt;30% miss Practice 1, route to slide 5 Example A and slide 6; Practice 2 to slide 7 Example A; Apply 1 to slide 6; Apply 2 to slide 8.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Task 1: a_1 = 20 000; multiply by 1.2 each year: 24 000, 28 800, 34 560. Recursive rule: a_(n+1) = 1.2 a_n with a_1 = 20 000. Explicit check: a_4 = 20 000 x 1.2^3 = 20 000 x 1.728 = 34 560. Task 2: 20 000 x 1.2^(n-1) &gt; 100 000; divide by 20 000: 1.2^(n-1) &gt; 5; n - 1 &gt; log_1.2 5 = ln 5 / ln 1.2 = 1.6094 / 0.1823 = 8.83; n is a whole number so n - 1 = 9 and n = 10. Check: a_9 = 20 000 x 1.2^8 = 85 996 (below 100 000) and a_10 = 20 000 x 1.2^9 = 103 196 (above). Task 3: R_10 = 1500 x 103 196 = 154 794 000 SAR, about 154.8 million SAR. Verbal misconceptions: using exponent n instead of n - 1; stopping at 8.83 and saying 'year 8.83' or rounding down to year 9; using 100 000 / 1.2 instead of 100 000 / 20 000. Adaptive routing: if &gt;30% cannot start Task 1, go back to slide 8 Example A (recursive to explicit); if &gt;30% miss Task 2, go to slide 7 (change of base) and then slide 8 Example B; Task 3 only needs the table of values. Early finishers: how many years does the model take to double? n - 1 = log_1.2 2 = ln 2 / ln 1.2 = 3.80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2 log_3 x = log_3 x^2 (power rule), then log_3 x^2 + log_3 5 = log_3(5x^2) (product rule). Q2: log_7 50 = ln 50 / ln 7 = 3.912023 / 1.945910 = 2.010. Q3: 40 = 2^3 x 5, so log_b 40 = 3 log_b 2 + log_b 5 = 3(0.3) + 0.7 = 0.9 + 0.7 = 1.6 (model values). Verbal misconceptions: Q1 writing log_3(5 + x^2) or log_3(2x) + log_3 5; Q2 swapping the ratio (ln 7 / ln 50 = 0.497) or rounding early; Q3 writing 0.3 x 3 as 3 + 0.3, or using 40 = 4 x 10 without values for log_b 10. Adaptive routing: Q1 missed, route to slide 5 and slide 6; Q2 missed, route to slide 7; Q3 missed, route to slide 6 Example A.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Worked solutions. Exit 1: log_2(5x^3 / y) = log_2 5 + log_2 x^3 - log_2 y (product and quotient rules) = log_2 5 + 3 log_2 x - log_2 y (power rule). Exit 2: log_3 20 = ln 20 / ln 3 = 2.995732 / 1.098612 = 2.727. Verbal misconceptions: Exit 1 writing 5 log_2 x^3 or forgetting that only x is cubed; Exit 2 putting ln 3 on top. Adaptive routing: if &gt;30% miss exit 1, start 6-6 with a ten-minute recap of slides 5 and 6; if &gt;30% miss exit 2, open 6-6 with slide 7 Example A. Create step: check that every student question has a single answer; the partner solves it as a mastery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equivalent expressions; global style, no calculator): 2^(2a - b) = (2^a)^2 / 2^b = 5^2 / 3 = 25/3. This is the exponent-law form of the product, quotient and power rules (2^a = 5 means a = log_2 5). Trap: writing 5^2 - 3 = 22 (subtracting instead of dividing), or (5/3)^2. Check: a = log_2 5 = 2.3219 and b = log_2 3 = 1.585, so 2a - b = 3.059 and 2^3.059 = 8.33 = 25/3. GAT/Qudurat quantitative comparison ('Which quantity is greater?': A is greater / B is greater / they are equal / not enough information): log_10 25 + log_10 4 = log_10(25 x 4) = log_10 100 = 2, so A = B and the answer is 'they are equal'. Trap: adding inside (log_10 29) or comparing the numbers 25 + 4 with 2. SAAT/Tahsili (multiple choice): log_4 12 = log_2 12 / log_2 4; log_2 12 = log_2 3 + log_2 4 = a + 2; log_2 4 = 2; so (a + 2)/2 = 1 + a/2. Trap: choosing a/2 (forgetting the + 2 from log_2 4) or a + 2 (forgetting to divide by log_2 4). Check: a = 1.585 gives 1.792 = log_4 12. Adaptive routing: if &gt;30% miss the SAT item, return to slide 5 Example A and the exponent laws on slide 4; the GAT item, slide 5 Example C; the SAAT item, slide 7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Products become sums, quotients become differences, powers come to the front, and the change of base formula turns any logarithm into a ratio you can evaluate. Collect the Time to Check responses. Next lesson: 6-6 Exponential and Logarithmic Equations and Inequalities.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slideLayout" Target="../slideLayouts/slideLayout1.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11  ·  ALGEBRA II  ·  TOPIC 6</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6-5</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Properties of</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Logarithms</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Exponential and Logarithmic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6-5/k69f6160953.png">    </p:cNvPr>
          <p:cNvPicPr>
            <a:picLocks noChangeAspect="1"/>
          </p:cNvPicPr>
          <p:nvPr/>
        </p:nvPicPr>
        <p:blipFill>
          <a:blip r:embed="rId4"/>
          <a:stretch>
            <a:fillRect/>
          </a:stretch>
        </p:blipFill>
        <p:spPr>
          <a:xfrm>
            <a:off x="8412480" y="3017520"/>
            <a:ext cx="3291840" cy="327609"/>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365760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31089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Apply properties of logarithms to rewrite logarithmic expressions and evaluate logarithms.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Use the change of base formula to rewrite and evaluate logarithmic expressions.</a:t>
            </a:r>
            <a:endParaRPr lang="en-US" sz="1700" dirty="0"/>
          </a:p>
        </p:txBody>
      </p:sp>
      <p:sp>
        <p:nvSpPr>
          <p:cNvPr id="14" name="Shape 9"/>
          <p:cNvSpPr/>
          <p:nvPr/>
        </p:nvSpPr>
        <p:spPr>
          <a:xfrm>
            <a:off x="457200" y="5074920"/>
            <a:ext cx="5760720" cy="1234440"/>
          </a:xfrm>
          <a:prstGeom prst="roundRect">
            <a:avLst>
              <a:gd name="adj" fmla="val 888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731520" y="51663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ESSENTIAL QUESTION</a:t>
            </a:r>
            <a:endParaRPr lang="en-US" sz="1100" dirty="0"/>
          </a:p>
        </p:txBody>
      </p:sp>
      <p:sp>
        <p:nvSpPr>
          <p:cNvPr id="16" name="Text 11"/>
          <p:cNvSpPr txBox="1"/>
          <p:nvPr/>
        </p:nvSpPr>
        <p:spPr>
          <a:xfrm>
            <a:off x="731520" y="5413248"/>
            <a:ext cx="521208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How can the properties of logarithms, including the change of base formula, be applied to simplify and evaluate logarithmic expressions?</a:t>
            </a:r>
            <a:endParaRPr lang="en-US" sz="1250" dirty="0"/>
          </a:p>
        </p:txBody>
      </p:sp>
      <p:sp>
        <p:nvSpPr>
          <p:cNvPr id="17" name="Text 12"/>
          <p:cNvSpPr txBox="1"/>
          <p:nvPr/>
        </p:nvSpPr>
        <p:spPr>
          <a:xfrm>
            <a:off x="731520" y="5943600"/>
            <a:ext cx="5212080" cy="274320"/>
          </a:xfrm>
          <a:prstGeom prst="rect">
            <a:avLst/>
          </a:prstGeom>
          <a:noFill/>
          <a:ln/>
        </p:spPr>
        <p:txBody>
          <a:bodyPr wrap="square" lIns="0" tIns="0" rIns="0" bIns="0" rtlCol="0" anchor="t"/>
          <a:lstStyle/>
          <a:p>
            <a:pPr indent="0" marL="0">
              <a:buNone/>
            </a:pPr>
            <a:r>
              <a:rPr lang="en-US" sz="1200" b="1" dirty="0">
                <a:solidFill>
                  <a:srgbClr val="F0B323"/>
                </a:solidFill>
                <a:latin typeface="Calibri" pitchFamily="34" charset="0"/>
                <a:ea typeface="Calibri" pitchFamily="34" charset="-122"/>
                <a:cs typeface="Calibri" pitchFamily="34" charset="-120"/>
              </a:rPr>
              <a:t>MATHEMATICAL PRACTICES   MP.2  ·  MP.7</a:t>
            </a:r>
            <a:endParaRPr lang="en-US" sz="1200" dirty="0"/>
          </a:p>
        </p:txBody>
      </p:sp>
      <p:sp>
        <p:nvSpPr>
          <p:cNvPr id="18" name="Shape 13"/>
          <p:cNvSpPr/>
          <p:nvPr/>
        </p:nvSpPr>
        <p:spPr>
          <a:xfrm>
            <a:off x="6400800" y="1280160"/>
            <a:ext cx="5303520" cy="941832"/>
          </a:xfrm>
          <a:prstGeom prst="roundRect">
            <a:avLst>
              <a:gd name="adj" fmla="val 1165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9" name="Text 14"/>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20" name="Shape 15"/>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21" name="Text 16"/>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change of base formula</a:t>
            </a:r>
            <a:endParaRPr lang="en-US" sz="1100" dirty="0"/>
          </a:p>
        </p:txBody>
      </p:sp>
      <p:sp>
        <p:nvSpPr>
          <p:cNvPr id="22" name="Shape 17"/>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23" name="Text 18"/>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logarithmic properties</a:t>
            </a:r>
            <a:endParaRPr lang="en-US" sz="1100" dirty="0"/>
          </a:p>
        </p:txBody>
      </p:sp>
      <p:sp>
        <p:nvSpPr>
          <p:cNvPr id="24" name="Shape 19"/>
          <p:cNvSpPr/>
          <p:nvPr/>
        </p:nvSpPr>
        <p:spPr>
          <a:xfrm>
            <a:off x="6400800" y="2359152"/>
            <a:ext cx="5303520" cy="3950208"/>
          </a:xfrm>
          <a:prstGeom prst="roundRect">
            <a:avLst>
              <a:gd name="adj" fmla="val 27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5" name="Text 20"/>
          <p:cNvSpPr txBox="1"/>
          <p:nvPr/>
        </p:nvSpPr>
        <p:spPr>
          <a:xfrm>
            <a:off x="6675120" y="2432304"/>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26" name="Text 21"/>
          <p:cNvSpPr txBox="1"/>
          <p:nvPr/>
        </p:nvSpPr>
        <p:spPr>
          <a:xfrm>
            <a:off x="6675120" y="2724912"/>
            <a:ext cx="4846320" cy="3493008"/>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HSA.SSE.A.2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Use the structure of an expression to identify ways to rewrite it.</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HSF.BF.A.2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Write arithmetic and geometric sequences both recursively and with an explicit formula, use them to model situations, and translate between the two forms.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HSF.LE.A.4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For exponential models, express as a logarithm the solution to abᶜᵗ = d where a, c, and d are numbers and the base b is 2, 10, or e; evaluate the logarithm using technology.</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5/kcd3e5b26fa.png">    </p:cNvPr>
          <p:cNvPicPr>
            <a:picLocks noChangeAspect="1"/>
          </p:cNvPicPr>
          <p:nvPr/>
        </p:nvPicPr>
        <p:blipFill>
          <a:blip r:embed="rId3"/>
          <a:stretch>
            <a:fillRect/>
          </a:stretch>
        </p:blipFill>
        <p:spPr>
          <a:xfrm>
            <a:off x="1177747" y="2697480"/>
            <a:ext cx="2216506" cy="362102"/>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5/kef1cbc8c3b.png">    </p:cNvPr>
          <p:cNvPicPr>
            <a:picLocks noChangeAspect="1"/>
          </p:cNvPicPr>
          <p:nvPr/>
        </p:nvPicPr>
        <p:blipFill>
          <a:blip r:embed="rId4"/>
          <a:stretch>
            <a:fillRect/>
          </a:stretch>
        </p:blipFill>
        <p:spPr>
          <a:xfrm>
            <a:off x="4343400" y="2697480"/>
            <a:ext cx="3383280" cy="385118"/>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5/ke8fb968e10.png">    </p:cNvPr>
          <p:cNvPicPr>
            <a:picLocks noChangeAspect="1"/>
          </p:cNvPicPr>
          <p:nvPr/>
        </p:nvPicPr>
        <p:blipFill>
          <a:blip r:embed="rId5"/>
          <a:stretch>
            <a:fillRect/>
          </a:stretch>
        </p:blipFill>
        <p:spPr>
          <a:xfrm>
            <a:off x="8507578" y="2697480"/>
            <a:ext cx="2553005" cy="362102"/>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All three answers are written without a calculator, and you can say in one sentence what happens to the exponents when you multiply powers with the same base.</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Products and quotients become sums and differences</a:t>
            </a:r>
            <a:endParaRPr lang="en-US" sz="26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5/k69f6160953.png">    </p:cNvPr>
          <p:cNvPicPr>
            <a:picLocks noChangeAspect="1"/>
          </p:cNvPicPr>
          <p:nvPr/>
        </p:nvPicPr>
        <p:blipFill>
          <a:blip r:embed="rId3"/>
          <a:stretch>
            <a:fillRect/>
          </a:stretch>
        </p:blipFill>
        <p:spPr>
          <a:xfrm>
            <a:off x="2132381" y="2141525"/>
            <a:ext cx="3822192" cy="380390"/>
          </a:xfrm>
          <a:prstGeom prst="rect">
            <a:avLst/>
          </a:prstGeom>
        </p:spPr>
      </p:pic>
      <p:pic>
        <p:nvPicPr>
          <p:cNvPr id="31" name="Image 3" descr="m_L6-5/ka3d4d761f0.png">    </p:cNvPr>
          <p:cNvPicPr>
            <a:picLocks noChangeAspect="1"/>
          </p:cNvPicPr>
          <p:nvPr/>
        </p:nvPicPr>
        <p:blipFill>
          <a:blip r:embed="rId4"/>
          <a:stretch>
            <a:fillRect/>
          </a:stretch>
        </p:blipFill>
        <p:spPr>
          <a:xfrm>
            <a:off x="6594653" y="1982419"/>
            <a:ext cx="3434486" cy="698602"/>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5/kaf7161aee4.png">    </p:cNvPr>
          <p:cNvPicPr>
            <a:picLocks noChangeAspect="1"/>
          </p:cNvPicPr>
          <p:nvPr/>
        </p:nvPicPr>
        <p:blipFill>
          <a:blip r:embed="rId5"/>
          <a:stretch>
            <a:fillRect/>
          </a:stretch>
        </p:blipFill>
        <p:spPr>
          <a:xfrm>
            <a:off x="1207593" y="3566160"/>
            <a:ext cx="2156814" cy="359469"/>
          </a:xfrm>
          <a:prstGeom prst="rect">
            <a:avLst/>
          </a:prstGeom>
        </p:spPr>
      </p:pic>
      <p:pic>
        <p:nvPicPr>
          <p:cNvPr id="35" name="Image 5" descr="m_L6-5/k8a30e2eef5.png">    </p:cNvPr>
          <p:cNvPicPr>
            <a:picLocks noChangeAspect="1"/>
          </p:cNvPicPr>
          <p:nvPr/>
        </p:nvPicPr>
        <p:blipFill>
          <a:blip r:embed="rId6"/>
          <a:stretch>
            <a:fillRect/>
          </a:stretch>
        </p:blipFill>
        <p:spPr>
          <a:xfrm>
            <a:off x="1301740" y="4081077"/>
            <a:ext cx="1968520" cy="325892"/>
          </a:xfrm>
          <a:prstGeom prst="rect">
            <a:avLst/>
          </a:prstGeom>
        </p:spPr>
      </p:pic>
      <p:pic>
        <p:nvPicPr>
          <p:cNvPr id="36" name="Image 6" descr="m_L6-5/k0725a3d3e8.png">    </p:cNvPr>
          <p:cNvPicPr>
            <a:picLocks noChangeAspect="1"/>
          </p:cNvPicPr>
          <p:nvPr/>
        </p:nvPicPr>
        <p:blipFill>
          <a:blip r:embed="rId7"/>
          <a:stretch>
            <a:fillRect/>
          </a:stretch>
        </p:blipFill>
        <p:spPr>
          <a:xfrm>
            <a:off x="1551920" y="4562417"/>
            <a:ext cx="1468161" cy="325892"/>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5/k520b975e4c.png">    </p:cNvPr>
          <p:cNvPicPr>
            <a:picLocks noChangeAspect="1"/>
          </p:cNvPicPr>
          <p:nvPr/>
        </p:nvPicPr>
        <p:blipFill>
          <a:blip r:embed="rId8"/>
          <a:stretch>
            <a:fillRect/>
          </a:stretch>
        </p:blipFill>
        <p:spPr>
          <a:xfrm>
            <a:off x="5068025" y="3566160"/>
            <a:ext cx="2025469" cy="705112"/>
          </a:xfrm>
          <a:prstGeom prst="rect">
            <a:avLst/>
          </a:prstGeom>
        </p:spPr>
      </p:pic>
      <p:pic>
        <p:nvPicPr>
          <p:cNvPr id="40" name="Image 8" descr="m_L6-5/k9e894a0867.png">    </p:cNvPr>
          <p:cNvPicPr>
            <a:picLocks noChangeAspect="1"/>
          </p:cNvPicPr>
          <p:nvPr/>
        </p:nvPicPr>
        <p:blipFill>
          <a:blip r:embed="rId9"/>
          <a:stretch>
            <a:fillRect/>
          </a:stretch>
        </p:blipFill>
        <p:spPr>
          <a:xfrm>
            <a:off x="5033955" y="4426720"/>
            <a:ext cx="2093610" cy="325892"/>
          </a:xfrm>
          <a:prstGeom prst="rect">
            <a:avLst/>
          </a:prstGeom>
        </p:spPr>
      </p:pic>
      <p:pic>
        <p:nvPicPr>
          <p:cNvPr id="41" name="Image 9" descr="m_L6-5/k2f1e92a087.png">    </p:cNvPr>
          <p:cNvPicPr>
            <a:picLocks noChangeAspect="1"/>
          </p:cNvPicPr>
          <p:nvPr/>
        </p:nvPicPr>
        <p:blipFill>
          <a:blip r:embed="rId10"/>
          <a:stretch>
            <a:fillRect/>
          </a:stretch>
        </p:blipFill>
        <p:spPr>
          <a:xfrm>
            <a:off x="5349972" y="4908060"/>
            <a:ext cx="1461577" cy="325892"/>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6-5/kd829aeed87.png">    </p:cNvPr>
          <p:cNvPicPr>
            <a:picLocks noChangeAspect="1"/>
          </p:cNvPicPr>
          <p:nvPr/>
        </p:nvPicPr>
        <p:blipFill>
          <a:blip r:embed="rId11"/>
          <a:stretch>
            <a:fillRect/>
          </a:stretch>
        </p:blipFill>
        <p:spPr>
          <a:xfrm>
            <a:off x="8387526" y="3566160"/>
            <a:ext cx="2975988" cy="328361"/>
          </a:xfrm>
          <a:prstGeom prst="rect">
            <a:avLst/>
          </a:prstGeom>
        </p:spPr>
      </p:pic>
      <p:pic>
        <p:nvPicPr>
          <p:cNvPr id="45" name="Image 11" descr="m_L6-5/k7a2c4d468b.png">    </p:cNvPr>
          <p:cNvPicPr>
            <a:picLocks noChangeAspect="1"/>
          </p:cNvPicPr>
          <p:nvPr/>
        </p:nvPicPr>
        <p:blipFill>
          <a:blip r:embed="rId12"/>
          <a:stretch>
            <a:fillRect/>
          </a:stretch>
        </p:blipFill>
        <p:spPr>
          <a:xfrm>
            <a:off x="9121689" y="4049969"/>
            <a:ext cx="1507663" cy="342351"/>
          </a:xfrm>
          <a:prstGeom prst="rect">
            <a:avLst/>
          </a:prstGeom>
        </p:spPr>
      </p:pic>
      <p:pic>
        <p:nvPicPr>
          <p:cNvPr id="46" name="Image 12" descr="m_L6-5/kb058a49ce6.png">    </p:cNvPr>
          <p:cNvPicPr>
            <a:picLocks noChangeAspect="1"/>
          </p:cNvPicPr>
          <p:nvPr/>
        </p:nvPicPr>
        <p:blipFill>
          <a:blip r:embed="rId13"/>
          <a:stretch>
            <a:fillRect/>
          </a:stretch>
        </p:blipFill>
        <p:spPr>
          <a:xfrm>
            <a:off x="9055852" y="4547768"/>
            <a:ext cx="1639336"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Powers come to the front</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5/k7df2eaca56.png">    </p:cNvPr>
          <p:cNvPicPr>
            <a:picLocks noChangeAspect="1"/>
          </p:cNvPicPr>
          <p:nvPr/>
        </p:nvPicPr>
        <p:blipFill>
          <a:blip r:embed="rId3"/>
          <a:stretch>
            <a:fillRect/>
          </a:stretch>
        </p:blipFill>
        <p:spPr>
          <a:xfrm>
            <a:off x="3123590" y="2150669"/>
            <a:ext cx="2567635" cy="362102"/>
          </a:xfrm>
          <a:prstGeom prst="rect">
            <a:avLst/>
          </a:prstGeom>
        </p:spPr>
      </p:pic>
      <p:pic>
        <p:nvPicPr>
          <p:cNvPr id="31" name="Image 3" descr="m_L6-5/k5e0a631917.png">    </p:cNvPr>
          <p:cNvPicPr>
            <a:picLocks noChangeAspect="1"/>
          </p:cNvPicPr>
          <p:nvPr/>
        </p:nvPicPr>
        <p:blipFill>
          <a:blip r:embed="rId4"/>
          <a:stretch>
            <a:fillRect/>
          </a:stretch>
        </p:blipFill>
        <p:spPr>
          <a:xfrm>
            <a:off x="6331306" y="1987906"/>
            <a:ext cx="2706624" cy="687629"/>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5/ka72a521bed.png">    </p:cNvPr>
          <p:cNvPicPr>
            <a:picLocks noChangeAspect="1"/>
          </p:cNvPicPr>
          <p:nvPr/>
        </p:nvPicPr>
        <p:blipFill>
          <a:blip r:embed="rId5"/>
          <a:stretch>
            <a:fillRect/>
          </a:stretch>
        </p:blipFill>
        <p:spPr>
          <a:xfrm>
            <a:off x="2020422" y="3566160"/>
            <a:ext cx="2405677" cy="705112"/>
          </a:xfrm>
          <a:prstGeom prst="rect">
            <a:avLst/>
          </a:prstGeom>
        </p:spPr>
      </p:pic>
      <p:pic>
        <p:nvPicPr>
          <p:cNvPr id="35" name="Image 5" descr="m_L6-5/k16b1a62fac.png">    </p:cNvPr>
          <p:cNvPicPr>
            <a:picLocks noChangeAspect="1"/>
          </p:cNvPicPr>
          <p:nvPr/>
        </p:nvPicPr>
        <p:blipFill>
          <a:blip r:embed="rId6"/>
          <a:stretch>
            <a:fillRect/>
          </a:stretch>
        </p:blipFill>
        <p:spPr>
          <a:xfrm>
            <a:off x="1491752" y="4426720"/>
            <a:ext cx="3463016" cy="385145"/>
          </a:xfrm>
          <a:prstGeom prst="rect">
            <a:avLst/>
          </a:prstGeom>
        </p:spPr>
      </p:pic>
      <p:pic>
        <p:nvPicPr>
          <p:cNvPr id="36" name="Image 6" descr="m_L6-5/k29c668bb9a.png">    </p:cNvPr>
          <p:cNvPicPr>
            <a:picLocks noChangeAspect="1"/>
          </p:cNvPicPr>
          <p:nvPr/>
        </p:nvPicPr>
        <p:blipFill>
          <a:blip r:embed="rId7"/>
          <a:stretch>
            <a:fillRect/>
          </a:stretch>
        </p:blipFill>
        <p:spPr>
          <a:xfrm>
            <a:off x="1473647" y="4967313"/>
            <a:ext cx="3499226" cy="388437"/>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5/k7f60ab0a1e.png">    </p:cNvPr>
          <p:cNvPicPr>
            <a:picLocks noChangeAspect="1"/>
          </p:cNvPicPr>
          <p:nvPr/>
        </p:nvPicPr>
        <p:blipFill>
          <a:blip r:embed="rId8"/>
          <a:stretch>
            <a:fillRect/>
          </a:stretch>
        </p:blipFill>
        <p:spPr>
          <a:xfrm>
            <a:off x="7320650" y="3566160"/>
            <a:ext cx="3235220" cy="342187"/>
          </a:xfrm>
          <a:prstGeom prst="rect">
            <a:avLst/>
          </a:prstGeom>
        </p:spPr>
      </p:pic>
      <p:pic>
        <p:nvPicPr>
          <p:cNvPr id="40" name="Image 8" descr="m_L6-5/k710a65c9f8.png">    </p:cNvPr>
          <p:cNvPicPr>
            <a:picLocks noChangeAspect="1"/>
          </p:cNvPicPr>
          <p:nvPr/>
        </p:nvPicPr>
        <p:blipFill>
          <a:blip r:embed="rId9"/>
          <a:stretch>
            <a:fillRect/>
          </a:stretch>
        </p:blipFill>
        <p:spPr>
          <a:xfrm>
            <a:off x="7894747" y="4063795"/>
            <a:ext cx="2087027" cy="365394"/>
          </a:xfrm>
          <a:prstGeom prst="rect">
            <a:avLst/>
          </a:prstGeom>
        </p:spPr>
      </p:pic>
      <p:pic>
        <p:nvPicPr>
          <p:cNvPr id="41" name="Image 9" descr="m_L6-5/k50c823457b.png">    </p:cNvPr>
          <p:cNvPicPr>
            <a:picLocks noChangeAspect="1"/>
          </p:cNvPicPr>
          <p:nvPr/>
        </p:nvPicPr>
        <p:blipFill>
          <a:blip r:embed="rId10"/>
          <a:stretch>
            <a:fillRect/>
          </a:stretch>
        </p:blipFill>
        <p:spPr>
          <a:xfrm>
            <a:off x="8353958" y="4584637"/>
            <a:ext cx="1168603" cy="7110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change of base formula</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5/k1046a5ff94.png">    </p:cNvPr>
          <p:cNvPicPr>
            <a:picLocks noChangeAspect="1"/>
          </p:cNvPicPr>
          <p:nvPr/>
        </p:nvPicPr>
        <p:blipFill>
          <a:blip r:embed="rId3"/>
          <a:stretch>
            <a:fillRect/>
          </a:stretch>
        </p:blipFill>
        <p:spPr>
          <a:xfrm>
            <a:off x="3381451" y="1944014"/>
            <a:ext cx="1978762" cy="775411"/>
          </a:xfrm>
          <a:prstGeom prst="rect">
            <a:avLst/>
          </a:prstGeom>
        </p:spPr>
      </p:pic>
      <p:pic>
        <p:nvPicPr>
          <p:cNvPr id="31" name="Image 3" descr="m_L6-5/k84af2564af.png">    </p:cNvPr>
          <p:cNvPicPr>
            <a:picLocks noChangeAspect="1"/>
          </p:cNvPicPr>
          <p:nvPr/>
        </p:nvPicPr>
        <p:blipFill>
          <a:blip r:embed="rId4"/>
          <a:stretch>
            <a:fillRect/>
          </a:stretch>
        </p:blipFill>
        <p:spPr>
          <a:xfrm>
            <a:off x="6000293" y="1951330"/>
            <a:ext cx="2779776" cy="760781"/>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5/ka7f4925935.png">    </p:cNvPr>
          <p:cNvPicPr>
            <a:picLocks noChangeAspect="1"/>
          </p:cNvPicPr>
          <p:nvPr/>
        </p:nvPicPr>
        <p:blipFill>
          <a:blip r:embed="rId5"/>
          <a:stretch>
            <a:fillRect/>
          </a:stretch>
        </p:blipFill>
        <p:spPr>
          <a:xfrm>
            <a:off x="1238701" y="3566160"/>
            <a:ext cx="2094598" cy="342187"/>
          </a:xfrm>
          <a:prstGeom prst="rect">
            <a:avLst/>
          </a:prstGeom>
        </p:spPr>
      </p:pic>
      <p:pic>
        <p:nvPicPr>
          <p:cNvPr id="35" name="Image 5" descr="m_L6-5/ke68e9c4b72.png">    </p:cNvPr>
          <p:cNvPicPr>
            <a:picLocks noChangeAspect="1"/>
          </p:cNvPicPr>
          <p:nvPr/>
        </p:nvPicPr>
        <p:blipFill>
          <a:blip r:embed="rId6"/>
          <a:stretch>
            <a:fillRect/>
          </a:stretch>
        </p:blipFill>
        <p:spPr>
          <a:xfrm>
            <a:off x="1813621" y="4063795"/>
            <a:ext cx="944758" cy="632033"/>
          </a:xfrm>
          <a:prstGeom prst="rect">
            <a:avLst/>
          </a:prstGeom>
        </p:spPr>
      </p:pic>
      <p:pic>
        <p:nvPicPr>
          <p:cNvPr id="36" name="Image 6" descr="m_L6-5/k678e423d58.png">    </p:cNvPr>
          <p:cNvPicPr>
            <a:picLocks noChangeAspect="1"/>
          </p:cNvPicPr>
          <p:nvPr/>
        </p:nvPicPr>
        <p:blipFill>
          <a:blip r:embed="rId7"/>
          <a:stretch>
            <a:fillRect/>
          </a:stretch>
        </p:blipFill>
        <p:spPr>
          <a:xfrm>
            <a:off x="1081187" y="4851276"/>
            <a:ext cx="2409627" cy="342351"/>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5/k9a996786b4.png">    </p:cNvPr>
          <p:cNvPicPr>
            <a:picLocks noChangeAspect="1"/>
          </p:cNvPicPr>
          <p:nvPr/>
        </p:nvPicPr>
        <p:blipFill>
          <a:blip r:embed="rId8"/>
          <a:stretch>
            <a:fillRect/>
          </a:stretch>
        </p:blipFill>
        <p:spPr>
          <a:xfrm>
            <a:off x="4620417" y="3566160"/>
            <a:ext cx="2920685" cy="342187"/>
          </a:xfrm>
          <a:prstGeom prst="rect">
            <a:avLst/>
          </a:prstGeom>
        </p:spPr>
      </p:pic>
      <p:pic>
        <p:nvPicPr>
          <p:cNvPr id="40" name="Image 8" descr="m_L6-5/k2dfb6326fe.png">    </p:cNvPr>
          <p:cNvPicPr>
            <a:picLocks noChangeAspect="1"/>
          </p:cNvPicPr>
          <p:nvPr/>
        </p:nvPicPr>
        <p:blipFill>
          <a:blip r:embed="rId9"/>
          <a:stretch>
            <a:fillRect/>
          </a:stretch>
        </p:blipFill>
        <p:spPr>
          <a:xfrm>
            <a:off x="5560649" y="4063795"/>
            <a:ext cx="1040221" cy="697870"/>
          </a:xfrm>
          <a:prstGeom prst="rect">
            <a:avLst/>
          </a:prstGeom>
        </p:spPr>
      </p:pic>
      <p:pic>
        <p:nvPicPr>
          <p:cNvPr id="41" name="Image 9" descr="m_L6-5/kf3a736d3a4.png">    </p:cNvPr>
          <p:cNvPicPr>
            <a:picLocks noChangeAspect="1"/>
          </p:cNvPicPr>
          <p:nvPr/>
        </p:nvPicPr>
        <p:blipFill>
          <a:blip r:embed="rId10"/>
          <a:stretch>
            <a:fillRect/>
          </a:stretch>
        </p:blipFill>
        <p:spPr>
          <a:xfrm>
            <a:off x="5809183" y="4917113"/>
            <a:ext cx="543154" cy="618866"/>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6-5/kdc7b70f365.png">    </p:cNvPr>
          <p:cNvPicPr>
            <a:picLocks noChangeAspect="1"/>
          </p:cNvPicPr>
          <p:nvPr/>
        </p:nvPicPr>
        <p:blipFill>
          <a:blip r:embed="rId11"/>
          <a:stretch>
            <a:fillRect/>
          </a:stretch>
        </p:blipFill>
        <p:spPr>
          <a:xfrm>
            <a:off x="8808600" y="3566160"/>
            <a:ext cx="2133840" cy="304351"/>
          </a:xfrm>
          <a:prstGeom prst="rect">
            <a:avLst/>
          </a:prstGeom>
        </p:spPr>
      </p:pic>
      <p:pic>
        <p:nvPicPr>
          <p:cNvPr id="45" name="Image 11" descr="m_L6-5/keba8b474c1.png">    </p:cNvPr>
          <p:cNvPicPr>
            <a:picLocks noChangeAspect="1"/>
          </p:cNvPicPr>
          <p:nvPr/>
        </p:nvPicPr>
        <p:blipFill>
          <a:blip r:embed="rId12"/>
          <a:stretch>
            <a:fillRect/>
          </a:stretch>
        </p:blipFill>
        <p:spPr>
          <a:xfrm>
            <a:off x="9337672" y="4022597"/>
            <a:ext cx="1075696" cy="605482"/>
          </a:xfrm>
          <a:prstGeom prst="rect">
            <a:avLst/>
          </a:prstGeom>
        </p:spPr>
      </p:pic>
      <p:pic>
        <p:nvPicPr>
          <p:cNvPr id="46" name="Image 12" descr="m_L6-5/k0f3773a6df.png">    </p:cNvPr>
          <p:cNvPicPr>
            <a:picLocks noChangeAspect="1"/>
          </p:cNvPicPr>
          <p:nvPr/>
        </p:nvPicPr>
        <p:blipFill>
          <a:blip r:embed="rId13"/>
          <a:stretch>
            <a:fillRect/>
          </a:stretch>
        </p:blipFill>
        <p:spPr>
          <a:xfrm>
            <a:off x="9150874" y="4780165"/>
            <a:ext cx="1449291" cy="605482"/>
          </a:xfrm>
          <a:prstGeom prst="rect">
            <a:avLst/>
          </a:prstGeom>
        </p:spPr>
      </p:pic>
      <p:pic>
        <p:nvPicPr>
          <p:cNvPr id="47" name="Image 13" descr="m_L6-5/k0c51b52e40.png">    </p:cNvPr>
          <p:cNvPicPr>
            <a:picLocks noChangeAspect="1"/>
          </p:cNvPicPr>
          <p:nvPr/>
        </p:nvPicPr>
        <p:blipFill>
          <a:blip r:embed="rId14"/>
          <a:stretch>
            <a:fillRect/>
          </a:stretch>
        </p:blipFill>
        <p:spPr>
          <a:xfrm>
            <a:off x="8661336" y="5537733"/>
            <a:ext cx="2428368" cy="63446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Logarithms and geometric sequences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5/k8fde06385b.png">    </p:cNvPr>
          <p:cNvPicPr>
            <a:picLocks noChangeAspect="1"/>
          </p:cNvPicPr>
          <p:nvPr/>
        </p:nvPicPr>
        <p:blipFill>
          <a:blip r:embed="rId3"/>
          <a:stretch>
            <a:fillRect/>
          </a:stretch>
        </p:blipFill>
        <p:spPr>
          <a:xfrm>
            <a:off x="2854757" y="2141525"/>
            <a:ext cx="1700784" cy="380390"/>
          </a:xfrm>
          <a:prstGeom prst="rect">
            <a:avLst/>
          </a:prstGeom>
        </p:spPr>
      </p:pic>
      <p:pic>
        <p:nvPicPr>
          <p:cNvPr id="31" name="Image 3" descr="m_L6-5/kb8d5e35c32.png">    </p:cNvPr>
          <p:cNvPicPr>
            <a:picLocks noChangeAspect="1"/>
          </p:cNvPicPr>
          <p:nvPr/>
        </p:nvPicPr>
        <p:blipFill>
          <a:blip r:embed="rId4"/>
          <a:stretch>
            <a:fillRect/>
          </a:stretch>
        </p:blipFill>
        <p:spPr>
          <a:xfrm>
            <a:off x="5195621" y="1997050"/>
            <a:ext cx="4111142" cy="669341"/>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5/kc09d22b65e.png">    </p:cNvPr>
          <p:cNvPicPr>
            <a:picLocks noChangeAspect="1"/>
          </p:cNvPicPr>
          <p:nvPr/>
        </p:nvPicPr>
        <p:blipFill>
          <a:blip r:embed="rId5"/>
          <a:stretch>
            <a:fillRect/>
          </a:stretch>
        </p:blipFill>
        <p:spPr>
          <a:xfrm>
            <a:off x="1868339" y="3566160"/>
            <a:ext cx="2709843" cy="767328"/>
          </a:xfrm>
          <a:prstGeom prst="rect">
            <a:avLst/>
          </a:prstGeom>
        </p:spPr>
      </p:pic>
      <p:pic>
        <p:nvPicPr>
          <p:cNvPr id="35" name="Image 5" descr="m_L6-5/kb6ffe7c51f.png">    </p:cNvPr>
          <p:cNvPicPr>
            <a:picLocks noChangeAspect="1"/>
          </p:cNvPicPr>
          <p:nvPr/>
        </p:nvPicPr>
        <p:blipFill>
          <a:blip r:embed="rId6"/>
          <a:stretch>
            <a:fillRect/>
          </a:stretch>
        </p:blipFill>
        <p:spPr>
          <a:xfrm>
            <a:off x="2056303" y="4488936"/>
            <a:ext cx="2333915" cy="342351"/>
          </a:xfrm>
          <a:prstGeom prst="rect">
            <a:avLst/>
          </a:prstGeom>
        </p:spPr>
      </p:pic>
      <p:pic>
        <p:nvPicPr>
          <p:cNvPr id="36" name="Image 6" descr="m_L6-5/kcda19136a9.png">    </p:cNvPr>
          <p:cNvPicPr>
            <a:picLocks noChangeAspect="1"/>
          </p:cNvPicPr>
          <p:nvPr/>
        </p:nvPicPr>
        <p:blipFill>
          <a:blip r:embed="rId7"/>
          <a:stretch>
            <a:fillRect/>
          </a:stretch>
        </p:blipFill>
        <p:spPr>
          <a:xfrm>
            <a:off x="1763329" y="4986735"/>
            <a:ext cx="2919862" cy="322600"/>
          </a:xfrm>
          <a:prstGeom prst="rect">
            <a:avLst/>
          </a:prstGeom>
        </p:spPr>
      </p:pic>
      <p:pic>
        <p:nvPicPr>
          <p:cNvPr id="37" name="Image 7" descr="m_L6-5/ke3446b5472.png">    </p:cNvPr>
          <p:cNvPicPr>
            <a:picLocks noChangeAspect="1"/>
          </p:cNvPicPr>
          <p:nvPr/>
        </p:nvPicPr>
        <p:blipFill>
          <a:blip r:embed="rId8"/>
          <a:stretch>
            <a:fillRect/>
          </a:stretch>
        </p:blipFill>
        <p:spPr>
          <a:xfrm>
            <a:off x="2861158" y="5464784"/>
            <a:ext cx="724205" cy="246888"/>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6-5/ke31f5e9b4d.png">    </p:cNvPr>
          <p:cNvPicPr>
            <a:picLocks noChangeAspect="1"/>
          </p:cNvPicPr>
          <p:nvPr/>
        </p:nvPicPr>
        <p:blipFill>
          <a:blip r:embed="rId9"/>
          <a:stretch>
            <a:fillRect/>
          </a:stretch>
        </p:blipFill>
        <p:spPr>
          <a:xfrm>
            <a:off x="7498656" y="3566160"/>
            <a:ext cx="2879208" cy="767328"/>
          </a:xfrm>
          <a:prstGeom prst="rect">
            <a:avLst/>
          </a:prstGeom>
        </p:spPr>
      </p:pic>
      <p:pic>
        <p:nvPicPr>
          <p:cNvPr id="41" name="Image 9" descr="m_L6-5/k683c51bf67.png">    </p:cNvPr>
          <p:cNvPicPr>
            <a:picLocks noChangeAspect="1"/>
          </p:cNvPicPr>
          <p:nvPr/>
        </p:nvPicPr>
        <p:blipFill>
          <a:blip r:embed="rId10"/>
          <a:stretch>
            <a:fillRect/>
          </a:stretch>
        </p:blipFill>
        <p:spPr>
          <a:xfrm>
            <a:off x="8214055" y="4488936"/>
            <a:ext cx="1448410" cy="306141"/>
          </a:xfrm>
          <a:prstGeom prst="rect">
            <a:avLst/>
          </a:prstGeom>
        </p:spPr>
      </p:pic>
      <p:pic>
        <p:nvPicPr>
          <p:cNvPr id="42" name="Image 10" descr="m_L6-5/k952fc46c1e.png">    </p:cNvPr>
          <p:cNvPicPr>
            <a:picLocks noChangeAspect="1"/>
          </p:cNvPicPr>
          <p:nvPr/>
        </p:nvPicPr>
        <p:blipFill>
          <a:blip r:embed="rId11"/>
          <a:stretch>
            <a:fillRect/>
          </a:stretch>
        </p:blipFill>
        <p:spPr>
          <a:xfrm>
            <a:off x="7656088" y="4950525"/>
            <a:ext cx="2564343" cy="632033"/>
          </a:xfrm>
          <a:prstGeom prst="rect">
            <a:avLst/>
          </a:prstGeom>
        </p:spPr>
      </p:pic>
      <p:pic>
        <p:nvPicPr>
          <p:cNvPr id="43" name="Image 11" descr="m_L6-5/kf78c562dc6.png">    </p:cNvPr>
          <p:cNvPicPr>
            <a:picLocks noChangeAspect="1"/>
          </p:cNvPicPr>
          <p:nvPr/>
        </p:nvPicPr>
        <p:blipFill>
          <a:blip r:embed="rId12"/>
          <a:stretch>
            <a:fillRect/>
          </a:stretch>
        </p:blipFill>
        <p:spPr>
          <a:xfrm>
            <a:off x="7771303" y="5738006"/>
            <a:ext cx="2333915"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6-5/kf77f64e5bd.png">    </p:cNvPr>
          <p:cNvPicPr>
            <a:picLocks noChangeAspect="1"/>
          </p:cNvPicPr>
          <p:nvPr/>
        </p:nvPicPr>
        <p:blipFill>
          <a:blip r:embed="rId3"/>
          <a:stretch>
            <a:fillRect/>
          </a:stretch>
        </p:blipFill>
        <p:spPr>
          <a:xfrm>
            <a:off x="1061618" y="2926080"/>
            <a:ext cx="2403043" cy="409651"/>
          </a:xfrm>
          <a:prstGeom prst="rect">
            <a:avLst/>
          </a:prstGeom>
        </p:spPr>
      </p:pic>
      <p:pic>
        <p:nvPicPr>
          <p:cNvPr id="34" name="Image 3" descr="m_L6-5/k7748778b25.png">    </p:cNvPr>
          <p:cNvPicPr>
            <a:picLocks noChangeAspect="1"/>
          </p:cNvPicPr>
          <p:nvPr/>
        </p:nvPicPr>
        <p:blipFill>
          <a:blip r:embed="rId4"/>
          <a:stretch>
            <a:fillRect/>
          </a:stretch>
        </p:blipFill>
        <p:spPr>
          <a:xfrm>
            <a:off x="571500" y="3610051"/>
            <a:ext cx="3383280" cy="303667"/>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each property is named beside the step that uses it, and the decimal is rounded only at the last step.</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6-5/k6b9f519b1d.png">    </p:cNvPr>
          <p:cNvPicPr>
            <a:picLocks noChangeAspect="1"/>
          </p:cNvPicPr>
          <p:nvPr/>
        </p:nvPicPr>
        <p:blipFill>
          <a:blip r:embed="rId5"/>
          <a:stretch>
            <a:fillRect/>
          </a:stretch>
        </p:blipFill>
        <p:spPr>
          <a:xfrm>
            <a:off x="4366260" y="2926080"/>
            <a:ext cx="3383280" cy="753348"/>
          </a:xfrm>
          <a:prstGeom prst="rect">
            <a:avLst/>
          </a:prstGeom>
        </p:spPr>
      </p:pic>
      <p:pic>
        <p:nvPicPr>
          <p:cNvPr id="41" name="Image 5" descr="m_L6-5/kab376a2abb.png">    </p:cNvPr>
          <p:cNvPicPr>
            <a:picLocks noChangeAspect="1"/>
          </p:cNvPicPr>
          <p:nvPr/>
        </p:nvPicPr>
        <p:blipFill>
          <a:blip r:embed="rId6"/>
          <a:stretch>
            <a:fillRect/>
          </a:stretch>
        </p:blipFill>
        <p:spPr>
          <a:xfrm>
            <a:off x="4624121" y="3953748"/>
            <a:ext cx="2867558" cy="811987"/>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18 is split into factors before any property is used, and the term number is a whole number checked in the formula.</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6-5/kad0f98dab3.png">    </p:cNvPr>
          <p:cNvPicPr>
            <a:picLocks noChangeAspect="1"/>
          </p:cNvPicPr>
          <p:nvPr/>
        </p:nvPicPr>
        <p:blipFill>
          <a:blip r:embed="rId7"/>
          <a:stretch>
            <a:fillRect/>
          </a:stretch>
        </p:blipFill>
        <p:spPr>
          <a:xfrm>
            <a:off x="8161020" y="2926080"/>
            <a:ext cx="3383280" cy="286765"/>
          </a:xfrm>
          <a:prstGeom prst="rect">
            <a:avLst/>
          </a:prstGeom>
        </p:spPr>
      </p:pic>
      <p:pic>
        <p:nvPicPr>
          <p:cNvPr id="48" name="Image 7" descr="m_L6-5/keb770e2768.png">    </p:cNvPr>
          <p:cNvPicPr>
            <a:picLocks noChangeAspect="1"/>
          </p:cNvPicPr>
          <p:nvPr/>
        </p:nvPicPr>
        <p:blipFill>
          <a:blip r:embed="rId8"/>
          <a:stretch>
            <a:fillRect/>
          </a:stretch>
        </p:blipFill>
        <p:spPr>
          <a:xfrm>
            <a:off x="8161020" y="3487165"/>
            <a:ext cx="3383280" cy="307854"/>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give a counter-example with numbers for the first, and a reason that starts from writing M as a power of b for the second.</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Red Sea tourism growth</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 model for yearly visitors to a Red Sea destination on the Jeddah coast: 20 000 visitors in year 1, growing by 20 percent each year. Model values only, not a forecast. Each visitor spends a model 1 500 SAR. Planners want to know when the model first passes 100 000 visitors.</a:t>
            </a:r>
            <a:endParaRPr lang="en-US" sz="1400" dirty="0"/>
          </a:p>
        </p:txBody>
      </p:sp>
      <p:pic>
        <p:nvPicPr>
          <p:cNvPr id="32" name="Image 2" descr="m_L6-5/k12a806993d.png">    </p:cNvPr>
          <p:cNvPicPr>
            <a:picLocks noChangeAspect="1"/>
          </p:cNvPicPr>
          <p:nvPr/>
        </p:nvPicPr>
        <p:blipFill>
          <a:blip r:embed="rId3"/>
          <a:stretch>
            <a:fillRect/>
          </a:stretch>
        </p:blipFill>
        <p:spPr>
          <a:xfrm>
            <a:off x="1254557" y="3566160"/>
            <a:ext cx="4257446" cy="327721"/>
          </a:xfrm>
          <a:prstGeom prst="rect">
            <a:avLst/>
          </a:prstGeom>
        </p:spPr>
      </p:pic>
      <p:pic>
        <p:nvPicPr>
          <p:cNvPr id="33" name="Image 3" descr="m_L6-5/k611ec5cc8f.png">    </p:cNvPr>
          <p:cNvPicPr>
            <a:picLocks noChangeAspect="1"/>
          </p:cNvPicPr>
          <p:nvPr/>
        </p:nvPicPr>
        <p:blipFill>
          <a:blip r:embed="rId4"/>
          <a:stretch>
            <a:fillRect/>
          </a:stretch>
        </p:blipFill>
        <p:spPr>
          <a:xfrm>
            <a:off x="2252350" y="4003609"/>
            <a:ext cx="2261860" cy="304312"/>
          </a:xfrm>
          <a:prstGeom prst="rect">
            <a:avLst/>
          </a:prstGeom>
        </p:spPr>
      </p:pic>
      <p:sp>
        <p:nvSpPr>
          <p:cNvPr id="34" name="Text 27"/>
          <p:cNvSpPr txBox="1"/>
          <p:nvPr/>
        </p:nvSpPr>
        <p:spPr>
          <a:xfrm>
            <a:off x="731520" y="4554809"/>
            <a:ext cx="5303520" cy="166311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Write the first four terms and the recursive rule, then check the fourth term with the formula.</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a logarithm and the change of base formula to find the first year with more than 100 000 visitors.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model revenue in that year, in millions of SAR.</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terms are 20 000, 24 000, 28 800 and 34 560, and the recursive rule says multiply by 1.2.</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exact expression for the year number is written before any decimal.</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year is justified by testing the visitors in the year before and the year itself.</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revenue is about 154.8 million SAR, written with units.</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divide by 20 000 first, then ask which power of 1.2 gives 5, and use ln on the top and the bottom.</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5/ke8eb503cad.png">    </p:cNvPr>
          <p:cNvPicPr>
            <a:picLocks noChangeAspect="1"/>
          </p:cNvPicPr>
          <p:nvPr/>
        </p:nvPicPr>
        <p:blipFill>
          <a:blip r:embed="rId3"/>
          <a:stretch>
            <a:fillRect/>
          </a:stretch>
        </p:blipFill>
        <p:spPr>
          <a:xfrm>
            <a:off x="685800" y="2743200"/>
            <a:ext cx="3200400" cy="339957"/>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5/k8f86d83273.png">    </p:cNvPr>
          <p:cNvPicPr>
            <a:picLocks noChangeAspect="1"/>
          </p:cNvPicPr>
          <p:nvPr/>
        </p:nvPicPr>
        <p:blipFill>
          <a:blip r:embed="rId4"/>
          <a:stretch>
            <a:fillRect/>
          </a:stretch>
        </p:blipFill>
        <p:spPr>
          <a:xfrm>
            <a:off x="4434840" y="2743200"/>
            <a:ext cx="3200400" cy="287253"/>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5/kbc8625f6a5.png">    </p:cNvPr>
          <p:cNvPicPr>
            <a:picLocks noChangeAspect="1"/>
          </p:cNvPicPr>
          <p:nvPr/>
        </p:nvPicPr>
        <p:blipFill>
          <a:blip r:embed="rId5"/>
          <a:stretch>
            <a:fillRect/>
          </a:stretch>
        </p:blipFill>
        <p:spPr>
          <a:xfrm>
            <a:off x="8183880" y="2743200"/>
            <a:ext cx="3200400" cy="742413"/>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one change of base question with a base that is not on the calculator, and one expand-or-condense question with three terms.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full solution on the back, naming the property beside every step.</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solve theirs.</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both questions have one correct answer, and your solution names a property or the change of base formula at every step.</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6-5/k8a2275d33d.png">    </p:cNvPr>
          <p:cNvPicPr>
            <a:picLocks noChangeAspect="1"/>
          </p:cNvPicPr>
          <p:nvPr/>
        </p:nvPicPr>
        <p:blipFill>
          <a:blip r:embed="rId3"/>
          <a:stretch>
            <a:fillRect/>
          </a:stretch>
        </p:blipFill>
        <p:spPr>
          <a:xfrm>
            <a:off x="8046720" y="3703320"/>
            <a:ext cx="1828800" cy="632033"/>
          </a:xfrm>
          <a:prstGeom prst="rect">
            <a:avLst/>
          </a:prstGeom>
        </p:spPr>
      </p:pic>
      <p:pic>
        <p:nvPicPr>
          <p:cNvPr id="40" name="Image 3" descr="m_L6-5/k389b2592de.png">    </p:cNvPr>
          <p:cNvPicPr>
            <a:picLocks noChangeAspect="1"/>
          </p:cNvPicPr>
          <p:nvPr/>
        </p:nvPicPr>
        <p:blipFill>
          <a:blip r:embed="rId4"/>
          <a:stretch>
            <a:fillRect/>
          </a:stretch>
        </p:blipFill>
        <p:spPr>
          <a:xfrm>
            <a:off x="7347387" y="4426793"/>
            <a:ext cx="3227466" cy="289682"/>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6-6 Exponential and Logarithmic Equations and Inequalities.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HSF.BF.A.2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6-5/k878386ac26.png">    </p:cNvPr>
          <p:cNvPicPr>
            <a:picLocks noChangeAspect="1"/>
          </p:cNvPicPr>
          <p:nvPr/>
        </p:nvPicPr>
        <p:blipFill>
          <a:blip r:embed="rId3"/>
          <a:stretch>
            <a:fillRect/>
          </a:stretch>
        </p:blipFill>
        <p:spPr>
          <a:xfrm>
            <a:off x="1132942" y="2148840"/>
            <a:ext cx="2260397" cy="608990"/>
          </a:xfrm>
          <a:prstGeom prst="rect">
            <a:avLst/>
          </a:prstGeom>
        </p:spPr>
      </p:pic>
      <p:sp>
        <p:nvSpPr>
          <p:cNvPr id="15"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6"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7" name="Image 3" descr="m_L6-5/k86bf248708.png">    </p:cNvPr>
          <p:cNvPicPr>
            <a:picLocks noChangeAspect="1"/>
          </p:cNvPicPr>
          <p:nvPr/>
        </p:nvPicPr>
        <p:blipFill>
          <a:blip r:embed="rId4"/>
          <a:stretch>
            <a:fillRect/>
          </a:stretch>
        </p:blipFill>
        <p:spPr>
          <a:xfrm>
            <a:off x="1097280" y="3566160"/>
            <a:ext cx="1445484" cy="614477"/>
          </a:xfrm>
          <a:prstGeom prst="rect">
            <a:avLst/>
          </a:prstGeom>
        </p:spPr>
      </p:pic>
      <p:sp>
        <p:nvSpPr>
          <p:cNvPr id="18"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19" name="Image 4" descr="m_L6-5/k806c58d0dc.png">    </p:cNvPr>
          <p:cNvPicPr>
            <a:picLocks noChangeAspect="1"/>
          </p:cNvPicPr>
          <p:nvPr/>
        </p:nvPicPr>
        <p:blipFill>
          <a:blip r:embed="rId5"/>
          <a:stretch>
            <a:fillRect/>
          </a:stretch>
        </p:blipFill>
        <p:spPr>
          <a:xfrm>
            <a:off x="1097280" y="4419600"/>
            <a:ext cx="579364" cy="585216"/>
          </a:xfrm>
          <a:prstGeom prst="rect">
            <a:avLst/>
          </a:prstGeom>
        </p:spPr>
      </p:pic>
      <p:sp>
        <p:nvSpPr>
          <p:cNvPr id="20"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1" name="Image 5" descr="m_L6-5/k13feeaf188.png">    </p:cNvPr>
          <p:cNvPicPr>
            <a:picLocks noChangeAspect="1"/>
          </p:cNvPicPr>
          <p:nvPr/>
        </p:nvPicPr>
        <p:blipFill>
          <a:blip r:embed="rId6"/>
          <a:stretch>
            <a:fillRect/>
          </a:stretch>
        </p:blipFill>
        <p:spPr>
          <a:xfrm>
            <a:off x="1097280" y="5273040"/>
            <a:ext cx="599846" cy="550103"/>
          </a:xfrm>
          <a:prstGeom prst="rect">
            <a:avLst/>
          </a:prstGeom>
        </p:spPr>
      </p:pic>
      <p:sp>
        <p:nvSpPr>
          <p:cNvPr id="22"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3"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4"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5" name="Image 6" descr="m_L6-5/k68a07b1275.png">    </p:cNvPr>
          <p:cNvPicPr>
            <a:picLocks noChangeAspect="1"/>
          </p:cNvPicPr>
          <p:nvPr/>
        </p:nvPicPr>
        <p:blipFill>
          <a:blip r:embed="rId7"/>
          <a:stretch>
            <a:fillRect/>
          </a:stretch>
        </p:blipFill>
        <p:spPr>
          <a:xfrm>
            <a:off x="4724705" y="2148840"/>
            <a:ext cx="2666390" cy="260604"/>
          </a:xfrm>
          <a:prstGeom prst="rect">
            <a:avLst/>
          </a:prstGeom>
        </p:spPr>
      </p:pic>
      <p:pic>
        <p:nvPicPr>
          <p:cNvPr id="26" name="Image 7" descr="m_L6-5/k95dcfd17cd.png">    </p:cNvPr>
          <p:cNvPicPr>
            <a:picLocks noChangeAspect="1"/>
          </p:cNvPicPr>
          <p:nvPr/>
        </p:nvPicPr>
        <p:blipFill>
          <a:blip r:embed="rId8"/>
          <a:stretch>
            <a:fillRect/>
          </a:stretch>
        </p:blipFill>
        <p:spPr>
          <a:xfrm>
            <a:off x="4742536" y="2500884"/>
            <a:ext cx="2630729" cy="271577"/>
          </a:xfrm>
          <a:prstGeom prst="rect">
            <a:avLst/>
          </a:prstGeom>
        </p:spPr>
      </p:pic>
      <p:sp>
        <p:nvSpPr>
          <p:cNvPr id="27"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8"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29" name="Image 8" descr="m_L6-5/kcfcff163c3.png">    </p:cNvPr>
          <p:cNvPicPr>
            <a:picLocks noChangeAspect="1"/>
          </p:cNvPicPr>
          <p:nvPr/>
        </p:nvPicPr>
        <p:blipFill>
          <a:blip r:embed="rId9"/>
          <a:stretch>
            <a:fillRect/>
          </a:stretch>
        </p:blipFill>
        <p:spPr>
          <a:xfrm>
            <a:off x="4892040" y="3566160"/>
            <a:ext cx="2834640" cy="275667"/>
          </a:xfrm>
          <a:prstGeom prst="rect">
            <a:avLst/>
          </a:prstGeom>
        </p:spPr>
      </p:pic>
      <p:sp>
        <p:nvSpPr>
          <p:cNvPr id="30"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1" name="Image 9" descr="m_L6-5/kc216d10682.png">    </p:cNvPr>
          <p:cNvPicPr>
            <a:picLocks noChangeAspect="1"/>
          </p:cNvPicPr>
          <p:nvPr/>
        </p:nvPicPr>
        <p:blipFill>
          <a:blip r:embed="rId10"/>
          <a:stretch>
            <a:fillRect/>
          </a:stretch>
        </p:blipFill>
        <p:spPr>
          <a:xfrm>
            <a:off x="4892040" y="4419600"/>
            <a:ext cx="1167506" cy="228234"/>
          </a:xfrm>
          <a:prstGeom prst="rect">
            <a:avLst/>
          </a:prstGeom>
        </p:spPr>
      </p:pic>
      <p:sp>
        <p:nvSpPr>
          <p:cNvPr id="32"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3" name="Image 10" descr="m_L6-5/k2a5e29a55f.png">    </p:cNvPr>
          <p:cNvPicPr>
            <a:picLocks noChangeAspect="1"/>
          </p:cNvPicPr>
          <p:nvPr/>
        </p:nvPicPr>
        <p:blipFill>
          <a:blip r:embed="rId11"/>
          <a:stretch>
            <a:fillRect/>
          </a:stretch>
        </p:blipFill>
        <p:spPr>
          <a:xfrm>
            <a:off x="4892040" y="5273040"/>
            <a:ext cx="1542044" cy="277978"/>
          </a:xfrm>
          <a:prstGeom prst="rect">
            <a:avLst/>
          </a:prstGeom>
        </p:spPr>
      </p:pic>
      <p:sp>
        <p:nvSpPr>
          <p:cNvPr id="34"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5"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6"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7" name="Image 11" descr="m_L6-5/k73196e754d.png">    </p:cNvPr>
          <p:cNvPicPr>
            <a:picLocks noChangeAspect="1"/>
          </p:cNvPicPr>
          <p:nvPr/>
        </p:nvPicPr>
        <p:blipFill>
          <a:blip r:embed="rId12"/>
          <a:stretch>
            <a:fillRect/>
          </a:stretch>
        </p:blipFill>
        <p:spPr>
          <a:xfrm>
            <a:off x="8936431" y="2148840"/>
            <a:ext cx="1832458" cy="271577"/>
          </a:xfrm>
          <a:prstGeom prst="rect">
            <a:avLst/>
          </a:prstGeom>
        </p:spPr>
      </p:pic>
      <p:pic>
        <p:nvPicPr>
          <p:cNvPr id="38" name="Image 12" descr="m_L6-5/kb999c888ab.png">    </p:cNvPr>
          <p:cNvPicPr>
            <a:picLocks noChangeAspect="1"/>
          </p:cNvPicPr>
          <p:nvPr/>
        </p:nvPicPr>
        <p:blipFill>
          <a:blip r:embed="rId13"/>
          <a:stretch>
            <a:fillRect/>
          </a:stretch>
        </p:blipFill>
        <p:spPr>
          <a:xfrm>
            <a:off x="9295790" y="2511857"/>
            <a:ext cx="1113739" cy="271577"/>
          </a:xfrm>
          <a:prstGeom prst="rect">
            <a:avLst/>
          </a:prstGeom>
        </p:spPr>
      </p:pic>
      <p:sp>
        <p:nvSpPr>
          <p:cNvPr id="39"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0"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1" name="Image 13" descr="m_L6-5/k5eac50a095.png">    </p:cNvPr>
          <p:cNvPicPr>
            <a:picLocks noChangeAspect="1"/>
          </p:cNvPicPr>
          <p:nvPr/>
        </p:nvPicPr>
        <p:blipFill>
          <a:blip r:embed="rId14"/>
          <a:stretch>
            <a:fillRect/>
          </a:stretch>
        </p:blipFill>
        <p:spPr>
          <a:xfrm>
            <a:off x="8686800" y="3566160"/>
            <a:ext cx="1793687" cy="620329"/>
          </a:xfrm>
          <a:prstGeom prst="rect">
            <a:avLst/>
          </a:prstGeom>
        </p:spPr>
      </p:pic>
      <p:sp>
        <p:nvSpPr>
          <p:cNvPr id="42"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3" name="Image 14" descr="m_L6-5/k596857d4f6.png">    </p:cNvPr>
          <p:cNvPicPr>
            <a:picLocks noChangeAspect="1"/>
          </p:cNvPicPr>
          <p:nvPr/>
        </p:nvPicPr>
        <p:blipFill>
          <a:blip r:embed="rId15"/>
          <a:stretch>
            <a:fillRect/>
          </a:stretch>
        </p:blipFill>
        <p:spPr>
          <a:xfrm>
            <a:off x="8686800" y="4419600"/>
            <a:ext cx="1781983" cy="561807"/>
          </a:xfrm>
          <a:prstGeom prst="rect">
            <a:avLst/>
          </a:prstGeom>
        </p:spPr>
      </p:pic>
      <p:sp>
        <p:nvSpPr>
          <p:cNvPr id="44"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5" name="Image 15" descr="m_L6-5/ke20874537a.png">    </p:cNvPr>
          <p:cNvPicPr>
            <a:picLocks noChangeAspect="1"/>
          </p:cNvPicPr>
          <p:nvPr/>
        </p:nvPicPr>
        <p:blipFill>
          <a:blip r:embed="rId16"/>
          <a:stretch>
            <a:fillRect/>
          </a:stretch>
        </p:blipFill>
        <p:spPr>
          <a:xfrm>
            <a:off x="8686800" y="5273040"/>
            <a:ext cx="901233" cy="5501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Products become sums, quotients become differences, powers come to the front, and the change of base formula turns any logarithm into a ratio you can evaluate.</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6-5 Properties of Logarithms presentation</dc:title>
  <dc:subject>PptxGenJS Presentation</dc:subject>
  <dc:creator>Mr Malek Thiab</dc:creator>
  <cp:lastModifiedBy>Mr Malek Thiab</cp:lastModifiedBy>
  <cp:revision>1</cp:revision>
  <dcterms:created xsi:type="dcterms:W3CDTF">2026-10-07T11:27:53Z</dcterms:created>
  <dcterms:modified xsi:type="dcterms:W3CDTF">2026-10-07T11:27:53Z</dcterms:modified>
</cp:coreProperties>
</file>