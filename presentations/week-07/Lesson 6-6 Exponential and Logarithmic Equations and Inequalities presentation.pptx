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6-6: Exponential and
Logarithmic Equations and Inequalities.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(Exponential equations: match the bases; Exponential inequalities: check the base; Logarithmic equations: rules, then check; Use logarithms when the bases will not match), Practice (Practice, Apply, Investigate), Production (Red Sea resort visitor targets),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exponential equation, exponential inequality, logarithmic equation, logarithmic inequality.
Standards are listed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125 = 5^3, so 5^x = 5^3 and x = 3. Q2: 16 = 2^4, so 16^x = (2^4)^x = 2^(4x). Q3: log_3(81) = 4 because 3^4 = 81; log_2(1/8) = -3 because 2^(-3) = 1/8. Verbal misconceptions: Q1 'divide 125 by 5' (x = 25); Q2 'multiply 16 by x' or writing 2^(16x), and forgetting to multiply the exponents in a power of a power; Q3 giving log_2(1/8) = 3 (sign error) or 'log_3 81 = 27'. Adaptive routing: if &gt;30% miss Q1 or Q2, route to slide 5 (block 1) and start at Example A before anything else; if &gt;30% miss Q3, spend 3 minutes on the meaning of a logarithm (log_b(c) is the exponent that b needs to make c) and then go to slide 7 (block 3). If 90% of the class gets all three right, go quickly through slide 5 and slide 6 and send them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Example A: 2^(x+1) = 32 and 32 = 2^5, so the bases match and the exponents are equal: x + 1 = 5, x = 4. Check: 2^5 = 32. Example B: 9 = 3^2 and 27 = 3^3, so 9^x = 3^(2x) and 27^(x-1) = 3^(3x-3); then 2x = 3x - 3 gives x = 3. Check: 9^3 = 729 and 27^2 = 729. Example C: (1/4)^x = (2^(-2))^x = 2^(-2x) and 8^(x-2) = 2^(3x-6); then -2x = 3x - 6 gives 5x = 6, x = 6/5. Check: both sides equal 2^(-12/5). Why it is allowed (HSA.REI.A.1): the exponential function with base b (b &gt; 0, b not 1) is one-to-one, so b^m = b^n can only happen when m = n; say each step aloud as 'because the previous line says...'. Structure (HSA.SSE.A.2): see 9 as 3^2, see 1/4 as 2^(-2). Verbal misconceptions: 'multiply the exponents across' or 'divide the bases' (9^x = 27^(x-1) does not give 9x = 27(x-1)); not distributing the 3 in 3(x - 1), giving 3x - 1; writing 1/4 as 2^2 (sign of the exponent); equating exponents before the bases match. Adaptive routing: if &gt;30% miss Diagnose Q1 or Q2, redo Example A with 5^(x+1) = 625 (x = 3) before Example B; if &gt;30% cannot rewrite 1/4 as a power of 2, return to slide 4 Q2 and rebuild negative exponents; if &gt;30% miss Example B, model 4^x = 8^(x-1) once more (4 = 2^2, 8 = 2^3, x = 3). Gate Q1 routes back to this slide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Example A: 27 = 3^3 and the base 3 is greater than 1, so the direction stays: 2x - 1 &gt; 3, x &gt; 2. Check: x = 3 gives 3^5 = 243 &gt; 27 (true); x = 1 gives 3^1 = 3 &gt; 27 (false). Example B: 1/16 = (1/2)^4. The base 1/2 is between 0 and 1, so the exponential function is DECREASING and the inequality flips: x &gt; 4. Check: x = 5 gives 1/32 &lt; 1/16 (true); x = 3 gives 1/8 &lt; 1/16 (false). Example C: 4 = 2^2 and 8 = 2^3, base 2 is greater than 1: 2x &lt;= 3x - 3 gives -x &lt;= -3, so x &gt;= 3 (dividing by -1 flips, a second flip that students forget). Check: x = 3 gives 64 &lt;= 64 (true, so 3 is included); x = 2 gives 16 &lt;= 8 (false). Say aloud: a bigger exponent means a bigger value only when the base is bigger than 1. Verbal misconceptions: never flipping for a base between 0 and 1; flipping every time (even with base 3); flipping when moving terms across but forgetting the flip when dividing by a negative; writing x &gt; 4 as x &lt; 4 by reading the inequality in the wrong direction. Adaptive routing: if &gt;30% fail to flip in Example B, test x = 5 and x = 3 together in the original inequality; if &gt;30% miss Example C, replay the line 2x &lt;= 3x - 3 and subtract 3x slowly; if &gt;30% miss Apply 1 later, return to this slide (slide 6). Gate Q3 routes back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Example A: the arguments must be positive, so x + 3 &gt; 0 and x - 3 &gt; 0, which gives x &gt; 3. Combine with the product rule: log_2((x+3)(x-3)) = log_2(x^2 - 9) = 4. Convert to exponential form: x^2 - 9 = 2^4 = 16, so x^2 = 25 and x = 5 or x = -5. Test the domain x &gt; 3: x = 5 works (log_2 8 + log_2 2 = 3 + 1 = 4), x = -5 makes x + 3 = -2 and x - 3 = -8, so the logarithms do not exist: -5 is an EXTRANEOUS solution. Example B: log_5(3x+1) = 2 means 3x + 1 = 5^2 = 25, so x = 8. Check: 3(8) + 1 = 25 &gt; 0 and log_5 25 = 2. Example C: log_2(x-1) &lt; 3 needs two conditions. Domain: x - 1 &gt; 0. Inequality: the base 2 is greater than 1, so the direction stays: x - 1 &lt; 2^3 = 8. Together 0 &lt; x - 1 &lt; 8, so 1 &lt; x &lt; 9. Check: x = 5 gives log_2 4 = 2 &lt; 3 (true); x = 0 or x = 10 fail (not in the domain, or log_2 9 &gt; 3). For a base between 0 and 1 the inequality flips: log_(1/2)(x) &gt; 2 gives 0 &lt; x &lt; 1/4. Verbal misconceptions: keeping x = -5 because the quadratic gave it; 'the log of a negative is a negative number'; forgetting the domain condition in an inequality and answering x &lt; 9; splitting log(x+3) + log(x-3) as log(2x). Adaptive routing: if &gt;30% keep x = -5 in Example A, stay and test both candidates in the ORIGINAL equation on the board; if &gt;30% cannot convert log form to exponential form, go to slide 4 Q3; if &gt;30% miss Example C, redo it with the number line showing domain and inequality as two overlapping conditions. Gate Q2 routes back to this slide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(calculator allowed here). Example A: 20 is not a power of 2, so use the logarithm: 2^x = 20 means x = log_2(20) = ln(20)/ln(2) = 2.9957/0.6931, about 4.32. Check: 2^4.32 is about 20. Example B (exponential model, HSF.LE.A.4 with base e): divide by 1000: e^(0.05t) = 3; take ln of both sides: 0.05t = ln 3 = 1.0986; t = 1.0986/0.05 = 21.97, about 22.0 years. Example C: 5^x &gt; 40 means x &gt; log_5(40) = ln 40 / ln 5 = 3.6889/1.6094, about 2.29; the base 5 is greater than 1, so the direction stays. Check: 5^2.3 is about 40.4, which is greater than 40. Keep the exact form first, decimal second. Verbal misconceptions: 'ln(20)/ln(2) = ln(10)' (dividing the arguments); 'x = 20/2 = 10'; forgetting to divide by 0.05 or dividing the wrong way (multiplying by 0.05); rounding ln 3 early; writing log_2(20) = log(20) / 2. Adaptive routing: if &gt;30% give x = 10 in Example A, return to slide 4 Q3 and the meaning of a logarithm; if &gt;30% miss the division by 0.05, replay Example B step by step; if &gt;30% cannot choose between matching bases and using logarithms, ask 'is 20 a power of 2?' and route to slide 5 for the matching case. Production Task 1 routes back to this slide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81 = 3^4, so x - 2 = 4 and x = 6. Check: 3^4 = 81. Practice 2: log_4(x+2) = 3 means x + 2 = 4^3 = 64, so x = 62. Check: log_4(64) = 3. Apply 1: (1/3)^x &gt; 9; 9 = 3^2 and (1/3)^x = 3^(-x), so -x &gt; 2 and x &lt; -2 (base 3 is greater than 1, and dividing by -1 flips). Check: x = -3 gives 27 &gt; 9 (true); x = -1 gives 3 &gt; 9 (false). Apply 2: domain x &gt; 2; product rule: log_3(x(x-2)) = 1, so x^2 - 2x = 3, x^2 - 2x - 3 = 0, (x - 3)(x + 1) = 0, x = 3 or x = -1; x = -1 fails the domain, so x = 3. Check: log_3 3 + log_3 1 = 1 + 0 = 1. Investigate 1: log_2(x^2) = 2 gives x^2 = 4, x = 2 or x = -2, and both work because x^2 is positive (log_2(4) = 2). But 2 log_2(x) = 2 needs x &gt; 0, so only x = 2. The two equations have different domains: the power rule 'log(x^2) = 2 log x' is only valid for x &gt; 0. Investigate 2: log_(1/2)(x) &gt; 2 needs x &gt; 0; (1/2)^2 = 1/4; the function log_(1/2) is DECREASING (base below 1), so the sign flips: 0 &lt; x &lt; 1/4. Test: x = 1/8 gives 3 &gt; 2 (true); x = 1/2 gives 1 &gt; 2 (false). Verbal misconceptions: Practice 2 answering 12 (3 x 4) or 64; Apply 1 forgetting to flip, x &gt; -2; Apply 2 keeping x = -1; Investigate 1 'both equations are the same'. Adaptive routing: if &gt;30% miss Practice 1, route to slide 5 Example A; Practice 2, slide 7 Example B; Apply 1, slide 6 Example B; Apply 2, slide 7 Example A; Investigate 1, slide 7 and the domain; Investigate 2, slide 6 then slide 7 Example C.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not forecasts. Task 1: 40000(1.25)^t = 125000, so (1.25)^t = 3.125 = 25/8. Then t = log_1.25(3.125) = ln(3.125)/ln(1.25) = 1.1394/0.2231 = 5.106, about 5.1 years. Check: 40000 x 1.25^5.106 = 125000. Task 2: 40000(1.25)^t &gt; 200000, so (1.25)^t &gt; 5 and t &gt; ln5/ln1.25 = 1.6094/0.2231 = 7.21 (base 1.25 is greater than 1, so the sign stays). A(7) = 190 735 is below 200 000 and A(8) = 238 419 is above it, so 8 whole years are needed. Task 3: B(t) = 160000 gives 2^(t/3) = 8 = 2^3, so t/3 = 3 and t = 9 years (common base, no calculator). For Resort A: (1.25)^t = 4, t = ln4/ln1.25 = 1.3863/0.2231 = 6.21 years. 6.2 is less than 9, so Resort A reaches 160 000 first. Verbal misconceptions: dividing 125000 by 40000 and forgetting that this is a ratio of 3.125, not t; answering 7 for Task 2 (rounding down: A(7) is still below target); writing t/3 = 8 and getting t = 24 (forgetting to match the bases first); comparing 6.2 and 9 the wrong way. Adaptive routing: if &gt;30% cannot start Task 1, go back to slide 8 Example B (the e-model pattern); if &gt;30% miss Task 2, go to slide 6 (inequality direction) and slide 8 Example C; if &gt;30% miss Task 3, go to slide 5 Example B. Early finishers: find when Resort B first exceeds 200 000 (2^(t/3) &gt; 10, t &gt; 9.97, so 10 whole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4 = 2^2 and 8 = 2^3, so 2^(2x+2) = 2^(3x); 2x + 2 = 3x; x = 2. Check: 4^3 = 64 = 8^2. Q2: domain x &gt; 0; x(x+6) = 3^3 = 27, x^2 + 6x - 27 = 0, (x + 9)(x - 3) = 0, x = 3 or x = -9; x = -9 fails the domain, so x = 3. Check: log_3 3 + log_3 9 = 1 + 2 = 3. Q3: 8 = 2^3 and (1/2)^x = 2^(-x), so -x &gt; 3 and x &lt; -3. Check: x = -4 gives 16 &gt; 8 (true); x = -2 gives 4 &gt; 8 (false). Verbal misconceptions: Q1 'x + 1 = x' by dividing the bases, or 2x + 2 = 3x solved as x = -2; Q2 keeping x = -9, or 3 x 3 = 9 for the right-hand side; Q3 answering x &gt; -3 (not flipping) or x &lt; 3 (sign slip on the exponent). Adaptive routing: Q1 missed, route to slide 5 (block 1); Q2 missed, route to slide 7 (block 3); Q3 missed, route to slide 6 (block 2).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Worked solutions. Exit 1: domain x &gt; 2; x(x-2) = 2^3 = 8, x^2 - 2x - 8 = 0, (x - 4)(x + 2) = 0, x = 4 or x = -2; x = -2 fails the domain, so x = 4. Check: log_2 4 + log_2 2 = 2 + 1 = 3. Exit 2: 7^x = 30 gives x = ln30/ln7 = 3.4012/1.9459 = 1.7479, so x = 1.75 to 3 s.f. Check: 7^1.75 is about 30.1. Create step: a good equation looks like log_2(x + a) + log_2(x - a) = c, which gives x^2 = a^2 + 2^c and one negative candidate; check that the partner can find exactly one valid solution. Verbal misconceptions: Exit 1 keeping -2, or writing log_2(x) + log_2(x-2) = log_2(2x - 2); Exit 2 writing x = 30/7 or ln(30/7). Adaptive routing: if &gt;30% miss exit 1, begin 6-7 with a ten-minute recap of slide 7 Example A; if &gt;30% miss exit 2, open with slide 8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global style): 9 = 3^2 and 27 = 3^3, so 3^(2(x-1)) = 3^(3x/2); the exponents are equal: 2x - 2 = 3x/2; multiply by 2: 4x - 4 = 3x; x = 4. Check: 9^3 = 729 = 27^2. Trap: equating 9 and 27 bases without converting, or distributing 2(x - 1) as 2x - 1 (partial step); the wrong option x = -4 comes from a sign slip. GAT/Qudurat quantitative comparison: A = 3 because 2^3 = 8; B: 4^b = 2^(2b) = 2^3 so b = 3/2; 3 is greater than 3/2, so A is greater. Trap: assuming both quantities are equal because both equations equal 8, or computing b = 2 from 4^2 = 16 wrongly. SAAT/Tahsili: x(x - 1) = 2^1 = 2, x^2 - x - 2 = 0, (x - 2)(x + 1) = 0; the domain needs x &gt; 0 and x - 1 &gt; 0, so x &gt; 1: x = 2 only. Trap: keeping x = -1 (extraneous). Adaptive routing: if &gt;30% miss the SAT item, return to slide 5 Example B; the GAT item, slide 5 Example C; the SAAT item, slide 7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To solve an exponential equation, match the bases or take a logarithm; to solve a logarithmic equation, use the rules and then check every answer in the domain; flip an inequality only when the base is below 1. Collect the Time to Check responses. Next lesson: 6-7 Geometric Sequences and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11  ·  ALGEBRA II  ·  TOPIC 6</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6-6</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400" b="1" dirty="0">
                <a:solidFill>
                  <a:srgbClr val="1F3864"/>
                </a:solidFill>
                <a:latin typeface="Cambria" pitchFamily="34" charset="0"/>
                <a:ea typeface="Cambria" pitchFamily="34" charset="-122"/>
                <a:cs typeface="Cambria" pitchFamily="34" charset="-120"/>
              </a:rPr>
              <a:t>Exponential and</a:t>
            </a:r>
            <a:endParaRPr lang="en-US" sz="3400" dirty="0"/>
          </a:p>
          <a:p>
            <a:pPr indent="0" marL="0">
              <a:buNone/>
            </a:pPr>
            <a:r>
              <a:rPr lang="en-US" sz="3400" b="1" dirty="0">
                <a:solidFill>
                  <a:srgbClr val="1F3864"/>
                </a:solidFill>
                <a:latin typeface="Cambria" pitchFamily="34" charset="0"/>
                <a:ea typeface="Cambria" pitchFamily="34" charset="-122"/>
                <a:cs typeface="Cambria" pitchFamily="34" charset="-120"/>
              </a:rPr>
              <a:t>Logarithmic Equations</a:t>
            </a:r>
            <a:endParaRPr lang="en-US" sz="3400" dirty="0"/>
          </a:p>
          <a:p>
            <a:pPr indent="0" marL="0">
              <a:buNone/>
            </a:pPr>
            <a:r>
              <a:rPr lang="en-US" sz="3400" b="1" dirty="0">
                <a:solidFill>
                  <a:srgbClr val="1F3864"/>
                </a:solidFill>
                <a:latin typeface="Cambria" pitchFamily="34" charset="0"/>
                <a:ea typeface="Cambria" pitchFamily="34" charset="-122"/>
                <a:cs typeface="Cambria" pitchFamily="34" charset="-120"/>
              </a:rPr>
              <a:t>and Inequalities</a:t>
            </a:r>
            <a:endParaRPr lang="en-US" sz="34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Exponential and Logarithmic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6-6/k7ce8d8ca3f.png">    </p:cNvPr>
          <p:cNvPicPr>
            <a:picLocks noChangeAspect="1"/>
          </p:cNvPicPr>
          <p:nvPr/>
        </p:nvPicPr>
        <p:blipFill>
          <a:blip r:embed="rId4"/>
          <a:stretch>
            <a:fillRect/>
          </a:stretch>
        </p:blipFill>
        <p:spPr>
          <a:xfrm>
            <a:off x="8412480" y="3017520"/>
            <a:ext cx="3291840" cy="387506"/>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365760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31089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Solve exponential equations and inequalities by applying the concept of a common base.</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Solve logarithmic equations and inequalities by using the rules of logarithms.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Use logarithms to solve exponential equations and models.</a:t>
            </a:r>
            <a:endParaRPr lang="en-US" sz="1700" dirty="0"/>
          </a:p>
        </p:txBody>
      </p:sp>
      <p:sp>
        <p:nvSpPr>
          <p:cNvPr id="14" name="Shape 9"/>
          <p:cNvSpPr/>
          <p:nvPr/>
        </p:nvSpPr>
        <p:spPr>
          <a:xfrm>
            <a:off x="457200" y="5074920"/>
            <a:ext cx="5760720" cy="1234440"/>
          </a:xfrm>
          <a:prstGeom prst="roundRect">
            <a:avLst>
              <a:gd name="adj" fmla="val 888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731520" y="51663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ESSENTIAL QUESTION</a:t>
            </a:r>
            <a:endParaRPr lang="en-US" sz="1100" dirty="0"/>
          </a:p>
        </p:txBody>
      </p:sp>
      <p:sp>
        <p:nvSpPr>
          <p:cNvPr id="16" name="Text 11"/>
          <p:cNvSpPr txBox="1"/>
          <p:nvPr/>
        </p:nvSpPr>
        <p:spPr>
          <a:xfrm>
            <a:off x="731520" y="5413248"/>
            <a:ext cx="521208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How can we solve exponential and logarithmic equations and inequalities?</a:t>
            </a:r>
            <a:endParaRPr lang="en-US" sz="1250" dirty="0"/>
          </a:p>
        </p:txBody>
      </p:sp>
      <p:sp>
        <p:nvSpPr>
          <p:cNvPr id="17" name="Text 12"/>
          <p:cNvSpPr txBox="1"/>
          <p:nvPr/>
        </p:nvSpPr>
        <p:spPr>
          <a:xfrm>
            <a:off x="731520" y="5943600"/>
            <a:ext cx="5212080" cy="274320"/>
          </a:xfrm>
          <a:prstGeom prst="rect">
            <a:avLst/>
          </a:prstGeom>
          <a:noFill/>
          <a:ln/>
        </p:spPr>
        <p:txBody>
          <a:bodyPr wrap="square" lIns="0" tIns="0" rIns="0" bIns="0" rtlCol="0" anchor="t"/>
          <a:lstStyle/>
          <a:p>
            <a:pPr indent="0" marL="0">
              <a:buNone/>
            </a:pPr>
            <a:r>
              <a:rPr lang="en-US" sz="1200" b="1" dirty="0">
                <a:solidFill>
                  <a:srgbClr val="F0B323"/>
                </a:solidFill>
                <a:latin typeface="Calibri" pitchFamily="34" charset="0"/>
                <a:ea typeface="Calibri" pitchFamily="34" charset="-122"/>
                <a:cs typeface="Calibri" pitchFamily="34" charset="-120"/>
              </a:rPr>
              <a:t>MATHEMATICAL PRACTICES   MP.2  ·  MP.3</a:t>
            </a:r>
            <a:endParaRPr lang="en-US" sz="1200" dirty="0"/>
          </a:p>
        </p:txBody>
      </p:sp>
      <p:sp>
        <p:nvSpPr>
          <p:cNvPr id="18" name="Shape 13"/>
          <p:cNvSpPr/>
          <p:nvPr/>
        </p:nvSpPr>
        <p:spPr>
          <a:xfrm>
            <a:off x="6400800" y="1280160"/>
            <a:ext cx="5303520" cy="1243584"/>
          </a:xfrm>
          <a:prstGeom prst="roundRect">
            <a:avLst>
              <a:gd name="adj" fmla="val 88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9" name="Text 14"/>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20" name="Shape 15"/>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21" name="Text 16"/>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exponential equation</a:t>
            </a:r>
            <a:endParaRPr lang="en-US" sz="1100" dirty="0"/>
          </a:p>
        </p:txBody>
      </p:sp>
      <p:sp>
        <p:nvSpPr>
          <p:cNvPr id="22" name="Shape 17"/>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23" name="Text 18"/>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exponential inequality</a:t>
            </a:r>
            <a:endParaRPr lang="en-US" sz="1100" dirty="0"/>
          </a:p>
        </p:txBody>
      </p:sp>
      <p:sp>
        <p:nvSpPr>
          <p:cNvPr id="24" name="Shape 19"/>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5" name="Text 20"/>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logarithmic equation</a:t>
            </a:r>
            <a:endParaRPr lang="en-US" sz="1100" dirty="0"/>
          </a:p>
        </p:txBody>
      </p:sp>
      <p:sp>
        <p:nvSpPr>
          <p:cNvPr id="26" name="Shape 21"/>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7" name="Text 22"/>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logarithmic inequality</a:t>
            </a:r>
            <a:endParaRPr lang="en-US" sz="1100" dirty="0"/>
          </a:p>
        </p:txBody>
      </p:sp>
      <p:sp>
        <p:nvSpPr>
          <p:cNvPr id="28" name="Shape 23"/>
          <p:cNvSpPr/>
          <p:nvPr/>
        </p:nvSpPr>
        <p:spPr>
          <a:xfrm>
            <a:off x="6400800" y="2660904"/>
            <a:ext cx="5303520" cy="3648456"/>
          </a:xfrm>
          <a:prstGeom prst="roundRect">
            <a:avLst>
              <a:gd name="adj" fmla="val 300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9" name="Text 24"/>
          <p:cNvSpPr txBox="1"/>
          <p:nvPr/>
        </p:nvSpPr>
        <p:spPr>
          <a:xfrm>
            <a:off x="6675120" y="2734056"/>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0" name="Text 25"/>
          <p:cNvSpPr txBox="1"/>
          <p:nvPr/>
        </p:nvSpPr>
        <p:spPr>
          <a:xfrm>
            <a:off x="6675120" y="3026664"/>
            <a:ext cx="4846320" cy="3191256"/>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HSA.SSE.A.2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Use the structure of an expression to identify ways to rewrite it.</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HSA.CED.A.1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Create equations and inequalities in one variable and use them to solve problems. Include equations arising from linear and quadratic functions, and simple rational and exponential functions.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HSA.REI.A.1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Explain each step in solving a simple equation as following from the equality of numbers asserted at the previous step, starting from the assumption that the original equation has a solution. Construct a viable argument to justify a solution method.</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HSF.LE.A.4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For exponential models, express as a logarithm the solution to abᶜᵗ = d where a, c, and d are numbers and the base b is 2, 10, or e; evaluate the logarithm using technology.</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6/k9487a2ba31.png">    </p:cNvPr>
          <p:cNvPicPr>
            <a:picLocks noChangeAspect="1"/>
          </p:cNvPicPr>
          <p:nvPr/>
        </p:nvPicPr>
        <p:blipFill>
          <a:blip r:embed="rId3"/>
          <a:stretch>
            <a:fillRect/>
          </a:stretch>
        </p:blipFill>
        <p:spPr>
          <a:xfrm>
            <a:off x="1294790" y="2697480"/>
            <a:ext cx="1982419" cy="288950"/>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6/k37f31e4091.png">    </p:cNvPr>
          <p:cNvPicPr>
            <a:picLocks noChangeAspect="1"/>
          </p:cNvPicPr>
          <p:nvPr/>
        </p:nvPicPr>
        <p:blipFill>
          <a:blip r:embed="rId4"/>
          <a:stretch>
            <a:fillRect/>
          </a:stretch>
        </p:blipFill>
        <p:spPr>
          <a:xfrm>
            <a:off x="4343400" y="2697480"/>
            <a:ext cx="3383280" cy="349242"/>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6/kb39e143993.png">    </p:cNvPr>
          <p:cNvPicPr>
            <a:picLocks noChangeAspect="1"/>
          </p:cNvPicPr>
          <p:nvPr/>
        </p:nvPicPr>
        <p:blipFill>
          <a:blip r:embed="rId5"/>
          <a:stretch>
            <a:fillRect/>
          </a:stretch>
        </p:blipFill>
        <p:spPr>
          <a:xfrm>
            <a:off x="8092440" y="2697480"/>
            <a:ext cx="3383280" cy="627275"/>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why 2 to the power 4x is the same as 16 to the power x.</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Exponential equations: match the bases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6/k8367db9486.png">    </p:cNvPr>
          <p:cNvPicPr>
            <a:picLocks noChangeAspect="1"/>
          </p:cNvPicPr>
          <p:nvPr/>
        </p:nvPicPr>
        <p:blipFill>
          <a:blip r:embed="rId3"/>
          <a:stretch>
            <a:fillRect/>
          </a:stretch>
        </p:blipFill>
        <p:spPr>
          <a:xfrm>
            <a:off x="1742846" y="2187245"/>
            <a:ext cx="2809037" cy="288950"/>
          </a:xfrm>
          <a:prstGeom prst="rect">
            <a:avLst/>
          </a:prstGeom>
        </p:spPr>
      </p:pic>
      <p:pic>
        <p:nvPicPr>
          <p:cNvPr id="31" name="Image 3" descr="m_L6-6/kf8fa2fb1df.png">    </p:cNvPr>
          <p:cNvPicPr>
            <a:picLocks noChangeAspect="1"/>
          </p:cNvPicPr>
          <p:nvPr/>
        </p:nvPicPr>
        <p:blipFill>
          <a:blip r:embed="rId4"/>
          <a:stretch>
            <a:fillRect/>
          </a:stretch>
        </p:blipFill>
        <p:spPr>
          <a:xfrm>
            <a:off x="5191963" y="2187245"/>
            <a:ext cx="5226710" cy="28895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6/k2abb3418e0.png">    </p:cNvPr>
          <p:cNvPicPr>
            <a:picLocks noChangeAspect="1"/>
          </p:cNvPicPr>
          <p:nvPr/>
        </p:nvPicPr>
        <p:blipFill>
          <a:blip r:embed="rId5"/>
          <a:stretch>
            <a:fillRect/>
          </a:stretch>
        </p:blipFill>
        <p:spPr>
          <a:xfrm>
            <a:off x="1288819" y="3566160"/>
            <a:ext cx="1994361" cy="314535"/>
          </a:xfrm>
          <a:prstGeom prst="rect">
            <a:avLst/>
          </a:prstGeom>
        </p:spPr>
      </p:pic>
      <p:pic>
        <p:nvPicPr>
          <p:cNvPr id="35" name="Image 5" descr="m_L6-6/k94d4307df6.png">    </p:cNvPr>
          <p:cNvPicPr>
            <a:picLocks noChangeAspect="1"/>
          </p:cNvPicPr>
          <p:nvPr/>
        </p:nvPicPr>
        <p:blipFill>
          <a:blip r:embed="rId6"/>
          <a:stretch>
            <a:fillRect/>
          </a:stretch>
        </p:blipFill>
        <p:spPr>
          <a:xfrm>
            <a:off x="1700052" y="4036143"/>
            <a:ext cx="1171895" cy="299557"/>
          </a:xfrm>
          <a:prstGeom prst="rect">
            <a:avLst/>
          </a:prstGeom>
        </p:spPr>
      </p:pic>
      <p:pic>
        <p:nvPicPr>
          <p:cNvPr id="36" name="Image 6" descr="m_L6-6/k614fece1e6.png">    </p:cNvPr>
          <p:cNvPicPr>
            <a:picLocks noChangeAspect="1"/>
          </p:cNvPicPr>
          <p:nvPr/>
        </p:nvPicPr>
        <p:blipFill>
          <a:blip r:embed="rId7"/>
          <a:stretch>
            <a:fillRect/>
          </a:stretch>
        </p:blipFill>
        <p:spPr>
          <a:xfrm>
            <a:off x="1696761" y="4491149"/>
            <a:ext cx="1178479" cy="266639"/>
          </a:xfrm>
          <a:prstGeom prst="rect">
            <a:avLst/>
          </a:prstGeom>
        </p:spPr>
      </p:pic>
      <p:pic>
        <p:nvPicPr>
          <p:cNvPr id="37" name="Image 7" descr="m_L6-6/ka85e073928.png">    </p:cNvPr>
          <p:cNvPicPr>
            <a:picLocks noChangeAspect="1"/>
          </p:cNvPicPr>
          <p:nvPr/>
        </p:nvPicPr>
        <p:blipFill>
          <a:blip r:embed="rId8"/>
          <a:stretch>
            <a:fillRect/>
          </a:stretch>
        </p:blipFill>
        <p:spPr>
          <a:xfrm>
            <a:off x="1928835" y="4913236"/>
            <a:ext cx="714329" cy="246888"/>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6-6/k693b764719.png">    </p:cNvPr>
          <p:cNvPicPr>
            <a:picLocks noChangeAspect="1"/>
          </p:cNvPicPr>
          <p:nvPr/>
        </p:nvPicPr>
        <p:blipFill>
          <a:blip r:embed="rId9"/>
          <a:stretch>
            <a:fillRect/>
          </a:stretch>
        </p:blipFill>
        <p:spPr>
          <a:xfrm>
            <a:off x="5021364" y="3566160"/>
            <a:ext cx="2118793" cy="314535"/>
          </a:xfrm>
          <a:prstGeom prst="rect">
            <a:avLst/>
          </a:prstGeom>
        </p:spPr>
      </p:pic>
      <p:pic>
        <p:nvPicPr>
          <p:cNvPr id="41" name="Image 9" descr="m_L6-6/k572b516423.png">    </p:cNvPr>
          <p:cNvPicPr>
            <a:picLocks noChangeAspect="1"/>
          </p:cNvPicPr>
          <p:nvPr/>
        </p:nvPicPr>
        <p:blipFill>
          <a:blip r:embed="rId10"/>
          <a:stretch>
            <a:fillRect/>
          </a:stretch>
        </p:blipFill>
        <p:spPr>
          <a:xfrm>
            <a:off x="5391120" y="4036143"/>
            <a:ext cx="1379281" cy="299557"/>
          </a:xfrm>
          <a:prstGeom prst="rect">
            <a:avLst/>
          </a:prstGeom>
        </p:spPr>
      </p:pic>
      <p:pic>
        <p:nvPicPr>
          <p:cNvPr id="42" name="Image 10" descr="m_L6-6/kd476270c65.png">    </p:cNvPr>
          <p:cNvPicPr>
            <a:picLocks noChangeAspect="1"/>
          </p:cNvPicPr>
          <p:nvPr/>
        </p:nvPicPr>
        <p:blipFill>
          <a:blip r:embed="rId11"/>
          <a:stretch>
            <a:fillRect/>
          </a:stretch>
        </p:blipFill>
        <p:spPr>
          <a:xfrm>
            <a:off x="5346680" y="4491149"/>
            <a:ext cx="1468161" cy="269931"/>
          </a:xfrm>
          <a:prstGeom prst="rect">
            <a:avLst/>
          </a:prstGeom>
        </p:spPr>
      </p:pic>
      <p:pic>
        <p:nvPicPr>
          <p:cNvPr id="43" name="Image 11" descr="m_L6-6/kf7cbc3eeb8.png">    </p:cNvPr>
          <p:cNvPicPr>
            <a:picLocks noChangeAspect="1"/>
          </p:cNvPicPr>
          <p:nvPr/>
        </p:nvPicPr>
        <p:blipFill>
          <a:blip r:embed="rId12"/>
          <a:stretch>
            <a:fillRect/>
          </a:stretch>
        </p:blipFill>
        <p:spPr>
          <a:xfrm>
            <a:off x="5723595" y="4916528"/>
            <a:ext cx="714329" cy="246888"/>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6-6/k166201ab44.png">    </p:cNvPr>
          <p:cNvPicPr>
            <a:picLocks noChangeAspect="1"/>
          </p:cNvPicPr>
          <p:nvPr/>
        </p:nvPicPr>
        <p:blipFill>
          <a:blip r:embed="rId13"/>
          <a:stretch>
            <a:fillRect/>
          </a:stretch>
        </p:blipFill>
        <p:spPr>
          <a:xfrm>
            <a:off x="8622563" y="3566160"/>
            <a:ext cx="2505913" cy="767328"/>
          </a:xfrm>
          <a:prstGeom prst="rect">
            <a:avLst/>
          </a:prstGeom>
        </p:spPr>
      </p:pic>
      <p:pic>
        <p:nvPicPr>
          <p:cNvPr id="47" name="Image 13" descr="m_L6-6/k3449233404.png">    </p:cNvPr>
          <p:cNvPicPr>
            <a:picLocks noChangeAspect="1"/>
          </p:cNvPicPr>
          <p:nvPr/>
        </p:nvPicPr>
        <p:blipFill>
          <a:blip r:embed="rId14"/>
          <a:stretch>
            <a:fillRect/>
          </a:stretch>
        </p:blipFill>
        <p:spPr>
          <a:xfrm>
            <a:off x="9110167" y="4488936"/>
            <a:ext cx="1530706" cy="299557"/>
          </a:xfrm>
          <a:prstGeom prst="rect">
            <a:avLst/>
          </a:prstGeom>
        </p:spPr>
      </p:pic>
      <p:pic>
        <p:nvPicPr>
          <p:cNvPr id="48" name="Image 14" descr="m_L6-6/kacda427735.png">    </p:cNvPr>
          <p:cNvPicPr>
            <a:picLocks noChangeAspect="1"/>
          </p:cNvPicPr>
          <p:nvPr/>
        </p:nvPicPr>
        <p:blipFill>
          <a:blip r:embed="rId15"/>
          <a:stretch>
            <a:fillRect/>
          </a:stretch>
        </p:blipFill>
        <p:spPr>
          <a:xfrm>
            <a:off x="9034455" y="4943941"/>
            <a:ext cx="1682130" cy="269931"/>
          </a:xfrm>
          <a:prstGeom prst="rect">
            <a:avLst/>
          </a:prstGeom>
        </p:spPr>
      </p:pic>
      <p:pic>
        <p:nvPicPr>
          <p:cNvPr id="49" name="Image 15" descr="m_L6-6/k0d102beed2.png">    </p:cNvPr>
          <p:cNvPicPr>
            <a:picLocks noChangeAspect="1"/>
          </p:cNvPicPr>
          <p:nvPr/>
        </p:nvPicPr>
        <p:blipFill>
          <a:blip r:embed="rId16"/>
          <a:stretch>
            <a:fillRect/>
          </a:stretch>
        </p:blipFill>
        <p:spPr>
          <a:xfrm>
            <a:off x="9490375" y="5369320"/>
            <a:ext cx="770291" cy="61886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Exponential inequalities: check the base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6/k0aa5c22da5.png">    </p:cNvPr>
          <p:cNvPicPr>
            <a:picLocks noChangeAspect="1"/>
          </p:cNvPicPr>
          <p:nvPr/>
        </p:nvPicPr>
        <p:blipFill>
          <a:blip r:embed="rId3"/>
          <a:stretch>
            <a:fillRect/>
          </a:stretch>
        </p:blipFill>
        <p:spPr>
          <a:xfrm>
            <a:off x="1132027" y="2181758"/>
            <a:ext cx="3931920" cy="299923"/>
          </a:xfrm>
          <a:prstGeom prst="rect">
            <a:avLst/>
          </a:prstGeom>
        </p:spPr>
      </p:pic>
      <p:pic>
        <p:nvPicPr>
          <p:cNvPr id="31" name="Image 3" descr="m_L6-6/k8a99ace5d9.png">    </p:cNvPr>
          <p:cNvPicPr>
            <a:picLocks noChangeAspect="1"/>
          </p:cNvPicPr>
          <p:nvPr/>
        </p:nvPicPr>
        <p:blipFill>
          <a:blip r:embed="rId4"/>
          <a:stretch>
            <a:fillRect/>
          </a:stretch>
        </p:blipFill>
        <p:spPr>
          <a:xfrm>
            <a:off x="5704027" y="2141525"/>
            <a:ext cx="5325466"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6/kf5903fefe7.png">    </p:cNvPr>
          <p:cNvPicPr>
            <a:picLocks noChangeAspect="1"/>
          </p:cNvPicPr>
          <p:nvPr/>
        </p:nvPicPr>
        <p:blipFill>
          <a:blip r:embed="rId5"/>
          <a:stretch>
            <a:fillRect/>
          </a:stretch>
        </p:blipFill>
        <p:spPr>
          <a:xfrm>
            <a:off x="1238701" y="3566160"/>
            <a:ext cx="2094598" cy="321448"/>
          </a:xfrm>
          <a:prstGeom prst="rect">
            <a:avLst/>
          </a:prstGeom>
        </p:spPr>
      </p:pic>
      <p:pic>
        <p:nvPicPr>
          <p:cNvPr id="35" name="Image 5" descr="m_L6-6/k0322c5a824.png">    </p:cNvPr>
          <p:cNvPicPr>
            <a:picLocks noChangeAspect="1"/>
          </p:cNvPicPr>
          <p:nvPr/>
        </p:nvPicPr>
        <p:blipFill>
          <a:blip r:embed="rId6"/>
          <a:stretch>
            <a:fillRect/>
          </a:stretch>
        </p:blipFill>
        <p:spPr>
          <a:xfrm>
            <a:off x="1650675" y="4043056"/>
            <a:ext cx="1270650" cy="306141"/>
          </a:xfrm>
          <a:prstGeom prst="rect">
            <a:avLst/>
          </a:prstGeom>
        </p:spPr>
      </p:pic>
      <p:pic>
        <p:nvPicPr>
          <p:cNvPr id="36" name="Image 6" descr="m_L6-6/kd1f0ced4f8.png">    </p:cNvPr>
          <p:cNvPicPr>
            <a:picLocks noChangeAspect="1"/>
          </p:cNvPicPr>
          <p:nvPr/>
        </p:nvPicPr>
        <p:blipFill>
          <a:blip r:embed="rId7"/>
          <a:stretch>
            <a:fillRect/>
          </a:stretch>
        </p:blipFill>
        <p:spPr>
          <a:xfrm>
            <a:off x="1627632" y="4504645"/>
            <a:ext cx="1316736" cy="269931"/>
          </a:xfrm>
          <a:prstGeom prst="rect">
            <a:avLst/>
          </a:prstGeom>
        </p:spPr>
      </p:pic>
      <p:pic>
        <p:nvPicPr>
          <p:cNvPr id="37" name="Image 7" descr="m_L6-6/kb4687baf29.png">    </p:cNvPr>
          <p:cNvPicPr>
            <a:picLocks noChangeAspect="1"/>
          </p:cNvPicPr>
          <p:nvPr/>
        </p:nvPicPr>
        <p:blipFill>
          <a:blip r:embed="rId8"/>
          <a:stretch>
            <a:fillRect/>
          </a:stretch>
        </p:blipFill>
        <p:spPr>
          <a:xfrm>
            <a:off x="1928835" y="4930024"/>
            <a:ext cx="714329" cy="253472"/>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6-6/k3aa1148f6e.png">    </p:cNvPr>
          <p:cNvPicPr>
            <a:picLocks noChangeAspect="1"/>
          </p:cNvPicPr>
          <p:nvPr/>
        </p:nvPicPr>
        <p:blipFill>
          <a:blip r:embed="rId9"/>
          <a:stretch>
            <a:fillRect/>
          </a:stretch>
        </p:blipFill>
        <p:spPr>
          <a:xfrm>
            <a:off x="4921127" y="3566160"/>
            <a:ext cx="2319266" cy="767328"/>
          </a:xfrm>
          <a:prstGeom prst="rect">
            <a:avLst/>
          </a:prstGeom>
        </p:spPr>
      </p:pic>
      <p:pic>
        <p:nvPicPr>
          <p:cNvPr id="41" name="Image 9" descr="m_L6-6/kae1bb0c080.png">    </p:cNvPr>
          <p:cNvPicPr>
            <a:picLocks noChangeAspect="1"/>
          </p:cNvPicPr>
          <p:nvPr/>
        </p:nvPicPr>
        <p:blipFill>
          <a:blip r:embed="rId10"/>
          <a:stretch>
            <a:fillRect/>
          </a:stretch>
        </p:blipFill>
        <p:spPr>
          <a:xfrm>
            <a:off x="5349972" y="4488936"/>
            <a:ext cx="1461577" cy="444398"/>
          </a:xfrm>
          <a:prstGeom prst="rect">
            <a:avLst/>
          </a:prstGeom>
        </p:spPr>
      </p:pic>
      <p:pic>
        <p:nvPicPr>
          <p:cNvPr id="42" name="Image 10" descr="m_L6-6/kcd6acddf5e.png">    </p:cNvPr>
          <p:cNvPicPr>
            <a:picLocks noChangeAspect="1"/>
          </p:cNvPicPr>
          <p:nvPr/>
        </p:nvPicPr>
        <p:blipFill>
          <a:blip r:embed="rId11"/>
          <a:stretch>
            <a:fillRect/>
          </a:stretch>
        </p:blipFill>
        <p:spPr>
          <a:xfrm>
            <a:off x="4992807" y="5088782"/>
            <a:ext cx="2175906" cy="388437"/>
          </a:xfrm>
          <a:prstGeom prst="rect">
            <a:avLst/>
          </a:prstGeom>
        </p:spPr>
      </p:pic>
      <p:pic>
        <p:nvPicPr>
          <p:cNvPr id="43" name="Image 11" descr="m_L6-6/k477f0cbb8a.png">    </p:cNvPr>
          <p:cNvPicPr>
            <a:picLocks noChangeAspect="1"/>
          </p:cNvPicPr>
          <p:nvPr/>
        </p:nvPicPr>
        <p:blipFill>
          <a:blip r:embed="rId12"/>
          <a:stretch>
            <a:fillRect/>
          </a:stretch>
        </p:blipFill>
        <p:spPr>
          <a:xfrm>
            <a:off x="5723595" y="5632667"/>
            <a:ext cx="714329" cy="253472"/>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6-6/kcee5c61579.png">    </p:cNvPr>
          <p:cNvPicPr>
            <a:picLocks noChangeAspect="1"/>
          </p:cNvPicPr>
          <p:nvPr/>
        </p:nvPicPr>
        <p:blipFill>
          <a:blip r:embed="rId13"/>
          <a:stretch>
            <a:fillRect/>
          </a:stretch>
        </p:blipFill>
        <p:spPr>
          <a:xfrm>
            <a:off x="8883524" y="3566160"/>
            <a:ext cx="1983992" cy="352556"/>
          </a:xfrm>
          <a:prstGeom prst="rect">
            <a:avLst/>
          </a:prstGeom>
        </p:spPr>
      </p:pic>
      <p:pic>
        <p:nvPicPr>
          <p:cNvPr id="47" name="Image 13" descr="m_L6-6/kbad557a509.png">    </p:cNvPr>
          <p:cNvPicPr>
            <a:picLocks noChangeAspect="1"/>
          </p:cNvPicPr>
          <p:nvPr/>
        </p:nvPicPr>
        <p:blipFill>
          <a:blip r:embed="rId14"/>
          <a:stretch>
            <a:fillRect/>
          </a:stretch>
        </p:blipFill>
        <p:spPr>
          <a:xfrm>
            <a:off x="9184234" y="4074164"/>
            <a:ext cx="1382573" cy="335768"/>
          </a:xfrm>
          <a:prstGeom prst="rect">
            <a:avLst/>
          </a:prstGeom>
        </p:spPr>
      </p:pic>
      <p:pic>
        <p:nvPicPr>
          <p:cNvPr id="48" name="Image 14" descr="m_L6-6/k0f1f20a674.png">    </p:cNvPr>
          <p:cNvPicPr>
            <a:picLocks noChangeAspect="1"/>
          </p:cNvPicPr>
          <p:nvPr/>
        </p:nvPicPr>
        <p:blipFill>
          <a:blip r:embed="rId15"/>
          <a:stretch>
            <a:fillRect/>
          </a:stretch>
        </p:blipFill>
        <p:spPr>
          <a:xfrm>
            <a:off x="9138148" y="4565380"/>
            <a:ext cx="1474744" cy="283098"/>
          </a:xfrm>
          <a:prstGeom prst="rect">
            <a:avLst/>
          </a:prstGeom>
        </p:spPr>
      </p:pic>
      <p:pic>
        <p:nvPicPr>
          <p:cNvPr id="49" name="Image 15" descr="m_L6-6/k507e7e6ef5.png">    </p:cNvPr>
          <p:cNvPicPr>
            <a:picLocks noChangeAspect="1"/>
          </p:cNvPicPr>
          <p:nvPr/>
        </p:nvPicPr>
        <p:blipFill>
          <a:blip r:embed="rId16"/>
          <a:stretch>
            <a:fillRect/>
          </a:stretch>
        </p:blipFill>
        <p:spPr>
          <a:xfrm>
            <a:off x="9515064" y="5003926"/>
            <a:ext cx="720913" cy="2830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Logarithmic equations: rules, then check</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6/k2363ffd726.png">    </p:cNvPr>
          <p:cNvPicPr>
            <a:picLocks noChangeAspect="1"/>
          </p:cNvPicPr>
          <p:nvPr/>
        </p:nvPicPr>
        <p:blipFill>
          <a:blip r:embed="rId3"/>
          <a:stretch>
            <a:fillRect/>
          </a:stretch>
        </p:blipFill>
        <p:spPr>
          <a:xfrm>
            <a:off x="731520" y="2160118"/>
            <a:ext cx="3448544" cy="343204"/>
          </a:xfrm>
          <a:prstGeom prst="rect">
            <a:avLst/>
          </a:prstGeom>
        </p:spPr>
      </p:pic>
      <p:pic>
        <p:nvPicPr>
          <p:cNvPr id="31" name="Image 3" descr="m_L6-6/kd73cd1ffd8.png">    </p:cNvPr>
          <p:cNvPicPr>
            <a:picLocks noChangeAspect="1"/>
          </p:cNvPicPr>
          <p:nvPr/>
        </p:nvPicPr>
        <p:blipFill>
          <a:blip r:embed="rId4"/>
          <a:stretch>
            <a:fillRect/>
          </a:stretch>
        </p:blipFill>
        <p:spPr>
          <a:xfrm>
            <a:off x="4820144" y="2168368"/>
            <a:ext cx="3253841" cy="326704"/>
          </a:xfrm>
          <a:prstGeom prst="rect">
            <a:avLst/>
          </a:prstGeom>
        </p:spPr>
      </p:pic>
      <p:pic>
        <p:nvPicPr>
          <p:cNvPr id="32" name="Image 4" descr="m_L6-6/kd0fccfbb57.png">    </p:cNvPr>
          <p:cNvPicPr>
            <a:picLocks noChangeAspect="1"/>
          </p:cNvPicPr>
          <p:nvPr/>
        </p:nvPicPr>
        <p:blipFill>
          <a:blip r:embed="rId5"/>
          <a:stretch>
            <a:fillRect/>
          </a:stretch>
        </p:blipFill>
        <p:spPr>
          <a:xfrm>
            <a:off x="8714065" y="2168368"/>
            <a:ext cx="2715935" cy="326704"/>
          </a:xfrm>
          <a:prstGeom prst="rect">
            <a:avLst/>
          </a:prstGeom>
        </p:spPr>
      </p:pic>
      <p:sp>
        <p:nvSpPr>
          <p:cNvPr id="33"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5" name="Image 5" descr="m_L6-6/k5ec9a61ce8.png">    </p:cNvPr>
          <p:cNvPicPr>
            <a:picLocks noChangeAspect="1"/>
          </p:cNvPicPr>
          <p:nvPr/>
        </p:nvPicPr>
        <p:blipFill>
          <a:blip r:embed="rId6"/>
          <a:stretch>
            <a:fillRect/>
          </a:stretch>
        </p:blipFill>
        <p:spPr>
          <a:xfrm>
            <a:off x="640080" y="3566160"/>
            <a:ext cx="3291840" cy="653657"/>
          </a:xfrm>
          <a:prstGeom prst="rect">
            <a:avLst/>
          </a:prstGeom>
        </p:spPr>
      </p:pic>
      <p:pic>
        <p:nvPicPr>
          <p:cNvPr id="36" name="Image 6" descr="m_L6-6/k28de668149.png">    </p:cNvPr>
          <p:cNvPicPr>
            <a:picLocks noChangeAspect="1"/>
          </p:cNvPicPr>
          <p:nvPr/>
        </p:nvPicPr>
        <p:blipFill>
          <a:blip r:embed="rId7"/>
          <a:stretch>
            <a:fillRect/>
          </a:stretch>
        </p:blipFill>
        <p:spPr>
          <a:xfrm>
            <a:off x="671352" y="4375265"/>
            <a:ext cx="3229295" cy="398313"/>
          </a:xfrm>
          <a:prstGeom prst="rect">
            <a:avLst/>
          </a:prstGeom>
        </p:spPr>
      </p:pic>
      <p:pic>
        <p:nvPicPr>
          <p:cNvPr id="37" name="Image 7" descr="m_L6-6/k27635c2425.png">    </p:cNvPr>
          <p:cNvPicPr>
            <a:picLocks noChangeAspect="1"/>
          </p:cNvPicPr>
          <p:nvPr/>
        </p:nvPicPr>
        <p:blipFill>
          <a:blip r:embed="rId8"/>
          <a:stretch>
            <a:fillRect/>
          </a:stretch>
        </p:blipFill>
        <p:spPr>
          <a:xfrm>
            <a:off x="837590" y="4929026"/>
            <a:ext cx="2896819" cy="312725"/>
          </a:xfrm>
          <a:prstGeom prst="rect">
            <a:avLst/>
          </a:prstGeom>
        </p:spPr>
      </p:pic>
      <p:pic>
        <p:nvPicPr>
          <p:cNvPr id="38" name="Image 8" descr="m_L6-6/k4fc219f660.png">    </p:cNvPr>
          <p:cNvPicPr>
            <a:picLocks noChangeAspect="1"/>
          </p:cNvPicPr>
          <p:nvPr/>
        </p:nvPicPr>
        <p:blipFill>
          <a:blip r:embed="rId9"/>
          <a:stretch>
            <a:fillRect/>
          </a:stretch>
        </p:blipFill>
        <p:spPr>
          <a:xfrm>
            <a:off x="753648" y="5397198"/>
            <a:ext cx="3064703" cy="342351"/>
          </a:xfrm>
          <a:prstGeom prst="rect">
            <a:avLst/>
          </a:prstGeom>
        </p:spPr>
      </p:pic>
      <p:sp>
        <p:nvSpPr>
          <p:cNvPr id="39"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9" descr="m_L6-6/k0111b0dede.png">    </p:cNvPr>
          <p:cNvPicPr>
            <a:picLocks noChangeAspect="1"/>
          </p:cNvPicPr>
          <p:nvPr/>
        </p:nvPicPr>
        <p:blipFill>
          <a:blip r:embed="rId10"/>
          <a:stretch>
            <a:fillRect/>
          </a:stretch>
        </p:blipFill>
        <p:spPr>
          <a:xfrm>
            <a:off x="4653254" y="3566160"/>
            <a:ext cx="2855013" cy="359469"/>
          </a:xfrm>
          <a:prstGeom prst="rect">
            <a:avLst/>
          </a:prstGeom>
        </p:spPr>
      </p:pic>
      <p:pic>
        <p:nvPicPr>
          <p:cNvPr id="42" name="Image 10" descr="m_L6-6/kf4384a1296.png">    </p:cNvPr>
          <p:cNvPicPr>
            <a:picLocks noChangeAspect="1"/>
          </p:cNvPicPr>
          <p:nvPr/>
        </p:nvPicPr>
        <p:blipFill>
          <a:blip r:embed="rId11"/>
          <a:stretch>
            <a:fillRect/>
          </a:stretch>
        </p:blipFill>
        <p:spPr>
          <a:xfrm>
            <a:off x="5056998" y="4081077"/>
            <a:ext cx="2047524" cy="322600"/>
          </a:xfrm>
          <a:prstGeom prst="rect">
            <a:avLst/>
          </a:prstGeom>
        </p:spPr>
      </p:pic>
      <p:pic>
        <p:nvPicPr>
          <p:cNvPr id="43" name="Image 11" descr="m_L6-6/k5edcf76163.png">    </p:cNvPr>
          <p:cNvPicPr>
            <a:picLocks noChangeAspect="1"/>
          </p:cNvPicPr>
          <p:nvPr/>
        </p:nvPicPr>
        <p:blipFill>
          <a:blip r:embed="rId12"/>
          <a:stretch>
            <a:fillRect/>
          </a:stretch>
        </p:blipFill>
        <p:spPr>
          <a:xfrm>
            <a:off x="5723595" y="4559125"/>
            <a:ext cx="714329" cy="246888"/>
          </a:xfrm>
          <a:prstGeom prst="rect">
            <a:avLst/>
          </a:prstGeom>
        </p:spPr>
      </p:pic>
      <p:pic>
        <p:nvPicPr>
          <p:cNvPr id="44" name="Image 12" descr="m_L6-6/ka06ae82fdb.png">    </p:cNvPr>
          <p:cNvPicPr>
            <a:picLocks noChangeAspect="1"/>
          </p:cNvPicPr>
          <p:nvPr/>
        </p:nvPicPr>
        <p:blipFill>
          <a:blip r:embed="rId13"/>
          <a:stretch>
            <a:fillRect/>
          </a:stretch>
        </p:blipFill>
        <p:spPr>
          <a:xfrm>
            <a:off x="4444716" y="4961461"/>
            <a:ext cx="3272089" cy="342351"/>
          </a:xfrm>
          <a:prstGeom prst="rect">
            <a:avLst/>
          </a:prstGeom>
        </p:spPr>
      </p:pic>
      <p:sp>
        <p:nvSpPr>
          <p:cNvPr id="45"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6"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7" name="Image 13" descr="m_L6-6/kf1571462f8.png">    </p:cNvPr>
          <p:cNvPicPr>
            <a:picLocks noChangeAspect="1"/>
          </p:cNvPicPr>
          <p:nvPr/>
        </p:nvPicPr>
        <p:blipFill>
          <a:blip r:embed="rId14"/>
          <a:stretch>
            <a:fillRect/>
          </a:stretch>
        </p:blipFill>
        <p:spPr>
          <a:xfrm>
            <a:off x="8515414" y="3566160"/>
            <a:ext cx="2720212" cy="359469"/>
          </a:xfrm>
          <a:prstGeom prst="rect">
            <a:avLst/>
          </a:prstGeom>
        </p:spPr>
      </p:pic>
      <p:pic>
        <p:nvPicPr>
          <p:cNvPr id="48" name="Image 14" descr="m_L6-6/kd446e33449.png">    </p:cNvPr>
          <p:cNvPicPr>
            <a:picLocks noChangeAspect="1"/>
          </p:cNvPicPr>
          <p:nvPr/>
        </p:nvPicPr>
        <p:blipFill>
          <a:blip r:embed="rId15"/>
          <a:stretch>
            <a:fillRect/>
          </a:stretch>
        </p:blipFill>
        <p:spPr>
          <a:xfrm>
            <a:off x="8367857" y="4081077"/>
            <a:ext cx="3015325" cy="322600"/>
          </a:xfrm>
          <a:prstGeom prst="rect">
            <a:avLst/>
          </a:prstGeom>
        </p:spPr>
      </p:pic>
      <p:pic>
        <p:nvPicPr>
          <p:cNvPr id="49" name="Image 15" descr="m_L6-6/k33bd11daff.png">    </p:cNvPr>
          <p:cNvPicPr>
            <a:picLocks noChangeAspect="1"/>
          </p:cNvPicPr>
          <p:nvPr/>
        </p:nvPicPr>
        <p:blipFill>
          <a:blip r:embed="rId16"/>
          <a:stretch>
            <a:fillRect/>
          </a:stretch>
        </p:blipFill>
        <p:spPr>
          <a:xfrm>
            <a:off x="9271467" y="4559125"/>
            <a:ext cx="1208105" cy="25347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Use logarithms when the bases will not match</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6/kccc1d9f153.png">    </p:cNvPr>
          <p:cNvPicPr>
            <a:picLocks noChangeAspect="1"/>
          </p:cNvPicPr>
          <p:nvPr/>
        </p:nvPicPr>
        <p:blipFill>
          <a:blip r:embed="rId3"/>
          <a:stretch>
            <a:fillRect/>
          </a:stretch>
        </p:blipFill>
        <p:spPr>
          <a:xfrm>
            <a:off x="2399386" y="1980590"/>
            <a:ext cx="3884371" cy="702259"/>
          </a:xfrm>
          <a:prstGeom prst="rect">
            <a:avLst/>
          </a:prstGeom>
        </p:spPr>
      </p:pic>
      <p:pic>
        <p:nvPicPr>
          <p:cNvPr id="31" name="Image 3" descr="m_L6-6/k6b9b11b9f0.png">    </p:cNvPr>
          <p:cNvPicPr>
            <a:picLocks noChangeAspect="1"/>
          </p:cNvPicPr>
          <p:nvPr/>
        </p:nvPicPr>
        <p:blipFill>
          <a:blip r:embed="rId4"/>
          <a:stretch>
            <a:fillRect/>
          </a:stretch>
        </p:blipFill>
        <p:spPr>
          <a:xfrm>
            <a:off x="6923837" y="1980590"/>
            <a:ext cx="2838298" cy="702259"/>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6/k99e76e7b59.png">    </p:cNvPr>
          <p:cNvPicPr>
            <a:picLocks noChangeAspect="1"/>
          </p:cNvPicPr>
          <p:nvPr/>
        </p:nvPicPr>
        <p:blipFill>
          <a:blip r:embed="rId5"/>
          <a:stretch>
            <a:fillRect/>
          </a:stretch>
        </p:blipFill>
        <p:spPr>
          <a:xfrm>
            <a:off x="1420164" y="3566160"/>
            <a:ext cx="1731672" cy="273058"/>
          </a:xfrm>
          <a:prstGeom prst="rect">
            <a:avLst/>
          </a:prstGeom>
        </p:spPr>
      </p:pic>
      <p:pic>
        <p:nvPicPr>
          <p:cNvPr id="35" name="Image 5" descr="m_L6-6/k59933cb283.png">    </p:cNvPr>
          <p:cNvPicPr>
            <a:picLocks noChangeAspect="1"/>
          </p:cNvPicPr>
          <p:nvPr/>
        </p:nvPicPr>
        <p:blipFill>
          <a:blip r:embed="rId6"/>
          <a:stretch>
            <a:fillRect/>
          </a:stretch>
        </p:blipFill>
        <p:spPr>
          <a:xfrm>
            <a:off x="1611173" y="3994666"/>
            <a:ext cx="1349654" cy="325892"/>
          </a:xfrm>
          <a:prstGeom prst="rect">
            <a:avLst/>
          </a:prstGeom>
        </p:spPr>
      </p:pic>
      <p:pic>
        <p:nvPicPr>
          <p:cNvPr id="36" name="Image 6" descr="m_L6-6/k34fffc5cac.png">    </p:cNvPr>
          <p:cNvPicPr>
            <a:picLocks noChangeAspect="1"/>
          </p:cNvPicPr>
          <p:nvPr/>
        </p:nvPicPr>
        <p:blipFill>
          <a:blip r:embed="rId7"/>
          <a:stretch>
            <a:fillRect/>
          </a:stretch>
        </p:blipFill>
        <p:spPr>
          <a:xfrm>
            <a:off x="1280343" y="4476006"/>
            <a:ext cx="2011314" cy="632033"/>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6/kbede5f36a0.png">    </p:cNvPr>
          <p:cNvPicPr>
            <a:picLocks noChangeAspect="1"/>
          </p:cNvPicPr>
          <p:nvPr/>
        </p:nvPicPr>
        <p:blipFill>
          <a:blip r:embed="rId8"/>
          <a:stretch>
            <a:fillRect/>
          </a:stretch>
        </p:blipFill>
        <p:spPr>
          <a:xfrm>
            <a:off x="4884835" y="3566160"/>
            <a:ext cx="2391851" cy="767328"/>
          </a:xfrm>
          <a:prstGeom prst="rect">
            <a:avLst/>
          </a:prstGeom>
        </p:spPr>
      </p:pic>
      <p:pic>
        <p:nvPicPr>
          <p:cNvPr id="40" name="Image 8" descr="m_L6-6/k57d1e5f1a6.png">    </p:cNvPr>
          <p:cNvPicPr>
            <a:picLocks noChangeAspect="1"/>
          </p:cNvPicPr>
          <p:nvPr/>
        </p:nvPicPr>
        <p:blipFill>
          <a:blip r:embed="rId9"/>
          <a:stretch>
            <a:fillRect/>
          </a:stretch>
        </p:blipFill>
        <p:spPr>
          <a:xfrm>
            <a:off x="5524439" y="4488936"/>
            <a:ext cx="1112642" cy="299557"/>
          </a:xfrm>
          <a:prstGeom prst="rect">
            <a:avLst/>
          </a:prstGeom>
        </p:spPr>
      </p:pic>
      <p:pic>
        <p:nvPicPr>
          <p:cNvPr id="41" name="Image 9" descr="m_L6-6/k165ffdb9f6.png">    </p:cNvPr>
          <p:cNvPicPr>
            <a:picLocks noChangeAspect="1"/>
          </p:cNvPicPr>
          <p:nvPr/>
        </p:nvPicPr>
        <p:blipFill>
          <a:blip r:embed="rId10"/>
          <a:stretch>
            <a:fillRect/>
          </a:stretch>
        </p:blipFill>
        <p:spPr>
          <a:xfrm>
            <a:off x="5377952" y="4943941"/>
            <a:ext cx="1405616" cy="260055"/>
          </a:xfrm>
          <a:prstGeom prst="rect">
            <a:avLst/>
          </a:prstGeom>
        </p:spPr>
      </p:pic>
      <p:pic>
        <p:nvPicPr>
          <p:cNvPr id="42" name="Image 10" descr="m_L6-6/k3de702840b.png">    </p:cNvPr>
          <p:cNvPicPr>
            <a:picLocks noChangeAspect="1"/>
          </p:cNvPicPr>
          <p:nvPr/>
        </p:nvPicPr>
        <p:blipFill>
          <a:blip r:embed="rId11"/>
          <a:stretch>
            <a:fillRect/>
          </a:stretch>
        </p:blipFill>
        <p:spPr>
          <a:xfrm>
            <a:off x="5132710" y="5359445"/>
            <a:ext cx="1896100" cy="632033"/>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6-6/kef727a0425.png">    </p:cNvPr>
          <p:cNvPicPr>
            <a:picLocks noChangeAspect="1"/>
          </p:cNvPicPr>
          <p:nvPr/>
        </p:nvPicPr>
        <p:blipFill>
          <a:blip r:embed="rId12"/>
          <a:stretch>
            <a:fillRect/>
          </a:stretch>
        </p:blipFill>
        <p:spPr>
          <a:xfrm>
            <a:off x="9009684" y="3566160"/>
            <a:ext cx="1731672" cy="283427"/>
          </a:xfrm>
          <a:prstGeom prst="rect">
            <a:avLst/>
          </a:prstGeom>
        </p:spPr>
      </p:pic>
      <p:pic>
        <p:nvPicPr>
          <p:cNvPr id="46" name="Image 12" descr="m_L6-6/kb7d95ea0ca.png">    </p:cNvPr>
          <p:cNvPicPr>
            <a:picLocks noChangeAspect="1"/>
          </p:cNvPicPr>
          <p:nvPr/>
        </p:nvPicPr>
        <p:blipFill>
          <a:blip r:embed="rId13"/>
          <a:stretch>
            <a:fillRect/>
          </a:stretch>
        </p:blipFill>
        <p:spPr>
          <a:xfrm>
            <a:off x="9200693" y="4005035"/>
            <a:ext cx="1349654" cy="325892"/>
          </a:xfrm>
          <a:prstGeom prst="rect">
            <a:avLst/>
          </a:prstGeom>
        </p:spPr>
      </p:pic>
      <p:pic>
        <p:nvPicPr>
          <p:cNvPr id="47" name="Image 13" descr="m_L6-6/k93cc3af75c.png">    </p:cNvPr>
          <p:cNvPicPr>
            <a:picLocks noChangeAspect="1"/>
          </p:cNvPicPr>
          <p:nvPr/>
        </p:nvPicPr>
        <p:blipFill>
          <a:blip r:embed="rId14"/>
          <a:stretch>
            <a:fillRect/>
          </a:stretch>
        </p:blipFill>
        <p:spPr>
          <a:xfrm>
            <a:off x="8869863" y="4486376"/>
            <a:ext cx="2011314" cy="6320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6-6/kc4d2b8905e.png">    </p:cNvPr>
          <p:cNvPicPr>
            <a:picLocks noChangeAspect="1"/>
          </p:cNvPicPr>
          <p:nvPr/>
        </p:nvPicPr>
        <p:blipFill>
          <a:blip r:embed="rId3"/>
          <a:stretch>
            <a:fillRect/>
          </a:stretch>
        </p:blipFill>
        <p:spPr>
          <a:xfrm>
            <a:off x="1207922" y="2926080"/>
            <a:ext cx="2110435" cy="332842"/>
          </a:xfrm>
          <a:prstGeom prst="rect">
            <a:avLst/>
          </a:prstGeom>
        </p:spPr>
      </p:pic>
      <p:pic>
        <p:nvPicPr>
          <p:cNvPr id="34" name="Image 3" descr="m_L6-6/ke9eb27b167.png">    </p:cNvPr>
          <p:cNvPicPr>
            <a:picLocks noChangeAspect="1"/>
          </p:cNvPicPr>
          <p:nvPr/>
        </p:nvPicPr>
        <p:blipFill>
          <a:blip r:embed="rId4"/>
          <a:stretch>
            <a:fillRect/>
          </a:stretch>
        </p:blipFill>
        <p:spPr>
          <a:xfrm>
            <a:off x="827532" y="3533242"/>
            <a:ext cx="2871216" cy="380390"/>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both sides share one base before the exponents are equated, and each logarithm answer is checked in the original equation.</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6-6/k6273b2a949.png">    </p:cNvPr>
          <p:cNvPicPr>
            <a:picLocks noChangeAspect="1"/>
          </p:cNvPicPr>
          <p:nvPr/>
        </p:nvPicPr>
        <p:blipFill>
          <a:blip r:embed="rId5"/>
          <a:stretch>
            <a:fillRect/>
          </a:stretch>
        </p:blipFill>
        <p:spPr>
          <a:xfrm>
            <a:off x="5041087" y="2926080"/>
            <a:ext cx="2033626" cy="449885"/>
          </a:xfrm>
          <a:prstGeom prst="rect">
            <a:avLst/>
          </a:prstGeom>
        </p:spPr>
      </p:pic>
      <p:pic>
        <p:nvPicPr>
          <p:cNvPr id="41" name="Image 5" descr="m_L6-6/k6d389395ad.png">    </p:cNvPr>
          <p:cNvPicPr>
            <a:picLocks noChangeAspect="1"/>
          </p:cNvPicPr>
          <p:nvPr/>
        </p:nvPicPr>
        <p:blipFill>
          <a:blip r:embed="rId6"/>
          <a:stretch>
            <a:fillRect/>
          </a:stretch>
        </p:blipFill>
        <p:spPr>
          <a:xfrm>
            <a:off x="4366260" y="3650285"/>
            <a:ext cx="3383280" cy="809362"/>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direction of the inequality is justified by the size of the base, and each logarithm solution is tested against the domain.</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6-6/k8b548fb428.png">    </p:cNvPr>
          <p:cNvPicPr>
            <a:picLocks noChangeAspect="1"/>
          </p:cNvPicPr>
          <p:nvPr/>
        </p:nvPicPr>
        <p:blipFill>
          <a:blip r:embed="rId7"/>
          <a:stretch>
            <a:fillRect/>
          </a:stretch>
        </p:blipFill>
        <p:spPr>
          <a:xfrm>
            <a:off x="8161020" y="2926080"/>
            <a:ext cx="3383280" cy="669419"/>
          </a:xfrm>
          <a:prstGeom prst="rect">
            <a:avLst/>
          </a:prstGeom>
        </p:spPr>
      </p:pic>
      <p:pic>
        <p:nvPicPr>
          <p:cNvPr id="48" name="Image 7" descr="m_L6-6/ke2e90cdcb4.png">    </p:cNvPr>
          <p:cNvPicPr>
            <a:picLocks noChangeAspect="1"/>
          </p:cNvPicPr>
          <p:nvPr/>
        </p:nvPicPr>
        <p:blipFill>
          <a:blip r:embed="rId8"/>
          <a:stretch>
            <a:fillRect/>
          </a:stretch>
        </p:blipFill>
        <p:spPr>
          <a:xfrm>
            <a:off x="8241487" y="3869819"/>
            <a:ext cx="3222346" cy="822960"/>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explanation uses the domain of the logarithm, and you test your inequality with one value inside and one outside your answer.</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Red Sea resort visitor targets</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Vision 2030 includes new Red Sea tourism resorts. Using model values only (not forecasts), two resorts are modelled by the visitors-per-year functions below, with time measured in years after opening. The tourism board wants to know when each resort reaches its targets.</a:t>
            </a:r>
            <a:endParaRPr lang="en-US" sz="1400" dirty="0"/>
          </a:p>
        </p:txBody>
      </p:sp>
      <p:pic>
        <p:nvPicPr>
          <p:cNvPr id="32" name="Image 2" descr="m_L6-6/k0fc5e3152f.png">    </p:cNvPr>
          <p:cNvPicPr>
            <a:picLocks noChangeAspect="1"/>
          </p:cNvPicPr>
          <p:nvPr/>
        </p:nvPicPr>
        <p:blipFill>
          <a:blip r:embed="rId3"/>
          <a:stretch>
            <a:fillRect/>
          </a:stretch>
        </p:blipFill>
        <p:spPr>
          <a:xfrm>
            <a:off x="2290389" y="3566160"/>
            <a:ext cx="2185782" cy="321869"/>
          </a:xfrm>
          <a:prstGeom prst="rect">
            <a:avLst/>
          </a:prstGeom>
        </p:spPr>
      </p:pic>
      <p:pic>
        <p:nvPicPr>
          <p:cNvPr id="33" name="Image 3" descr="m_L6-6/kb96429edac.png">    </p:cNvPr>
          <p:cNvPicPr>
            <a:picLocks noChangeAspect="1"/>
          </p:cNvPicPr>
          <p:nvPr/>
        </p:nvPicPr>
        <p:blipFill>
          <a:blip r:embed="rId4"/>
          <a:stretch>
            <a:fillRect/>
          </a:stretch>
        </p:blipFill>
        <p:spPr>
          <a:xfrm>
            <a:off x="2373782" y="3997757"/>
            <a:ext cx="2018995" cy="345277"/>
          </a:xfrm>
          <a:prstGeom prst="rect">
            <a:avLst/>
          </a:prstGeom>
        </p:spPr>
      </p:pic>
      <p:sp>
        <p:nvSpPr>
          <p:cNvPr id="34" name="Text 27"/>
          <p:cNvSpPr txBox="1"/>
          <p:nvPr/>
        </p:nvSpPr>
        <p:spPr>
          <a:xfrm>
            <a:off x="731520" y="4589922"/>
            <a:ext cx="5303520" cy="1627998"/>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when Resort A reaches 125 000 visitors: write it as a logarithm first, then give the time to 1 decimal place.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when Resort A first exceeds 200 000 visitors, and say how many whole years are needed.</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a common base to find when Resort B reaches 160 000; then find when Resort A does, and say which resort is first.</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1 is written as a logarithm first and evaluated: about 5.1 years.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2 gives a time above about 7.2 years, so 8 whole years, with the inequality direction kept.</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Task 3 matches bases for Resort B: the exponent must equal 3, giving 9 years.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comparison says Resort A is first: about 6.2 years against 9 years.</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if the bases cannot be matched, take the natural logarithm of both sides; if they can, match them.</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6/k48f190b292.png">    </p:cNvPr>
          <p:cNvPicPr>
            <a:picLocks noChangeAspect="1"/>
          </p:cNvPicPr>
          <p:nvPr/>
        </p:nvPicPr>
        <p:blipFill>
          <a:blip r:embed="rId3"/>
          <a:stretch>
            <a:fillRect/>
          </a:stretch>
        </p:blipFill>
        <p:spPr>
          <a:xfrm>
            <a:off x="1292230" y="2743200"/>
            <a:ext cx="1987540" cy="316200"/>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6/k04b5ae8867.png">    </p:cNvPr>
          <p:cNvPicPr>
            <a:picLocks noChangeAspect="1"/>
          </p:cNvPicPr>
          <p:nvPr/>
        </p:nvPicPr>
        <p:blipFill>
          <a:blip r:embed="rId4"/>
          <a:stretch>
            <a:fillRect/>
          </a:stretch>
        </p:blipFill>
        <p:spPr>
          <a:xfrm>
            <a:off x="4434840" y="2743200"/>
            <a:ext cx="3200400" cy="766439"/>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6/k5564776706.png">    </p:cNvPr>
          <p:cNvPicPr>
            <a:picLocks noChangeAspect="1"/>
          </p:cNvPicPr>
          <p:nvPr/>
        </p:nvPicPr>
        <p:blipFill>
          <a:blip r:embed="rId5"/>
          <a:stretch>
            <a:fillRect/>
          </a:stretch>
        </p:blipFill>
        <p:spPr>
          <a:xfrm>
            <a:off x="8818108" y="2743200"/>
            <a:ext cx="1931944" cy="427391"/>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one logarithmic equation whose algebra gives two candidate solutions, where exactly one is valid.</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the full solution on the back, with the domain check and the rejected value.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solve theirs.</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equation has exactly one valid solution, and your solution shows the domain check and one test by substitution.</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6-6/kf0321d8c17.png">    </p:cNvPr>
          <p:cNvPicPr>
            <a:picLocks noChangeAspect="1"/>
          </p:cNvPicPr>
          <p:nvPr/>
        </p:nvPicPr>
        <p:blipFill>
          <a:blip r:embed="rId3"/>
          <a:stretch>
            <a:fillRect/>
          </a:stretch>
        </p:blipFill>
        <p:spPr>
          <a:xfrm>
            <a:off x="7603419" y="3703320"/>
            <a:ext cx="2715402" cy="649590"/>
          </a:xfrm>
          <a:prstGeom prst="rect">
            <a:avLst/>
          </a:prstGeom>
        </p:spPr>
      </p:pic>
      <p:pic>
        <p:nvPicPr>
          <p:cNvPr id="40" name="Image 3" descr="m_L6-6/kffdaa7a61d.png">    </p:cNvPr>
          <p:cNvPicPr>
            <a:picLocks noChangeAspect="1"/>
          </p:cNvPicPr>
          <p:nvPr/>
        </p:nvPicPr>
        <p:blipFill>
          <a:blip r:embed="rId4"/>
          <a:stretch>
            <a:fillRect/>
          </a:stretch>
        </p:blipFill>
        <p:spPr>
          <a:xfrm>
            <a:off x="7793614" y="4444350"/>
            <a:ext cx="2335012" cy="231160"/>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6-7 Geometric Sequences and Series.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HSA.SSE.A.2 · HSA.CED.A.1 · HSA.REI.A.1 · HSF.LE.A.4</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6-6/k5ef64dce6d.png">    </p:cNvPr>
          <p:cNvPicPr>
            <a:picLocks noChangeAspect="1"/>
          </p:cNvPicPr>
          <p:nvPr/>
        </p:nvPicPr>
        <p:blipFill>
          <a:blip r:embed="rId3"/>
          <a:stretch>
            <a:fillRect/>
          </a:stretch>
        </p:blipFill>
        <p:spPr>
          <a:xfrm>
            <a:off x="946404" y="2148840"/>
            <a:ext cx="2633472" cy="309982"/>
          </a:xfrm>
          <a:prstGeom prst="rect">
            <a:avLst/>
          </a:prstGeom>
        </p:spPr>
      </p:pic>
      <p:sp>
        <p:nvSpPr>
          <p:cNvPr id="15"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6"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7" name="Image 3" descr="m_L6-6/k79e3a290ff.png">    </p:cNvPr>
          <p:cNvPicPr>
            <a:picLocks noChangeAspect="1"/>
          </p:cNvPicPr>
          <p:nvPr/>
        </p:nvPicPr>
        <p:blipFill>
          <a:blip r:embed="rId4"/>
          <a:stretch>
            <a:fillRect/>
          </a:stretch>
        </p:blipFill>
        <p:spPr>
          <a:xfrm>
            <a:off x="1097280" y="3566160"/>
            <a:ext cx="1398666" cy="283830"/>
          </a:xfrm>
          <a:prstGeom prst="rect">
            <a:avLst/>
          </a:prstGeom>
        </p:spPr>
      </p:pic>
      <p:sp>
        <p:nvSpPr>
          <p:cNvPr id="18"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19" name="Image 4" descr="m_L6-6/kf1b504181c.png">    </p:cNvPr>
          <p:cNvPicPr>
            <a:picLocks noChangeAspect="1"/>
          </p:cNvPicPr>
          <p:nvPr/>
        </p:nvPicPr>
        <p:blipFill>
          <a:blip r:embed="rId5"/>
          <a:stretch>
            <a:fillRect/>
          </a:stretch>
        </p:blipFill>
        <p:spPr>
          <a:xfrm>
            <a:off x="1097280" y="4419600"/>
            <a:ext cx="1354775" cy="550103"/>
          </a:xfrm>
          <a:prstGeom prst="rect">
            <a:avLst/>
          </a:prstGeom>
        </p:spPr>
      </p:pic>
      <p:sp>
        <p:nvSpPr>
          <p:cNvPr id="20"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1" name="Image 5" descr="m_L6-6/ka85e073928.png">    </p:cNvPr>
          <p:cNvPicPr>
            <a:picLocks noChangeAspect="1"/>
          </p:cNvPicPr>
          <p:nvPr/>
        </p:nvPicPr>
        <p:blipFill>
          <a:blip r:embed="rId6"/>
          <a:stretch>
            <a:fillRect/>
          </a:stretch>
        </p:blipFill>
        <p:spPr>
          <a:xfrm>
            <a:off x="1097280" y="5273040"/>
            <a:ext cx="634959" cy="219456"/>
          </a:xfrm>
          <a:prstGeom prst="rect">
            <a:avLst/>
          </a:prstGeom>
        </p:spPr>
      </p:pic>
      <p:sp>
        <p:nvSpPr>
          <p:cNvPr id="22"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3"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4"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5" name="Image 6" descr="m_L6-6/k68a07b1275.png">    </p:cNvPr>
          <p:cNvPicPr>
            <a:picLocks noChangeAspect="1"/>
          </p:cNvPicPr>
          <p:nvPr/>
        </p:nvPicPr>
        <p:blipFill>
          <a:blip r:embed="rId7"/>
          <a:stretch>
            <a:fillRect/>
          </a:stretch>
        </p:blipFill>
        <p:spPr>
          <a:xfrm>
            <a:off x="4724705" y="2148840"/>
            <a:ext cx="2666390" cy="260604"/>
          </a:xfrm>
          <a:prstGeom prst="rect">
            <a:avLst/>
          </a:prstGeom>
        </p:spPr>
      </p:pic>
      <p:pic>
        <p:nvPicPr>
          <p:cNvPr id="26" name="Image 7" descr="m_L6-6/k5158b69f1f.png">    </p:cNvPr>
          <p:cNvPicPr>
            <a:picLocks noChangeAspect="1"/>
          </p:cNvPicPr>
          <p:nvPr/>
        </p:nvPicPr>
        <p:blipFill>
          <a:blip r:embed="rId8"/>
          <a:stretch>
            <a:fillRect/>
          </a:stretch>
        </p:blipFill>
        <p:spPr>
          <a:xfrm>
            <a:off x="4512107" y="2500884"/>
            <a:ext cx="3091586" cy="257861"/>
          </a:xfrm>
          <a:prstGeom prst="rect">
            <a:avLst/>
          </a:prstGeom>
        </p:spPr>
      </p:pic>
      <p:sp>
        <p:nvSpPr>
          <p:cNvPr id="27"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8"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29" name="Image 8" descr="m_L6-6/k71a9099b05.png">    </p:cNvPr>
          <p:cNvPicPr>
            <a:picLocks noChangeAspect="1"/>
          </p:cNvPicPr>
          <p:nvPr/>
        </p:nvPicPr>
        <p:blipFill>
          <a:blip r:embed="rId9"/>
          <a:stretch>
            <a:fillRect/>
          </a:stretch>
        </p:blipFill>
        <p:spPr>
          <a:xfrm>
            <a:off x="4892040" y="3566160"/>
            <a:ext cx="1623974" cy="327721"/>
          </a:xfrm>
          <a:prstGeom prst="rect">
            <a:avLst/>
          </a:prstGeom>
        </p:spPr>
      </p:pic>
      <p:sp>
        <p:nvSpPr>
          <p:cNvPr id="30"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1" name="Image 9" descr="m_L6-6/k41c6669e92.png">    </p:cNvPr>
          <p:cNvPicPr>
            <a:picLocks noChangeAspect="1"/>
          </p:cNvPicPr>
          <p:nvPr/>
        </p:nvPicPr>
        <p:blipFill>
          <a:blip r:embed="rId10"/>
          <a:stretch>
            <a:fillRect/>
          </a:stretch>
        </p:blipFill>
        <p:spPr>
          <a:xfrm>
            <a:off x="4892040" y="4419600"/>
            <a:ext cx="1852209" cy="550103"/>
          </a:xfrm>
          <a:prstGeom prst="rect">
            <a:avLst/>
          </a:prstGeom>
        </p:spPr>
      </p:pic>
      <p:sp>
        <p:nvSpPr>
          <p:cNvPr id="32"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3" name="Image 10" descr="m_L6-6/kd7e9309414.png">    </p:cNvPr>
          <p:cNvPicPr>
            <a:picLocks noChangeAspect="1"/>
          </p:cNvPicPr>
          <p:nvPr/>
        </p:nvPicPr>
        <p:blipFill>
          <a:blip r:embed="rId11"/>
          <a:stretch>
            <a:fillRect/>
          </a:stretch>
        </p:blipFill>
        <p:spPr>
          <a:xfrm>
            <a:off x="4892040" y="5273040"/>
            <a:ext cx="2270638" cy="550103"/>
          </a:xfrm>
          <a:prstGeom prst="rect">
            <a:avLst/>
          </a:prstGeom>
        </p:spPr>
      </p:pic>
      <p:sp>
        <p:nvSpPr>
          <p:cNvPr id="34"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5"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6"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7" name="Image 11" descr="m_L6-6/ka07ff641b3.png">    </p:cNvPr>
          <p:cNvPicPr>
            <a:picLocks noChangeAspect="1"/>
          </p:cNvPicPr>
          <p:nvPr/>
        </p:nvPicPr>
        <p:blipFill>
          <a:blip r:embed="rId12"/>
          <a:stretch>
            <a:fillRect/>
          </a:stretch>
        </p:blipFill>
        <p:spPr>
          <a:xfrm>
            <a:off x="8364474" y="2148840"/>
            <a:ext cx="2976372" cy="285293"/>
          </a:xfrm>
          <a:prstGeom prst="rect">
            <a:avLst/>
          </a:prstGeom>
        </p:spPr>
      </p:pic>
      <p:sp>
        <p:nvSpPr>
          <p:cNvPr id="38"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39"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0" name="Image 12" descr="m_L6-6/kf0e498d2c7.png">    </p:cNvPr>
          <p:cNvPicPr>
            <a:picLocks noChangeAspect="1"/>
          </p:cNvPicPr>
          <p:nvPr/>
        </p:nvPicPr>
        <p:blipFill>
          <a:blip r:embed="rId13"/>
          <a:stretch>
            <a:fillRect/>
          </a:stretch>
        </p:blipFill>
        <p:spPr>
          <a:xfrm>
            <a:off x="8686800" y="3566160"/>
            <a:ext cx="2834640" cy="277331"/>
          </a:xfrm>
          <a:prstGeom prst="rect">
            <a:avLst/>
          </a:prstGeom>
        </p:spPr>
      </p:pic>
      <p:sp>
        <p:nvSpPr>
          <p:cNvPr id="41"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2" name="Image 13" descr="m_L6-6/k9c6002cdba.png">    </p:cNvPr>
          <p:cNvPicPr>
            <a:picLocks noChangeAspect="1"/>
          </p:cNvPicPr>
          <p:nvPr/>
        </p:nvPicPr>
        <p:blipFill>
          <a:blip r:embed="rId14"/>
          <a:stretch>
            <a:fillRect/>
          </a:stretch>
        </p:blipFill>
        <p:spPr>
          <a:xfrm>
            <a:off x="8686800" y="4419600"/>
            <a:ext cx="1574231" cy="237012"/>
          </a:xfrm>
          <a:prstGeom prst="rect">
            <a:avLst/>
          </a:prstGeom>
        </p:spPr>
      </p:pic>
      <p:sp>
        <p:nvSpPr>
          <p:cNvPr id="43"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4" name="Image 14" descr="m_L6-6/ked020f4a2b.png">    </p:cNvPr>
          <p:cNvPicPr>
            <a:picLocks noChangeAspect="1"/>
          </p:cNvPicPr>
          <p:nvPr/>
        </p:nvPicPr>
        <p:blipFill>
          <a:blip r:embed="rId15"/>
          <a:stretch>
            <a:fillRect/>
          </a:stretch>
        </p:blipFill>
        <p:spPr>
          <a:xfrm>
            <a:off x="8686800" y="5273040"/>
            <a:ext cx="634959" cy="2194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To solve an exponential equation, match the bases or take a logarithm; to solve a logarithmic equation, use the rules and then check every answer in the domain; flip an inequality only when the base is below 1.</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6-6 Exponential and Logarithmic Equations and Inequalities presentation</dc:title>
  <dc:subject>PptxGenJS Presentation</dc:subject>
  <dc:creator>Mr Malek Thiab</dc:creator>
  <cp:lastModifiedBy>Mr Malek Thiab</cp:lastModifiedBy>
  <cp:revision>1</cp:revision>
  <dcterms:created xsi:type="dcterms:W3CDTF">2026-10-07T11:42:29Z</dcterms:created>
  <dcterms:modified xsi:type="dcterms:W3CDTF">2026-10-07T11:42:29Z</dcterms:modified>
</cp:coreProperties>
</file>