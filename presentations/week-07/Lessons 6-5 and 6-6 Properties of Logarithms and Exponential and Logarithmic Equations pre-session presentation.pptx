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Send this pre-session to students before Week 7. It covers Lesson 6-5 Properties of Logarithms and Lesson 6-6 Exponential and Logarithmic Equations. Students work through six stations at home: watch a short video, study two worked examples, and answer three readiness questions, for each lesson. Their answers tell you where to start the in-class Diagnose.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Walk through the map with students: stations 1 to 3 prepare Lesson 6-5, stations 4 to 6 prepare Lesson 6-6. Each lesson: Watch (about 5 to 8 minutes), Examples, Check. In slideshow mode the Morph transition zooms the circles into the breadcrumb at the top of each later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(Lesson 6-5, Station 1, Watch and key idea):
Video: Properties of Logarithms by The Organic Chemistry Tutor, length 5:40, https://www.youtube.com/watch?v=Jtv9Lnf7Zw8
Listen-for answers: product inside becomes a sum of logs, quotient becomes a difference, an exponent inside comes out front as a multiplier, and change of base gives log x over log b with any consistent base. Verbal misconception: log(M + N) is NOT log M + log N; only a product or quotient splits. Adaptive routing: if most students cannot say the quotient rule in words, open Diagnose by deriving it from 2^5 / 2^2 = 2^3.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(Lesson 6-5, Station 2, Worked examples):
Example 1: log_2(8x) = log_2 8 + log_2 x = 3 + log_2 x because 2^3 = 8. Example 2: log_4 8 = log 8 / log 4 = 3 log 2 / (2 log 2) = 3/2; check 4^(3/2) = 8. Misconceptions: writing log 8 - log 4 instead of a ratio; rounding before cancelling; putting the base on top of the ratio. Adaptive routing: if students are unsure about writing 8 as 2^3 and 4 as 2^2, spend 2 minutes on powers of 2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(Lesson 6-5, Station 3, Readiness check):
Q1: log_5(25/y) = log_5 25 - log_5 y = 2 - log_5 y. Q2: 2 log_3 x = log_3 x^2, then log_3 x^2 + log_3 5 = log_3(5x^2). Q3: log_8 32 = log 32 / log 8 = 5 log 2 / 3 log 2 = 5/3; check 8^(5/3) = 2^5 = 32. Misconceptions: Q1 writing log_5 25 + log_5 y or 25 - y; Q2 writing log_3(2x + 5) or log_3(10x); Q3 answering 4 by dividing 32 by 8. Adaptive routing: if most students miss Q2, spend the first 3 minutes of Diagnose on moving a coefficient up as a power, then combining. If most miss Q3, start with writing both numbers as powers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(Lesson 6-6, Station 4, Watch and key idea):
Video: Solving Exponential and Logarithmic Equations by Professor Dave Explains, length 7:08, https://www.youtube.com/watch?v=10I_TVuYLkQ
Listen-for answers: write both sides with one base and equate the exponents; otherwise take a logarithm of both sides and use the power rule so the variable comes down; logarithmic solutions can make the inside of a log zero or negative, so they must be checked. Verbal misconception: dividing 32 by 4 to get x. Scope note: this preview covers equations only. Adaptive routing: if most students cannot say why the check is needed, begin Diagnose with log_2(-4) and ask what power of 2 gives 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(Lesson 6-6, Station 5, Worked examples):
Example 1: 4^x = 32, so (2^2)^x = 2^5, 2x = 5, x = 5/2; check 4^(5/2) = 2^5 = 32. Example 2: product rule gives log_2(x^2 - 1) = 3, so x^2 - 1 = 2^3 = 8, x^2 = 9, x = 3 or -3. At x = -3 the terms are log_2(-2) and log_2(-4), undefined, so reject it. At x = 3: log_2 4 + log_2 2 = 2 + 1 = 3, correct. Misconceptions: forgetting the check; writing 2^(2x) as 4^2 x; applying log of a sum as a sum of logs on the left. Adaptive routing: if students are unsure of 4 = 2^2, spend 2 minutes on matching bases.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(Lesson 6-6, Station 6, Readiness check):
Q1: 27^x = 9, so 3^(3x) = 3^2, 3x = 2, x = 2/3; check 27^(2/3) = 9. Q2: take log of both sides: x log 5 = log 7, so x = log 7 / log 5 (about 1.209; the calculator is not needed for the exact form). Q3: log x + log(x - 3) = 1 gives log(x(x - 3)) = 1, so x^2 - 3x = 10, x^2 - 3x - 10 = 0, (x - 5)(x + 2) = 0, x = 5 or -2. x = -2 makes log(-2) undefined, so x = 5; check log 5 + log 2 = log 10 = 1. Misconceptions: Q1 answering 3 or 1/3; Q2 writing x = 7/5 or log 7 - log 5; Q3 keeping both roots. Adaptive routing: if most students miss Q3, spend the first 3 minutes of Diagnose on the check step using x = -2. If most miss Q2, rehearse where the exponent goes after taking the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Collect the submitted answers from the LMS before class and sort questions by how many students missed them. Start the in-class Diagnose on the least secure check question. Last week you met logarithms as inverses of exponentials, and you can already switch between exponential form and logarithmic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tv9Lnf7Zw8" TargetMode="External"/><Relationship Id="rId4" Type="http://schemas.openxmlformats.org/officeDocument/2006/relationships/hyperlink" Target="https://www.youtube.com/watch?v=Jtv9Lnf7Zw8" TargetMode="External"/><Relationship Id="rId5" Type="http://schemas.openxmlformats.org/officeDocument/2006/relationships/hyperlink" Target="https://www.youtube.com/watch?v=Jtv9Lnf7Zw8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6" Type="http://schemas.openxmlformats.org/officeDocument/2006/relationships/image" Target="../media/image-3-3.png"/><Relationship Id="rId7" Type="http://schemas.openxmlformats.org/officeDocument/2006/relationships/image" Target="../media/image-3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10I_TVuYLkQ" TargetMode="External"/><Relationship Id="rId4" Type="http://schemas.openxmlformats.org/officeDocument/2006/relationships/hyperlink" Target="https://www.youtube.com/watch?v=10I_TVuYLkQ" TargetMode="External"/><Relationship Id="rId5" Type="http://schemas.openxmlformats.org/officeDocument/2006/relationships/hyperlink" Target="https://www.youtube.com/watch?v=10I_TVuYLkQ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6" Type="http://schemas.openxmlformats.org/officeDocument/2006/relationships/image" Target="../media/image-6-3.png"/><Relationship Id="rId7" Type="http://schemas.openxmlformats.org/officeDocument/2006/relationships/image" Target="../media/image-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463040"/>
            <a:ext cx="7863840" cy="7863840"/>
          </a:xfrm>
          <a:prstGeom prst="ellipse">
            <a:avLst/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1463040"/>
            <a:ext cx="3291840" cy="3291840"/>
          </a:xfrm>
          <a:prstGeom prst="ellipse">
            <a:avLst/>
          </a:prstGeom>
          <a:solidFill>
            <a:srgbClr val="F0B323">
              <a:alpha val="30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023360"/>
            <a:ext cx="3291840" cy="3291840"/>
          </a:xfrm>
          <a:prstGeom prst="ellipse">
            <a:avLst/>
          </a:prstGeom>
          <a:solidFill>
            <a:srgbClr val="17A199">
              <a:alpha val="15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pic>
        <p:nvPicPr>
          <p:cNvPr id="5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6" name="Image 1" descr="../../cogni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"/>
            <a:ext cx="1188720" cy="891540"/>
          </a:xfrm>
          <a:prstGeom prst="rect">
            <a:avLst/>
          </a:prstGeom>
        </p:spPr>
      </p:pic>
      <p:pic>
        <p:nvPicPr>
          <p:cNvPr id="7" name="Image 2" descr="../../school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11  ·  ALGEBRA II  ·  WEEK 7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21945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Pre-Session</a:t>
            </a:r>
            <a:endParaRPr lang="en-US" sz="5400" dirty="0"/>
          </a:p>
        </p:txBody>
      </p:sp>
      <p:sp>
        <p:nvSpPr>
          <p:cNvPr id="10" name="Shape 5"/>
          <p:cNvSpPr/>
          <p:nvPr/>
        </p:nvSpPr>
        <p:spPr>
          <a:xfrm>
            <a:off x="640080" y="3383280"/>
            <a:ext cx="5760720" cy="731520"/>
          </a:xfrm>
          <a:prstGeom prst="roundRect">
            <a:avLst>
              <a:gd name="adj" fmla="val 18750"/>
            </a:avLst>
          </a:prstGeom>
          <a:solidFill>
            <a:srgbClr val="17A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68680" y="34381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6-5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868680" y="369417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Logarithms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640080" y="4251960"/>
            <a:ext cx="5760720" cy="731520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68680" y="430682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6-6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68680" y="456285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and Logarithmic Equations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13816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task before class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7863840" y="3657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 ·  Study  ·  Check  ·  Submit on the LMS before class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65760" y="64922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4F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474720" cy="3474720"/>
          </a:xfrm>
          <a:prstGeom prst="ellipse">
            <a:avLst/>
          </a:prstGeom>
          <a:solidFill>
            <a:srgbClr val="17A199">
              <a:alpha val="20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0B323">
              <a:alpha val="18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home journey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stations before the lesson: watch, study the examples, check yourself, twice.</a:t>
            </a:r>
            <a:endParaRPr lang="en-US" sz="1800" dirty="0"/>
          </a:p>
        </p:txBody>
      </p:sp>
      <p:sp>
        <p:nvSpPr>
          <p:cNvPr id="8" name="path1"/>
          <p:cNvSpPr/>
          <p:nvPr/>
        </p:nvSpPr>
        <p:spPr>
          <a:xfrm flipV="1">
            <a:off x="137160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9" name="path2"/>
          <p:cNvSpPr/>
          <p:nvPr/>
        </p:nvSpPr>
        <p:spPr>
          <a:xfrm>
            <a:off x="333756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0" name="path3"/>
          <p:cNvSpPr/>
          <p:nvPr/>
        </p:nvSpPr>
        <p:spPr>
          <a:xfrm flipV="1">
            <a:off x="530352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1" name="path4"/>
          <p:cNvSpPr/>
          <p:nvPr/>
        </p:nvSpPr>
        <p:spPr>
          <a:xfrm>
            <a:off x="726948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2" name="path5"/>
          <p:cNvSpPr/>
          <p:nvPr/>
        </p:nvSpPr>
        <p:spPr>
          <a:xfrm flipV="1">
            <a:off x="9235440" y="3200400"/>
            <a:ext cx="17373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3" name="stn1"/>
          <p:cNvSpPr/>
          <p:nvPr/>
        </p:nvSpPr>
        <p:spPr>
          <a:xfrm>
            <a:off x="708660" y="3634740"/>
            <a:ext cx="1325880" cy="1325880"/>
          </a:xfrm>
          <a:prstGeom prst="ellipse">
            <a:avLst/>
          </a:prstGeom>
          <a:solidFill>
            <a:srgbClr val="E8762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0584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411480" y="50977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6-5</a:t>
            </a:r>
            <a:endParaRPr lang="en-US" sz="1600" dirty="0"/>
          </a:p>
        </p:txBody>
      </p:sp>
      <p:sp>
        <p:nvSpPr>
          <p:cNvPr id="16" name="stn2"/>
          <p:cNvSpPr/>
          <p:nvPr/>
        </p:nvSpPr>
        <p:spPr>
          <a:xfrm>
            <a:off x="2674620" y="2537460"/>
            <a:ext cx="1325880" cy="1325880"/>
          </a:xfrm>
          <a:prstGeom prst="ellipse">
            <a:avLst/>
          </a:prstGeom>
          <a:solidFill>
            <a:srgbClr val="17A19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97180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2377440" y="16687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6-5</a:t>
            </a:r>
            <a:endParaRPr lang="en-US" sz="1600" dirty="0"/>
          </a:p>
        </p:txBody>
      </p:sp>
      <p:sp>
        <p:nvSpPr>
          <p:cNvPr id="19" name="stn3"/>
          <p:cNvSpPr/>
          <p:nvPr/>
        </p:nvSpPr>
        <p:spPr>
          <a:xfrm>
            <a:off x="4640580" y="3634740"/>
            <a:ext cx="1325880" cy="1325880"/>
          </a:xfrm>
          <a:prstGeom prst="ellipse">
            <a:avLst/>
          </a:prstGeom>
          <a:solidFill>
            <a:srgbClr val="17A19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93776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7"/>
          <p:cNvSpPr txBox="1"/>
          <p:nvPr/>
        </p:nvSpPr>
        <p:spPr>
          <a:xfrm>
            <a:off x="4343400" y="50977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6-5</a:t>
            </a:r>
            <a:endParaRPr lang="en-US" sz="1600" dirty="0"/>
          </a:p>
        </p:txBody>
      </p:sp>
      <p:sp>
        <p:nvSpPr>
          <p:cNvPr id="22" name="stn4"/>
          <p:cNvSpPr/>
          <p:nvPr/>
        </p:nvSpPr>
        <p:spPr>
          <a:xfrm>
            <a:off x="6606540" y="2537460"/>
            <a:ext cx="1325880" cy="1325880"/>
          </a:xfrm>
          <a:prstGeom prst="ellipse">
            <a:avLst/>
          </a:prstGeom>
          <a:solidFill>
            <a:srgbClr val="1F386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0372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6309360" y="16687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6-6</a:t>
            </a:r>
            <a:endParaRPr lang="en-US" sz="1600" dirty="0"/>
          </a:p>
        </p:txBody>
      </p:sp>
      <p:sp>
        <p:nvSpPr>
          <p:cNvPr id="25" name="stn5"/>
          <p:cNvSpPr/>
          <p:nvPr/>
        </p:nvSpPr>
        <p:spPr>
          <a:xfrm>
            <a:off x="8572500" y="3634740"/>
            <a:ext cx="1325880" cy="1325880"/>
          </a:xfrm>
          <a:prstGeom prst="ellipse">
            <a:avLst/>
          </a:prstGeom>
          <a:solidFill>
            <a:srgbClr val="1F386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86968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3"/>
          <p:cNvSpPr txBox="1"/>
          <p:nvPr/>
        </p:nvSpPr>
        <p:spPr>
          <a:xfrm>
            <a:off x="8275320" y="50977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6-6</a:t>
            </a:r>
            <a:endParaRPr lang="en-US" sz="1600" dirty="0"/>
          </a:p>
        </p:txBody>
      </p:sp>
      <p:sp>
        <p:nvSpPr>
          <p:cNvPr id="28" name="stn6"/>
          <p:cNvSpPr/>
          <p:nvPr/>
        </p:nvSpPr>
        <p:spPr>
          <a:xfrm>
            <a:off x="10309860" y="2537460"/>
            <a:ext cx="1325880" cy="1325880"/>
          </a:xfrm>
          <a:prstGeom prst="ellipse">
            <a:avLst/>
          </a:prstGeom>
          <a:solidFill>
            <a:srgbClr val="1F386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60704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0" name="Text 26"/>
          <p:cNvSpPr txBox="1"/>
          <p:nvPr/>
        </p:nvSpPr>
        <p:spPr>
          <a:xfrm>
            <a:off x="10012680" y="16687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6-6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4023360" y="6492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55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HSA.SSE.A.2 · HSF.BF.A.2 · HSF.LE.A.4 · HSA.CED.A.1 · HSA.REI.A.1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3</a:t>
            </a:r>
            <a:endParaRPr lang="en-US" sz="1000" dirty="0"/>
          </a:p>
        </p:txBody>
      </p:sp>
      <p:sp>
        <p:nvSpPr>
          <p:cNvPr id="9" name="stn1"/>
          <p:cNvSpPr/>
          <p:nvPr/>
        </p:nvSpPr>
        <p:spPr>
          <a:xfrm>
            <a:off x="3931920" y="228600"/>
            <a:ext cx="457200" cy="457200"/>
          </a:xfrm>
          <a:prstGeom prst="ellipse">
            <a:avLst/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7764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path1"/>
          <p:cNvSpPr/>
          <p:nvPr/>
        </p:nvSpPr>
        <p:spPr>
          <a:xfrm>
            <a:off x="4407408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2" name="stn2"/>
          <p:cNvSpPr/>
          <p:nvPr/>
        </p:nvSpPr>
        <p:spPr>
          <a:xfrm>
            <a:off x="4736592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90872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path2"/>
          <p:cNvSpPr/>
          <p:nvPr/>
        </p:nvSpPr>
        <p:spPr>
          <a:xfrm>
            <a:off x="5029200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5" name="stn3"/>
          <p:cNvSpPr/>
          <p:nvPr/>
        </p:nvSpPr>
        <p:spPr>
          <a:xfrm>
            <a:off x="5449824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04104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path3"/>
          <p:cNvSpPr/>
          <p:nvPr/>
        </p:nvSpPr>
        <p:spPr>
          <a:xfrm>
            <a:off x="5742432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8" name="stn4"/>
          <p:cNvSpPr/>
          <p:nvPr/>
        </p:nvSpPr>
        <p:spPr>
          <a:xfrm>
            <a:off x="6163056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17336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path4"/>
          <p:cNvSpPr/>
          <p:nvPr/>
        </p:nvSpPr>
        <p:spPr>
          <a:xfrm>
            <a:off x="6455664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1" name="stn5"/>
          <p:cNvSpPr/>
          <p:nvPr/>
        </p:nvSpPr>
        <p:spPr>
          <a:xfrm>
            <a:off x="6876288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0568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path5"/>
          <p:cNvSpPr/>
          <p:nvPr/>
        </p:nvSpPr>
        <p:spPr>
          <a:xfrm>
            <a:off x="7168896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4" name="stn6"/>
          <p:cNvSpPr/>
          <p:nvPr/>
        </p:nvSpPr>
        <p:spPr>
          <a:xfrm>
            <a:off x="758952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4380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1  ·  WATCH  ·  LESSON 6-5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 of Logarithms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457200" y="1828800"/>
            <a:ext cx="5852160" cy="4434840"/>
          </a:xfrm>
          <a:prstGeom prst="roundRect">
            <a:avLst>
              <a:gd name="adj" fmla="val 2474"/>
            </a:avLst>
          </a:prstGeom>
          <a:solidFill>
            <a:srgbClr val="0E4F4C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777240" y="1965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 CLASS  ·  5:40</a:t>
            </a:r>
            <a:endParaRPr lang="en-US" sz="1100" dirty="0"/>
          </a:p>
        </p:txBody>
      </p:sp>
      <p:sp>
        <p:nvSpPr>
          <p:cNvPr id="31" name="Shape 26">
            <a:hlinkClick r:id="rId3" tooltip="Open on YouTube"/>
          </p:cNvPr>
          <p:cNvSpPr/>
          <p:nvPr/>
        </p:nvSpPr>
        <p:spPr>
          <a:xfrm>
            <a:off x="777240" y="2423160"/>
            <a:ext cx="1371600" cy="1371600"/>
          </a:xfrm>
          <a:prstGeom prst="ellipse">
            <a:avLst/>
          </a:prstGeom>
          <a:solidFill>
            <a:srgbClr val="E8762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2" name="Shape 27">
            <a:hlinkClick r:id="rId4" tooltip=""/>
          </p:cNvPr>
          <p:cNvSpPr/>
          <p:nvPr/>
        </p:nvSpPr>
        <p:spPr>
          <a:xfrm rot="5400000">
            <a:off x="1261872" y="2834640"/>
            <a:ext cx="548640" cy="54864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2423160" y="2423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 of Logarithms</a:t>
            </a:r>
            <a:endParaRPr lang="en-US" sz="2000" dirty="0"/>
          </a:p>
        </p:txBody>
      </p:sp>
      <p:sp>
        <p:nvSpPr>
          <p:cNvPr id="34" name="Text 29"/>
          <p:cNvSpPr txBox="1"/>
          <p:nvPr/>
        </p:nvSpPr>
        <p:spPr>
          <a:xfrm>
            <a:off x="242316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Organic Chemistry Tutor  ·  5:40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242316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0B323"/>
                </a:solidFill>
                <a:uFill>
                  <a:solidFill>
                    <a:srgbClr val="F0B323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www.youtube.com/watch?v=Jtv9Lnf7Zw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on YouTube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77724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777240" y="45262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 logarithm when the number inside is a product, and when it is a quotient.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an exponent that sits on the number inside a logarithm.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change of base formula writes one logarithm as a ratio of two logarithms.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6492240" y="182880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676656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720840" y="2377440"/>
            <a:ext cx="4754880" cy="1805940"/>
          </a:xfrm>
          <a:prstGeom prst="roundRect">
            <a:avLst>
              <a:gd name="adj" fmla="val 6076"/>
            </a:avLst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pic>
        <p:nvPicPr>
          <p:cNvPr id="41" name="Image 2" descr="m_PRE-W7-G11/k3488c85e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071580"/>
            <a:ext cx="4480560" cy="417661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720840" y="4366260"/>
            <a:ext cx="4754880" cy="1805940"/>
          </a:xfrm>
          <a:prstGeom prst="roundRect">
            <a:avLst>
              <a:gd name="adj" fmla="val 6076"/>
            </a:avLst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pic>
        <p:nvPicPr>
          <p:cNvPr id="43" name="Image 3" descr="m_PRE-W7-G11/k375847cbb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0944" y="4907859"/>
            <a:ext cx="4374672" cy="7227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55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HSA.SSE.A.2 · HSF.BF.A.2 · HSF.LE.A.4 · HSA.CED.A.1 · HSA.REI.A.1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4</a:t>
            </a:r>
            <a:endParaRPr lang="en-US" sz="1000" dirty="0"/>
          </a:p>
        </p:txBody>
      </p:sp>
      <p:sp>
        <p:nvSpPr>
          <p:cNvPr id="9" name="stn1"/>
          <p:cNvSpPr/>
          <p:nvPr/>
        </p:nvSpPr>
        <p:spPr>
          <a:xfrm>
            <a:off x="402336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7764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path1"/>
          <p:cNvSpPr/>
          <p:nvPr/>
        </p:nvSpPr>
        <p:spPr>
          <a:xfrm>
            <a:off x="4315968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2" name="stn2"/>
          <p:cNvSpPr/>
          <p:nvPr/>
        </p:nvSpPr>
        <p:spPr>
          <a:xfrm>
            <a:off x="4645152" y="228600"/>
            <a:ext cx="457200" cy="457200"/>
          </a:xfrm>
          <a:prstGeom prst="ellipse">
            <a:avLst/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90872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path2"/>
          <p:cNvSpPr/>
          <p:nvPr/>
        </p:nvSpPr>
        <p:spPr>
          <a:xfrm>
            <a:off x="5120640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5" name="stn3"/>
          <p:cNvSpPr/>
          <p:nvPr/>
        </p:nvSpPr>
        <p:spPr>
          <a:xfrm>
            <a:off x="5449824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04104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path3"/>
          <p:cNvSpPr/>
          <p:nvPr/>
        </p:nvSpPr>
        <p:spPr>
          <a:xfrm>
            <a:off x="5742432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8" name="stn4"/>
          <p:cNvSpPr/>
          <p:nvPr/>
        </p:nvSpPr>
        <p:spPr>
          <a:xfrm>
            <a:off x="6163056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17336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path4"/>
          <p:cNvSpPr/>
          <p:nvPr/>
        </p:nvSpPr>
        <p:spPr>
          <a:xfrm>
            <a:off x="6455664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1" name="stn5"/>
          <p:cNvSpPr/>
          <p:nvPr/>
        </p:nvSpPr>
        <p:spPr>
          <a:xfrm>
            <a:off x="6876288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0568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path5"/>
          <p:cNvSpPr/>
          <p:nvPr/>
        </p:nvSpPr>
        <p:spPr>
          <a:xfrm>
            <a:off x="7168896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4" name="stn6"/>
          <p:cNvSpPr/>
          <p:nvPr/>
        </p:nvSpPr>
        <p:spPr>
          <a:xfrm>
            <a:off x="758952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4380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2  ·  EXAMPLES  ·  LESSON 6-5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the worked examples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457200" y="182880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73152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212080" y="1920240"/>
            <a:ext cx="502920" cy="502920"/>
          </a:xfrm>
          <a:prstGeom prst="ellipse">
            <a:avLst/>
          </a:prstGeom>
          <a:solidFill>
            <a:srgbClr val="17A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212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33" name="Image 2" descr="m_PRE-W7-G11/kaf7161aee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547" y="2514600"/>
            <a:ext cx="2516282" cy="419380"/>
          </a:xfrm>
          <a:prstGeom prst="rect">
            <a:avLst/>
          </a:prstGeom>
        </p:spPr>
      </p:pic>
      <p:pic>
        <p:nvPicPr>
          <p:cNvPr id="34" name="Image 3" descr="m_PRE-W7-G11/k89308de3d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525" y="3190012"/>
            <a:ext cx="1966326" cy="380208"/>
          </a:xfrm>
          <a:prstGeom prst="rect">
            <a:avLst/>
          </a:prstGeom>
        </p:spPr>
      </p:pic>
      <p:pic>
        <p:nvPicPr>
          <p:cNvPr id="35" name="Image 4" descr="m_PRE-W7-G11/k0725a3d3e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61" y="3826252"/>
            <a:ext cx="1712854" cy="380208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172200" y="182880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644652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10927080" y="192024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10927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40" name="Image 5" descr="m_PRE-W7-G11/k14623abf2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955" y="2514600"/>
            <a:ext cx="3407466" cy="399218"/>
          </a:xfrm>
          <a:prstGeom prst="rect">
            <a:avLst/>
          </a:prstGeom>
        </p:spPr>
      </p:pic>
      <p:pic>
        <p:nvPicPr>
          <p:cNvPr id="41" name="Image 6" descr="m_PRE-W7-G11/k78727092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2519" y="3169850"/>
            <a:ext cx="2062338" cy="798820"/>
          </a:xfrm>
          <a:prstGeom prst="rect">
            <a:avLst/>
          </a:prstGeom>
        </p:spPr>
      </p:pic>
      <p:pic>
        <p:nvPicPr>
          <p:cNvPr id="42" name="Image 7" descr="m_PRE-W7-G11/kf3a736d3a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6848" y="4224702"/>
            <a:ext cx="633679" cy="722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55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HSA.SSE.A.2 · HSF.BF.A.2 · HSF.LE.A.4 · HSA.CED.A.1 · HSA.REI.A.1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5</a:t>
            </a:r>
            <a:endParaRPr lang="en-US" sz="1000" dirty="0"/>
          </a:p>
        </p:txBody>
      </p:sp>
      <p:sp>
        <p:nvSpPr>
          <p:cNvPr id="9" name="stn1"/>
          <p:cNvSpPr/>
          <p:nvPr/>
        </p:nvSpPr>
        <p:spPr>
          <a:xfrm>
            <a:off x="402336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7764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path1"/>
          <p:cNvSpPr/>
          <p:nvPr/>
        </p:nvSpPr>
        <p:spPr>
          <a:xfrm>
            <a:off x="4315968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2" name="stn2"/>
          <p:cNvSpPr/>
          <p:nvPr/>
        </p:nvSpPr>
        <p:spPr>
          <a:xfrm>
            <a:off x="4736592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90872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path2"/>
          <p:cNvSpPr/>
          <p:nvPr/>
        </p:nvSpPr>
        <p:spPr>
          <a:xfrm>
            <a:off x="5029200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5" name="stn3"/>
          <p:cNvSpPr/>
          <p:nvPr/>
        </p:nvSpPr>
        <p:spPr>
          <a:xfrm>
            <a:off x="5358384" y="228600"/>
            <a:ext cx="457200" cy="457200"/>
          </a:xfrm>
          <a:prstGeom prst="ellipse">
            <a:avLst/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04104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path3"/>
          <p:cNvSpPr/>
          <p:nvPr/>
        </p:nvSpPr>
        <p:spPr>
          <a:xfrm>
            <a:off x="5833872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8" name="stn4"/>
          <p:cNvSpPr/>
          <p:nvPr/>
        </p:nvSpPr>
        <p:spPr>
          <a:xfrm>
            <a:off x="6163056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17336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path4"/>
          <p:cNvSpPr/>
          <p:nvPr/>
        </p:nvSpPr>
        <p:spPr>
          <a:xfrm>
            <a:off x="6455664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1" name="stn5"/>
          <p:cNvSpPr/>
          <p:nvPr/>
        </p:nvSpPr>
        <p:spPr>
          <a:xfrm>
            <a:off x="6876288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0568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path5"/>
          <p:cNvSpPr/>
          <p:nvPr/>
        </p:nvSpPr>
        <p:spPr>
          <a:xfrm>
            <a:off x="7168896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4" name="stn6"/>
          <p:cNvSpPr/>
          <p:nvPr/>
        </p:nvSpPr>
        <p:spPr>
          <a:xfrm>
            <a:off x="758952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4380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3  ·  CHECK  ·  LESSON 6-5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yourself: three questions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457200" y="18288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E8762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32" name="Image 2" descr="m_PRE-W7-G11/k520b975e4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907" y="2697480"/>
            <a:ext cx="2036186" cy="708843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4251960" y="18288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E8762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34840" y="1965960"/>
            <a:ext cx="502920" cy="50292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44348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36" name="Image 3" descr="m_PRE-W7-G11/ke8eb503c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697480"/>
            <a:ext cx="3200400" cy="339957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8046720" y="18288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E8762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229600" y="1965960"/>
            <a:ext cx="502920" cy="50292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82296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40" name="Image 4" descr="m_PRE-W7-G11/k41ecb3991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6219" y="2697480"/>
            <a:ext cx="3078602" cy="343997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457200" y="4480560"/>
            <a:ext cx="11247120" cy="1554480"/>
          </a:xfrm>
          <a:prstGeom prst="roundRect">
            <a:avLst>
              <a:gd name="adj" fmla="val 7059"/>
            </a:avLst>
          </a:prstGeom>
          <a:solidFill>
            <a:srgbClr val="0E4F4C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Text 34"/>
          <p:cNvSpPr txBox="1"/>
          <p:nvPr/>
        </p:nvSpPr>
        <p:spPr>
          <a:xfrm>
            <a:off x="7772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B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777240" y="4983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rule you used for each question and write each answer without a calculator.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55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HSA.SSE.A.2 · HSF.BF.A.2 · HSF.LE.A.4 · HSA.CED.A.1 · HSA.REI.A.1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6</a:t>
            </a:r>
            <a:endParaRPr lang="en-US" sz="1000" dirty="0"/>
          </a:p>
        </p:txBody>
      </p:sp>
      <p:sp>
        <p:nvSpPr>
          <p:cNvPr id="9" name="stn1"/>
          <p:cNvSpPr/>
          <p:nvPr/>
        </p:nvSpPr>
        <p:spPr>
          <a:xfrm>
            <a:off x="402336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7764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path1"/>
          <p:cNvSpPr/>
          <p:nvPr/>
        </p:nvSpPr>
        <p:spPr>
          <a:xfrm>
            <a:off x="4315968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2" name="stn2"/>
          <p:cNvSpPr/>
          <p:nvPr/>
        </p:nvSpPr>
        <p:spPr>
          <a:xfrm>
            <a:off x="4736592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90872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path2"/>
          <p:cNvSpPr/>
          <p:nvPr/>
        </p:nvSpPr>
        <p:spPr>
          <a:xfrm>
            <a:off x="5029200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5" name="stn3"/>
          <p:cNvSpPr/>
          <p:nvPr/>
        </p:nvSpPr>
        <p:spPr>
          <a:xfrm>
            <a:off x="5449824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04104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path3"/>
          <p:cNvSpPr/>
          <p:nvPr/>
        </p:nvSpPr>
        <p:spPr>
          <a:xfrm>
            <a:off x="5742432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8" name="stn4"/>
          <p:cNvSpPr/>
          <p:nvPr/>
        </p:nvSpPr>
        <p:spPr>
          <a:xfrm>
            <a:off x="6071616" y="228600"/>
            <a:ext cx="457200" cy="457200"/>
          </a:xfrm>
          <a:prstGeom prst="ellipse">
            <a:avLst/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17336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path4"/>
          <p:cNvSpPr/>
          <p:nvPr/>
        </p:nvSpPr>
        <p:spPr>
          <a:xfrm>
            <a:off x="6547104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1" name="stn5"/>
          <p:cNvSpPr/>
          <p:nvPr/>
        </p:nvSpPr>
        <p:spPr>
          <a:xfrm>
            <a:off x="6876288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0568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path5"/>
          <p:cNvSpPr/>
          <p:nvPr/>
        </p:nvSpPr>
        <p:spPr>
          <a:xfrm>
            <a:off x="7168896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4" name="stn6"/>
          <p:cNvSpPr/>
          <p:nvPr/>
        </p:nvSpPr>
        <p:spPr>
          <a:xfrm>
            <a:off x="758952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4380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4  ·  WATCH  ·  LESSON 6-6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and Logarithmic Equations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457200" y="1828800"/>
            <a:ext cx="5852160" cy="4434840"/>
          </a:xfrm>
          <a:prstGeom prst="roundRect">
            <a:avLst>
              <a:gd name="adj" fmla="val 2474"/>
            </a:avLst>
          </a:prstGeom>
          <a:solidFill>
            <a:srgbClr val="0E4F4C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777240" y="1965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 CLASS  ·  7:08</a:t>
            </a:r>
            <a:endParaRPr lang="en-US" sz="1100" dirty="0"/>
          </a:p>
        </p:txBody>
      </p:sp>
      <p:sp>
        <p:nvSpPr>
          <p:cNvPr id="31" name="Shape 26">
            <a:hlinkClick r:id="rId3" tooltip="Open on YouTube"/>
          </p:cNvPr>
          <p:cNvSpPr/>
          <p:nvPr/>
        </p:nvSpPr>
        <p:spPr>
          <a:xfrm>
            <a:off x="777240" y="2423160"/>
            <a:ext cx="1371600" cy="1371600"/>
          </a:xfrm>
          <a:prstGeom prst="ellipse">
            <a:avLst/>
          </a:prstGeom>
          <a:solidFill>
            <a:srgbClr val="E8762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2" name="Shape 27">
            <a:hlinkClick r:id="rId4" tooltip=""/>
          </p:cNvPr>
          <p:cNvSpPr/>
          <p:nvPr/>
        </p:nvSpPr>
        <p:spPr>
          <a:xfrm rot="5400000">
            <a:off x="1261872" y="2834640"/>
            <a:ext cx="548640" cy="54864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2423160" y="2423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Exponential and Logarithmic Equations</a:t>
            </a:r>
            <a:endParaRPr lang="en-US" sz="2000" dirty="0"/>
          </a:p>
        </p:txBody>
      </p:sp>
      <p:sp>
        <p:nvSpPr>
          <p:cNvPr id="34" name="Text 29"/>
          <p:cNvSpPr txBox="1"/>
          <p:nvPr/>
        </p:nvSpPr>
        <p:spPr>
          <a:xfrm>
            <a:off x="242316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Dave Explains  ·  7:08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242316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0B323"/>
                </a:solidFill>
                <a:uFill>
                  <a:solidFill>
                    <a:srgbClr val="F0B323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www.youtube.com/watch?v=10I_TVuYLkQ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on YouTube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77724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777240" y="45262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sides of an exponential equation can be written with the same base, and what you do next.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when the bases cannot match, and where the variable goes.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solution to a logarithmic equation must be checked in the original equation.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6492240" y="182880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676656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720840" y="2377440"/>
            <a:ext cx="4754880" cy="1805940"/>
          </a:xfrm>
          <a:prstGeom prst="roundRect">
            <a:avLst>
              <a:gd name="adj" fmla="val 6076"/>
            </a:avLst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pic>
        <p:nvPicPr>
          <p:cNvPr id="41" name="Image 2" descr="m_PRE-W7-G11/k8d26a77aa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954323"/>
            <a:ext cx="4480560" cy="652174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720840" y="4366260"/>
            <a:ext cx="4754880" cy="1805940"/>
          </a:xfrm>
          <a:prstGeom prst="roundRect">
            <a:avLst>
              <a:gd name="adj" fmla="val 6076"/>
            </a:avLst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pic>
        <p:nvPicPr>
          <p:cNvPr id="43" name="Image 3" descr="m_PRE-W7-G11/k1cc4017c0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5097826"/>
            <a:ext cx="4480560" cy="3428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55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HSA.SSE.A.2 · HSF.BF.A.2 · HSF.LE.A.4 · HSA.CED.A.1 · HSA.REI.A.1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7</a:t>
            </a:r>
            <a:endParaRPr lang="en-US" sz="1000" dirty="0"/>
          </a:p>
        </p:txBody>
      </p:sp>
      <p:sp>
        <p:nvSpPr>
          <p:cNvPr id="9" name="stn1"/>
          <p:cNvSpPr/>
          <p:nvPr/>
        </p:nvSpPr>
        <p:spPr>
          <a:xfrm>
            <a:off x="402336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7764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path1"/>
          <p:cNvSpPr/>
          <p:nvPr/>
        </p:nvSpPr>
        <p:spPr>
          <a:xfrm>
            <a:off x="4315968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2" name="stn2"/>
          <p:cNvSpPr/>
          <p:nvPr/>
        </p:nvSpPr>
        <p:spPr>
          <a:xfrm>
            <a:off x="4736592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90872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path2"/>
          <p:cNvSpPr/>
          <p:nvPr/>
        </p:nvSpPr>
        <p:spPr>
          <a:xfrm>
            <a:off x="5029200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5" name="stn3"/>
          <p:cNvSpPr/>
          <p:nvPr/>
        </p:nvSpPr>
        <p:spPr>
          <a:xfrm>
            <a:off x="5449824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04104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path3"/>
          <p:cNvSpPr/>
          <p:nvPr/>
        </p:nvSpPr>
        <p:spPr>
          <a:xfrm>
            <a:off x="5742432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8" name="stn4"/>
          <p:cNvSpPr/>
          <p:nvPr/>
        </p:nvSpPr>
        <p:spPr>
          <a:xfrm>
            <a:off x="6163056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17336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path4"/>
          <p:cNvSpPr/>
          <p:nvPr/>
        </p:nvSpPr>
        <p:spPr>
          <a:xfrm>
            <a:off x="6455664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1" name="stn5"/>
          <p:cNvSpPr/>
          <p:nvPr/>
        </p:nvSpPr>
        <p:spPr>
          <a:xfrm>
            <a:off x="6784848" y="228600"/>
            <a:ext cx="457200" cy="457200"/>
          </a:xfrm>
          <a:prstGeom prst="ellipse">
            <a:avLst/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0568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path5"/>
          <p:cNvSpPr/>
          <p:nvPr/>
        </p:nvSpPr>
        <p:spPr>
          <a:xfrm>
            <a:off x="7260336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4" name="stn6"/>
          <p:cNvSpPr/>
          <p:nvPr/>
        </p:nvSpPr>
        <p:spPr>
          <a:xfrm>
            <a:off x="758952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4380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5  ·  EXAMPLES  ·  LESSON 6-6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the worked examples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457200" y="182880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73152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212080" y="1920240"/>
            <a:ext cx="502920" cy="502920"/>
          </a:xfrm>
          <a:prstGeom prst="ellipse">
            <a:avLst/>
          </a:prstGeom>
          <a:solidFill>
            <a:srgbClr val="17A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212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33" name="Image 2" descr="m_PRE-W7-G11/kf43526faa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546" y="2514600"/>
            <a:ext cx="2020285" cy="318568"/>
          </a:xfrm>
          <a:prstGeom prst="rect">
            <a:avLst/>
          </a:prstGeom>
        </p:spPr>
      </p:pic>
      <p:pic>
        <p:nvPicPr>
          <p:cNvPr id="34" name="Image 3" descr="m_PRE-W7-G11/ka3ad65cf3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9794" y="3089200"/>
            <a:ext cx="1497787" cy="472379"/>
          </a:xfrm>
          <a:prstGeom prst="rect">
            <a:avLst/>
          </a:prstGeom>
        </p:spPr>
      </p:pic>
      <p:pic>
        <p:nvPicPr>
          <p:cNvPr id="35" name="Image 4" descr="m_PRE-W7-G11/k72826516b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3266" y="3817611"/>
            <a:ext cx="990844" cy="288036"/>
          </a:xfrm>
          <a:prstGeom prst="rect">
            <a:avLst/>
          </a:prstGeom>
        </p:spPr>
      </p:pic>
      <p:pic>
        <p:nvPicPr>
          <p:cNvPr id="36" name="Image 5" descr="m_PRE-W7-G11/k57f63ad98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9352" y="4361679"/>
            <a:ext cx="898672" cy="72201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6172200" y="182880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8" name="Text 29"/>
          <p:cNvSpPr txBox="1"/>
          <p:nvPr/>
        </p:nvSpPr>
        <p:spPr>
          <a:xfrm>
            <a:off x="644652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10927080" y="192024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10927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41" name="Image 6" descr="m_PRE-W7-G11/kf3aee8104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2514600"/>
            <a:ext cx="5029200" cy="410225"/>
          </a:xfrm>
          <a:prstGeom prst="rect">
            <a:avLst/>
          </a:prstGeom>
        </p:spPr>
      </p:pic>
      <p:pic>
        <p:nvPicPr>
          <p:cNvPr id="42" name="Image 7" descr="m_PRE-W7-G11/k51d5a77c4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7835" y="3180857"/>
            <a:ext cx="4051706" cy="464698"/>
          </a:xfrm>
          <a:prstGeom prst="rect">
            <a:avLst/>
          </a:prstGeom>
        </p:spPr>
      </p:pic>
      <p:pic>
        <p:nvPicPr>
          <p:cNvPr id="43" name="Image 8" descr="m_PRE-W7-G11/k630e28745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1943" y="3901587"/>
            <a:ext cx="2323490" cy="314919"/>
          </a:xfrm>
          <a:prstGeom prst="rect">
            <a:avLst/>
          </a:prstGeom>
        </p:spPr>
      </p:pic>
      <p:pic>
        <p:nvPicPr>
          <p:cNvPr id="44" name="Image 9" descr="m_PRE-W7-G11/k4a592c8e0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1970" y="4472538"/>
            <a:ext cx="4443435" cy="3648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55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HSA.SSE.A.2 · HSF.BF.A.2 · HSF.LE.A.4 · HSA.CED.A.1 · HSA.REI.A.1</a:t>
            </a:r>
            <a:endParaRPr lang="en-US" sz="8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8</a:t>
            </a:r>
            <a:endParaRPr lang="en-US" sz="1000" dirty="0"/>
          </a:p>
        </p:txBody>
      </p:sp>
      <p:sp>
        <p:nvSpPr>
          <p:cNvPr id="9" name="stn1"/>
          <p:cNvSpPr/>
          <p:nvPr/>
        </p:nvSpPr>
        <p:spPr>
          <a:xfrm>
            <a:off x="4023360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97764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path1"/>
          <p:cNvSpPr/>
          <p:nvPr/>
        </p:nvSpPr>
        <p:spPr>
          <a:xfrm>
            <a:off x="4315968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2" name="stn2"/>
          <p:cNvSpPr/>
          <p:nvPr/>
        </p:nvSpPr>
        <p:spPr>
          <a:xfrm>
            <a:off x="4736592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90872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path2"/>
          <p:cNvSpPr/>
          <p:nvPr/>
        </p:nvSpPr>
        <p:spPr>
          <a:xfrm>
            <a:off x="5029200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5" name="stn3"/>
          <p:cNvSpPr/>
          <p:nvPr/>
        </p:nvSpPr>
        <p:spPr>
          <a:xfrm>
            <a:off x="5449824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04104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path3"/>
          <p:cNvSpPr/>
          <p:nvPr/>
        </p:nvSpPr>
        <p:spPr>
          <a:xfrm>
            <a:off x="5742432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18" name="stn4"/>
          <p:cNvSpPr/>
          <p:nvPr/>
        </p:nvSpPr>
        <p:spPr>
          <a:xfrm>
            <a:off x="6163056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17336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path4"/>
          <p:cNvSpPr/>
          <p:nvPr/>
        </p:nvSpPr>
        <p:spPr>
          <a:xfrm>
            <a:off x="6455664" y="457200"/>
            <a:ext cx="42062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1" name="stn5"/>
          <p:cNvSpPr/>
          <p:nvPr/>
        </p:nvSpPr>
        <p:spPr>
          <a:xfrm>
            <a:off x="6876288" y="320040"/>
            <a:ext cx="274320" cy="274320"/>
          </a:xfrm>
          <a:prstGeom prst="ellipse">
            <a:avLst/>
          </a:prstGeom>
          <a:solidFill>
            <a:srgbClr val="17A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30568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path5"/>
          <p:cNvSpPr/>
          <p:nvPr/>
        </p:nvSpPr>
        <p:spPr>
          <a:xfrm>
            <a:off x="7168896" y="457200"/>
            <a:ext cx="329184" cy="0"/>
          </a:xfrm>
          <a:prstGeom prst="line">
            <a:avLst/>
          </a:prstGeom>
          <a:noFill/>
          <a:ln w="25400">
            <a:solidFill>
              <a:srgbClr val="17A199"/>
            </a:solidFill>
            <a:prstDash val="dash"/>
          </a:ln>
        </p:spPr>
      </p:sp>
      <p:sp>
        <p:nvSpPr>
          <p:cNvPr id="24" name="stn6"/>
          <p:cNvSpPr/>
          <p:nvPr/>
        </p:nvSpPr>
        <p:spPr>
          <a:xfrm>
            <a:off x="7498080" y="228600"/>
            <a:ext cx="457200" cy="457200"/>
          </a:xfrm>
          <a:prstGeom prst="ellipse">
            <a:avLst/>
          </a:prstGeom>
          <a:solidFill>
            <a:srgbClr val="E87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543800" y="3474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6  ·  CHECK  ·  LESSON 6-6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yourself: three questions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457200" y="18288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E8762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32" name="Image 2" descr="m_PRE-W7-G11/ked6bb3d2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583" y="2697480"/>
            <a:ext cx="1740835" cy="274503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4251960" y="18288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E8762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34840" y="1965960"/>
            <a:ext cx="502920" cy="50292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44348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36" name="Image 3" descr="m_PRE-W7-G11/k23f407916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697480"/>
            <a:ext cx="3200400" cy="357894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8046720" y="18288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E8762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229600" y="1965960"/>
            <a:ext cx="502920" cy="50292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82296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40" name="Image 4" descr="m_PRE-W7-G11/k213dbab6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697480"/>
            <a:ext cx="3200400" cy="326636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457200" y="4480560"/>
            <a:ext cx="11247120" cy="1554480"/>
          </a:xfrm>
          <a:prstGeom prst="roundRect">
            <a:avLst>
              <a:gd name="adj" fmla="val 7059"/>
            </a:avLst>
          </a:prstGeom>
          <a:solidFill>
            <a:srgbClr val="0E4F4C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Text 34"/>
          <p:cNvSpPr txBox="1"/>
          <p:nvPr/>
        </p:nvSpPr>
        <p:spPr>
          <a:xfrm>
            <a:off x="7772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B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777240" y="49834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checked every logarithmic answer in the original equation and written each exact answer in simplest form.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4F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474720" cy="3474720"/>
          </a:xfrm>
          <a:prstGeom prst="ellipse">
            <a:avLst/>
          </a:prstGeom>
          <a:solidFill>
            <a:srgbClr val="17A199">
              <a:alpha val="20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0B323">
              <a:alpha val="18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class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answers and your questions.</a:t>
            </a:r>
            <a:endParaRPr lang="en-US" sz="1800" dirty="0"/>
          </a:p>
        </p:txBody>
      </p:sp>
      <p:sp>
        <p:nvSpPr>
          <p:cNvPr id="8" name="path1"/>
          <p:cNvSpPr/>
          <p:nvPr/>
        </p:nvSpPr>
        <p:spPr>
          <a:xfrm flipV="1">
            <a:off x="137160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9" name="path2"/>
          <p:cNvSpPr/>
          <p:nvPr/>
        </p:nvSpPr>
        <p:spPr>
          <a:xfrm>
            <a:off x="333756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0" name="path3"/>
          <p:cNvSpPr/>
          <p:nvPr/>
        </p:nvSpPr>
        <p:spPr>
          <a:xfrm flipV="1">
            <a:off x="530352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1" name="path4"/>
          <p:cNvSpPr/>
          <p:nvPr/>
        </p:nvSpPr>
        <p:spPr>
          <a:xfrm>
            <a:off x="7269480" y="3200400"/>
            <a:ext cx="19659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2" name="path5"/>
          <p:cNvSpPr/>
          <p:nvPr/>
        </p:nvSpPr>
        <p:spPr>
          <a:xfrm flipV="1">
            <a:off x="9235440" y="3200400"/>
            <a:ext cx="1737360" cy="1097280"/>
          </a:xfrm>
          <a:prstGeom prst="line">
            <a:avLst/>
          </a:prstGeom>
          <a:noFill/>
          <a:ln w="38100">
            <a:solidFill>
              <a:srgbClr val="F0B323"/>
            </a:solidFill>
            <a:prstDash val="dash"/>
          </a:ln>
        </p:spPr>
      </p:sp>
      <p:sp>
        <p:nvSpPr>
          <p:cNvPr id="13" name="stn1"/>
          <p:cNvSpPr/>
          <p:nvPr/>
        </p:nvSpPr>
        <p:spPr>
          <a:xfrm>
            <a:off x="708660" y="3634740"/>
            <a:ext cx="1325880" cy="1325880"/>
          </a:xfrm>
          <a:prstGeom prst="ellipse">
            <a:avLst/>
          </a:prstGeom>
          <a:solidFill>
            <a:srgbClr val="F0B3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0584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411480" y="50977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6-5</a:t>
            </a:r>
            <a:endParaRPr lang="en-US" sz="1600" dirty="0"/>
          </a:p>
        </p:txBody>
      </p:sp>
      <p:sp>
        <p:nvSpPr>
          <p:cNvPr id="16" name="stn2"/>
          <p:cNvSpPr/>
          <p:nvPr/>
        </p:nvSpPr>
        <p:spPr>
          <a:xfrm>
            <a:off x="2674620" y="2537460"/>
            <a:ext cx="1325880" cy="1325880"/>
          </a:xfrm>
          <a:prstGeom prst="ellipse">
            <a:avLst/>
          </a:prstGeom>
          <a:solidFill>
            <a:srgbClr val="F0B3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97180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2377440" y="20802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6-5</a:t>
            </a:r>
            <a:endParaRPr lang="en-US" sz="1600" dirty="0"/>
          </a:p>
        </p:txBody>
      </p:sp>
      <p:sp>
        <p:nvSpPr>
          <p:cNvPr id="19" name="stn3"/>
          <p:cNvSpPr/>
          <p:nvPr/>
        </p:nvSpPr>
        <p:spPr>
          <a:xfrm>
            <a:off x="4640580" y="3634740"/>
            <a:ext cx="1325880" cy="1325880"/>
          </a:xfrm>
          <a:prstGeom prst="ellipse">
            <a:avLst/>
          </a:prstGeom>
          <a:solidFill>
            <a:srgbClr val="F0B3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93776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200" dirty="0"/>
          </a:p>
        </p:txBody>
      </p:sp>
      <p:sp>
        <p:nvSpPr>
          <p:cNvPr id="21" name="Text 17"/>
          <p:cNvSpPr txBox="1"/>
          <p:nvPr/>
        </p:nvSpPr>
        <p:spPr>
          <a:xfrm>
            <a:off x="4343400" y="50977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6-5</a:t>
            </a:r>
            <a:endParaRPr lang="en-US" sz="1600" dirty="0"/>
          </a:p>
        </p:txBody>
      </p:sp>
      <p:sp>
        <p:nvSpPr>
          <p:cNvPr id="22" name="stn4"/>
          <p:cNvSpPr/>
          <p:nvPr/>
        </p:nvSpPr>
        <p:spPr>
          <a:xfrm>
            <a:off x="6606540" y="2537460"/>
            <a:ext cx="1325880" cy="1325880"/>
          </a:xfrm>
          <a:prstGeom prst="ellipse">
            <a:avLst/>
          </a:prstGeom>
          <a:solidFill>
            <a:srgbClr val="F0B3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0372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200" dirty="0"/>
          </a:p>
        </p:txBody>
      </p:sp>
      <p:sp>
        <p:nvSpPr>
          <p:cNvPr id="24" name="Text 20"/>
          <p:cNvSpPr txBox="1"/>
          <p:nvPr/>
        </p:nvSpPr>
        <p:spPr>
          <a:xfrm>
            <a:off x="6309360" y="20802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6-6</a:t>
            </a:r>
            <a:endParaRPr lang="en-US" sz="1600" dirty="0"/>
          </a:p>
        </p:txBody>
      </p:sp>
      <p:sp>
        <p:nvSpPr>
          <p:cNvPr id="25" name="stn5"/>
          <p:cNvSpPr/>
          <p:nvPr/>
        </p:nvSpPr>
        <p:spPr>
          <a:xfrm>
            <a:off x="8572500" y="3634740"/>
            <a:ext cx="1325880" cy="1325880"/>
          </a:xfrm>
          <a:prstGeom prst="ellipse">
            <a:avLst/>
          </a:prstGeom>
          <a:solidFill>
            <a:srgbClr val="F0B3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869680" y="4023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200" dirty="0"/>
          </a:p>
        </p:txBody>
      </p:sp>
      <p:sp>
        <p:nvSpPr>
          <p:cNvPr id="27" name="Text 23"/>
          <p:cNvSpPr txBox="1"/>
          <p:nvPr/>
        </p:nvSpPr>
        <p:spPr>
          <a:xfrm>
            <a:off x="8275320" y="50977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6-6</a:t>
            </a:r>
            <a:endParaRPr lang="en-US" sz="1600" dirty="0"/>
          </a:p>
        </p:txBody>
      </p:sp>
      <p:sp>
        <p:nvSpPr>
          <p:cNvPr id="28" name="stn6"/>
          <p:cNvSpPr/>
          <p:nvPr/>
        </p:nvSpPr>
        <p:spPr>
          <a:xfrm>
            <a:off x="10309860" y="2537460"/>
            <a:ext cx="1325880" cy="1325880"/>
          </a:xfrm>
          <a:prstGeom prst="ellipse">
            <a:avLst/>
          </a:prstGeom>
          <a:solidFill>
            <a:srgbClr val="F0B32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0607040" y="29260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200" dirty="0"/>
          </a:p>
        </p:txBody>
      </p:sp>
      <p:sp>
        <p:nvSpPr>
          <p:cNvPr id="30" name="Text 26"/>
          <p:cNvSpPr txBox="1"/>
          <p:nvPr/>
        </p:nvSpPr>
        <p:spPr>
          <a:xfrm>
            <a:off x="10012680" y="20802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6-6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548640" y="5806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you met logarithms as inverses of exponentials, and you can already switch between exponential form and logarithmic form.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4023360" y="6492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Lessons 6-5 and 6-6 Properties of Logarithms and Exponential and Logarithmic Equations pre-session presentation</dc:title>
  <dc:subject>PptxGenJS Presentation</dc:subject>
  <dc:creator>Mr Malek Thiab</dc:creator>
  <cp:lastModifiedBy>Mr Malek Thiab</cp:lastModifiedBy>
  <cp:revision>1</cp:revision>
  <dcterms:created xsi:type="dcterms:W3CDTF">2026-10-05T08:17:27Z</dcterms:created>
  <dcterms:modified xsi:type="dcterms:W3CDTF">2026-10-05T08:17:27Z</dcterms:modified>
</cp:coreProperties>
</file>