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Send this pre-session to students before Week 7. It covers Lesson 2-4 Overview of Complex Numbers and Lesson 2-5 Completing the Square. Students work through six stations at home: watch a short video, study two worked examples, and answer three readiness questions, for each lesson. Their answers tell you where to start the in-class Diagnose.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Walk through the map with students: stations 1 to 3 prepare Lesson 2-4, stations 4 to 6 prepare Lesson 2-5. Each lesson: Watch (about 5 to 8 minutes), Examples, Check. In slideshow mode the Morph transition zooms the circles into the breadcrumb at the top of each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2-4, Station 1, Watch and key idea):
Video: Introduction to i and imaginary numbers by Khan Academy, length 5:19, https://www.youtube.com/watch?v=ysVcAYo7UPI
Pause the video at the definition of i and again at the powers of i. Misconception to say aloud: i is not a variable and not nothing; it is a number whose square is -1. Warn that sqrt(-9) = 3i, NOT -3 and NOT 3. Also warn that sqrt(-4)*sqrt(-9) must be converted to 2i*3i = -6 first; combining under one root first gives the wrong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2-4, Station 2, Worked examples):
Ex1: sqrt(-48) = sqrt(48)*i; 48 = 16*3 so sqrt(48) = 4*sqrt(3); answer 4*sqrt(3)*i (write i clearly outside the radical). Ex2: (3+2i)(1-4i) = 3 - 12i + 2i - 8i^2 = 3 - 10i + 8 = 11 - 10i. Misconception: students forget i^2 = -1 and leave -8i^2, or get -8 instead of +8. Addition is like combining like terms: real with real, imaginary with imaginary.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2-4, Station 3, Readiness check):
Q1: sqrt(-75) = sqrt(25*3)*i = 5*sqrt(3)*i. Q2: 43 = 4*10 + 3, so i^43 = i^3 = -i. Q3: sum = 4 + i; product = 3 - i + 6i - 2i^2 = 3 + 5i + 2 = 5 + 5i. Routing: if most students miss Q1, spend the first 3 minutes of Diagnose on simplifying radicals such as sqrt(48) before adding i. If most miss Q2, redraw the cycle i, -1, -i, 1 and divide the exponent by 4, using the remainder. If most miss Q3, rehearse expanding (a+b)(c+d) and replacing i^2 by 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2-5, Station 4, Watch and key idea):
Video: Completing the Square | From Standard to Vertex Form by Brian McLogan, length 6:14, https://www.youtube.com/watch?v=L1Wnq-2vxWw
This pre-session covers only leading coefficient 1. Pause the video where (b/2)^2 is added and subtracted. Misconception to say aloud: you may not just add a number; in an equation add it to BOTH sides, in an expression add AND subtract it. Another: the sign inside the bracket matches the sign of b/2, but the vertex x-coordinate has the opposite sign (x - 4 gives h =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2-5, Station 5, Worked examples):
Ex1: x^2 + 6x - 7 = 0 -&gt; x^2 + 6x = 7; half of 6 is 3, 3^2 = 9; add 9 to both sides: x^2 + 6x + 9 = 16, so (x+3)^2 = 16 (check: x = 1 or x = -7 both satisfy the original). Ex2: y = x^2 - 8x + 11; half of -8 is -4, 16 added and subtracted: y = (x-4)^2 - 16 + 11 = (x-4)^2 - 5; vertex (4, -5); the square is never negative, so the minimum is -5 at x = 4. Misconception: forgetting to subtract the 16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2-5, Station 6, Readiness check):
Q1: x^2 + 10x = 2; add 25: x^2 + 10x + 25 = 27, so (x+5)^2 = 27. Q2: y = x^2 - 6x + 9 - 9 + 5 = (x-3)^2 - 4. Q3: y = x^2 + 4x + 4 - 4 + 9 = (x+2)^2 + 5; minimum value 5 at x = -2. Routing: if most students miss Q1, spend the first 3 minutes of Diagnose on halving then squaring b, with negative values. If most miss Q2 or Q3, spend the time on add-and-subtract in an expression versus add-to-both-sides in an equation, and on reading h from the bracket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Collect the submitted answers from the LMS before class and sort questions by how many students missed them. Start the in-class Diagnose on the least secure check question. Last time you solved quadratics and met the discriminant; this week a negative discriminant gets a number, and completing the square rewrites a quadratic so its minimum or maximum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sVcAYo7UPI" TargetMode="External"/><Relationship Id="rId4" Type="http://schemas.openxmlformats.org/officeDocument/2006/relationships/hyperlink" Target="https://www.youtube.com/watch?v=ysVcAYo7UPI" TargetMode="External"/><Relationship Id="rId5" Type="http://schemas.openxmlformats.org/officeDocument/2006/relationships/hyperlink" Target="https://www.youtube.com/watch?v=ysVcAYo7UPI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6" Type="http://schemas.openxmlformats.org/officeDocument/2006/relationships/image" Target="../media/image-3-3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1Wnq-2vxWw" TargetMode="External"/><Relationship Id="rId4" Type="http://schemas.openxmlformats.org/officeDocument/2006/relationships/hyperlink" Target="https://www.youtube.com/watch?v=L1Wnq-2vxWw" TargetMode="External"/><Relationship Id="rId5" Type="http://schemas.openxmlformats.org/officeDocument/2006/relationships/hyperlink" Target="https://www.youtube.com/watch?v=L1Wnq-2vxWw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463040"/>
            <a:ext cx="7863840" cy="7863840"/>
          </a:xfrm>
          <a:prstGeom prst="ellipse">
            <a:avLst/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463040"/>
            <a:ext cx="3291840" cy="3291840"/>
          </a:xfrm>
          <a:prstGeom prst="ellipse">
            <a:avLst/>
          </a:prstGeom>
          <a:solidFill>
            <a:srgbClr val="F0B323">
              <a:alpha val="30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023360"/>
            <a:ext cx="3291840" cy="3291840"/>
          </a:xfrm>
          <a:prstGeom prst="ellipse">
            <a:avLst/>
          </a:prstGeom>
          <a:solidFill>
            <a:srgbClr val="17A199">
              <a:alpha val="15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pic>
        <p:nvPicPr>
          <p:cNvPr id="5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6" name="Image 1" descr="../../cogni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"/>
            <a:ext cx="1188720" cy="891540"/>
          </a:xfrm>
          <a:prstGeom prst="rect">
            <a:avLst/>
          </a:prstGeom>
        </p:spPr>
      </p:pic>
      <p:pic>
        <p:nvPicPr>
          <p:cNvPr id="7" name="Image 2" descr="../../school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  ·  ALGEBRA II  ·  WEEK 7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2194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Pre-Session</a:t>
            </a:r>
            <a:endParaRPr lang="en-US" sz="5400" dirty="0"/>
          </a:p>
        </p:txBody>
      </p:sp>
      <p:sp>
        <p:nvSpPr>
          <p:cNvPr id="10" name="Shape 5"/>
          <p:cNvSpPr/>
          <p:nvPr/>
        </p:nvSpPr>
        <p:spPr>
          <a:xfrm>
            <a:off x="640080" y="3383280"/>
            <a:ext cx="5760720" cy="731520"/>
          </a:xfrm>
          <a:prstGeom prst="roundRect">
            <a:avLst>
              <a:gd name="adj" fmla="val 18750"/>
            </a:avLst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" y="34381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2-4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3694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Complex Numbers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640080" y="4251960"/>
            <a:ext cx="5760720" cy="731520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68680" y="43068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2-5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" y="45628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Square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task before class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·  Study  ·  Check  ·  Submit on the LMS before class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17A199">
              <a:alpha val="20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0B323">
              <a:alpha val="18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home journey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stations before the lesson: watch, study the examples, check yourself, twice.</a:t>
            </a:r>
            <a:endParaRPr lang="en-US" sz="1800" dirty="0"/>
          </a:p>
        </p:txBody>
      </p:sp>
      <p:sp>
        <p:nvSpPr>
          <p:cNvPr id="8" name="path1"/>
          <p:cNvSpPr/>
          <p:nvPr/>
        </p:nvSpPr>
        <p:spPr>
          <a:xfrm flipV="1">
            <a:off x="137160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9" name="path2"/>
          <p:cNvSpPr/>
          <p:nvPr/>
        </p:nvSpPr>
        <p:spPr>
          <a:xfrm>
            <a:off x="333756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0" name="path3"/>
          <p:cNvSpPr/>
          <p:nvPr/>
        </p:nvSpPr>
        <p:spPr>
          <a:xfrm flipV="1">
            <a:off x="530352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1" name="path4"/>
          <p:cNvSpPr/>
          <p:nvPr/>
        </p:nvSpPr>
        <p:spPr>
          <a:xfrm>
            <a:off x="726948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2" name="path5"/>
          <p:cNvSpPr/>
          <p:nvPr/>
        </p:nvSpPr>
        <p:spPr>
          <a:xfrm flipV="1">
            <a:off x="9235440" y="3200400"/>
            <a:ext cx="17373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3" name="stn1"/>
          <p:cNvSpPr/>
          <p:nvPr/>
        </p:nvSpPr>
        <p:spPr>
          <a:xfrm>
            <a:off x="708660" y="3634740"/>
            <a:ext cx="1325880" cy="132588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2-4</a:t>
            </a:r>
            <a:endParaRPr lang="en-US" sz="1600" dirty="0"/>
          </a:p>
        </p:txBody>
      </p:sp>
      <p:sp>
        <p:nvSpPr>
          <p:cNvPr id="16" name="stn2"/>
          <p:cNvSpPr/>
          <p:nvPr/>
        </p:nvSpPr>
        <p:spPr>
          <a:xfrm>
            <a:off x="2674620" y="2537460"/>
            <a:ext cx="1325880" cy="1325880"/>
          </a:xfrm>
          <a:prstGeom prst="ellipse">
            <a:avLst/>
          </a:prstGeom>
          <a:solidFill>
            <a:srgbClr val="17A19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7180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2-4</a:t>
            </a:r>
            <a:endParaRPr lang="en-US" sz="1600" dirty="0"/>
          </a:p>
        </p:txBody>
      </p:sp>
      <p:sp>
        <p:nvSpPr>
          <p:cNvPr id="19" name="stn3"/>
          <p:cNvSpPr/>
          <p:nvPr/>
        </p:nvSpPr>
        <p:spPr>
          <a:xfrm>
            <a:off x="4640580" y="3634740"/>
            <a:ext cx="1325880" cy="1325880"/>
          </a:xfrm>
          <a:prstGeom prst="ellipse">
            <a:avLst/>
          </a:prstGeom>
          <a:solidFill>
            <a:srgbClr val="17A19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3776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434340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2-4</a:t>
            </a:r>
            <a:endParaRPr lang="en-US" sz="1600" dirty="0"/>
          </a:p>
        </p:txBody>
      </p:sp>
      <p:sp>
        <p:nvSpPr>
          <p:cNvPr id="22" name="stn4"/>
          <p:cNvSpPr/>
          <p:nvPr/>
        </p:nvSpPr>
        <p:spPr>
          <a:xfrm>
            <a:off x="6606540" y="253746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0372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630936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2-5</a:t>
            </a:r>
            <a:endParaRPr lang="en-US" sz="1600" dirty="0"/>
          </a:p>
        </p:txBody>
      </p:sp>
      <p:sp>
        <p:nvSpPr>
          <p:cNvPr id="25" name="stn5"/>
          <p:cNvSpPr/>
          <p:nvPr/>
        </p:nvSpPr>
        <p:spPr>
          <a:xfrm>
            <a:off x="8572500" y="363474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86968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2-5</a:t>
            </a:r>
            <a:endParaRPr lang="en-US" sz="1600" dirty="0"/>
          </a:p>
        </p:txBody>
      </p:sp>
      <p:sp>
        <p:nvSpPr>
          <p:cNvPr id="28" name="stn6"/>
          <p:cNvSpPr/>
          <p:nvPr/>
        </p:nvSpPr>
        <p:spPr>
          <a:xfrm>
            <a:off x="10309860" y="253746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60704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2-5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023360" y="6492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3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3931920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path1"/>
          <p:cNvSpPr/>
          <p:nvPr/>
        </p:nvSpPr>
        <p:spPr>
          <a:xfrm>
            <a:off x="4407408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  ·  WATCH  ·  LESSON 2-4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Complex Numbers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77240" y="1965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  ·  5:19</a:t>
            </a:r>
            <a:endParaRPr lang="en-US" sz="1100" dirty="0"/>
          </a:p>
        </p:txBody>
      </p:sp>
      <p:sp>
        <p:nvSpPr>
          <p:cNvPr id="31" name="Shape 26">
            <a:hlinkClick r:id="rId3" tooltip="Open on YouTube"/>
          </p:cNvPr>
          <p:cNvSpPr/>
          <p:nvPr/>
        </p:nvSpPr>
        <p:spPr>
          <a:xfrm>
            <a:off x="777240" y="2423160"/>
            <a:ext cx="1371600" cy="137160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Shape 27">
            <a:hlinkClick r:id="rId4" tooltip=""/>
          </p:cNvPr>
          <p:cNvSpPr/>
          <p:nvPr/>
        </p:nvSpPr>
        <p:spPr>
          <a:xfrm rot="5400000">
            <a:off x="1261872" y="2834640"/>
            <a:ext cx="548640" cy="54864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42316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 and imaginary numbers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24231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 ·  5:19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24231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0B323"/>
                </a:solidFill>
                <a:uFill>
                  <a:solidFill>
                    <a:srgbClr val="F0B32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youtube.com/watch?v=ysVcAYo7UP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on YouTube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772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777240" y="4526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number the imaginary unit i is defined to be, and what i squared equals.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square root of a negative number is rewritten using i.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powers of i repeat in a cycle, and the form a + bi for a complex number.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92240" y="18288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7665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20840" y="237744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1" name="Image 2" descr="m_PRE-W7-G10/k8f27d7455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94542"/>
            <a:ext cx="4480560" cy="371735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720840" y="436626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3" name="Image 3" descr="m_PRE-W7-G10/kdbb00763f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5691" y="5083332"/>
            <a:ext cx="4305178" cy="371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4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645152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path2"/>
          <p:cNvSpPr/>
          <p:nvPr/>
        </p:nvSpPr>
        <p:spPr>
          <a:xfrm>
            <a:off x="5120640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  ·  EXAMPLES  ·  LESSON 2-4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worked examples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31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12080" y="1920240"/>
            <a:ext cx="502920" cy="50292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12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3" name="Image 2" descr="m_PRE-W7-G10/k495d50748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16" y="2514600"/>
            <a:ext cx="2375145" cy="455673"/>
          </a:xfrm>
          <a:prstGeom prst="rect">
            <a:avLst/>
          </a:prstGeom>
        </p:spPr>
      </p:pic>
      <p:pic>
        <p:nvPicPr>
          <p:cNvPr id="34" name="Image 3" descr="m_PRE-W7-G10/kd9c7f72c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30" y="3226305"/>
            <a:ext cx="1889516" cy="426293"/>
          </a:xfrm>
          <a:prstGeom prst="rect">
            <a:avLst/>
          </a:prstGeom>
        </p:spPr>
      </p:pic>
      <p:pic>
        <p:nvPicPr>
          <p:cNvPr id="35" name="Image 4" descr="m_PRE-W7-G10/k15dbe032b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16" y="3908630"/>
            <a:ext cx="1152144" cy="4147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172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6446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10927080" y="192024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0927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40" name="Image 5" descr="m_PRE-W7-G10/k78baaf68d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2525" y="2514600"/>
            <a:ext cx="3762326" cy="419380"/>
          </a:xfrm>
          <a:prstGeom prst="rect">
            <a:avLst/>
          </a:prstGeom>
        </p:spPr>
      </p:pic>
      <p:pic>
        <p:nvPicPr>
          <p:cNvPr id="41" name="Image 6" descr="m_PRE-W7-G10/kd94d4ec38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913" y="3190012"/>
            <a:ext cx="2803550" cy="376367"/>
          </a:xfrm>
          <a:prstGeom prst="rect">
            <a:avLst/>
          </a:prstGeom>
        </p:spPr>
      </p:pic>
      <p:pic>
        <p:nvPicPr>
          <p:cNvPr id="42" name="Image 7" descr="m_PRE-W7-G10/kc483336a4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5488" y="3822411"/>
            <a:ext cx="1916400" cy="318760"/>
          </a:xfrm>
          <a:prstGeom prst="rect">
            <a:avLst/>
          </a:prstGeom>
        </p:spPr>
      </p:pic>
      <p:pic>
        <p:nvPicPr>
          <p:cNvPr id="43" name="Image 8" descr="m_PRE-W7-G10/k7db2aa896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7512" y="4397203"/>
            <a:ext cx="1532352" cy="318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5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358384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ath3"/>
          <p:cNvSpPr/>
          <p:nvPr/>
        </p:nvSpPr>
        <p:spPr>
          <a:xfrm>
            <a:off x="5833872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  ·  CHECK  ·  LESSON 2-4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yourself: three questions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2" name="Image 2" descr="m_PRE-W7-G10/k2098f7af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90" y="2697480"/>
            <a:ext cx="1935419" cy="39264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25196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434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6" name="Image 3" descr="m_PRE-W7-G10/k9f27ec5f4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85" y="2697480"/>
            <a:ext cx="1560149" cy="3162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04672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40" name="Image 4" descr="m_PRE-W7-G10/k33303edf6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007" y="2697480"/>
            <a:ext cx="3089026" cy="771388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57200" y="448056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write a square root of a negative number with i, use the cycle of four to find a power of i, and give sums and products in the form a + bi.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6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071616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path4"/>
          <p:cNvSpPr/>
          <p:nvPr/>
        </p:nvSpPr>
        <p:spPr>
          <a:xfrm>
            <a:off x="6547104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  ·  WATCH  ·  LESSON 2-5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77240" y="1965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  ·  6:14</a:t>
            </a:r>
            <a:endParaRPr lang="en-US" sz="1100" dirty="0"/>
          </a:p>
        </p:txBody>
      </p:sp>
      <p:sp>
        <p:nvSpPr>
          <p:cNvPr id="31" name="Shape 26">
            <a:hlinkClick r:id="rId3" tooltip="Open on YouTube"/>
          </p:cNvPr>
          <p:cNvSpPr/>
          <p:nvPr/>
        </p:nvSpPr>
        <p:spPr>
          <a:xfrm>
            <a:off x="777240" y="2423160"/>
            <a:ext cx="1371600" cy="137160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Shape 27">
            <a:hlinkClick r:id="rId4" tooltip=""/>
          </p:cNvPr>
          <p:cNvSpPr/>
          <p:nvPr/>
        </p:nvSpPr>
        <p:spPr>
          <a:xfrm rot="5400000">
            <a:off x="1261872" y="2834640"/>
            <a:ext cx="548640" cy="54864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42316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 | From Standard to Vertex Form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24231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McLogan  ·  6:14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24231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0B323"/>
                </a:solidFill>
                <a:uFill>
                  <a:solidFill>
                    <a:srgbClr val="F0B32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youtube.com/watch?v=L1Wnq-2vxW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on YouTube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772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777240" y="4526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half of the coefficient of x is found and then squared.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expression stays equal after a number is added to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vertex and the minimum value can be read from the finished form.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92240" y="18288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7665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20840" y="237744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1" name="Image 2" descr="m_PRE-W7-G10/kfe4e8eaf7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204" y="2873868"/>
            <a:ext cx="3690153" cy="813084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720840" y="436626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3" name="Image 3" descr="m_PRE-W7-G10/k4b1b9d6b9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5113867"/>
            <a:ext cx="4480560" cy="310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7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784848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path5"/>
          <p:cNvSpPr/>
          <p:nvPr/>
        </p:nvSpPr>
        <p:spPr>
          <a:xfrm>
            <a:off x="7260336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5  ·  EXAMPLES  ·  LESSON 2-5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worked examples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31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12080" y="1920240"/>
            <a:ext cx="502920" cy="50292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12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3" name="Image 2" descr="m_PRE-W7-G10/k9e001fe8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514600"/>
            <a:ext cx="5029200" cy="390617"/>
          </a:xfrm>
          <a:prstGeom prst="rect">
            <a:avLst/>
          </a:prstGeom>
        </p:spPr>
      </p:pic>
      <p:pic>
        <p:nvPicPr>
          <p:cNvPr id="34" name="Image 3" descr="m_PRE-W7-G10/kc31ce07bc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543" y="3161249"/>
            <a:ext cx="1678290" cy="376367"/>
          </a:xfrm>
          <a:prstGeom prst="rect">
            <a:avLst/>
          </a:prstGeom>
        </p:spPr>
      </p:pic>
      <p:pic>
        <p:nvPicPr>
          <p:cNvPr id="35" name="Image 4" descr="m_PRE-W7-G10/k02b0386aa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035" y="3793649"/>
            <a:ext cx="2761305" cy="376367"/>
          </a:xfrm>
          <a:prstGeom prst="rect">
            <a:avLst/>
          </a:prstGeom>
        </p:spPr>
      </p:pic>
      <p:pic>
        <p:nvPicPr>
          <p:cNvPr id="36" name="Image 5" descr="m_PRE-W7-G10/k48878061b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8169" y="4426048"/>
            <a:ext cx="1901038" cy="430134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172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6446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10927080" y="192024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0927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41" name="Image 6" descr="m_PRE-W7-G10/k6442e45f7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738" y="2514600"/>
            <a:ext cx="4701900" cy="431478"/>
          </a:xfrm>
          <a:prstGeom prst="rect">
            <a:avLst/>
          </a:prstGeom>
        </p:spPr>
      </p:pic>
      <p:pic>
        <p:nvPicPr>
          <p:cNvPr id="42" name="Image 7" descr="m_PRE-W7-G10/k70ac41e23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331" y="3202110"/>
            <a:ext cx="3786713" cy="410931"/>
          </a:xfrm>
          <a:prstGeom prst="rect">
            <a:avLst/>
          </a:prstGeom>
        </p:spPr>
      </p:pic>
      <p:pic>
        <p:nvPicPr>
          <p:cNvPr id="43" name="Image 8" descr="m_PRE-W7-G10/kecd55384a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1544" y="3869073"/>
            <a:ext cx="2304288" cy="430134"/>
          </a:xfrm>
          <a:prstGeom prst="rect">
            <a:avLst/>
          </a:prstGeom>
        </p:spPr>
      </p:pic>
      <p:pic>
        <p:nvPicPr>
          <p:cNvPr id="44" name="Image 9" descr="m_PRE-W7-G10/kafcd3e26c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5546" y="4555239"/>
            <a:ext cx="3556284" cy="399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HSN.CN.A.1 · HSN.CN.A.2 · HSN.CN.A.3 · HSN.CN.C.8 · HSA.REI.B.4.B · HSN.CN.C.7 · HSA.SSE.B.3.B · HSA.REI.B.4.A · HSF.LE.B.6 · HSF.IF.C.8.A</a:t>
            </a:r>
            <a:endParaRPr lang="en-US" sz="7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8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498080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6  ·  CHECK  ·  LESSON 2-5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yourself: three questions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2" name="Image 2" descr="m_PRE-W7-G10/k63333523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3200400" cy="25530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25196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434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6" name="Image 3" descr="m_PRE-W7-G10/k222af4dd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97480"/>
            <a:ext cx="3200400" cy="255554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04672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40" name="Image 4" descr="m_PRE-W7-G10/k5ea25ca5d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697480"/>
            <a:ext cx="3200400" cy="250141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57200" y="448056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the square of half the coefficient of x to both sides of an equation, and write a quadratic with leading coefficient 1 in vertex form and name its minimum value.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17A199">
              <a:alpha val="20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0B323">
              <a:alpha val="18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class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answers and your questions.</a:t>
            </a:r>
            <a:endParaRPr lang="en-US" sz="1800" dirty="0"/>
          </a:p>
        </p:txBody>
      </p:sp>
      <p:sp>
        <p:nvSpPr>
          <p:cNvPr id="8" name="path1"/>
          <p:cNvSpPr/>
          <p:nvPr/>
        </p:nvSpPr>
        <p:spPr>
          <a:xfrm flipV="1">
            <a:off x="137160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9" name="path2"/>
          <p:cNvSpPr/>
          <p:nvPr/>
        </p:nvSpPr>
        <p:spPr>
          <a:xfrm>
            <a:off x="333756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0" name="path3"/>
          <p:cNvSpPr/>
          <p:nvPr/>
        </p:nvSpPr>
        <p:spPr>
          <a:xfrm flipV="1">
            <a:off x="530352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1" name="path4"/>
          <p:cNvSpPr/>
          <p:nvPr/>
        </p:nvSpPr>
        <p:spPr>
          <a:xfrm>
            <a:off x="726948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2" name="path5"/>
          <p:cNvSpPr/>
          <p:nvPr/>
        </p:nvSpPr>
        <p:spPr>
          <a:xfrm flipV="1">
            <a:off x="9235440" y="3200400"/>
            <a:ext cx="17373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3" name="stn1"/>
          <p:cNvSpPr/>
          <p:nvPr/>
        </p:nvSpPr>
        <p:spPr>
          <a:xfrm>
            <a:off x="70866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2-4</a:t>
            </a:r>
            <a:endParaRPr lang="en-US" sz="1600" dirty="0"/>
          </a:p>
        </p:txBody>
      </p:sp>
      <p:sp>
        <p:nvSpPr>
          <p:cNvPr id="16" name="stn2"/>
          <p:cNvSpPr/>
          <p:nvPr/>
        </p:nvSpPr>
        <p:spPr>
          <a:xfrm>
            <a:off x="267462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7180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2-4</a:t>
            </a:r>
            <a:endParaRPr lang="en-US" sz="1600" dirty="0"/>
          </a:p>
        </p:txBody>
      </p:sp>
      <p:sp>
        <p:nvSpPr>
          <p:cNvPr id="19" name="stn3"/>
          <p:cNvSpPr/>
          <p:nvPr/>
        </p:nvSpPr>
        <p:spPr>
          <a:xfrm>
            <a:off x="464058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3776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434340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2-4</a:t>
            </a:r>
            <a:endParaRPr lang="en-US" sz="1600" dirty="0"/>
          </a:p>
        </p:txBody>
      </p:sp>
      <p:sp>
        <p:nvSpPr>
          <p:cNvPr id="22" name="stn4"/>
          <p:cNvSpPr/>
          <p:nvPr/>
        </p:nvSpPr>
        <p:spPr>
          <a:xfrm>
            <a:off x="660654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0372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630936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2-5</a:t>
            </a:r>
            <a:endParaRPr lang="en-US" sz="1600" dirty="0"/>
          </a:p>
        </p:txBody>
      </p:sp>
      <p:sp>
        <p:nvSpPr>
          <p:cNvPr id="25" name="stn5"/>
          <p:cNvSpPr/>
          <p:nvPr/>
        </p:nvSpPr>
        <p:spPr>
          <a:xfrm>
            <a:off x="857250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86968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2-5</a:t>
            </a:r>
            <a:endParaRPr lang="en-US" sz="1600" dirty="0"/>
          </a:p>
        </p:txBody>
      </p:sp>
      <p:sp>
        <p:nvSpPr>
          <p:cNvPr id="28" name="stn6"/>
          <p:cNvSpPr/>
          <p:nvPr/>
        </p:nvSpPr>
        <p:spPr>
          <a:xfrm>
            <a:off x="1030986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60704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2-5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 you solved quadratics and met the discriminant; this week a negative discriminant gets a number, and completing the square rewrites a quadratic so its minimum or maximum shows.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023360" y="6492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2-4 and 2-5 Overview of Complex Numbers and Completing the Square pre-session presentation</dc:title>
  <dc:subject>PptxGenJS Presentation</dc:subject>
  <dc:creator>Mr Malek Thiab</dc:creator>
  <cp:lastModifiedBy>Mr Malek Thiab</cp:lastModifiedBy>
  <cp:revision>1</cp:revision>
  <dcterms:created xsi:type="dcterms:W3CDTF">2026-10-05T08:17:17Z</dcterms:created>
  <dcterms:modified xsi:type="dcterms:W3CDTF">2026-10-05T08:17:17Z</dcterms:modified>
</cp:coreProperties>
</file>