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Lessons 2-1 and 2-2: Vertex Form and Standard Form.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(Vertex Form: Read the Turning Point; Writing Vertex Form from Key Features; Standard Form: What Each Term Tells You; Graphing from Standard Form), Practice (Practice, Apply, Investigate), Production (Designing a Footbridge Arch),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axis of symmetry, maximum point, maximum value, minimum point, minimum value, Parabola, parent quadratic function, quadratic function, Vertex, vertex form, constant term, leading coefficient, leading term, linear coefficient, linear term, standard form (of a quadratic function).
Standards are on the next slide.
The essential question and mathematical practices are not shown because they are not in the project documents; add them from the curriculum map if you want them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Standards are quoted verbatim from the curriculum map. Students do not need to read them aloud; point to the ones that match today's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Answers: Q1 (x-3)^2 = x^2 - 6x + 9 (square the bracket: (x-3)(x-3), middle term 2*(-3)x = -6x). Q2 f(0) = 0 - 0 + 5 = 5, the y-intercept (0,5). Q3 y=(x+2)^2-5 is y=x^2 moved LEFT 2 and DOWN 5. Verbal misconceptions: (x-3)^2 is NOT x^2 - 9 (the middle term is missing); f(0) is the y-intercept, not the x-intercept; x+2 moves the graph LEFT, not right. Adaptive routing: if &gt;30% miss Q1, route to slide 8 (standard form; expanding) and slow down there; if &gt;30% miss Q3, route to slide 6 (vertex form; read h with the opposite sign); if &gt;30% miss Q2, route to slide 8 (c is f(0)).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4):
Example 1: f(x)=2(x-3)^2-1. h=3, k=-1, so the vertex is (3,-1) and the axis is x=3. a=2&gt;0 so it opens up with minimum value -1. Symmetry: one step from the axis (x=2 and x=4) gives f=2(1)^2-1=1; two steps (x=1 and x=5) gives f=2(4)-1=7. Example 2: f(x)=-(x+2)^2+5 = -(x-(-2))^2+5, so h=-2, k=5, vertex (-2,5), axis x=-2; a=-1&lt;0 opens down; maximum value 5. Link to Lesson 1-2: this is y=x^2 stretched by 2, moved right 3 and down 1. Verbal misconceptions: (1) x-3 moves the graph RIGHT, and the vertex is (3,-1), not (-3,-1); (2) in (x+2) the h is -2, so flip the sign; (3) k is the extreme value, not the x-coordinate; (4) a=2 stretches vertically: the heights above the vertex are 2 and 8, not steps of 2 sideways. Adaptive routing: if &gt;30% miss the sign of h in Example 2, pause and do one more with (x+4); if &gt;30% miss Q3 of the Diagnose, stay on this slide; if most students are secure, go straight to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4):
Example 1: vertex (-2,5) gives the bracket (x+2) and k=5. Substitute (0,-3): -3 = a(0+2)^2 + 5 = 4a + 5, so 4a = -8 and a = -2. f(x) = -2(x+2)^2 + 5. Check: f(0) = -2(4)+5 = -3. Example 2: a maximum value of 12 at x=3 means the vertex is (3,12). Substitute (1,4): 4 = a(1-3)^2 + 12 = 4a + 12, so 4a = -8 and a = -2. f(x) = -2(x-3)^2 + 12. Check: f(1) = -2(4)+12 = 4. Verbal misconceptions: (1) vertex (-2,5) gives (x+2), not (x-2); (2) square the bracket BEFORE multiplying by a: a(x+2)^2 is not (ax+2a)^2; (3) 'maximum value 12 at x=3' gives the vertex (3,12), not (12,3); (4) the sign of a is decided by the picture: the graph falls from the vertex, so a is negative. Adaptive routing: if &gt;30% miss the sign of h, route back to slide 6; if &gt;30% get a wrong sign for a, redo Example 1 with a sketch first; Mastery Gate Q1 routes back here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4):
Terms: ax^2 is the leading term (a the leading coefficient); bx is the linear term (b the linear coefficient); c is the constant term. Example 1: f(x)=x^2-6x+5 has a=1, b=-6, c=5. f(0)=c=5 so the y-intercept is (0,5). Axis x = -b/(2a) = -(-6)/(2*1) = 3. Example 2: f(x)=-2x^2+8x-3 has a=-2, b=8, c=-3. Axis x = -8/(2*(-2)) = -8/-4 = 2. Substitute: f(2) = -2(4) + 16 - 3 = 5. Vertex (2,5); a&lt;0 so opens down and 5 is the maximum value. Verbal misconceptions: (1) the sign belongs to the coefficient: b=-6 in Example 1, not 6; (2) the y-intercept is c, not b; (3) -b/(2a) is only the x-coordinate: substitute to get the y-coordinate; (4) in Example 2 the denominator is 2a=-4, so the two negatives make a positive 2. Adaptive routing: if &gt;30% give the wrong axis in Example 2, redo with the sign of b and a written in brackets; Mastery Gate Q2 routes back here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4 of 4):
Method: (1) direction from the sign of a; (2) axis x=-b/(2a); (3) vertex by substituting the axis value; (4) y-intercept (0,c) and its mirror image across the axis, (2h, c); (5) plot, join with a smooth curve, label. Example 1: f(x)=x^2-4x+3: a=1 opens up; axis 4/2=2; f(2)=4-8+3=-1, vertex (2,-1); y-intercept (0,3), mirror (4,3) (4 = 2*2 - 0). Example 2: f(x)=-x^2+4x+1: a=-1 opens down; axis -4/(2*(-1))=2; f(2)=-4+8+1=5, vertex (2,5); y-intercept (0,1), mirror (4,1). Example 3: expand (x-3)^2 = x^2-6x+9, then subtract 4: x^2-6x+5. So vertex form shows the vertex (3,-4) at once; standard form shows the y-intercept (0,5) at once; same function. Verbal misconceptions: (1) the mirror of (0,c) is (-b/a, c), the SAME height, not the same x; (2) forgetting to plot the mirror image; (3) the parabola is symmetric about the axis, not about the y-axis (unless b=0); (4) plotting the vertex at (-b/(2a), c). Adaptive routing: if &gt;30% miss the vertex y-coordinate, redo the substitution step; Mastery Gate Q3 routes back here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Answers. Practice 1: vertex (5,-2), axis x=5, opens up (a=3&gt;0). Practice 2: 1 = a(0-2)^2 - 3 = 4a - 3, so a = 1 and f(x) = (x-2)^2 - 3. Apply 1: 7 = a(5-3)^2 - 1 = 4a - 1, so a = 2 and f(x) = 2(x-3)^2 - 1. Apply 2: g has a=2, b=-8, c=5; axis x = 8/4 = 2; vertex g(2) = 8-16+5 = -3, so (2,-3); y-intercept (0,5), mirror (4,5); opens up. Investigate 1: a(x-h)^2 + k = ax^2 - 2ahx + (ah^2 + k), so b = -2ah and h = -b/(2a). Investigate 2: x+3 = x-(-3), so h=-3 and the vertex is (-3,-4); the point (3,-4) is a different point and is NOT on the graph (y at x=3 is 32). Verbal misconceptions: reading the sign of h as written; forgetting to square the bracket; swapping the coordinates of the vertex. Adaptive routing: if &gt;30% of Practice students miss item 1, send them to slide 6 with a partner; if Apply students stall on the mirror point, point to slide 9; students who finish Investigate move on to the Production task; students stuck on the Practice sequence use the slide 6-8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Answers. (a) y = a(x-20)^2 + 12 with (0,0): 0 = 400a + 12, so a = -12/400 = -0.03; y = -0.03(x-20)^2 + 12. (b) Expand: -0.03(x^2 - 40x + 400) + 12 = -0.03x^2 + 1.2x - 12 + 12 = -0.03x^2 + 1.2x. So a = -0.03, b = 1.2, c = 0; c = 0 means the arch starts at ground (water) level at x = 0 (the left foot is the y-intercept). (c) Axis: x = -1.2/(2*(-0.03)) = 1.2/0.06 = 20, so the axis is x = 20. Height at x = 5: -0.03(5-20)^2 + 12 = -0.03(225) + 12 = 5.25 m. Mirror of x = 5 across x = 20 is x = 35, and y(35) = 5.25 m too (also the right foot is at x = 40, the mirror of 0). Verbal misconceptions: (1) 12 is the maximum height k, not a; (2) a is negative because the arch opens down; (3) c is the height at x = 0, which is 0 here, not 12; (4) the other point at 5.25 m is at x = 35, not x = -5. Adaptive routing: if &gt;30% cannot find a, route to slide 7 (writing vertex form); if &gt;30% mis-expand, route to slide 9 Example 3; early finishers: find the width of the arch at height 9 m (-0.03(x-20)^2 = -3, x = 20 +/- 10, so x = 10 and 30, width 20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Answers. Q1: f(x)=a(x+1)^2+4; -4 = a(2)^2 + 4 = 4a + 4, so a = -2; f(x) = -2(x+1)^2 + 4. Q2: c = 5; axis x = -6/(2*1) = -3; vertex f(-3) = 9 - 18 + 5 = -4, so (-3,-4). Q3: a = -1, opens down; axis x = -2/(2*(-1)) = 1; vertex f(1) = -1 + 2 + 3 = 4, so (1,4); y-intercept (0,3), mirror (2,3). Verbal misconceptions: Q1 using (x-1) for h=-1 or squaring after multiplying; Q2 stating the axis as x=3 (dropping the sign of b) or stating c=6; Q3 using the vertex as (1,3) or the mirror as (-2,3). Adaptive routing: Q1 wrong -&gt; block 2, slide 7 (Writing Vertex Form); Q2 wrong -&gt; block 3, slide 8 (Standard Form); Q3 wrong -&gt; block 4, slide 9 (Graphing from Standard Form). Students with 3/3 move to Investigate; students below 2/3 join the targeted clinic.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Exit answers. Q1: axis x = 8/2 = 4; f(4) = 16 - 32 + 10 = -6; vertex (4,-6). Q2: f(x) = (x-4)^2 - 6 (check: expands to x^2 - 8x + 10, the same function as Q1). Create: any valid pair works; check that the vertex form uses the opposite sign of h, that a is found from the extra point, and that the expanded form matches (e.g. vertex (2,5) through (0,1): a=-1, f=-(x-2)^2+5=-x^2+4x+1). Verbal misconceptions: writing (x+4) for h=4; leaving the vertex as only the x-value. Adaptive routing: if &gt;30% miss Q1, begin the next lesson with slide 8 (Standard Form) for 5 minutes; if most are secure, link forward to factored form (the x-intercepts).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each exam item is worked in numbered steps.
SAT (Advanced Math, calculator allowed): answer C. x = -b/(2a) = 12/4 = 3. Traps: A) -3 drops the minus of -b; B) 2 is just a; D) 6 is -b/a (forgetting the 2). GAT/Qudurat quantitative comparison: A = B. x^2-6x+10 = (x-3)^2 + 1 and a square is at least 0, so the least value is 1; answer 'the two quantities are equal'. Traps: reading c=10 as the least value, or assuming the least value is 0 (then A&lt;B). SAAT/Tahsili (four options, no calculator): answer B. Axis x = 3, f(3) = -9 + 18 - 5 = 4. Traps: A) 3 is the axis, not the value; C) -5 is c; D) 6 is b. Verbal misconceptions: -b/(2a) gives the x-coordinate only; the maximum value is the y-coordinate. Adaptive routing: if &gt;30% miss any item, route to slide 8 for the axis formula, or slide 7 for the vertex-form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A parabola has two views: vertex form shows its turning point, standard form shows its y-intercept, and the axis x = -b/(2a) links them. Collect the Time to Check responses. Next lesson: 2-3 Factored Form of a Quadratic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slideLayout" Target="../slideLayouts/slideLayout1.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slideLayout" Target="../slideLayouts/slideLayout1.xml"/><Relationship Id="rId1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slideLayout" Target="../slideLayouts/slideLayout1.xml"/><Relationship Id="rId1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10  ·  ALGEBRA II  ·  TOPIC 2</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Lessons 2-1 and 2-2</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4400" b="1" dirty="0">
                <a:solidFill>
                  <a:srgbClr val="1F3864"/>
                </a:solidFill>
                <a:latin typeface="Cambria" pitchFamily="34" charset="0"/>
                <a:ea typeface="Cambria" pitchFamily="34" charset="-122"/>
                <a:cs typeface="Cambria" pitchFamily="34" charset="-120"/>
              </a:rPr>
              <a:t>Vertex Form and</a:t>
            </a:r>
            <a:endParaRPr lang="en-US" sz="4400" dirty="0"/>
          </a:p>
          <a:p>
            <a:pPr indent="0" marL="0">
              <a:buNone/>
            </a:pPr>
            <a:r>
              <a:rPr lang="en-US" sz="4400" b="1" dirty="0">
                <a:solidFill>
                  <a:srgbClr val="1F3864"/>
                </a:solidFill>
                <a:latin typeface="Cambria" pitchFamily="34" charset="0"/>
                <a:ea typeface="Cambria" pitchFamily="34" charset="-122"/>
                <a:cs typeface="Cambria" pitchFamily="34" charset="-120"/>
              </a:rPr>
              <a:t>Standard Form</a:t>
            </a:r>
            <a:endParaRPr lang="en-US" sz="44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Quadratic Functions and Equations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L2-1-2/k9194b69d1a.png">    </p:cNvPr>
          <p:cNvPicPr>
            <a:picLocks noChangeAspect="1"/>
          </p:cNvPicPr>
          <p:nvPr/>
        </p:nvPicPr>
        <p:blipFill>
          <a:blip r:embed="rId4"/>
          <a:stretch>
            <a:fillRect/>
          </a:stretch>
        </p:blipFill>
        <p:spPr>
          <a:xfrm>
            <a:off x="8412480" y="3017520"/>
            <a:ext cx="3291840" cy="352136"/>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HSA.REI.B.4 · HSA.REI.B.4.A · HSF.IF.C.7.A · HSA.CED.A.2 · HSF.IF.B.4 · HSF.BF.B.3 · HSF.IF.C.7 · HSS.ID.B.6.A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5029200"/>
          </a:xfrm>
          <a:prstGeom prst="roundRect">
            <a:avLst>
              <a:gd name="adj" fmla="val 218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600" dirty="0">
                <a:solidFill>
                  <a:srgbClr val="222E2D"/>
                </a:solidFill>
                <a:latin typeface="Calibri" pitchFamily="34" charset="0"/>
                <a:ea typeface="Calibri" pitchFamily="34" charset="-122"/>
                <a:cs typeface="Calibri" pitchFamily="34" charset="-120"/>
              </a:rPr>
              <a:t>Graph quadratic functions given in vertex form.</a:t>
            </a:r>
            <a:endParaRPr lang="en-US" sz="1600" dirty="0"/>
          </a:p>
          <a:p>
            <a:pPr marL="342900" indent="-342900">
              <a:spcAft>
                <a:spcPts val="900"/>
              </a:spcAft>
              <a:buSzPct val="100000"/>
              <a:buFont typeface="+mj-lt"/>
              <a:buAutoNum type="arabicPeriod" startAt="1"/>
            </a:pPr>
            <a:r>
              <a:rPr lang="en-US" sz="1600" dirty="0">
                <a:solidFill>
                  <a:srgbClr val="222E2D"/>
                </a:solidFill>
                <a:latin typeface="Calibri" pitchFamily="34" charset="0"/>
                <a:ea typeface="Calibri" pitchFamily="34" charset="-122"/>
                <a:cs typeface="Calibri" pitchFamily="34" charset="-120"/>
              </a:rPr>
              <a:t>Write a quadratic function in vertex form given its key features.</a:t>
            </a:r>
            <a:endParaRPr lang="en-US" sz="1600" dirty="0"/>
          </a:p>
          <a:p>
            <a:pPr marL="342900" indent="-342900">
              <a:spcAft>
                <a:spcPts val="900"/>
              </a:spcAft>
              <a:buSzPct val="100000"/>
              <a:buFont typeface="+mj-lt"/>
              <a:buAutoNum type="arabicPeriod" startAt="1"/>
            </a:pPr>
            <a:r>
              <a:rPr lang="en-US" sz="1600" dirty="0">
                <a:solidFill>
                  <a:srgbClr val="222E2D"/>
                </a:solidFill>
                <a:latin typeface="Calibri" pitchFamily="34" charset="0"/>
                <a:ea typeface="Calibri" pitchFamily="34" charset="-122"/>
                <a:cs typeface="Calibri" pitchFamily="34" charset="-120"/>
              </a:rPr>
              <a:t>Write a quadratic function in standard form and analyze the significance of each term.</a:t>
            </a:r>
            <a:endParaRPr lang="en-US" sz="1600" dirty="0"/>
          </a:p>
          <a:p>
            <a:pPr marL="342900" indent="-342900">
              <a:spcAft>
                <a:spcPts val="900"/>
              </a:spcAft>
              <a:buSzPct val="100000"/>
              <a:buFont typeface="+mj-lt"/>
              <a:buAutoNum type="arabicPeriod" startAt="1"/>
            </a:pPr>
            <a:r>
              <a:rPr lang="en-US" sz="1600" dirty="0">
                <a:solidFill>
                  <a:srgbClr val="222E2D"/>
                </a:solidFill>
                <a:latin typeface="Calibri" pitchFamily="34" charset="0"/>
                <a:ea typeface="Calibri" pitchFamily="34" charset="-122"/>
                <a:cs typeface="Calibri" pitchFamily="34" charset="-120"/>
              </a:rPr>
              <a:t>Identify and explain the key features of quadratic functions in standard form.</a:t>
            </a:r>
            <a:endParaRPr lang="en-US" sz="1600" dirty="0"/>
          </a:p>
          <a:p>
            <a:pPr marL="342900" indent="-342900">
              <a:spcAft>
                <a:spcPts val="900"/>
              </a:spcAft>
              <a:buSzPct val="100000"/>
              <a:buFont typeface="+mj-lt"/>
              <a:buAutoNum type="arabicPeriod" startAt="1"/>
            </a:pPr>
            <a:r>
              <a:rPr lang="en-US" sz="1600" dirty="0">
                <a:solidFill>
                  <a:srgbClr val="222E2D"/>
                </a:solidFill>
                <a:latin typeface="Calibri" pitchFamily="34" charset="0"/>
                <a:ea typeface="Calibri" pitchFamily="34" charset="-122"/>
                <a:cs typeface="Calibri" pitchFamily="34" charset="-120"/>
              </a:rPr>
              <a:t>Graph quadratic functions using key features and symmetry to accurately represent their shape and position on the coordinate plane.</a:t>
            </a:r>
            <a:endParaRPr lang="en-US" sz="1600" dirty="0"/>
          </a:p>
        </p:txBody>
      </p:sp>
      <p:sp>
        <p:nvSpPr>
          <p:cNvPr id="14" name="Shape 9"/>
          <p:cNvSpPr/>
          <p:nvPr/>
        </p:nvSpPr>
        <p:spPr>
          <a:xfrm>
            <a:off x="6400800" y="1280160"/>
            <a:ext cx="5303520" cy="3054096"/>
          </a:xfrm>
          <a:prstGeom prst="roundRect">
            <a:avLst>
              <a:gd name="adj" fmla="val 3593"/>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16" name="Shape 11"/>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17" name="Text 12"/>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axis of symmetry</a:t>
            </a:r>
            <a:endParaRPr lang="en-US" sz="1100" dirty="0"/>
          </a:p>
        </p:txBody>
      </p:sp>
      <p:sp>
        <p:nvSpPr>
          <p:cNvPr id="18" name="Shape 13"/>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19" name="Text 14"/>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maximum point</a:t>
            </a:r>
            <a:endParaRPr lang="en-US" sz="1100" dirty="0"/>
          </a:p>
        </p:txBody>
      </p:sp>
      <p:sp>
        <p:nvSpPr>
          <p:cNvPr id="20" name="Shape 15"/>
          <p:cNvSpPr/>
          <p:nvPr/>
        </p:nvSpPr>
        <p:spPr>
          <a:xfrm>
            <a:off x="6629400" y="1993392"/>
            <a:ext cx="2468880" cy="265176"/>
          </a:xfrm>
          <a:prstGeom prst="roundRect">
            <a:avLst>
              <a:gd name="adj" fmla="val 48276"/>
            </a:avLst>
          </a:prstGeom>
          <a:solidFill>
            <a:srgbClr val="1F3864"/>
          </a:solidFill>
          <a:ln w="12700">
            <a:solidFill>
              <a:srgbClr val="FFFFFF"/>
            </a:solidFill>
            <a:prstDash val="solid"/>
          </a:ln>
        </p:spPr>
      </p:sp>
      <p:sp>
        <p:nvSpPr>
          <p:cNvPr id="21" name="Text 16"/>
          <p:cNvSpPr txBox="1"/>
          <p:nvPr/>
        </p:nvSpPr>
        <p:spPr>
          <a:xfrm>
            <a:off x="662940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maximum value</a:t>
            </a:r>
            <a:endParaRPr lang="en-US" sz="1100" dirty="0"/>
          </a:p>
        </p:txBody>
      </p:sp>
      <p:sp>
        <p:nvSpPr>
          <p:cNvPr id="22" name="Shape 17"/>
          <p:cNvSpPr/>
          <p:nvPr/>
        </p:nvSpPr>
        <p:spPr>
          <a:xfrm>
            <a:off x="9189720" y="1993392"/>
            <a:ext cx="2468880" cy="265176"/>
          </a:xfrm>
          <a:prstGeom prst="roundRect">
            <a:avLst>
              <a:gd name="adj" fmla="val 48276"/>
            </a:avLst>
          </a:prstGeom>
          <a:solidFill>
            <a:srgbClr val="1F3864"/>
          </a:solidFill>
          <a:ln w="12700">
            <a:solidFill>
              <a:srgbClr val="FFFFFF"/>
            </a:solidFill>
            <a:prstDash val="solid"/>
          </a:ln>
        </p:spPr>
      </p:sp>
      <p:sp>
        <p:nvSpPr>
          <p:cNvPr id="23" name="Text 18"/>
          <p:cNvSpPr txBox="1"/>
          <p:nvPr/>
        </p:nvSpPr>
        <p:spPr>
          <a:xfrm>
            <a:off x="918972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minimum point</a:t>
            </a:r>
            <a:endParaRPr lang="en-US" sz="1100" dirty="0"/>
          </a:p>
        </p:txBody>
      </p:sp>
      <p:sp>
        <p:nvSpPr>
          <p:cNvPr id="24" name="Shape 19"/>
          <p:cNvSpPr/>
          <p:nvPr/>
        </p:nvSpPr>
        <p:spPr>
          <a:xfrm>
            <a:off x="6629400" y="2295144"/>
            <a:ext cx="2468880" cy="265176"/>
          </a:xfrm>
          <a:prstGeom prst="roundRect">
            <a:avLst>
              <a:gd name="adj" fmla="val 48276"/>
            </a:avLst>
          </a:prstGeom>
          <a:solidFill>
            <a:srgbClr val="E8762C"/>
          </a:solidFill>
          <a:ln w="12700">
            <a:solidFill>
              <a:srgbClr val="FFFFFF"/>
            </a:solidFill>
            <a:prstDash val="solid"/>
          </a:ln>
        </p:spPr>
      </p:sp>
      <p:sp>
        <p:nvSpPr>
          <p:cNvPr id="25" name="Text 20"/>
          <p:cNvSpPr txBox="1"/>
          <p:nvPr/>
        </p:nvSpPr>
        <p:spPr>
          <a:xfrm>
            <a:off x="662940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minimum value</a:t>
            </a:r>
            <a:endParaRPr lang="en-US" sz="1100" dirty="0"/>
          </a:p>
        </p:txBody>
      </p:sp>
      <p:sp>
        <p:nvSpPr>
          <p:cNvPr id="26" name="Shape 21"/>
          <p:cNvSpPr/>
          <p:nvPr/>
        </p:nvSpPr>
        <p:spPr>
          <a:xfrm>
            <a:off x="9189720" y="2295144"/>
            <a:ext cx="2468880" cy="265176"/>
          </a:xfrm>
          <a:prstGeom prst="roundRect">
            <a:avLst>
              <a:gd name="adj" fmla="val 48276"/>
            </a:avLst>
          </a:prstGeom>
          <a:solidFill>
            <a:srgbClr val="E8762C"/>
          </a:solidFill>
          <a:ln w="12700">
            <a:solidFill>
              <a:srgbClr val="FFFFFF"/>
            </a:solidFill>
            <a:prstDash val="solid"/>
          </a:ln>
        </p:spPr>
      </p:sp>
      <p:sp>
        <p:nvSpPr>
          <p:cNvPr id="27" name="Text 22"/>
          <p:cNvSpPr txBox="1"/>
          <p:nvPr/>
        </p:nvSpPr>
        <p:spPr>
          <a:xfrm>
            <a:off x="918972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Parabola</a:t>
            </a:r>
            <a:endParaRPr lang="en-US" sz="1100" dirty="0"/>
          </a:p>
        </p:txBody>
      </p:sp>
      <p:sp>
        <p:nvSpPr>
          <p:cNvPr id="28" name="Shape 23"/>
          <p:cNvSpPr/>
          <p:nvPr/>
        </p:nvSpPr>
        <p:spPr>
          <a:xfrm>
            <a:off x="6629400" y="2596896"/>
            <a:ext cx="2468880" cy="265176"/>
          </a:xfrm>
          <a:prstGeom prst="roundRect">
            <a:avLst>
              <a:gd name="adj" fmla="val 48276"/>
            </a:avLst>
          </a:prstGeom>
          <a:solidFill>
            <a:srgbClr val="17A199"/>
          </a:solidFill>
          <a:ln w="12700">
            <a:solidFill>
              <a:srgbClr val="FFFFFF"/>
            </a:solidFill>
            <a:prstDash val="solid"/>
          </a:ln>
        </p:spPr>
      </p:sp>
      <p:sp>
        <p:nvSpPr>
          <p:cNvPr id="29" name="Text 24"/>
          <p:cNvSpPr txBox="1"/>
          <p:nvPr/>
        </p:nvSpPr>
        <p:spPr>
          <a:xfrm>
            <a:off x="662940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parent quadratic function</a:t>
            </a:r>
            <a:endParaRPr lang="en-US" sz="1100" dirty="0"/>
          </a:p>
        </p:txBody>
      </p:sp>
      <p:sp>
        <p:nvSpPr>
          <p:cNvPr id="30" name="Shape 25"/>
          <p:cNvSpPr/>
          <p:nvPr/>
        </p:nvSpPr>
        <p:spPr>
          <a:xfrm>
            <a:off x="9189720" y="2596896"/>
            <a:ext cx="2468880" cy="265176"/>
          </a:xfrm>
          <a:prstGeom prst="roundRect">
            <a:avLst>
              <a:gd name="adj" fmla="val 48276"/>
            </a:avLst>
          </a:prstGeom>
          <a:solidFill>
            <a:srgbClr val="17A199"/>
          </a:solidFill>
          <a:ln w="12700">
            <a:solidFill>
              <a:srgbClr val="FFFFFF"/>
            </a:solidFill>
            <a:prstDash val="solid"/>
          </a:ln>
        </p:spPr>
      </p:sp>
      <p:sp>
        <p:nvSpPr>
          <p:cNvPr id="31" name="Text 26"/>
          <p:cNvSpPr txBox="1"/>
          <p:nvPr/>
        </p:nvSpPr>
        <p:spPr>
          <a:xfrm>
            <a:off x="918972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quadratic function</a:t>
            </a:r>
            <a:endParaRPr lang="en-US" sz="1100" dirty="0"/>
          </a:p>
        </p:txBody>
      </p:sp>
      <p:sp>
        <p:nvSpPr>
          <p:cNvPr id="32" name="Shape 27"/>
          <p:cNvSpPr/>
          <p:nvPr/>
        </p:nvSpPr>
        <p:spPr>
          <a:xfrm>
            <a:off x="6629400" y="2898648"/>
            <a:ext cx="2468880" cy="265176"/>
          </a:xfrm>
          <a:prstGeom prst="roundRect">
            <a:avLst>
              <a:gd name="adj" fmla="val 48276"/>
            </a:avLst>
          </a:prstGeom>
          <a:solidFill>
            <a:srgbClr val="1F3864"/>
          </a:solidFill>
          <a:ln w="12700">
            <a:solidFill>
              <a:srgbClr val="FFFFFF"/>
            </a:solidFill>
            <a:prstDash val="solid"/>
          </a:ln>
        </p:spPr>
      </p:sp>
      <p:sp>
        <p:nvSpPr>
          <p:cNvPr id="33" name="Text 28"/>
          <p:cNvSpPr txBox="1"/>
          <p:nvPr/>
        </p:nvSpPr>
        <p:spPr>
          <a:xfrm>
            <a:off x="6629400" y="2898648"/>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Vertex</a:t>
            </a:r>
            <a:endParaRPr lang="en-US" sz="1100" dirty="0"/>
          </a:p>
        </p:txBody>
      </p:sp>
      <p:sp>
        <p:nvSpPr>
          <p:cNvPr id="34" name="Shape 29"/>
          <p:cNvSpPr/>
          <p:nvPr/>
        </p:nvSpPr>
        <p:spPr>
          <a:xfrm>
            <a:off x="9189720" y="2898648"/>
            <a:ext cx="2468880" cy="265176"/>
          </a:xfrm>
          <a:prstGeom prst="roundRect">
            <a:avLst>
              <a:gd name="adj" fmla="val 48276"/>
            </a:avLst>
          </a:prstGeom>
          <a:solidFill>
            <a:srgbClr val="1F3864"/>
          </a:solidFill>
          <a:ln w="12700">
            <a:solidFill>
              <a:srgbClr val="FFFFFF"/>
            </a:solidFill>
            <a:prstDash val="solid"/>
          </a:ln>
        </p:spPr>
      </p:sp>
      <p:sp>
        <p:nvSpPr>
          <p:cNvPr id="35" name="Text 30"/>
          <p:cNvSpPr txBox="1"/>
          <p:nvPr/>
        </p:nvSpPr>
        <p:spPr>
          <a:xfrm>
            <a:off x="9189720" y="2898648"/>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vertex form</a:t>
            </a:r>
            <a:endParaRPr lang="en-US" sz="1100" dirty="0"/>
          </a:p>
        </p:txBody>
      </p:sp>
      <p:sp>
        <p:nvSpPr>
          <p:cNvPr id="36" name="Shape 31"/>
          <p:cNvSpPr/>
          <p:nvPr/>
        </p:nvSpPr>
        <p:spPr>
          <a:xfrm>
            <a:off x="6629400" y="3200400"/>
            <a:ext cx="2468880" cy="265176"/>
          </a:xfrm>
          <a:prstGeom prst="roundRect">
            <a:avLst>
              <a:gd name="adj" fmla="val 48276"/>
            </a:avLst>
          </a:prstGeom>
          <a:solidFill>
            <a:srgbClr val="E8762C"/>
          </a:solidFill>
          <a:ln w="12700">
            <a:solidFill>
              <a:srgbClr val="FFFFFF"/>
            </a:solidFill>
            <a:prstDash val="solid"/>
          </a:ln>
        </p:spPr>
      </p:sp>
      <p:sp>
        <p:nvSpPr>
          <p:cNvPr id="37" name="Text 32"/>
          <p:cNvSpPr txBox="1"/>
          <p:nvPr/>
        </p:nvSpPr>
        <p:spPr>
          <a:xfrm>
            <a:off x="6629400" y="320040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constant term</a:t>
            </a:r>
            <a:endParaRPr lang="en-US" sz="1100" dirty="0"/>
          </a:p>
        </p:txBody>
      </p:sp>
      <p:sp>
        <p:nvSpPr>
          <p:cNvPr id="38" name="Shape 33"/>
          <p:cNvSpPr/>
          <p:nvPr/>
        </p:nvSpPr>
        <p:spPr>
          <a:xfrm>
            <a:off x="9189720" y="3200400"/>
            <a:ext cx="2468880" cy="265176"/>
          </a:xfrm>
          <a:prstGeom prst="roundRect">
            <a:avLst>
              <a:gd name="adj" fmla="val 48276"/>
            </a:avLst>
          </a:prstGeom>
          <a:solidFill>
            <a:srgbClr val="E8762C"/>
          </a:solidFill>
          <a:ln w="12700">
            <a:solidFill>
              <a:srgbClr val="FFFFFF"/>
            </a:solidFill>
            <a:prstDash val="solid"/>
          </a:ln>
        </p:spPr>
      </p:sp>
      <p:sp>
        <p:nvSpPr>
          <p:cNvPr id="39" name="Text 34"/>
          <p:cNvSpPr txBox="1"/>
          <p:nvPr/>
        </p:nvSpPr>
        <p:spPr>
          <a:xfrm>
            <a:off x="9189720" y="320040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leading coefficient</a:t>
            </a:r>
            <a:endParaRPr lang="en-US" sz="1100" dirty="0"/>
          </a:p>
        </p:txBody>
      </p:sp>
      <p:sp>
        <p:nvSpPr>
          <p:cNvPr id="40" name="Shape 35"/>
          <p:cNvSpPr/>
          <p:nvPr/>
        </p:nvSpPr>
        <p:spPr>
          <a:xfrm>
            <a:off x="6629400" y="3502152"/>
            <a:ext cx="2468880" cy="265176"/>
          </a:xfrm>
          <a:prstGeom prst="roundRect">
            <a:avLst>
              <a:gd name="adj" fmla="val 48276"/>
            </a:avLst>
          </a:prstGeom>
          <a:solidFill>
            <a:srgbClr val="17A199"/>
          </a:solidFill>
          <a:ln w="12700">
            <a:solidFill>
              <a:srgbClr val="FFFFFF"/>
            </a:solidFill>
            <a:prstDash val="solid"/>
          </a:ln>
        </p:spPr>
      </p:sp>
      <p:sp>
        <p:nvSpPr>
          <p:cNvPr id="41" name="Text 36"/>
          <p:cNvSpPr txBox="1"/>
          <p:nvPr/>
        </p:nvSpPr>
        <p:spPr>
          <a:xfrm>
            <a:off x="6629400" y="350215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leading term</a:t>
            </a:r>
            <a:endParaRPr lang="en-US" sz="1100" dirty="0"/>
          </a:p>
        </p:txBody>
      </p:sp>
      <p:sp>
        <p:nvSpPr>
          <p:cNvPr id="42" name="Shape 37"/>
          <p:cNvSpPr/>
          <p:nvPr/>
        </p:nvSpPr>
        <p:spPr>
          <a:xfrm>
            <a:off x="9189720" y="3502152"/>
            <a:ext cx="2468880" cy="265176"/>
          </a:xfrm>
          <a:prstGeom prst="roundRect">
            <a:avLst>
              <a:gd name="adj" fmla="val 48276"/>
            </a:avLst>
          </a:prstGeom>
          <a:solidFill>
            <a:srgbClr val="17A199"/>
          </a:solidFill>
          <a:ln w="12700">
            <a:solidFill>
              <a:srgbClr val="FFFFFF"/>
            </a:solidFill>
            <a:prstDash val="solid"/>
          </a:ln>
        </p:spPr>
      </p:sp>
      <p:sp>
        <p:nvSpPr>
          <p:cNvPr id="43" name="Text 38"/>
          <p:cNvSpPr txBox="1"/>
          <p:nvPr/>
        </p:nvSpPr>
        <p:spPr>
          <a:xfrm>
            <a:off x="9189720" y="350215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linear coefficient</a:t>
            </a:r>
            <a:endParaRPr lang="en-US" sz="1100" dirty="0"/>
          </a:p>
        </p:txBody>
      </p:sp>
      <p:sp>
        <p:nvSpPr>
          <p:cNvPr id="44" name="Shape 39"/>
          <p:cNvSpPr/>
          <p:nvPr/>
        </p:nvSpPr>
        <p:spPr>
          <a:xfrm>
            <a:off x="6629400" y="3803904"/>
            <a:ext cx="2468880" cy="265176"/>
          </a:xfrm>
          <a:prstGeom prst="roundRect">
            <a:avLst>
              <a:gd name="adj" fmla="val 48276"/>
            </a:avLst>
          </a:prstGeom>
          <a:solidFill>
            <a:srgbClr val="1F3864"/>
          </a:solidFill>
          <a:ln w="12700">
            <a:solidFill>
              <a:srgbClr val="FFFFFF"/>
            </a:solidFill>
            <a:prstDash val="solid"/>
          </a:ln>
        </p:spPr>
      </p:sp>
      <p:sp>
        <p:nvSpPr>
          <p:cNvPr id="45" name="Text 40"/>
          <p:cNvSpPr txBox="1"/>
          <p:nvPr/>
        </p:nvSpPr>
        <p:spPr>
          <a:xfrm>
            <a:off x="6629400" y="380390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linear term</a:t>
            </a:r>
            <a:endParaRPr lang="en-US" sz="1100" dirty="0"/>
          </a:p>
        </p:txBody>
      </p:sp>
      <p:sp>
        <p:nvSpPr>
          <p:cNvPr id="46" name="Shape 41"/>
          <p:cNvSpPr/>
          <p:nvPr/>
        </p:nvSpPr>
        <p:spPr>
          <a:xfrm>
            <a:off x="9189720" y="3803904"/>
            <a:ext cx="2468880" cy="265176"/>
          </a:xfrm>
          <a:prstGeom prst="roundRect">
            <a:avLst>
              <a:gd name="adj" fmla="val 48276"/>
            </a:avLst>
          </a:prstGeom>
          <a:solidFill>
            <a:srgbClr val="1F3864"/>
          </a:solidFill>
          <a:ln w="12700">
            <a:solidFill>
              <a:srgbClr val="FFFFFF"/>
            </a:solidFill>
            <a:prstDash val="solid"/>
          </a:ln>
        </p:spPr>
      </p:sp>
      <p:sp>
        <p:nvSpPr>
          <p:cNvPr id="47" name="Text 42"/>
          <p:cNvSpPr txBox="1"/>
          <p:nvPr/>
        </p:nvSpPr>
        <p:spPr>
          <a:xfrm>
            <a:off x="9189720" y="3803904"/>
            <a:ext cx="2468880" cy="26517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standard form (of a quadratic function)</a:t>
            </a:r>
            <a:endParaRPr lang="en-US" sz="9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HSA.REI.B.4 · HSA.REI.B.4.A · HSF.IF.C.7.A · HSA.CED.A.2 · HSF.IF.B.4 · HSF.BF.B.3 · HSF.IF.C.7 · HSS.ID.B.6.A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Standards</a:t>
            </a:r>
            <a:endParaRPr lang="en-US" sz="3000" dirty="0"/>
          </a:p>
        </p:txBody>
      </p:sp>
      <p:sp>
        <p:nvSpPr>
          <p:cNvPr id="11" name="Shape 6"/>
          <p:cNvSpPr/>
          <p:nvPr/>
        </p:nvSpPr>
        <p:spPr>
          <a:xfrm>
            <a:off x="457200" y="1371600"/>
            <a:ext cx="5532120" cy="4937760"/>
          </a:xfrm>
          <a:prstGeom prst="roundRect">
            <a:avLst>
              <a:gd name="adj" fmla="val 222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600200"/>
            <a:ext cx="4983480" cy="4526280"/>
          </a:xfrm>
          <a:prstGeom prst="rect">
            <a:avLst/>
          </a:prstGeom>
          <a:noFill/>
          <a:ln/>
        </p:spPr>
        <p:txBody>
          <a:bodyPr wrap="square" lIns="0" tIns="0" rIns="0" bIns="0" rtlCol="0" anchor="t"/>
          <a:lstStyle/>
          <a:p>
            <a:pPr indent="0" marL="0">
              <a:buNone/>
            </a:pPr>
            <a:r>
              <a:rPr lang="en-US" sz="1400" b="1" dirty="0">
                <a:solidFill>
                  <a:srgbClr val="17A199"/>
                </a:solidFill>
                <a:latin typeface="Calibri" pitchFamily="34" charset="0"/>
                <a:ea typeface="Calibri" pitchFamily="34" charset="-122"/>
                <a:cs typeface="Calibri" pitchFamily="34" charset="-120"/>
              </a:rPr>
              <a:t>HSA.REI.B.4  </a:t>
            </a:r>
            <a:pPr indent="0" marL="0">
              <a:spcAft>
                <a:spcPts val="900"/>
              </a:spcAft>
              <a:buNone/>
            </a:pPr>
            <a:r>
              <a:rPr lang="en-US" sz="1400" dirty="0">
                <a:solidFill>
                  <a:srgbClr val="222E2D"/>
                </a:solidFill>
                <a:latin typeface="Calibri" pitchFamily="34" charset="0"/>
                <a:ea typeface="Calibri" pitchFamily="34" charset="-122"/>
                <a:cs typeface="Calibri" pitchFamily="34" charset="-120"/>
              </a:rPr>
              <a:t>Solve quadratic equations in one variable.</a:t>
            </a:r>
            <a:endParaRPr lang="en-US" sz="1400" dirty="0"/>
          </a:p>
          <a:p>
            <a:pPr indent="0" marL="0">
              <a:buNone/>
            </a:pPr>
            <a:r>
              <a:rPr lang="en-US" sz="1400" b="1" dirty="0">
                <a:solidFill>
                  <a:srgbClr val="17A199"/>
                </a:solidFill>
                <a:latin typeface="Calibri" pitchFamily="34" charset="0"/>
                <a:ea typeface="Calibri" pitchFamily="34" charset="-122"/>
                <a:cs typeface="Calibri" pitchFamily="34" charset="-120"/>
              </a:rPr>
              <a:t>HSA.REI.B.4.A  </a:t>
            </a:r>
            <a:pPr indent="0" marL="0">
              <a:spcAft>
                <a:spcPts val="900"/>
              </a:spcAft>
              <a:buNone/>
            </a:pPr>
            <a:r>
              <a:rPr lang="en-US" sz="1400" dirty="0">
                <a:solidFill>
                  <a:srgbClr val="222E2D"/>
                </a:solidFill>
                <a:latin typeface="Calibri" pitchFamily="34" charset="0"/>
                <a:ea typeface="Calibri" pitchFamily="34" charset="-122"/>
                <a:cs typeface="Calibri" pitchFamily="34" charset="-120"/>
              </a:rPr>
              <a:t>Use the method of completing the square to transform any quadratic equation in x into an equation of the form (x - p)2 = q that has the same solutions. Derive the quadratic formula from this form.</a:t>
            </a:r>
            <a:endParaRPr lang="en-US" sz="1400" dirty="0"/>
          </a:p>
          <a:p>
            <a:pPr indent="0" marL="0">
              <a:buNone/>
            </a:pPr>
            <a:r>
              <a:rPr lang="en-US" sz="1400" b="1" dirty="0">
                <a:solidFill>
                  <a:srgbClr val="17A199"/>
                </a:solidFill>
                <a:latin typeface="Calibri" pitchFamily="34" charset="0"/>
                <a:ea typeface="Calibri" pitchFamily="34" charset="-122"/>
                <a:cs typeface="Calibri" pitchFamily="34" charset="-120"/>
              </a:rPr>
              <a:t>HSF.IF.C.7.A  </a:t>
            </a:r>
            <a:pPr indent="0" marL="0">
              <a:spcAft>
                <a:spcPts val="900"/>
              </a:spcAft>
              <a:buNone/>
            </a:pPr>
            <a:r>
              <a:rPr lang="en-US" sz="1400" dirty="0">
                <a:solidFill>
                  <a:srgbClr val="222E2D"/>
                </a:solidFill>
                <a:latin typeface="Calibri" pitchFamily="34" charset="0"/>
                <a:ea typeface="Calibri" pitchFamily="34" charset="-122"/>
                <a:cs typeface="Calibri" pitchFamily="34" charset="-120"/>
              </a:rPr>
              <a:t>Graph linear and quadratic functions and show intercepts, maxima, and minima.</a:t>
            </a:r>
            <a:endParaRPr lang="en-US" sz="1400" dirty="0"/>
          </a:p>
          <a:p>
            <a:pPr indent="0" marL="0">
              <a:buNone/>
            </a:pPr>
            <a:r>
              <a:rPr lang="en-US" sz="1400" b="1" dirty="0">
                <a:solidFill>
                  <a:srgbClr val="17A199"/>
                </a:solidFill>
                <a:latin typeface="Calibri" pitchFamily="34" charset="0"/>
                <a:ea typeface="Calibri" pitchFamily="34" charset="-122"/>
                <a:cs typeface="Calibri" pitchFamily="34" charset="-120"/>
              </a:rPr>
              <a:t>HSA.CED.A.2  </a:t>
            </a:r>
            <a:pPr indent="0" marL="0">
              <a:spcAft>
                <a:spcPts val="900"/>
              </a:spcAft>
              <a:buNone/>
            </a:pPr>
            <a:r>
              <a:rPr lang="en-US" sz="1400" dirty="0">
                <a:solidFill>
                  <a:srgbClr val="222E2D"/>
                </a:solidFill>
                <a:latin typeface="Calibri" pitchFamily="34" charset="0"/>
                <a:ea typeface="Calibri" pitchFamily="34" charset="-122"/>
                <a:cs typeface="Calibri" pitchFamily="34" charset="-120"/>
              </a:rPr>
              <a:t>Create equations in two or more variables to represent relationships between quantities; graph equations on coordinate axes with labels and scales.</a:t>
            </a:r>
            <a:endParaRPr lang="en-US" sz="1400" dirty="0"/>
          </a:p>
          <a:p>
            <a:pPr indent="0" marL="0">
              <a:buNone/>
            </a:pPr>
            <a:r>
              <a:rPr lang="en-US" sz="1400" b="1" dirty="0">
                <a:solidFill>
                  <a:srgbClr val="17A199"/>
                </a:solidFill>
                <a:latin typeface="Calibri" pitchFamily="34" charset="0"/>
                <a:ea typeface="Calibri" pitchFamily="34" charset="-122"/>
                <a:cs typeface="Calibri" pitchFamily="34" charset="-120"/>
              </a:rPr>
              <a:t>HSF.IF.B.4  </a:t>
            </a:r>
            <a:pPr indent="0" marL="0">
              <a:spcAft>
                <a:spcPts val="900"/>
              </a:spcAft>
              <a:buNone/>
            </a:pPr>
            <a:r>
              <a:rPr lang="en-US" sz="1400" dirty="0">
                <a:solidFill>
                  <a:srgbClr val="222E2D"/>
                </a:solidFill>
                <a:latin typeface="Calibri" pitchFamily="34" charset="0"/>
                <a:ea typeface="Calibri" pitchFamily="34" charset="-122"/>
                <a:cs typeface="Calibri" pitchFamily="34" charset="-120"/>
              </a:rPr>
              <a:t>For a function that models a relationship between two quantities, interpret key features of graphs and tables in terms of the quantities, and sketch graphs showing key features given a verbal description of the relationship. Key features include: intercepts; intervals where the function is increasing, decreasing, positive, or negative; relative maximums and minimums; symmetries; end behavior; and periodicity.</a:t>
            </a:r>
            <a:endParaRPr lang="en-US" sz="1400" dirty="0"/>
          </a:p>
        </p:txBody>
      </p:sp>
      <p:sp>
        <p:nvSpPr>
          <p:cNvPr id="13" name="Shape 8"/>
          <p:cNvSpPr/>
          <p:nvPr/>
        </p:nvSpPr>
        <p:spPr>
          <a:xfrm>
            <a:off x="6172200" y="1371600"/>
            <a:ext cx="5532120" cy="4937760"/>
          </a:xfrm>
          <a:prstGeom prst="roundRect">
            <a:avLst>
              <a:gd name="adj" fmla="val 222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4" name="Text 9"/>
          <p:cNvSpPr txBox="1"/>
          <p:nvPr/>
        </p:nvSpPr>
        <p:spPr>
          <a:xfrm>
            <a:off x="6446520" y="1600200"/>
            <a:ext cx="4983480" cy="4526280"/>
          </a:xfrm>
          <a:prstGeom prst="rect">
            <a:avLst/>
          </a:prstGeom>
          <a:noFill/>
          <a:ln/>
        </p:spPr>
        <p:txBody>
          <a:bodyPr wrap="square" lIns="0" tIns="0" rIns="0" bIns="0" rtlCol="0" anchor="t"/>
          <a:lstStyle/>
          <a:p>
            <a:pPr indent="0" marL="0">
              <a:buNone/>
            </a:pPr>
            <a:r>
              <a:rPr lang="en-US" sz="1400" b="1" dirty="0">
                <a:solidFill>
                  <a:srgbClr val="17A199"/>
                </a:solidFill>
                <a:latin typeface="Calibri" pitchFamily="34" charset="0"/>
                <a:ea typeface="Calibri" pitchFamily="34" charset="-122"/>
                <a:cs typeface="Calibri" pitchFamily="34" charset="-120"/>
              </a:rPr>
              <a:t>HSF.BF.B.3  </a:t>
            </a:r>
            <a:pPr indent="0" marL="0">
              <a:spcAft>
                <a:spcPts val="900"/>
              </a:spcAft>
              <a:buNone/>
            </a:pPr>
            <a:r>
              <a:rPr lang="en-US" sz="1400" dirty="0">
                <a:solidFill>
                  <a:srgbClr val="222E2D"/>
                </a:solidFill>
                <a:latin typeface="Calibri" pitchFamily="34" charset="0"/>
                <a:ea typeface="Calibri" pitchFamily="34" charset="-122"/>
                <a:cs typeface="Calibri" pitchFamily="34" charset="-120"/>
              </a:rPr>
              <a:t>Identify the effect on the graph of replacing f(x) by f(x) + k, k f(x), f(kx), and f(x + k) for specific values of k (both positive and negative); find the value of k given the graphs. Experiment with cases and illustrate an explanation of the effects on the graph using technology. Include recognizing even and odd functions from their graphs and algebraic expressions for them.</a:t>
            </a:r>
            <a:endParaRPr lang="en-US" sz="1400" dirty="0"/>
          </a:p>
          <a:p>
            <a:pPr indent="0" marL="0">
              <a:buNone/>
            </a:pPr>
            <a:r>
              <a:rPr lang="en-US" sz="1400" b="1" dirty="0">
                <a:solidFill>
                  <a:srgbClr val="17A199"/>
                </a:solidFill>
                <a:latin typeface="Calibri" pitchFamily="34" charset="0"/>
                <a:ea typeface="Calibri" pitchFamily="34" charset="-122"/>
                <a:cs typeface="Calibri" pitchFamily="34" charset="-120"/>
              </a:rPr>
              <a:t>HSF.IF.C.7  </a:t>
            </a:r>
            <a:pPr indent="0" marL="0">
              <a:spcAft>
                <a:spcPts val="900"/>
              </a:spcAft>
              <a:buNone/>
            </a:pPr>
            <a:r>
              <a:rPr lang="en-US" sz="1400" dirty="0">
                <a:solidFill>
                  <a:srgbClr val="222E2D"/>
                </a:solidFill>
                <a:latin typeface="Calibri" pitchFamily="34" charset="0"/>
                <a:ea typeface="Calibri" pitchFamily="34" charset="-122"/>
                <a:cs typeface="Calibri" pitchFamily="34" charset="-120"/>
              </a:rPr>
              <a:t>Graph functions expressed symbolically and show key features of the graph, by hand in simple cases and using technology for more complicated cases.</a:t>
            </a:r>
            <a:endParaRPr lang="en-US" sz="1400" dirty="0"/>
          </a:p>
          <a:p>
            <a:pPr indent="0" marL="0">
              <a:buNone/>
            </a:pPr>
            <a:r>
              <a:rPr lang="en-US" sz="1400" b="1" dirty="0">
                <a:solidFill>
                  <a:srgbClr val="17A199"/>
                </a:solidFill>
                <a:latin typeface="Calibri" pitchFamily="34" charset="0"/>
                <a:ea typeface="Calibri" pitchFamily="34" charset="-122"/>
                <a:cs typeface="Calibri" pitchFamily="34" charset="-120"/>
              </a:rPr>
              <a:t>HSS.ID.B.6.A  </a:t>
            </a:r>
            <a:pPr indent="0" marL="0">
              <a:spcAft>
                <a:spcPts val="900"/>
              </a:spcAft>
              <a:buNone/>
            </a:pPr>
            <a:r>
              <a:rPr lang="en-US" sz="1400" dirty="0">
                <a:solidFill>
                  <a:srgbClr val="222E2D"/>
                </a:solidFill>
                <a:latin typeface="Calibri" pitchFamily="34" charset="0"/>
                <a:ea typeface="Calibri" pitchFamily="34" charset="-122"/>
                <a:cs typeface="Calibri" pitchFamily="34" charset="-120"/>
              </a:rPr>
              <a:t>Fit a function to the data; use functions fitted to data to solve problems in the context of the data. Use given functions or choose a function suggested by the context. Emphasize linear, quadratic, and exponential models.</a:t>
            </a:r>
            <a:endParaRPr lang="en-US" sz="14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HSA.REI.B.4 · HSA.REI.B.4.A · HSF.IF.C.7.A · HSA.CED.A.2 · HSF.IF.B.4 · HSF.BF.B.3 · HSF.IF.C.7 · HSS.ID.B.6.A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2-1-2/kd1e150f44e.png">    </p:cNvPr>
          <p:cNvPicPr>
            <a:picLocks noChangeAspect="1"/>
          </p:cNvPicPr>
          <p:nvPr/>
        </p:nvPicPr>
        <p:blipFill>
          <a:blip r:embed="rId3"/>
          <a:stretch>
            <a:fillRect/>
          </a:stretch>
        </p:blipFill>
        <p:spPr>
          <a:xfrm>
            <a:off x="1450238" y="2697480"/>
            <a:ext cx="1671523" cy="409651"/>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2-1-2/k167725d16a.png">    </p:cNvPr>
          <p:cNvPicPr>
            <a:picLocks noChangeAspect="1"/>
          </p:cNvPicPr>
          <p:nvPr/>
        </p:nvPicPr>
        <p:blipFill>
          <a:blip r:embed="rId4"/>
          <a:stretch>
            <a:fillRect/>
          </a:stretch>
        </p:blipFill>
        <p:spPr>
          <a:xfrm>
            <a:off x="4343400" y="2697480"/>
            <a:ext cx="3383280" cy="336824"/>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2-1-2/k93ad312adc.png">    </p:cNvPr>
          <p:cNvPicPr>
            <a:picLocks noChangeAspect="1"/>
          </p:cNvPicPr>
          <p:nvPr/>
        </p:nvPicPr>
        <p:blipFill>
          <a:blip r:embed="rId5"/>
          <a:stretch>
            <a:fillRect/>
          </a:stretch>
        </p:blipFill>
        <p:spPr>
          <a:xfrm>
            <a:off x="8092440" y="2697480"/>
            <a:ext cx="3383280" cy="300975"/>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you can say what f(0) tells you about the graph.</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HSA.REI.B.4 · HSA.REI.B.4.A · HSF.IF.C.7.A · HSA.CED.A.2 · HSF.IF.B.4 · HSF.BF.B.3 · HSF.IF.C.7 · HSS.ID.B.6.A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Vertex Form: Read the Turning Point</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1-2/k6afc8842e5.png">    </p:cNvPr>
          <p:cNvPicPr>
            <a:picLocks noChangeAspect="1"/>
          </p:cNvPicPr>
          <p:nvPr/>
        </p:nvPicPr>
        <p:blipFill>
          <a:blip r:embed="rId3"/>
          <a:stretch>
            <a:fillRect/>
          </a:stretch>
        </p:blipFill>
        <p:spPr>
          <a:xfrm>
            <a:off x="731520" y="2175038"/>
            <a:ext cx="4596927" cy="313363"/>
          </a:xfrm>
          <a:prstGeom prst="rect">
            <a:avLst/>
          </a:prstGeom>
        </p:spPr>
      </p:pic>
      <p:pic>
        <p:nvPicPr>
          <p:cNvPr id="31" name="Image 3" descr="m_L2-1-2/k6b2a564ca6.png">    </p:cNvPr>
          <p:cNvPicPr>
            <a:picLocks noChangeAspect="1"/>
          </p:cNvPicPr>
          <p:nvPr/>
        </p:nvPicPr>
        <p:blipFill>
          <a:blip r:embed="rId4"/>
          <a:stretch>
            <a:fillRect/>
          </a:stretch>
        </p:blipFill>
        <p:spPr>
          <a:xfrm>
            <a:off x="5968527" y="2186230"/>
            <a:ext cx="5461473" cy="290980"/>
          </a:xfrm>
          <a:prstGeom prst="rect">
            <a:avLst/>
          </a:prstGeom>
        </p:spPr>
      </p:pic>
      <p:sp>
        <p:nvSpPr>
          <p:cNvPr id="32" name="Shape 25"/>
          <p:cNvSpPr/>
          <p:nvPr/>
        </p:nvSpPr>
        <p:spPr>
          <a:xfrm>
            <a:off x="457200" y="3108960"/>
            <a:ext cx="39319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4" descr="figs/L2-1-2_vertex.png">    </p:cNvPr>
          <p:cNvPicPr>
            <a:picLocks noChangeAspect="1"/>
          </p:cNvPicPr>
          <p:nvPr/>
        </p:nvPicPr>
        <p:blipFill>
          <a:blip r:embed="rId5"/>
          <a:stretch>
            <a:fillRect/>
          </a:stretch>
        </p:blipFill>
        <p:spPr>
          <a:xfrm>
            <a:off x="594360" y="3303549"/>
            <a:ext cx="3657600" cy="2765502"/>
          </a:xfrm>
          <a:prstGeom prst="rect">
            <a:avLst/>
          </a:prstGeom>
        </p:spPr>
      </p:pic>
      <p:sp>
        <p:nvSpPr>
          <p:cNvPr id="34" name="Shape 26"/>
          <p:cNvSpPr/>
          <p:nvPr/>
        </p:nvSpPr>
        <p:spPr>
          <a:xfrm>
            <a:off x="45262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Text 27"/>
          <p:cNvSpPr txBox="1"/>
          <p:nvPr/>
        </p:nvSpPr>
        <p:spPr>
          <a:xfrm>
            <a:off x="47548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6" name="Image 5" descr="m_L2-1-2/k82ac481390.png">    </p:cNvPr>
          <p:cNvPicPr>
            <a:picLocks noChangeAspect="1"/>
          </p:cNvPicPr>
          <p:nvPr/>
        </p:nvPicPr>
        <p:blipFill>
          <a:blip r:embed="rId6"/>
          <a:stretch>
            <a:fillRect/>
          </a:stretch>
        </p:blipFill>
        <p:spPr>
          <a:xfrm>
            <a:off x="4709160" y="3566160"/>
            <a:ext cx="3154680" cy="349826"/>
          </a:xfrm>
          <a:prstGeom prst="rect">
            <a:avLst/>
          </a:prstGeom>
        </p:spPr>
      </p:pic>
      <p:pic>
        <p:nvPicPr>
          <p:cNvPr id="37" name="Image 6" descr="m_L2-1-2/k130e415292.png">    </p:cNvPr>
          <p:cNvPicPr>
            <a:picLocks noChangeAspect="1"/>
          </p:cNvPicPr>
          <p:nvPr/>
        </p:nvPicPr>
        <p:blipFill>
          <a:blip r:embed="rId7"/>
          <a:stretch>
            <a:fillRect/>
          </a:stretch>
        </p:blipFill>
        <p:spPr>
          <a:xfrm>
            <a:off x="4721230" y="4071434"/>
            <a:ext cx="3130540" cy="342351"/>
          </a:xfrm>
          <a:prstGeom prst="rect">
            <a:avLst/>
          </a:prstGeom>
        </p:spPr>
      </p:pic>
      <p:pic>
        <p:nvPicPr>
          <p:cNvPr id="38" name="Image 7" descr="m_L2-1-2/ke4613df941.png">    </p:cNvPr>
          <p:cNvPicPr>
            <a:picLocks noChangeAspect="1"/>
          </p:cNvPicPr>
          <p:nvPr/>
        </p:nvPicPr>
        <p:blipFill>
          <a:blip r:embed="rId8"/>
          <a:stretch>
            <a:fillRect/>
          </a:stretch>
        </p:blipFill>
        <p:spPr>
          <a:xfrm>
            <a:off x="4709160" y="4569233"/>
            <a:ext cx="3154680" cy="348103"/>
          </a:xfrm>
          <a:prstGeom prst="rect">
            <a:avLst/>
          </a:prstGeom>
        </p:spPr>
      </p:pic>
      <p:pic>
        <p:nvPicPr>
          <p:cNvPr id="39" name="Image 8" descr="m_L2-1-2/kc0dc0216ab.png">    </p:cNvPr>
          <p:cNvPicPr>
            <a:picLocks noChangeAspect="1"/>
          </p:cNvPicPr>
          <p:nvPr/>
        </p:nvPicPr>
        <p:blipFill>
          <a:blip r:embed="rId9"/>
          <a:stretch>
            <a:fillRect/>
          </a:stretch>
        </p:blipFill>
        <p:spPr>
          <a:xfrm>
            <a:off x="4709160" y="5072784"/>
            <a:ext cx="3154680" cy="334101"/>
          </a:xfrm>
          <a:prstGeom prst="rect">
            <a:avLst/>
          </a:prstGeom>
        </p:spPr>
      </p:pic>
      <p:sp>
        <p:nvSpPr>
          <p:cNvPr id="40" name="Shape 28"/>
          <p:cNvSpPr/>
          <p:nvPr/>
        </p:nvSpPr>
        <p:spPr>
          <a:xfrm>
            <a:off x="81838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1" name="Text 29"/>
          <p:cNvSpPr txBox="1"/>
          <p:nvPr/>
        </p:nvSpPr>
        <p:spPr>
          <a:xfrm>
            <a:off x="84124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2" name="Image 9" descr="m_L2-1-2/kd2b9f155e5.png">    </p:cNvPr>
          <p:cNvPicPr>
            <a:picLocks noChangeAspect="1"/>
          </p:cNvPicPr>
          <p:nvPr/>
        </p:nvPicPr>
        <p:blipFill>
          <a:blip r:embed="rId10"/>
          <a:stretch>
            <a:fillRect/>
          </a:stretch>
        </p:blipFill>
        <p:spPr>
          <a:xfrm>
            <a:off x="8366760" y="3566160"/>
            <a:ext cx="3154680" cy="577361"/>
          </a:xfrm>
          <a:prstGeom prst="rect">
            <a:avLst/>
          </a:prstGeom>
        </p:spPr>
      </p:pic>
      <p:pic>
        <p:nvPicPr>
          <p:cNvPr id="43" name="Image 10" descr="m_L2-1-2/k627cfe0b7a.png">    </p:cNvPr>
          <p:cNvPicPr>
            <a:picLocks noChangeAspect="1"/>
          </p:cNvPicPr>
          <p:nvPr/>
        </p:nvPicPr>
        <p:blipFill>
          <a:blip r:embed="rId11"/>
          <a:stretch>
            <a:fillRect/>
          </a:stretch>
        </p:blipFill>
        <p:spPr>
          <a:xfrm>
            <a:off x="8413394" y="4298969"/>
            <a:ext cx="3061411" cy="342351"/>
          </a:xfrm>
          <a:prstGeom prst="rect">
            <a:avLst/>
          </a:prstGeom>
        </p:spPr>
      </p:pic>
      <p:pic>
        <p:nvPicPr>
          <p:cNvPr id="44" name="Image 11" descr="m_L2-1-2/k32552668f1.png">    </p:cNvPr>
          <p:cNvPicPr>
            <a:picLocks noChangeAspect="1"/>
          </p:cNvPicPr>
          <p:nvPr/>
        </p:nvPicPr>
        <p:blipFill>
          <a:blip r:embed="rId12"/>
          <a:stretch>
            <a:fillRect/>
          </a:stretch>
        </p:blipFill>
        <p:spPr>
          <a:xfrm>
            <a:off x="8396935" y="4796768"/>
            <a:ext cx="3094330" cy="312725"/>
          </a:xfrm>
          <a:prstGeom prst="rect">
            <a:avLst/>
          </a:prstGeom>
        </p:spPr>
      </p:pic>
      <p:pic>
        <p:nvPicPr>
          <p:cNvPr id="45" name="Image 12" descr="m_L2-1-2/kb23e1dac17.png">    </p:cNvPr>
          <p:cNvPicPr>
            <a:picLocks noChangeAspect="1"/>
          </p:cNvPicPr>
          <p:nvPr/>
        </p:nvPicPr>
        <p:blipFill>
          <a:blip r:embed="rId13"/>
          <a:stretch>
            <a:fillRect/>
          </a:stretch>
        </p:blipFill>
        <p:spPr>
          <a:xfrm>
            <a:off x="8366760" y="5264941"/>
            <a:ext cx="3154680" cy="26137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HSA.REI.B.4 · HSA.REI.B.4.A · HSF.IF.C.7.A · HSA.CED.A.2 · HSF.IF.B.4 · HSF.BF.B.3 · HSF.IF.C.7 · HSS.ID.B.6.A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Writing Vertex Form from Key Features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1-2/k8598bb74e1.png">    </p:cNvPr>
          <p:cNvPicPr>
            <a:picLocks noChangeAspect="1"/>
          </p:cNvPicPr>
          <p:nvPr/>
        </p:nvPicPr>
        <p:blipFill>
          <a:blip r:embed="rId3"/>
          <a:stretch>
            <a:fillRect/>
          </a:stretch>
        </p:blipFill>
        <p:spPr>
          <a:xfrm>
            <a:off x="731520" y="2137489"/>
            <a:ext cx="2660273" cy="388462"/>
          </a:xfrm>
          <a:prstGeom prst="rect">
            <a:avLst/>
          </a:prstGeom>
        </p:spPr>
      </p:pic>
      <p:pic>
        <p:nvPicPr>
          <p:cNvPr id="31" name="Image 3" descr="m_L2-1-2/k837eda0094.png">    </p:cNvPr>
          <p:cNvPicPr>
            <a:picLocks noChangeAspect="1"/>
          </p:cNvPicPr>
          <p:nvPr/>
        </p:nvPicPr>
        <p:blipFill>
          <a:blip r:embed="rId4"/>
          <a:stretch>
            <a:fillRect/>
          </a:stretch>
        </p:blipFill>
        <p:spPr>
          <a:xfrm>
            <a:off x="4031873" y="2151362"/>
            <a:ext cx="7398127" cy="360715"/>
          </a:xfrm>
          <a:prstGeom prst="rect">
            <a:avLst/>
          </a:prstGeom>
        </p:spPr>
      </p:pic>
      <p:sp>
        <p:nvSpPr>
          <p:cNvPr id="32"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2-1-2/k564e08c9e7.png">    </p:cNvPr>
          <p:cNvPicPr>
            <a:picLocks noChangeAspect="1"/>
          </p:cNvPicPr>
          <p:nvPr/>
        </p:nvPicPr>
        <p:blipFill>
          <a:blip r:embed="rId5"/>
          <a:stretch>
            <a:fillRect/>
          </a:stretch>
        </p:blipFill>
        <p:spPr>
          <a:xfrm>
            <a:off x="1201247" y="3566160"/>
            <a:ext cx="4044025" cy="359469"/>
          </a:xfrm>
          <a:prstGeom prst="rect">
            <a:avLst/>
          </a:prstGeom>
        </p:spPr>
      </p:pic>
      <p:pic>
        <p:nvPicPr>
          <p:cNvPr id="35" name="Image 5" descr="m_L2-1-2/kcba5b3ee35.png">    </p:cNvPr>
          <p:cNvPicPr>
            <a:picLocks noChangeAspect="1"/>
          </p:cNvPicPr>
          <p:nvPr/>
        </p:nvPicPr>
        <p:blipFill>
          <a:blip r:embed="rId6"/>
          <a:stretch>
            <a:fillRect/>
          </a:stretch>
        </p:blipFill>
        <p:spPr>
          <a:xfrm>
            <a:off x="1980590" y="4081077"/>
            <a:ext cx="2485339" cy="368686"/>
          </a:xfrm>
          <a:prstGeom prst="rect">
            <a:avLst/>
          </a:prstGeom>
        </p:spPr>
      </p:pic>
      <p:pic>
        <p:nvPicPr>
          <p:cNvPr id="36" name="Image 6" descr="m_L2-1-2/k87582f2cb3.png">    </p:cNvPr>
          <p:cNvPicPr>
            <a:picLocks noChangeAspect="1"/>
          </p:cNvPicPr>
          <p:nvPr/>
        </p:nvPicPr>
        <p:blipFill>
          <a:blip r:embed="rId7"/>
          <a:stretch>
            <a:fillRect/>
          </a:stretch>
        </p:blipFill>
        <p:spPr>
          <a:xfrm>
            <a:off x="1672803" y="4605211"/>
            <a:ext cx="3100913" cy="368686"/>
          </a:xfrm>
          <a:prstGeom prst="rect">
            <a:avLst/>
          </a:prstGeom>
        </p:spPr>
      </p:pic>
      <p:pic>
        <p:nvPicPr>
          <p:cNvPr id="37" name="Image 7" descr="m_L2-1-2/kf43dee403f.png">    </p:cNvPr>
          <p:cNvPicPr>
            <a:picLocks noChangeAspect="1"/>
          </p:cNvPicPr>
          <p:nvPr/>
        </p:nvPicPr>
        <p:blipFill>
          <a:blip r:embed="rId8"/>
          <a:stretch>
            <a:fillRect/>
          </a:stretch>
        </p:blipFill>
        <p:spPr>
          <a:xfrm>
            <a:off x="1876897" y="5129345"/>
            <a:ext cx="2692725" cy="368686"/>
          </a:xfrm>
          <a:prstGeom prst="rect">
            <a:avLst/>
          </a:prstGeom>
        </p:spPr>
      </p:pic>
      <p:sp>
        <p:nvSpPr>
          <p:cNvPr id="38"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L2-1-2/k409573a40d.png">    </p:cNvPr>
          <p:cNvPicPr>
            <a:picLocks noChangeAspect="1"/>
          </p:cNvPicPr>
          <p:nvPr/>
        </p:nvPicPr>
        <p:blipFill>
          <a:blip r:embed="rId9"/>
          <a:stretch>
            <a:fillRect/>
          </a:stretch>
        </p:blipFill>
        <p:spPr>
          <a:xfrm>
            <a:off x="7439897" y="3566160"/>
            <a:ext cx="2996727" cy="767328"/>
          </a:xfrm>
          <a:prstGeom prst="rect">
            <a:avLst/>
          </a:prstGeom>
        </p:spPr>
      </p:pic>
      <p:pic>
        <p:nvPicPr>
          <p:cNvPr id="41" name="Image 9" descr="m_L2-1-2/ka0e6375737.png">    </p:cNvPr>
          <p:cNvPicPr>
            <a:picLocks noChangeAspect="1"/>
          </p:cNvPicPr>
          <p:nvPr/>
        </p:nvPicPr>
        <p:blipFill>
          <a:blip r:embed="rId10"/>
          <a:stretch>
            <a:fillRect/>
          </a:stretch>
        </p:blipFill>
        <p:spPr>
          <a:xfrm>
            <a:off x="7626462" y="4488936"/>
            <a:ext cx="2623596" cy="368686"/>
          </a:xfrm>
          <a:prstGeom prst="rect">
            <a:avLst/>
          </a:prstGeom>
        </p:spPr>
      </p:pic>
      <p:pic>
        <p:nvPicPr>
          <p:cNvPr id="42" name="Image 10" descr="m_L2-1-2/kabf049f65f.png">    </p:cNvPr>
          <p:cNvPicPr>
            <a:picLocks noChangeAspect="1"/>
          </p:cNvPicPr>
          <p:nvPr/>
        </p:nvPicPr>
        <p:blipFill>
          <a:blip r:embed="rId11"/>
          <a:stretch>
            <a:fillRect/>
          </a:stretch>
        </p:blipFill>
        <p:spPr>
          <a:xfrm>
            <a:off x="7320321" y="5013070"/>
            <a:ext cx="3235879" cy="368686"/>
          </a:xfrm>
          <a:prstGeom prst="rect">
            <a:avLst/>
          </a:prstGeom>
        </p:spPr>
      </p:pic>
      <p:pic>
        <p:nvPicPr>
          <p:cNvPr id="43" name="Image 11" descr="m_L2-1-2/ka180f639b1.png">    </p:cNvPr>
          <p:cNvPicPr>
            <a:picLocks noChangeAspect="1"/>
          </p:cNvPicPr>
          <p:nvPr/>
        </p:nvPicPr>
        <p:blipFill>
          <a:blip r:embed="rId12"/>
          <a:stretch>
            <a:fillRect/>
          </a:stretch>
        </p:blipFill>
        <p:spPr>
          <a:xfrm>
            <a:off x="7522769" y="5537204"/>
            <a:ext cx="2830982" cy="3686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HSA.REI.B.4 · HSA.REI.B.4.A · HSF.IF.C.7.A · HSA.CED.A.2 · HSF.IF.B.4 · HSF.BF.B.3 · HSF.IF.C.7 · HSS.ID.B.6.A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Standard Form: What Each Term Tells You</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1-2/k01de581b4e.png">    </p:cNvPr>
          <p:cNvPicPr>
            <a:picLocks noChangeAspect="1"/>
          </p:cNvPicPr>
          <p:nvPr/>
        </p:nvPicPr>
        <p:blipFill>
          <a:blip r:embed="rId3"/>
          <a:stretch>
            <a:fillRect/>
          </a:stretch>
        </p:blipFill>
        <p:spPr>
          <a:xfrm>
            <a:off x="731520" y="2130643"/>
            <a:ext cx="3723522" cy="402155"/>
          </a:xfrm>
          <a:prstGeom prst="rect">
            <a:avLst/>
          </a:prstGeom>
        </p:spPr>
      </p:pic>
      <p:pic>
        <p:nvPicPr>
          <p:cNvPr id="31" name="Image 3" descr="m_L2-1-2/kc26092292e.png">    </p:cNvPr>
          <p:cNvPicPr>
            <a:picLocks noChangeAspect="1"/>
          </p:cNvPicPr>
          <p:nvPr/>
        </p:nvPicPr>
        <p:blipFill>
          <a:blip r:embed="rId4"/>
          <a:stretch>
            <a:fillRect/>
          </a:stretch>
        </p:blipFill>
        <p:spPr>
          <a:xfrm>
            <a:off x="5095122" y="2145005"/>
            <a:ext cx="3763019" cy="373429"/>
          </a:xfrm>
          <a:prstGeom prst="rect">
            <a:avLst/>
          </a:prstGeom>
        </p:spPr>
      </p:pic>
      <p:pic>
        <p:nvPicPr>
          <p:cNvPr id="32" name="Image 4" descr="m_L2-1-2/kc5417ec752.png">    </p:cNvPr>
          <p:cNvPicPr>
            <a:picLocks noChangeAspect="1"/>
          </p:cNvPicPr>
          <p:nvPr/>
        </p:nvPicPr>
        <p:blipFill>
          <a:blip r:embed="rId5"/>
          <a:stretch>
            <a:fillRect/>
          </a:stretch>
        </p:blipFill>
        <p:spPr>
          <a:xfrm>
            <a:off x="9498221" y="1987016"/>
            <a:ext cx="1931779" cy="689408"/>
          </a:xfrm>
          <a:prstGeom prst="rect">
            <a:avLst/>
          </a:prstGeom>
        </p:spPr>
      </p:pic>
      <p:sp>
        <p:nvSpPr>
          <p:cNvPr id="33"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5" name="Image 5" descr="m_L2-1-2/kc9a0eae63f.png">    </p:cNvPr>
          <p:cNvPicPr>
            <a:picLocks noChangeAspect="1"/>
          </p:cNvPicPr>
          <p:nvPr/>
        </p:nvPicPr>
        <p:blipFill>
          <a:blip r:embed="rId6"/>
          <a:stretch>
            <a:fillRect/>
          </a:stretch>
        </p:blipFill>
        <p:spPr>
          <a:xfrm>
            <a:off x="1524424" y="3566160"/>
            <a:ext cx="3397673" cy="767328"/>
          </a:xfrm>
          <a:prstGeom prst="rect">
            <a:avLst/>
          </a:prstGeom>
        </p:spPr>
      </p:pic>
      <p:pic>
        <p:nvPicPr>
          <p:cNvPr id="36" name="Image 6" descr="m_L2-1-2/kb807721fa5.png">    </p:cNvPr>
          <p:cNvPicPr>
            <a:picLocks noChangeAspect="1"/>
          </p:cNvPicPr>
          <p:nvPr/>
        </p:nvPicPr>
        <p:blipFill>
          <a:blip r:embed="rId7"/>
          <a:stretch>
            <a:fillRect/>
          </a:stretch>
        </p:blipFill>
        <p:spPr>
          <a:xfrm>
            <a:off x="1947672" y="4488936"/>
            <a:ext cx="2551176" cy="312725"/>
          </a:xfrm>
          <a:prstGeom prst="rect">
            <a:avLst/>
          </a:prstGeom>
        </p:spPr>
      </p:pic>
      <p:pic>
        <p:nvPicPr>
          <p:cNvPr id="37" name="Image 7" descr="m_L2-1-2/k1cddbe23a6.png">    </p:cNvPr>
          <p:cNvPicPr>
            <a:picLocks noChangeAspect="1"/>
          </p:cNvPicPr>
          <p:nvPr/>
        </p:nvPicPr>
        <p:blipFill>
          <a:blip r:embed="rId8"/>
          <a:stretch>
            <a:fillRect/>
          </a:stretch>
        </p:blipFill>
        <p:spPr>
          <a:xfrm>
            <a:off x="2191268" y="4957109"/>
            <a:ext cx="2063984" cy="342351"/>
          </a:xfrm>
          <a:prstGeom prst="rect">
            <a:avLst/>
          </a:prstGeom>
        </p:spPr>
      </p:pic>
      <p:pic>
        <p:nvPicPr>
          <p:cNvPr id="38" name="Image 8" descr="m_L2-1-2/kedb295ca7b.png">    </p:cNvPr>
          <p:cNvPicPr>
            <a:picLocks noChangeAspect="1"/>
          </p:cNvPicPr>
          <p:nvPr/>
        </p:nvPicPr>
        <p:blipFill>
          <a:blip r:embed="rId9"/>
          <a:stretch>
            <a:fillRect/>
          </a:stretch>
        </p:blipFill>
        <p:spPr>
          <a:xfrm>
            <a:off x="2314712" y="5454908"/>
            <a:ext cx="1817096" cy="687995"/>
          </a:xfrm>
          <a:prstGeom prst="rect">
            <a:avLst/>
          </a:prstGeom>
        </p:spPr>
      </p:pic>
      <p:sp>
        <p:nvSpPr>
          <p:cNvPr id="39"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0"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1" name="Image 9" descr="m_L2-1-2/k590d3b5bd7.png">    </p:cNvPr>
          <p:cNvPicPr>
            <a:picLocks noChangeAspect="1"/>
          </p:cNvPicPr>
          <p:nvPr/>
        </p:nvPicPr>
        <p:blipFill>
          <a:blip r:embed="rId10"/>
          <a:stretch>
            <a:fillRect/>
          </a:stretch>
        </p:blipFill>
        <p:spPr>
          <a:xfrm>
            <a:off x="7353686" y="3566160"/>
            <a:ext cx="3169148" cy="767231"/>
          </a:xfrm>
          <a:prstGeom prst="rect">
            <a:avLst/>
          </a:prstGeom>
        </p:spPr>
      </p:pic>
      <p:pic>
        <p:nvPicPr>
          <p:cNvPr id="42" name="Image 10" descr="m_L2-1-2/k998cc79426.png">    </p:cNvPr>
          <p:cNvPicPr>
            <a:picLocks noChangeAspect="1"/>
          </p:cNvPicPr>
          <p:nvPr/>
        </p:nvPicPr>
        <p:blipFill>
          <a:blip r:embed="rId11"/>
          <a:stretch>
            <a:fillRect/>
          </a:stretch>
        </p:blipFill>
        <p:spPr>
          <a:xfrm>
            <a:off x="7922856" y="4488819"/>
            <a:ext cx="2030809" cy="687908"/>
          </a:xfrm>
          <a:prstGeom prst="rect">
            <a:avLst/>
          </a:prstGeom>
        </p:spPr>
      </p:pic>
      <p:pic>
        <p:nvPicPr>
          <p:cNvPr id="43" name="Image 11" descr="m_L2-1-2/kf2cafeac2d.png">    </p:cNvPr>
          <p:cNvPicPr>
            <a:picLocks noChangeAspect="1"/>
          </p:cNvPicPr>
          <p:nvPr/>
        </p:nvPicPr>
        <p:blipFill>
          <a:blip r:embed="rId12"/>
          <a:stretch>
            <a:fillRect/>
          </a:stretch>
        </p:blipFill>
        <p:spPr>
          <a:xfrm>
            <a:off x="7519656" y="5332155"/>
            <a:ext cx="2837208" cy="342308"/>
          </a:xfrm>
          <a:prstGeom prst="rect">
            <a:avLst/>
          </a:prstGeom>
        </p:spPr>
      </p:pic>
      <p:pic>
        <p:nvPicPr>
          <p:cNvPr id="44" name="Image 12" descr="m_L2-1-2/k0f7787b85b.png">    </p:cNvPr>
          <p:cNvPicPr>
            <a:picLocks noChangeAspect="1"/>
          </p:cNvPicPr>
          <p:nvPr/>
        </p:nvPicPr>
        <p:blipFill>
          <a:blip r:embed="rId13"/>
          <a:stretch>
            <a:fillRect/>
          </a:stretch>
        </p:blipFill>
        <p:spPr>
          <a:xfrm>
            <a:off x="7366605" y="5829892"/>
            <a:ext cx="3143310" cy="34230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HSA.REI.B.4 · HSA.REI.B.4.A · HSF.IF.C.7.A · HSA.CED.A.2 · HSF.IF.B.4 · HSF.BF.B.3 · HSF.IF.C.7 · HSS.ID.B.6.A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Graphing from Standard Form</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1-2/k93f3fe260b.png">    </p:cNvPr>
          <p:cNvPicPr>
            <a:picLocks noChangeAspect="1"/>
          </p:cNvPicPr>
          <p:nvPr/>
        </p:nvPicPr>
        <p:blipFill>
          <a:blip r:embed="rId3"/>
          <a:stretch>
            <a:fillRect/>
          </a:stretch>
        </p:blipFill>
        <p:spPr>
          <a:xfrm>
            <a:off x="1044245" y="1980590"/>
            <a:ext cx="3233318" cy="702259"/>
          </a:xfrm>
          <a:prstGeom prst="rect">
            <a:avLst/>
          </a:prstGeom>
        </p:spPr>
      </p:pic>
      <p:pic>
        <p:nvPicPr>
          <p:cNvPr id="31" name="Image 3" descr="m_L2-1-2/kd529fb3c7e.png">    </p:cNvPr>
          <p:cNvPicPr>
            <a:picLocks noChangeAspect="1"/>
          </p:cNvPicPr>
          <p:nvPr/>
        </p:nvPicPr>
        <p:blipFill>
          <a:blip r:embed="rId4"/>
          <a:stretch>
            <a:fillRect/>
          </a:stretch>
        </p:blipFill>
        <p:spPr>
          <a:xfrm>
            <a:off x="4917643" y="1980590"/>
            <a:ext cx="6199632" cy="702259"/>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2-1-2/k3cf6ab5b31.png">    </p:cNvPr>
          <p:cNvPicPr>
            <a:picLocks noChangeAspect="1"/>
          </p:cNvPicPr>
          <p:nvPr/>
        </p:nvPicPr>
        <p:blipFill>
          <a:blip r:embed="rId5"/>
          <a:stretch>
            <a:fillRect/>
          </a:stretch>
        </p:blipFill>
        <p:spPr>
          <a:xfrm>
            <a:off x="642467" y="3566160"/>
            <a:ext cx="3287067" cy="387120"/>
          </a:xfrm>
          <a:prstGeom prst="rect">
            <a:avLst/>
          </a:prstGeom>
        </p:spPr>
      </p:pic>
      <p:pic>
        <p:nvPicPr>
          <p:cNvPr id="35" name="Image 5" descr="m_L2-1-2/k5c7f5a3115.png">    </p:cNvPr>
          <p:cNvPicPr>
            <a:picLocks noChangeAspect="1"/>
          </p:cNvPicPr>
          <p:nvPr/>
        </p:nvPicPr>
        <p:blipFill>
          <a:blip r:embed="rId6"/>
          <a:stretch>
            <a:fillRect/>
          </a:stretch>
        </p:blipFill>
        <p:spPr>
          <a:xfrm>
            <a:off x="969264" y="4108728"/>
            <a:ext cx="2633472" cy="342351"/>
          </a:xfrm>
          <a:prstGeom prst="rect">
            <a:avLst/>
          </a:prstGeom>
        </p:spPr>
      </p:pic>
      <p:pic>
        <p:nvPicPr>
          <p:cNvPr id="36" name="Image 6" descr="m_L2-1-2/k97362ff135.png">    </p:cNvPr>
          <p:cNvPicPr>
            <a:picLocks noChangeAspect="1"/>
          </p:cNvPicPr>
          <p:nvPr/>
        </p:nvPicPr>
        <p:blipFill>
          <a:blip r:embed="rId7"/>
          <a:stretch>
            <a:fillRect/>
          </a:stretch>
        </p:blipFill>
        <p:spPr>
          <a:xfrm>
            <a:off x="640080" y="4606528"/>
            <a:ext cx="3291840" cy="308147"/>
          </a:xfrm>
          <a:prstGeom prst="rect">
            <a:avLst/>
          </a:prstGeom>
        </p:spPr>
      </p:pic>
      <p:pic>
        <p:nvPicPr>
          <p:cNvPr id="37" name="Image 7" descr="m_L2-1-2/k51932be4ed.png">    </p:cNvPr>
          <p:cNvPicPr>
            <a:picLocks noChangeAspect="1"/>
          </p:cNvPicPr>
          <p:nvPr/>
        </p:nvPicPr>
        <p:blipFill>
          <a:blip r:embed="rId8"/>
          <a:stretch>
            <a:fillRect/>
          </a:stretch>
        </p:blipFill>
        <p:spPr>
          <a:xfrm>
            <a:off x="640080" y="5070123"/>
            <a:ext cx="3291840" cy="242987"/>
          </a:xfrm>
          <a:prstGeom prst="rect">
            <a:avLst/>
          </a:prstGeom>
        </p:spPr>
      </p:pic>
      <p:sp>
        <p:nvSpPr>
          <p:cNvPr id="38"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L2-1-2/k7b310eabbd.png">    </p:cNvPr>
          <p:cNvPicPr>
            <a:picLocks noChangeAspect="1"/>
          </p:cNvPicPr>
          <p:nvPr/>
        </p:nvPicPr>
        <p:blipFill>
          <a:blip r:embed="rId9"/>
          <a:stretch>
            <a:fillRect/>
          </a:stretch>
        </p:blipFill>
        <p:spPr>
          <a:xfrm>
            <a:off x="4434840" y="3566160"/>
            <a:ext cx="3291840" cy="363596"/>
          </a:xfrm>
          <a:prstGeom prst="rect">
            <a:avLst/>
          </a:prstGeom>
        </p:spPr>
      </p:pic>
      <p:pic>
        <p:nvPicPr>
          <p:cNvPr id="41" name="Image 9" descr="m_L2-1-2/k23d3d690d0.png">    </p:cNvPr>
          <p:cNvPicPr>
            <a:picLocks noChangeAspect="1"/>
          </p:cNvPicPr>
          <p:nvPr/>
        </p:nvPicPr>
        <p:blipFill>
          <a:blip r:embed="rId10"/>
          <a:stretch>
            <a:fillRect/>
          </a:stretch>
        </p:blipFill>
        <p:spPr>
          <a:xfrm>
            <a:off x="4847966" y="4085204"/>
            <a:ext cx="2465588" cy="342351"/>
          </a:xfrm>
          <a:prstGeom prst="rect">
            <a:avLst/>
          </a:prstGeom>
        </p:spPr>
      </p:pic>
      <p:pic>
        <p:nvPicPr>
          <p:cNvPr id="42" name="Image 10" descr="m_L2-1-2/kd6a9173825.png">    </p:cNvPr>
          <p:cNvPicPr>
            <a:picLocks noChangeAspect="1"/>
          </p:cNvPicPr>
          <p:nvPr/>
        </p:nvPicPr>
        <p:blipFill>
          <a:blip r:embed="rId11"/>
          <a:stretch>
            <a:fillRect/>
          </a:stretch>
        </p:blipFill>
        <p:spPr>
          <a:xfrm>
            <a:off x="4434840" y="4583003"/>
            <a:ext cx="3291840" cy="308147"/>
          </a:xfrm>
          <a:prstGeom prst="rect">
            <a:avLst/>
          </a:prstGeom>
        </p:spPr>
      </p:pic>
      <p:pic>
        <p:nvPicPr>
          <p:cNvPr id="43" name="Image 11" descr="m_L2-1-2/k32552668f1.png">    </p:cNvPr>
          <p:cNvPicPr>
            <a:picLocks noChangeAspect="1"/>
          </p:cNvPicPr>
          <p:nvPr/>
        </p:nvPicPr>
        <p:blipFill>
          <a:blip r:embed="rId12"/>
          <a:stretch>
            <a:fillRect/>
          </a:stretch>
        </p:blipFill>
        <p:spPr>
          <a:xfrm>
            <a:off x="4533595" y="5046598"/>
            <a:ext cx="3094330" cy="312725"/>
          </a:xfrm>
          <a:prstGeom prst="rect">
            <a:avLst/>
          </a:prstGeom>
        </p:spPr>
      </p:pic>
      <p:sp>
        <p:nvSpPr>
          <p:cNvPr id="44"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5"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6" name="Image 12" descr="m_L2-1-2/k3ddf2868aa.png">    </p:cNvPr>
          <p:cNvPicPr>
            <a:picLocks noChangeAspect="1"/>
          </p:cNvPicPr>
          <p:nvPr/>
        </p:nvPicPr>
        <p:blipFill>
          <a:blip r:embed="rId13"/>
          <a:stretch>
            <a:fillRect/>
          </a:stretch>
        </p:blipFill>
        <p:spPr>
          <a:xfrm>
            <a:off x="8229600" y="3566160"/>
            <a:ext cx="3291840" cy="639360"/>
          </a:xfrm>
          <a:prstGeom prst="rect">
            <a:avLst/>
          </a:prstGeom>
        </p:spPr>
      </p:pic>
      <p:pic>
        <p:nvPicPr>
          <p:cNvPr id="47" name="Image 13" descr="m_L2-1-2/kcdd9dea268.png">    </p:cNvPr>
          <p:cNvPicPr>
            <a:picLocks noChangeAspect="1"/>
          </p:cNvPicPr>
          <p:nvPr/>
        </p:nvPicPr>
        <p:blipFill>
          <a:blip r:embed="rId14"/>
          <a:stretch>
            <a:fillRect/>
          </a:stretch>
        </p:blipFill>
        <p:spPr>
          <a:xfrm>
            <a:off x="8229600" y="4360968"/>
            <a:ext cx="3291840" cy="333050"/>
          </a:xfrm>
          <a:prstGeom prst="rect">
            <a:avLst/>
          </a:prstGeom>
        </p:spPr>
      </p:pic>
      <p:pic>
        <p:nvPicPr>
          <p:cNvPr id="48" name="Image 14" descr="m_L2-1-2/ka094404ca0.png">    </p:cNvPr>
          <p:cNvPicPr>
            <a:picLocks noChangeAspect="1"/>
          </p:cNvPicPr>
          <p:nvPr/>
        </p:nvPicPr>
        <p:blipFill>
          <a:blip r:embed="rId15"/>
          <a:stretch>
            <a:fillRect/>
          </a:stretch>
        </p:blipFill>
        <p:spPr>
          <a:xfrm>
            <a:off x="9026225" y="4849466"/>
            <a:ext cx="1698589" cy="3226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HSA.REI.B.4 · HSA.REI.B.4.A · HSF.IF.C.7.A · HSA.CED.A.2 · HSF.IF.B.4 · HSF.BF.B.3 · HSF.IF.C.7 · HSS.ID.B.6.A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L2-1-2/kf42b765f05.png">    </p:cNvPr>
          <p:cNvPicPr>
            <a:picLocks noChangeAspect="1"/>
          </p:cNvPicPr>
          <p:nvPr/>
        </p:nvPicPr>
        <p:blipFill>
          <a:blip r:embed="rId3"/>
          <a:stretch>
            <a:fillRect/>
          </a:stretch>
        </p:blipFill>
        <p:spPr>
          <a:xfrm>
            <a:off x="571500" y="2926080"/>
            <a:ext cx="3383280" cy="233906"/>
          </a:xfrm>
          <a:prstGeom prst="rect">
            <a:avLst/>
          </a:prstGeom>
        </p:spPr>
      </p:pic>
      <p:pic>
        <p:nvPicPr>
          <p:cNvPr id="34" name="Image 3" descr="m_L2-1-2/kd979ea7e65.png">    </p:cNvPr>
          <p:cNvPicPr>
            <a:picLocks noChangeAspect="1"/>
          </p:cNvPicPr>
          <p:nvPr/>
        </p:nvPicPr>
        <p:blipFill>
          <a:blip r:embed="rId4"/>
          <a:stretch>
            <a:fillRect/>
          </a:stretch>
        </p:blipFill>
        <p:spPr>
          <a:xfrm>
            <a:off x="571500" y="3434306"/>
            <a:ext cx="3383280" cy="226423"/>
          </a:xfrm>
          <a:prstGeom prst="rect">
            <a:avLst/>
          </a:prstGeom>
        </p:spPr>
      </p:pic>
      <p:sp>
        <p:nvSpPr>
          <p:cNvPr id="35"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the vertex is an ordered pair with the sign of h checked, and a is found by substitution and checked with the given point.</a:t>
            </a:r>
            <a:endParaRPr lang="en-US" sz="1150" dirty="0"/>
          </a:p>
        </p:txBody>
      </p:sp>
      <p:sp>
        <p:nvSpPr>
          <p:cNvPr id="36"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7"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8"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9"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0" name="Image 4" descr="m_L2-1-2/kc7eac2ed14.png">    </p:cNvPr>
          <p:cNvPicPr>
            <a:picLocks noChangeAspect="1"/>
          </p:cNvPicPr>
          <p:nvPr/>
        </p:nvPicPr>
        <p:blipFill>
          <a:blip r:embed="rId5"/>
          <a:stretch>
            <a:fillRect/>
          </a:stretch>
        </p:blipFill>
        <p:spPr>
          <a:xfrm>
            <a:off x="4366260" y="2926080"/>
            <a:ext cx="3383280" cy="226423"/>
          </a:xfrm>
          <a:prstGeom prst="rect">
            <a:avLst/>
          </a:prstGeom>
        </p:spPr>
      </p:pic>
      <p:pic>
        <p:nvPicPr>
          <p:cNvPr id="41" name="Image 5" descr="m_L2-1-2/k59e997e230.png">    </p:cNvPr>
          <p:cNvPicPr>
            <a:picLocks noChangeAspect="1"/>
          </p:cNvPicPr>
          <p:nvPr/>
        </p:nvPicPr>
        <p:blipFill>
          <a:blip r:embed="rId6"/>
          <a:stretch>
            <a:fillRect/>
          </a:stretch>
        </p:blipFill>
        <p:spPr>
          <a:xfrm>
            <a:off x="4366260" y="3426823"/>
            <a:ext cx="3383280" cy="440779"/>
          </a:xfrm>
          <a:prstGeom prst="rect">
            <a:avLst/>
          </a:prstGeom>
        </p:spPr>
      </p:pic>
      <p:sp>
        <p:nvSpPr>
          <p:cNvPr id="42"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every answer is checked by substituting a point, and g is sketched symmetric about its axis.</a:t>
            </a:r>
            <a:endParaRPr lang="en-US" sz="1150" dirty="0"/>
          </a:p>
        </p:txBody>
      </p:sp>
      <p:sp>
        <p:nvSpPr>
          <p:cNvPr id="43"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4"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5"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6"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7" name="Image 6" descr="m_L2-1-2/k2f0a65828f.png">    </p:cNvPr>
          <p:cNvPicPr>
            <a:picLocks noChangeAspect="1"/>
          </p:cNvPicPr>
          <p:nvPr/>
        </p:nvPicPr>
        <p:blipFill>
          <a:blip r:embed="rId7"/>
          <a:stretch>
            <a:fillRect/>
          </a:stretch>
        </p:blipFill>
        <p:spPr>
          <a:xfrm>
            <a:off x="8161020" y="2926080"/>
            <a:ext cx="3383280" cy="430762"/>
          </a:xfrm>
          <a:prstGeom prst="rect">
            <a:avLst/>
          </a:prstGeom>
        </p:spPr>
      </p:pic>
      <p:pic>
        <p:nvPicPr>
          <p:cNvPr id="48" name="Image 7" descr="m_L2-1-2/k565edbea41.png">    </p:cNvPr>
          <p:cNvPicPr>
            <a:picLocks noChangeAspect="1"/>
          </p:cNvPicPr>
          <p:nvPr/>
        </p:nvPicPr>
        <p:blipFill>
          <a:blip r:embed="rId8"/>
          <a:stretch>
            <a:fillRect/>
          </a:stretch>
        </p:blipFill>
        <p:spPr>
          <a:xfrm>
            <a:off x="8161020" y="3631162"/>
            <a:ext cx="3383280" cy="648608"/>
          </a:xfrm>
          <a:prstGeom prst="rect">
            <a:avLst/>
          </a:prstGeom>
        </p:spPr>
      </p:pic>
      <p:sp>
        <p:nvSpPr>
          <p:cNvPr id="49"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250" dirty="0">
                <a:solidFill>
                  <a:srgbClr val="3F4B49"/>
                </a:solidFill>
                <a:latin typeface="Calibri" pitchFamily="34" charset="0"/>
                <a:ea typeface="Calibri" pitchFamily="34" charset="-122"/>
                <a:cs typeface="Calibri" pitchFamily="34" charset="-120"/>
              </a:rPr>
              <a:t>Done when: your argument uses expanding or the graph, not just a computed answer.</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HSA.REI.B.4 · HSA.REI.B.4.A · HSF.IF.C.7.A · HSA.CED.A.2 · HSF.IF.B.4 · HSF.BF.B.3 · HSF.IF.C.7 · HSS.ID.B.6.A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Designing a Footbridge Arch</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463040"/>
          </a:xfrm>
          <a:prstGeom prst="rect">
            <a:avLst/>
          </a:prstGeom>
          <a:noFill/>
          <a:ln/>
        </p:spPr>
        <p:txBody>
          <a:bodyPr wrap="square" lIns="0" tIns="0" rIns="0" bIns="0" rtlCol="0" anchor="t"/>
          <a:lstStyle/>
          <a:p>
            <a:pPr indent="0" marL="0">
              <a:buNone/>
            </a:pPr>
            <a:r>
              <a:rPr lang="en-US" sz="1300" dirty="0">
                <a:solidFill>
                  <a:srgbClr val="222E2D"/>
                </a:solidFill>
                <a:latin typeface="Calibri" pitchFamily="34" charset="0"/>
                <a:ea typeface="Calibri" pitchFamily="34" charset="-122"/>
                <a:cs typeface="Calibri" pitchFamily="34" charset="-120"/>
              </a:rPr>
              <a:t>A pedestrian footbridge in a Red Sea coastal tourism development, in the spirit of Vision 2030, has a parabolic arch. Standing on the left foot of the arch, the walkway rises to a highest point of 12 metres above the water at a horizontal distance of 20 metres, and the right foot is level with the left. Take x as the horizontal distance in metres from the left foot and y as the height in metres. These are invented model values for the classroom.</a:t>
            </a:r>
            <a:endParaRPr lang="en-US" sz="1300" dirty="0"/>
          </a:p>
        </p:txBody>
      </p:sp>
      <p:pic>
        <p:nvPicPr>
          <p:cNvPr id="32" name="Image 2" descr="m_L2-1-2/k6d3f62a14a.png">    </p:cNvPr>
          <p:cNvPicPr>
            <a:picLocks noChangeAspect="1"/>
          </p:cNvPicPr>
          <p:nvPr/>
        </p:nvPicPr>
        <p:blipFill>
          <a:blip r:embed="rId3"/>
          <a:stretch>
            <a:fillRect/>
          </a:stretch>
        </p:blipFill>
        <p:spPr>
          <a:xfrm>
            <a:off x="1697858" y="3749040"/>
            <a:ext cx="3370844" cy="304312"/>
          </a:xfrm>
          <a:prstGeom prst="rect">
            <a:avLst/>
          </a:prstGeom>
        </p:spPr>
      </p:pic>
      <p:pic>
        <p:nvPicPr>
          <p:cNvPr id="33" name="Image 3" descr="m_L2-1-2/k5c249322d0.png">    </p:cNvPr>
          <p:cNvPicPr>
            <a:picLocks noChangeAspect="1"/>
          </p:cNvPicPr>
          <p:nvPr/>
        </p:nvPicPr>
        <p:blipFill>
          <a:blip r:embed="rId4"/>
          <a:stretch>
            <a:fillRect/>
          </a:stretch>
        </p:blipFill>
        <p:spPr>
          <a:xfrm>
            <a:off x="2429378" y="4163080"/>
            <a:ext cx="1907804" cy="327721"/>
          </a:xfrm>
          <a:prstGeom prst="rect">
            <a:avLst/>
          </a:prstGeom>
        </p:spPr>
      </p:pic>
      <p:sp>
        <p:nvSpPr>
          <p:cNvPr id="34" name="Text 27"/>
          <p:cNvSpPr txBox="1"/>
          <p:nvPr/>
        </p:nvSpPr>
        <p:spPr>
          <a:xfrm>
            <a:off x="731520" y="4737689"/>
            <a:ext cx="5303520" cy="1480231"/>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Write the height y in vertex form, using the vertex and the left foot.</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Expand to standard form, name a, b and c, and say what c = 0 means for the arch.</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Use the axis formula to confirm the axis of symmetry, then find the height 5 metres from the left foot and the other point at that height.</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vertex form is checked by substituting the left foot.</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standard form is shown as an expansion with a, b and c named.</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axis x = 20 is confirmed with the formula.</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Every answer has units (metres) and a sentence in context.</a:t>
            </a:r>
            <a:endParaRPr lang="en-US" sz="155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for solving: put (20, 12) in first, then use (0, 0) to find a; the right foot is the mirror image of the left foot.</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HSA.REI.B.4 · HSA.REI.B.4.A · HSF.IF.C.7.A · HSA.CED.A.2 · HSF.IF.B.4 · HSF.BF.B.3 · HSF.IF.C.7 · HSS.ID.B.6.A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12</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2-1-2/kae4c55250f.png">    </p:cNvPr>
          <p:cNvPicPr>
            <a:picLocks noChangeAspect="1"/>
          </p:cNvPicPr>
          <p:nvPr/>
        </p:nvPicPr>
        <p:blipFill>
          <a:blip r:embed="rId3"/>
          <a:stretch>
            <a:fillRect/>
          </a:stretch>
        </p:blipFill>
        <p:spPr>
          <a:xfrm>
            <a:off x="685800" y="2743200"/>
            <a:ext cx="3200400" cy="552910"/>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2-1-2/k13455a72d0.png">    </p:cNvPr>
          <p:cNvPicPr>
            <a:picLocks noChangeAspect="1"/>
          </p:cNvPicPr>
          <p:nvPr/>
        </p:nvPicPr>
        <p:blipFill>
          <a:blip r:embed="rId4"/>
          <a:stretch>
            <a:fillRect/>
          </a:stretch>
        </p:blipFill>
        <p:spPr>
          <a:xfrm>
            <a:off x="4434840" y="2743200"/>
            <a:ext cx="3200400" cy="586696"/>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2-1-2/k5ac84b7955.png">    </p:cNvPr>
          <p:cNvPicPr>
            <a:picLocks noChangeAspect="1"/>
          </p:cNvPicPr>
          <p:nvPr/>
        </p:nvPicPr>
        <p:blipFill>
          <a:blip r:embed="rId5"/>
          <a:stretch>
            <a:fillRect/>
          </a:stretch>
        </p:blipFill>
        <p:spPr>
          <a:xfrm>
            <a:off x="8183880" y="2743200"/>
            <a:ext cx="3200400" cy="399600"/>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HSA.REI.B.4 · HSA.REI.B.4.A · HSF.IF.C.7.A · HSA.CED.A.2 · HSF.IF.B.4 · HSF.BF.B.3 · HSF.IF.C.7 · HSS.ID.B.6.A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13</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Invent a parabola in the first quadrant: choose a vertex and one extra point, and write it in vertex form.</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Expand it to standard form and list a, b, c, the axis, the vertex and the y-intercept.</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and check that both forms agree by substituting a point.</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both forms are written, the partner's check is signed, and one sentence says which form was quicker for finding the vertex.</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answers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L2-1-2/k16ad0b1dc5.png">    </p:cNvPr>
          <p:cNvPicPr>
            <a:picLocks noChangeAspect="1"/>
          </p:cNvPicPr>
          <p:nvPr/>
        </p:nvPicPr>
        <p:blipFill>
          <a:blip r:embed="rId3"/>
          <a:stretch>
            <a:fillRect/>
          </a:stretch>
        </p:blipFill>
        <p:spPr>
          <a:xfrm>
            <a:off x="6947977" y="3703320"/>
            <a:ext cx="4026286" cy="327721"/>
          </a:xfrm>
          <a:prstGeom prst="rect">
            <a:avLst/>
          </a:prstGeom>
        </p:spPr>
      </p:pic>
      <p:pic>
        <p:nvPicPr>
          <p:cNvPr id="40" name="Image 3" descr="m_L2-1-2/k20de4a9cf8.png">    </p:cNvPr>
          <p:cNvPicPr>
            <a:picLocks noChangeAspect="1"/>
          </p:cNvPicPr>
          <p:nvPr/>
        </p:nvPicPr>
        <p:blipFill>
          <a:blip r:embed="rId4"/>
          <a:stretch>
            <a:fillRect/>
          </a:stretch>
        </p:blipFill>
        <p:spPr>
          <a:xfrm>
            <a:off x="7141098" y="4122481"/>
            <a:ext cx="3640044" cy="304312"/>
          </a:xfrm>
          <a:prstGeom prst="rect">
            <a:avLst/>
          </a:prstGeom>
        </p:spPr>
      </p:pic>
      <p:sp>
        <p:nvSpPr>
          <p:cNvPr id="41"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2-3 Factored Form of a Quadratic Function.</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HSA.REI.B.4 · HSA.REI.B.4.A · HSF.IF.C.7.A · HSA.CED.A.2 · HSF.IF.B.4 · HSF.BF.B.3 · HSF.IF.C.7 · HSS.ID.B.6.A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14</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Exam connections</a:t>
            </a:r>
            <a:endParaRPr lang="en-US" sz="3000" dirty="0"/>
          </a:p>
        </p:txBody>
      </p:sp>
      <p:sp>
        <p:nvSpPr>
          <p:cNvPr id="11" name="Shape 6"/>
          <p:cNvSpPr/>
          <p:nvPr/>
        </p:nvSpPr>
        <p:spPr>
          <a:xfrm>
            <a:off x="457200" y="1280160"/>
            <a:ext cx="3611880" cy="548640"/>
          </a:xfrm>
          <a:prstGeom prst="roundRect">
            <a:avLst>
              <a:gd name="adj" fmla="val 20000"/>
            </a:avLst>
          </a:prstGeom>
          <a:solidFill>
            <a:srgbClr val="17A199"/>
          </a:solidFill>
          <a:ln w="12700">
            <a:solidFill>
              <a:srgbClr val="FFFFFF"/>
            </a:solidFill>
            <a:prstDash val="solid"/>
          </a:ln>
        </p:spPr>
      </p:sp>
      <p:sp>
        <p:nvSpPr>
          <p:cNvPr id="12" name="Text 7"/>
          <p:cNvSpPr txBox="1"/>
          <p:nvPr/>
        </p:nvSpPr>
        <p:spPr>
          <a:xfrm>
            <a:off x="68580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SAT</a:t>
            </a:r>
            <a:endParaRPr lang="en-US" sz="2000" dirty="0"/>
          </a:p>
        </p:txBody>
      </p:sp>
      <p:sp>
        <p:nvSpPr>
          <p:cNvPr id="13" name="Shape 8"/>
          <p:cNvSpPr/>
          <p:nvPr/>
        </p:nvSpPr>
        <p:spPr>
          <a:xfrm>
            <a:off x="45720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14" name="Image 2" descr="m_L2-1-2/kdb6d511ae8.png">    </p:cNvPr>
          <p:cNvPicPr>
            <a:picLocks noChangeAspect="1"/>
          </p:cNvPicPr>
          <p:nvPr/>
        </p:nvPicPr>
        <p:blipFill>
          <a:blip r:embed="rId3"/>
          <a:stretch>
            <a:fillRect/>
          </a:stretch>
        </p:blipFill>
        <p:spPr>
          <a:xfrm>
            <a:off x="818845" y="2148840"/>
            <a:ext cx="2888590" cy="608990"/>
          </a:xfrm>
          <a:prstGeom prst="rect">
            <a:avLst/>
          </a:prstGeom>
        </p:spPr>
      </p:pic>
      <p:pic>
        <p:nvPicPr>
          <p:cNvPr id="15" name="Image 3" descr="m_L2-1-2/kb18dd478c4.png">    </p:cNvPr>
          <p:cNvPicPr>
            <a:picLocks noChangeAspect="1"/>
          </p:cNvPicPr>
          <p:nvPr/>
        </p:nvPicPr>
        <p:blipFill>
          <a:blip r:embed="rId4"/>
          <a:stretch>
            <a:fillRect/>
          </a:stretch>
        </p:blipFill>
        <p:spPr>
          <a:xfrm>
            <a:off x="887425" y="2849270"/>
            <a:ext cx="2751430" cy="285293"/>
          </a:xfrm>
          <a:prstGeom prst="rect">
            <a:avLst/>
          </a:prstGeom>
        </p:spPr>
      </p:pic>
      <p:sp>
        <p:nvSpPr>
          <p:cNvPr id="16" name="Text 9"/>
          <p:cNvSpPr txBox="1"/>
          <p:nvPr/>
        </p:nvSpPr>
        <p:spPr>
          <a:xfrm>
            <a:off x="685800" y="3317443"/>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17" name="Text 10"/>
          <p:cNvSpPr txBox="1"/>
          <p:nvPr/>
        </p:nvSpPr>
        <p:spPr>
          <a:xfrm>
            <a:off x="685800" y="3591763"/>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1</a:t>
            </a:r>
            <a:endParaRPr lang="en-US" sz="1600" dirty="0"/>
          </a:p>
        </p:txBody>
      </p:sp>
      <p:pic>
        <p:nvPicPr>
          <p:cNvPr id="18" name="Image 4" descr="m_L2-1-2/k1b8039df3e.png">    </p:cNvPr>
          <p:cNvPicPr>
            <a:picLocks noChangeAspect="1"/>
          </p:cNvPicPr>
          <p:nvPr/>
        </p:nvPicPr>
        <p:blipFill>
          <a:blip r:embed="rId5"/>
          <a:stretch>
            <a:fillRect/>
          </a:stretch>
        </p:blipFill>
        <p:spPr>
          <a:xfrm>
            <a:off x="1097280" y="3591763"/>
            <a:ext cx="1983882" cy="623255"/>
          </a:xfrm>
          <a:prstGeom prst="rect">
            <a:avLst/>
          </a:prstGeom>
        </p:spPr>
      </p:pic>
      <p:sp>
        <p:nvSpPr>
          <p:cNvPr id="19" name="Text 11"/>
          <p:cNvSpPr txBox="1"/>
          <p:nvPr/>
        </p:nvSpPr>
        <p:spPr>
          <a:xfrm>
            <a:off x="685800" y="4460443"/>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2</a:t>
            </a:r>
            <a:endParaRPr lang="en-US" sz="1600" dirty="0"/>
          </a:p>
        </p:txBody>
      </p:sp>
      <p:pic>
        <p:nvPicPr>
          <p:cNvPr id="20" name="Image 5" descr="m_L2-1-2/k58e2c41668.png">    </p:cNvPr>
          <p:cNvPicPr>
            <a:picLocks noChangeAspect="1"/>
          </p:cNvPicPr>
          <p:nvPr/>
        </p:nvPicPr>
        <p:blipFill>
          <a:blip r:embed="rId6"/>
          <a:stretch>
            <a:fillRect/>
          </a:stretch>
        </p:blipFill>
        <p:spPr>
          <a:xfrm>
            <a:off x="1097280" y="4460443"/>
            <a:ext cx="2203338" cy="550103"/>
          </a:xfrm>
          <a:prstGeom prst="rect">
            <a:avLst/>
          </a:prstGeom>
        </p:spPr>
      </p:pic>
      <p:sp>
        <p:nvSpPr>
          <p:cNvPr id="21" name="Shape 12"/>
          <p:cNvSpPr/>
          <p:nvPr/>
        </p:nvSpPr>
        <p:spPr>
          <a:xfrm>
            <a:off x="4251960" y="1280160"/>
            <a:ext cx="3611880" cy="548640"/>
          </a:xfrm>
          <a:prstGeom prst="roundRect">
            <a:avLst>
              <a:gd name="adj" fmla="val 20000"/>
            </a:avLst>
          </a:prstGeom>
          <a:solidFill>
            <a:srgbClr val="E8762C"/>
          </a:solidFill>
          <a:ln w="12700">
            <a:solidFill>
              <a:srgbClr val="FFFFFF"/>
            </a:solidFill>
            <a:prstDash val="solid"/>
          </a:ln>
        </p:spPr>
      </p:sp>
      <p:sp>
        <p:nvSpPr>
          <p:cNvPr id="22" name="Text 13"/>
          <p:cNvSpPr txBox="1"/>
          <p:nvPr/>
        </p:nvSpPr>
        <p:spPr>
          <a:xfrm>
            <a:off x="448056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GAT</a:t>
            </a:r>
            <a:endParaRPr lang="en-US" sz="2000" dirty="0"/>
          </a:p>
        </p:txBody>
      </p:sp>
      <p:sp>
        <p:nvSpPr>
          <p:cNvPr id="23" name="Shape 14"/>
          <p:cNvSpPr/>
          <p:nvPr/>
        </p:nvSpPr>
        <p:spPr>
          <a:xfrm>
            <a:off x="425196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24" name="Image 6" descr="m_L2-1-2/kceb8ed19dc.png">    </p:cNvPr>
          <p:cNvPicPr>
            <a:picLocks noChangeAspect="1"/>
          </p:cNvPicPr>
          <p:nvPr/>
        </p:nvPicPr>
        <p:blipFill>
          <a:blip r:embed="rId7"/>
          <a:stretch>
            <a:fillRect/>
          </a:stretch>
        </p:blipFill>
        <p:spPr>
          <a:xfrm>
            <a:off x="4503877" y="2148840"/>
            <a:ext cx="3108046" cy="268834"/>
          </a:xfrm>
          <a:prstGeom prst="rect">
            <a:avLst/>
          </a:prstGeom>
        </p:spPr>
      </p:pic>
      <p:pic>
        <p:nvPicPr>
          <p:cNvPr id="25" name="Image 7" descr="m_L2-1-2/k562f2d1055.png">    </p:cNvPr>
          <p:cNvPicPr>
            <a:picLocks noChangeAspect="1"/>
          </p:cNvPicPr>
          <p:nvPr/>
        </p:nvPicPr>
        <p:blipFill>
          <a:blip r:embed="rId8"/>
          <a:stretch>
            <a:fillRect/>
          </a:stretch>
        </p:blipFill>
        <p:spPr>
          <a:xfrm>
            <a:off x="5732831" y="2509114"/>
            <a:ext cx="650138" cy="213970"/>
          </a:xfrm>
          <a:prstGeom prst="rect">
            <a:avLst/>
          </a:prstGeom>
        </p:spPr>
      </p:pic>
      <p:sp>
        <p:nvSpPr>
          <p:cNvPr id="26" name="Text 15"/>
          <p:cNvSpPr txBox="1"/>
          <p:nvPr/>
        </p:nvSpPr>
        <p:spPr>
          <a:xfrm>
            <a:off x="448056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27" name="Text 16"/>
          <p:cNvSpPr txBox="1"/>
          <p:nvPr/>
        </p:nvSpPr>
        <p:spPr>
          <a:xfrm>
            <a:off x="4480560" y="356616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1</a:t>
            </a:r>
            <a:endParaRPr lang="en-US" sz="1600" dirty="0"/>
          </a:p>
        </p:txBody>
      </p:sp>
      <p:pic>
        <p:nvPicPr>
          <p:cNvPr id="28" name="Image 8" descr="m_L2-1-2/kfa3bb47744.png">    </p:cNvPr>
          <p:cNvPicPr>
            <a:picLocks noChangeAspect="1"/>
          </p:cNvPicPr>
          <p:nvPr/>
        </p:nvPicPr>
        <p:blipFill>
          <a:blip r:embed="rId9"/>
          <a:stretch>
            <a:fillRect/>
          </a:stretch>
        </p:blipFill>
        <p:spPr>
          <a:xfrm>
            <a:off x="4892040" y="3566160"/>
            <a:ext cx="2834640" cy="315900"/>
          </a:xfrm>
          <a:prstGeom prst="rect">
            <a:avLst/>
          </a:prstGeom>
        </p:spPr>
      </p:pic>
      <p:sp>
        <p:nvSpPr>
          <p:cNvPr id="29" name="Text 17"/>
          <p:cNvSpPr txBox="1"/>
          <p:nvPr/>
        </p:nvSpPr>
        <p:spPr>
          <a:xfrm>
            <a:off x="4480560" y="441960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2</a:t>
            </a:r>
            <a:endParaRPr lang="en-US" sz="1600" dirty="0"/>
          </a:p>
        </p:txBody>
      </p:sp>
      <p:pic>
        <p:nvPicPr>
          <p:cNvPr id="30" name="Image 9" descr="m_L2-1-2/k6534e215e7.png">    </p:cNvPr>
          <p:cNvPicPr>
            <a:picLocks noChangeAspect="1"/>
          </p:cNvPicPr>
          <p:nvPr/>
        </p:nvPicPr>
        <p:blipFill>
          <a:blip r:embed="rId10"/>
          <a:stretch>
            <a:fillRect/>
          </a:stretch>
        </p:blipFill>
        <p:spPr>
          <a:xfrm>
            <a:off x="4892040" y="4419600"/>
            <a:ext cx="2834640" cy="301214"/>
          </a:xfrm>
          <a:prstGeom prst="rect">
            <a:avLst/>
          </a:prstGeom>
        </p:spPr>
      </p:pic>
      <p:sp>
        <p:nvSpPr>
          <p:cNvPr id="31" name="Text 18"/>
          <p:cNvSpPr txBox="1"/>
          <p:nvPr/>
        </p:nvSpPr>
        <p:spPr>
          <a:xfrm>
            <a:off x="4480560" y="527304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3</a:t>
            </a:r>
            <a:endParaRPr lang="en-US" sz="1600" dirty="0"/>
          </a:p>
        </p:txBody>
      </p:sp>
      <p:pic>
        <p:nvPicPr>
          <p:cNvPr id="32" name="Image 10" descr="m_L2-1-2/kec03b59799.png">    </p:cNvPr>
          <p:cNvPicPr>
            <a:picLocks noChangeAspect="1"/>
          </p:cNvPicPr>
          <p:nvPr/>
        </p:nvPicPr>
        <p:blipFill>
          <a:blip r:embed="rId11"/>
          <a:stretch>
            <a:fillRect/>
          </a:stretch>
        </p:blipFill>
        <p:spPr>
          <a:xfrm>
            <a:off x="4892040" y="5273040"/>
            <a:ext cx="752003" cy="228234"/>
          </a:xfrm>
          <a:prstGeom prst="rect">
            <a:avLst/>
          </a:prstGeom>
        </p:spPr>
      </p:pic>
      <p:sp>
        <p:nvSpPr>
          <p:cNvPr id="33" name="Shape 19"/>
          <p:cNvSpPr/>
          <p:nvPr/>
        </p:nvSpPr>
        <p:spPr>
          <a:xfrm>
            <a:off x="8046720" y="1280160"/>
            <a:ext cx="3611880" cy="548640"/>
          </a:xfrm>
          <a:prstGeom prst="roundRect">
            <a:avLst>
              <a:gd name="adj" fmla="val 20000"/>
            </a:avLst>
          </a:prstGeom>
          <a:solidFill>
            <a:srgbClr val="1F3864"/>
          </a:solidFill>
          <a:ln w="12700">
            <a:solidFill>
              <a:srgbClr val="FFFFFF"/>
            </a:solidFill>
            <a:prstDash val="solid"/>
          </a:ln>
        </p:spPr>
      </p:sp>
      <p:sp>
        <p:nvSpPr>
          <p:cNvPr id="34" name="Text 20"/>
          <p:cNvSpPr txBox="1"/>
          <p:nvPr/>
        </p:nvSpPr>
        <p:spPr>
          <a:xfrm>
            <a:off x="827532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SAAT</a:t>
            </a:r>
            <a:endParaRPr lang="en-US" sz="2000" dirty="0"/>
          </a:p>
        </p:txBody>
      </p:sp>
      <p:sp>
        <p:nvSpPr>
          <p:cNvPr id="35" name="Shape 21"/>
          <p:cNvSpPr/>
          <p:nvPr/>
        </p:nvSpPr>
        <p:spPr>
          <a:xfrm>
            <a:off x="804672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6" name="Image 11" descr="m_L2-1-2/ka689c48aa0.png">    </p:cNvPr>
          <p:cNvPicPr>
            <a:picLocks noChangeAspect="1"/>
          </p:cNvPicPr>
          <p:nvPr/>
        </p:nvPicPr>
        <p:blipFill>
          <a:blip r:embed="rId12"/>
          <a:stretch>
            <a:fillRect/>
          </a:stretch>
        </p:blipFill>
        <p:spPr>
          <a:xfrm>
            <a:off x="8586673" y="2148840"/>
            <a:ext cx="2531974" cy="608990"/>
          </a:xfrm>
          <a:prstGeom prst="rect">
            <a:avLst/>
          </a:prstGeom>
        </p:spPr>
      </p:pic>
      <p:pic>
        <p:nvPicPr>
          <p:cNvPr id="37" name="Image 12" descr="m_L2-1-2/k4a6a9c8444.png">    </p:cNvPr>
          <p:cNvPicPr>
            <a:picLocks noChangeAspect="1"/>
          </p:cNvPicPr>
          <p:nvPr/>
        </p:nvPicPr>
        <p:blipFill>
          <a:blip r:embed="rId13"/>
          <a:stretch>
            <a:fillRect/>
          </a:stretch>
        </p:blipFill>
        <p:spPr>
          <a:xfrm>
            <a:off x="8476945" y="2849270"/>
            <a:ext cx="2751430" cy="285293"/>
          </a:xfrm>
          <a:prstGeom prst="rect">
            <a:avLst/>
          </a:prstGeom>
        </p:spPr>
      </p:pic>
      <p:sp>
        <p:nvSpPr>
          <p:cNvPr id="38" name="Text 22"/>
          <p:cNvSpPr txBox="1"/>
          <p:nvPr/>
        </p:nvSpPr>
        <p:spPr>
          <a:xfrm>
            <a:off x="8275320" y="3317443"/>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39" name="Text 23"/>
          <p:cNvSpPr txBox="1"/>
          <p:nvPr/>
        </p:nvSpPr>
        <p:spPr>
          <a:xfrm>
            <a:off x="8275320" y="3591763"/>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1</a:t>
            </a:r>
            <a:endParaRPr lang="en-US" sz="1600" dirty="0"/>
          </a:p>
        </p:txBody>
      </p:sp>
      <p:pic>
        <p:nvPicPr>
          <p:cNvPr id="40" name="Image 13" descr="m_L2-1-2/k09974e0dab.png">    </p:cNvPr>
          <p:cNvPicPr>
            <a:picLocks noChangeAspect="1"/>
          </p:cNvPicPr>
          <p:nvPr/>
        </p:nvPicPr>
        <p:blipFill>
          <a:blip r:embed="rId14"/>
          <a:stretch>
            <a:fillRect/>
          </a:stretch>
        </p:blipFill>
        <p:spPr>
          <a:xfrm>
            <a:off x="8686800" y="3591763"/>
            <a:ext cx="1805391" cy="611551"/>
          </a:xfrm>
          <a:prstGeom prst="rect">
            <a:avLst/>
          </a:prstGeom>
        </p:spPr>
      </p:pic>
      <p:sp>
        <p:nvSpPr>
          <p:cNvPr id="41" name="Text 24"/>
          <p:cNvSpPr txBox="1"/>
          <p:nvPr/>
        </p:nvSpPr>
        <p:spPr>
          <a:xfrm>
            <a:off x="8275320" y="4460443"/>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2</a:t>
            </a:r>
            <a:endParaRPr lang="en-US" sz="1600" dirty="0"/>
          </a:p>
        </p:txBody>
      </p:sp>
      <p:pic>
        <p:nvPicPr>
          <p:cNvPr id="42" name="Image 14" descr="m_L2-1-2/k0a7bbe4c9b.png">    </p:cNvPr>
          <p:cNvPicPr>
            <a:picLocks noChangeAspect="1"/>
          </p:cNvPicPr>
          <p:nvPr/>
        </p:nvPicPr>
        <p:blipFill>
          <a:blip r:embed="rId15"/>
          <a:stretch>
            <a:fillRect/>
          </a:stretch>
        </p:blipFill>
        <p:spPr>
          <a:xfrm>
            <a:off x="8686800" y="4460443"/>
            <a:ext cx="2834640" cy="24794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A parabola has two views: vertex form shows its turning point, standard form shows its y-intercept, and the axis x = -b/(2a) links them.</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Lessons 2-1 and 2-2 Vertex Form and Standard Form of a Quadratic Function presentation</dc:title>
  <dc:subject>PptxGenJS Presentation</dc:subject>
  <dc:creator>Mr Malek Thiab</dc:creator>
  <cp:lastModifiedBy>Mr Malek Thiab</cp:lastModifiedBy>
  <cp:revision>1</cp:revision>
  <dcterms:created xsi:type="dcterms:W3CDTF">2026-10-04T20:08:26Z</dcterms:created>
  <dcterms:modified xsi:type="dcterms:W3CDTF">2026-10-04T20:08:26Z</dcterms:modified>
</cp:coreProperties>
</file>