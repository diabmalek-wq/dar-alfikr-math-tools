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2-3: Factored Form of a Quadratic Function.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(Factored form shows the zeros; Solve by factoring; Positive and negative intervals), Practice (Practice, Apply, Investigate), Production (the Red Sea dive-tour profit),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factored form, negative interval, positive interval, x-intercepts, zeros (of a quadratic function), zero-product property.
Standards are on the next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Standards are quoted verbatim from the curriculum map. Students do not need to read them aloud; point to the ones that match today's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(x+2)(x-5) = x^2 -5x +2x -10 = x^2 - 3x - 10. Q2: two numbers with product 6 and sum 5 are 2 and 3, so (x+2)(x+3). Q3: a = 0 or b = 0. Verbal misconceptions: Q1 students write x^2 - 10 (they forget the middle terms) or x^2 + 3x - 10 (sign slip on the middle term); Q2 students pick 1 and 6 (product right, sum wrong); Q3 students answer 'both are 0' - say 'at least one'. Adaptive routing: if &gt;30% miss Q1, spend 2 minutes on expanding two brackets with an area model, then go to slide 6 / block 1; if &gt;30% miss Q2, pause on slide 7 / block 2 and rehearse the product-and-sum factor search before examples; if &gt;30% miss Q3, go straight to slide 7 / block 2 and teach the zero-product property first. If all three are secure for nearly everyone, move quickly through slide 6 and start the Investigate route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Worked solutions. Example 1: f(x) = (x+1)(x-3). Set each bracket to 0: x+1 = 0 gives x = -1; x-3 = 0 gives x = 3. The x-intercepts are (-1, 0) and (3, 0). Example 2: the axis of symmetry is halfway between the zeros: (-1 + 3)/2 = 1, so x = 1. Substitute x = 1: f(1) = (1+1)(1-3) = (2)(-2) = -4, so the vertex is (1, -4). Extra check on the figure: the y-intercept is f(0) = (1)(-3) = -3, and expanded f(x) = x^2 - 2x - 3, the same parabola as in standard form. Point to the figure: the two orange points are the zeros, the teal point is the vertex, the gold dashed line is the axis. Verbal misconceptions: (1) the zero of (x+1) is -1, not +1 - the zero is the value that makes the bracket 0; (2) zeros are x-values, the x-intercepts are the points (-1, 0) and (3, 0); (3) the vertex y-value comes from substituting the axis value, not from averaging the zeros' y-values; (4) a changes the stretch and direction but never moves the zeros. Adaptive routing: if &gt;30% give 1 and -3 (wrong signs) for Example 1, repeat Example 1 with f(x) = (x-2)(x+5) before moving on; if &gt;30% miss Q1 of the Mastery Gate come back to this slide (slide 6 / block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Worked solutions. Example 1: x^2 - 7x + 12 = 0. Need two numbers with product 12 and sum -7: -3 and -4. So (x-3)(x-4) = 0, hence x = 3 or x = 4. Check: 9 - 21 + 12 = 0 and 16 - 28 + 12 = 0. Example 2: 2x^2 - 2x - 12 = 0. Take out the common factor 2: 2(x^2 - x - 6) = 0. Product -6, sum -1: -3 and 2, so 2(x-3)(x+2) = 0, giving x = 3 or x = -2. The factor 2 never equals 0, so it gives no solution. Check: 2(9) - 6 - 12 = 0 and 2(4) + 4 - 12 = 0. Example 3: x^2 + 3x = 10 is not yet equal to 0. Subtract 10: x^2 + 3x - 10 = 0. Product -10, sum 3: 5 and -2, so (x+5)(x-2) = 0, giving x = -5 or x = 2. Check: 25 - 15 - 10 = 0 and 4 + 6 - 10 = 0. Verbal misconceptions: (1) get 0 on one side first - for (x-2)(x-3) = 6 you can NOT write x-2 = 6; (2) do not drop the second solution; (3) a common factor is not a solution, so do not write x = 2; (4) sign of the bracket versus sign of the solution: (x+5) gives x = -5. Adaptive routing: if &gt;30% miss Q2 of the Mastery Gate come back to this slide (slide 7 / block 2); if &gt;30% write x-2 = 6 style answers, show Example 3 again and use the smart-production non-example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Worked solutions. Example 1: f(x) = (x+1)(x-3), zeros -1 and 3 give three intervals. f(0) = -3 &lt; 0, so f is negative for -1 &lt; x &lt; 3; f(-2) = (-1)(-5) = 5 &gt; 0 and f(4) = (5)(1) = 5 &gt; 0, so f is positive for x &lt; -1 or x &gt; 3. Example 2: f(x) = -(x-1)(x+4), zeros 1 and -4. f(0) = -(-1)(4) = 4 &gt; 0, so f is positive for -4 &lt; x &lt; 1; f(-5) = -(-6)(-1) = -6 &lt; 0 and f(2) = -(1)(6) = -6 &lt; 0, so f is negative for x &lt; -4 or x &gt; 1. The leading coefficient is negative, so the parabola opens down and the pattern flips. Example 3: x^2 - 6x + 8 = (x-2)(x-4), zeros 2 and 4. f(3) = 9 - 18 + 8 = -1 &lt; 0, so f is negative for 2 &lt; x &lt; 4 and positive for x &lt; 2 or x &gt; 4. Verbal misconceptions: (1) positive and negative describe the OUTPUT f(x), not x; (2) the zeros themselves are neither positive nor negative, so use open intervals with strict inequalities; (3) the two outside intervals are joined with 'or', never 'and'; (4) a negative a flips the pattern. Adaptive routing: if &gt;30% miss Q3 of the Mastery Gate come back to this slide (slide 8 / block 3); if &gt;30% flip the Example 2 answer, redo it by testing one point in each interval before looking at the sign of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x^2 + 8x + 15 = (x+3)(x+5) = 0, so x = -3 or x = -5; check 9 - 24 + 15 = 0 and 25 - 40 + 15 = 0. Practice 2: set x+3 = 0 and x-2 = 0, zeros -3 and 2, x-intercepts (-3, 0) and (2, 0). Apply 1: f(x) = a(x+2)(x-4); f(0) = a(2)(-4) = -8a = -16, so a = 2 and f(x) = 2(x+2)(x-4); check f(-2) = 0 and f(4) = 0. Apply 2: x^2 - x - 6 = (x-3)(x+2), zeros -2 and 3, a = 1 &gt; 0 so negative for -2 &lt; x &lt; 3 (check f(0) = -6). Investigate 1: the zeros p and q are the same distance from the axis (symmetry), so the axis is their midpoint (p+q)/2. Investigate 2: the product equals 6, not 0, so the zero-product property does not apply; expanding gives x^2 - 5x = 0, so x = 0 or x = 5 (check (0-2)(0-3) = 6 and (5-2)(5-3) = 6). Verbal misconceptions: students choose the route that feels comfortable - remind them they may switch at any time; the factor pair with the right product but wrong sum; reading the zero of (x+3) as 3. Adaptive routing: if &gt;30% of Practice students miss item 1, route them to slide 7 / block 2 Example 1 with a partner; if &gt;30% of Apply students cannot find a, return to slide 6 / block 1 and substitute the point; if Investigate stalls, point to the figure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Task 1: set -(x-20)(x-140) = 0, so x = 20 or x = 140; the x-intercepts are (20, 0) and (140, 0): at 20 SAR and 140 SAR the profit is exactly 0 (break-even). Task 2: a = -1 &lt; 0, so the parabola opens down and P &gt; 0 between the zeros: profit for 20 &lt; x &lt; 140 (strict inequalities; at 20 and 140 the profit is 0). The axis is x = (20 + 140)/2 = 80, so the best price is 80 SAR. Largest profit P(80) = -(60)(-60) = 3600 SAR. Task 3: P(100) = -(80)(-40) = 3200 SAR, which is 400 SAR less than the largest profit 3600 SAR (100 is 20 SAR above the axis value 80). Extra: P(50) = 2700 SAR and P(160) = -2800 SAR (a loss). Verbal misconceptions: students forget the minus sign in front of the factors and get a minimum instead of a maximum; they read the zeros of -(x-20) as -20; they give the maximum value as x = 80 instead of 3600 SAR - the maximum is the output, 80 is the price. Adaptive routing: if &gt;30% cannot find the best price, return to slide 6 / block 1 (axis halfway between zeros); if &gt;30% write the profit interval with 'and', return to slide 8 / block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zeros x = -6 and x = 2; axis x = (-6 + 2)/2 = -2. Q2: x^2 - x - 12 = (x-4)(x+3) = 0, so x = 4 or x = -3 (check 16 - 4 - 12 = 0 and 9 + 3 - 12 = 0). Q3: zeros -2 and 5; a = 1 &gt; 0 so f is negative between them: -2 &lt; x &lt; 5 (check f(0) = (2)(-5) = -10 &lt; 0). Traps to expect: Q1 zeros 6 and -2 (sign of bracket misread) or axis -4 (sum instead of half the sum); Q2 x = -4 or x = 3 (signs swapped) or x = 12; Q3 x &lt; -2 or x &gt; 5 (outside interval) or the closed interval with 'less than or equal to'. Adaptive routing: Q1 missed -&gt; slide 6 / block 1; Q2 missed -&gt; slide 7 / block 2; Q3 missed -&gt; slide 8 / block 3. Score live, route privately through the LMS, and never announce the clinic list to the class. If &gt;30% miss any one question, reteach that block with a new example at the start of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ticket solutions. Q1: x^2 - 6x + 5 = (x-1)(x-5) = 0, so x = 1 or x = 5 (check 1 - 6 + 5 = 0 and 25 - 30 + 5 = 0). Q2: a = 1 &gt; 0, so the expression is negative between the zeros: 1 &lt; x &lt; 5 (check f(3) = 9 - 18 + 5 = -4 &lt; 0). Non-example for the creation task: solving (x-2)(x-3) = 6 as x = 8 or x = 9 is wrong because the product is 6, not 0; expanding gives x^2 - 5x = 0, so x = 0 or x = 5, and (0-2)(0-3) = 6, (5-2)(5-3) = 6. Verbal misconceptions: students answer x = -1 and x = -5 (signs of the brackets copied as solutions); they say 'between 1 and 5' without strict inequality; they write the interval as 1 &lt; x &lt; 5 only for an upward parabola and forget to check a. Adaptive routing: if &gt;30% miss exit Q1, start the next lesson with a 10-minute factoring clinic using slide 7 / block 2; if &gt;30% miss exit Q2, reteach intervals using slide 8 / block 3. If time is short, cut Smart Production and carry it over, never the Mastery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(grid-in or four options, Advanced Math): y = a(x+3)(x-5); substitute (1, -32): -32 = a(1+3)(1-5) = a(4)(-4) = -16a, so a = 2, and y = 2(x+3)(x-5). Trap: writing y = a(x-3)(x+5) (signs of zeros reversed), which gives the wrong a = 8/3 because a(-2)(6) = -32, or forgetting a and answering y = (x+3)(x-5), which passes through (1, -16), not (1, -32). GAT/Qudurat (quantitative comparison: A greater, B greater, equal, cannot be determined): x^2 - x - 6 = (x-3)(x+2) = 0, so x = 3 or x = -2; the larger is 3, so A = B = 3, answer: equal. Trap: choosing -2 as the larger, taking x = 6 from the constant term, or answering 'cannot be determined' because there are two solutions. SAAT/Tahsili (four options, no calculator): x^2 - 5x + 6 = (x-2)(x-3) = 0, solutions 2 and 3, sum 5. Trap: the product 6 (the constant term), the sum with the sign of b (-5), or the difference 1. Verbal misconceptions: the single most tested idea is to set the factored expression equal to 0 and read the zeros, watching the sign inside each bracket. Adaptive routing: if &gt;30% miss the SAT item, go to slide 6 / block 1 (writing a function from zeros); if &gt;30% miss the GAT item, go to slide 7 / block 2; if &gt;30% miss the SAAT item, use Vieta-style checking: the sum of the solutions equals -b/a.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Factor, set each bracket to 0, and read the zeros, the axis and the intervals where a quadratic is positive or negative. Collect the Time to Check responses. Next lesson: 2-4 Overview of Complex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1.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slideLayout" Target="../slideLayouts/slideLayout1.xml"/><Relationship Id="rId1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10  ·  ALGEBRA II  ·  TOPIC 2</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2-3</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3800" b="1" dirty="0">
                <a:solidFill>
                  <a:srgbClr val="1F3864"/>
                </a:solidFill>
                <a:latin typeface="Cambria" pitchFamily="34" charset="0"/>
                <a:ea typeface="Cambria" pitchFamily="34" charset="-122"/>
                <a:cs typeface="Cambria" pitchFamily="34" charset="-120"/>
              </a:rPr>
              <a:t>Factored Form of a</a:t>
            </a:r>
            <a:endParaRPr lang="en-US" sz="3800" dirty="0"/>
          </a:p>
          <a:p>
            <a:pPr indent="0" marL="0">
              <a:buNone/>
            </a:pPr>
            <a:r>
              <a:rPr lang="en-US" sz="3800" b="1" dirty="0">
                <a:solidFill>
                  <a:srgbClr val="1F3864"/>
                </a:solidFill>
                <a:latin typeface="Cambria" pitchFamily="34" charset="0"/>
                <a:ea typeface="Cambria" pitchFamily="34" charset="-122"/>
                <a:cs typeface="Cambria" pitchFamily="34" charset="-120"/>
              </a:rPr>
              <a:t>Quadratic Function</a:t>
            </a:r>
            <a:endParaRPr lang="en-US" sz="38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Quadratic Functions and Equations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2-3/kbde1a2a278.png">    </p:cNvPr>
          <p:cNvPicPr>
            <a:picLocks noChangeAspect="1"/>
          </p:cNvPicPr>
          <p:nvPr/>
        </p:nvPicPr>
        <p:blipFill>
          <a:blip r:embed="rId4"/>
          <a:stretch>
            <a:fillRect/>
          </a:stretch>
        </p:blipFill>
        <p:spPr>
          <a:xfrm>
            <a:off x="8412480" y="3017520"/>
            <a:ext cx="3291840" cy="410986"/>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Solve quadratic equations by factoring.</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Find the zeros of a quadratic function by factoring.</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Determine the intervals where a quadratic function is positive or negative.</a:t>
            </a:r>
            <a:endParaRPr lang="en-US" sz="1700" dirty="0"/>
          </a:p>
        </p:txBody>
      </p:sp>
      <p:sp>
        <p:nvSpPr>
          <p:cNvPr id="14" name="Shape 9"/>
          <p:cNvSpPr/>
          <p:nvPr/>
        </p:nvSpPr>
        <p:spPr>
          <a:xfrm>
            <a:off x="6400800" y="1280160"/>
            <a:ext cx="5303520" cy="1545336"/>
          </a:xfrm>
          <a:prstGeom prst="roundRect">
            <a:avLst>
              <a:gd name="adj" fmla="val 7101"/>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factored form</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negative interval</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positive interval</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x-intercepts</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zeros (of a quadratic function)</a:t>
            </a:r>
            <a:endParaRPr lang="en-US" sz="95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zero-product property</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Standards</a:t>
            </a:r>
            <a:endParaRPr lang="en-US" sz="3000" dirty="0"/>
          </a:p>
        </p:txBody>
      </p:sp>
      <p:sp>
        <p:nvSpPr>
          <p:cNvPr id="11" name="Shape 6"/>
          <p:cNvSpPr/>
          <p:nvPr/>
        </p:nvSpPr>
        <p:spPr>
          <a:xfrm>
            <a:off x="457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600200"/>
            <a:ext cx="4983480" cy="452628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HSA.SSE.A.1.B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Interpret complicated expressions by viewing one or more of their parts as a single entity.</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HSA.SSE.B.3.A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Factor a quadratic expression to reveal the zeros of the function it defines.</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HSA.APR.B.3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Identify zeros of polynomials when suitable factorizations are available, and use the zeros to construct a rough graph of the function defined by the polynomial.</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HSF.IF.C.7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Graph functions expressed symbolically and show key features of the graph, by hand in simple cases and using technology for more complicated cases.</a:t>
            </a:r>
            <a:endParaRPr lang="en-US" sz="1600" dirty="0"/>
          </a:p>
        </p:txBody>
      </p:sp>
      <p:sp>
        <p:nvSpPr>
          <p:cNvPr id="13" name="Shape 8"/>
          <p:cNvSpPr/>
          <p:nvPr/>
        </p:nvSpPr>
        <p:spPr>
          <a:xfrm>
            <a:off x="6172200" y="1371600"/>
            <a:ext cx="5532120" cy="4937760"/>
          </a:xfrm>
          <a:prstGeom prst="roundRect">
            <a:avLst>
              <a:gd name="adj" fmla="val 222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4" name="Text 9"/>
          <p:cNvSpPr txBox="1"/>
          <p:nvPr/>
        </p:nvSpPr>
        <p:spPr>
          <a:xfrm>
            <a:off x="6446520" y="1600200"/>
            <a:ext cx="4983480" cy="452628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HSF.IF.C.7.A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Graph linear and quadratic functions and show intercepts, maxima, and minima.</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HSA.SSE.A.2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Use the structure of an expression to identify ways to rewrite it. For example, see x4 - y4 as (x2)2 - (y2)2, thus recognizing it as a difference of squares that can be factored as (x2 - y2)(x2 + y2).</a:t>
            </a:r>
            <a:endParaRPr lang="en-US" sz="1600" dirty="0"/>
          </a:p>
          <a:p>
            <a:pPr indent="0" marL="0">
              <a:buNone/>
            </a:pPr>
            <a:r>
              <a:rPr lang="en-US" sz="1600" b="1" dirty="0">
                <a:solidFill>
                  <a:srgbClr val="17A199"/>
                </a:solidFill>
                <a:latin typeface="Calibri" pitchFamily="34" charset="0"/>
                <a:ea typeface="Calibri" pitchFamily="34" charset="-122"/>
                <a:cs typeface="Calibri" pitchFamily="34" charset="-120"/>
              </a:rPr>
              <a:t>HSF.IF.C.8.A  </a:t>
            </a:r>
            <a:pPr indent="0" marL="0">
              <a:spcAft>
                <a:spcPts val="900"/>
              </a:spcAft>
              <a:buNone/>
            </a:pPr>
            <a:r>
              <a:rPr lang="en-US" sz="1600" dirty="0">
                <a:solidFill>
                  <a:srgbClr val="222E2D"/>
                </a:solidFill>
                <a:latin typeface="Calibri" pitchFamily="34" charset="0"/>
                <a:ea typeface="Calibri" pitchFamily="34" charset="-122"/>
                <a:cs typeface="Calibri" pitchFamily="34" charset="-120"/>
              </a:rPr>
              <a:t>Use the process of factoring and completing the square in a quadratic function to show zeros, extreme values, and symmetry of the graph, and interpret these in terms of a context.</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3/k5090862a36.png">    </p:cNvPr>
          <p:cNvPicPr>
            <a:picLocks noChangeAspect="1"/>
          </p:cNvPicPr>
          <p:nvPr/>
        </p:nvPicPr>
        <p:blipFill>
          <a:blip r:embed="rId3"/>
          <a:stretch>
            <a:fillRect/>
          </a:stretch>
        </p:blipFill>
        <p:spPr>
          <a:xfrm>
            <a:off x="1051560" y="2697480"/>
            <a:ext cx="2468880" cy="380390"/>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3/k75b363ce65.png">    </p:cNvPr>
          <p:cNvPicPr>
            <a:picLocks noChangeAspect="1"/>
          </p:cNvPicPr>
          <p:nvPr/>
        </p:nvPicPr>
        <p:blipFill>
          <a:blip r:embed="rId4"/>
          <a:stretch>
            <a:fillRect/>
          </a:stretch>
        </p:blipFill>
        <p:spPr>
          <a:xfrm>
            <a:off x="4729277" y="2697480"/>
            <a:ext cx="2611526" cy="358445"/>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3/k341213c447.png">    </p:cNvPr>
          <p:cNvPicPr>
            <a:picLocks noChangeAspect="1"/>
          </p:cNvPicPr>
          <p:nvPr/>
        </p:nvPicPr>
        <p:blipFill>
          <a:blip r:embed="rId5"/>
          <a:stretch>
            <a:fillRect/>
          </a:stretch>
        </p:blipFill>
        <p:spPr>
          <a:xfrm>
            <a:off x="8092440" y="2697480"/>
            <a:ext cx="3383280" cy="283933"/>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are answered without a calculator, and you can say why a product equal to 0 forces one of its factors to be 0.</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Factored form shows the zeros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3/kbde1a2a278.png">    </p:cNvPr>
          <p:cNvPicPr>
            <a:picLocks noChangeAspect="1"/>
          </p:cNvPicPr>
          <p:nvPr/>
        </p:nvPicPr>
        <p:blipFill>
          <a:blip r:embed="rId3"/>
          <a:stretch>
            <a:fillRect/>
          </a:stretch>
        </p:blipFill>
        <p:spPr>
          <a:xfrm>
            <a:off x="1634947" y="2141525"/>
            <a:ext cx="3046781" cy="380390"/>
          </a:xfrm>
          <a:prstGeom prst="rect">
            <a:avLst/>
          </a:prstGeom>
        </p:spPr>
      </p:pic>
      <p:pic>
        <p:nvPicPr>
          <p:cNvPr id="31" name="Image 3" descr="m_L2-3/ka78ce8eb1b.png">    </p:cNvPr>
          <p:cNvPicPr>
            <a:picLocks noChangeAspect="1"/>
          </p:cNvPicPr>
          <p:nvPr/>
        </p:nvPicPr>
        <p:blipFill>
          <a:blip r:embed="rId4"/>
          <a:stretch>
            <a:fillRect/>
          </a:stretch>
        </p:blipFill>
        <p:spPr>
          <a:xfrm>
            <a:off x="5321808" y="1998878"/>
            <a:ext cx="5204765" cy="665683"/>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L2-3_factored.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L2-3/k8d24266f98.png">    </p:cNvPr>
          <p:cNvPicPr>
            <a:picLocks noChangeAspect="1"/>
          </p:cNvPicPr>
          <p:nvPr/>
        </p:nvPicPr>
        <p:blipFill>
          <a:blip r:embed="rId6"/>
          <a:stretch>
            <a:fillRect/>
          </a:stretch>
        </p:blipFill>
        <p:spPr>
          <a:xfrm>
            <a:off x="4762213" y="3566160"/>
            <a:ext cx="3048573" cy="767328"/>
          </a:xfrm>
          <a:prstGeom prst="rect">
            <a:avLst/>
          </a:prstGeom>
        </p:spPr>
      </p:pic>
      <p:pic>
        <p:nvPicPr>
          <p:cNvPr id="37" name="Image 6" descr="m_L2-3/k8d40491274.png">    </p:cNvPr>
          <p:cNvPicPr>
            <a:picLocks noChangeAspect="1"/>
          </p:cNvPicPr>
          <p:nvPr/>
        </p:nvPicPr>
        <p:blipFill>
          <a:blip r:embed="rId7"/>
          <a:stretch>
            <a:fillRect/>
          </a:stretch>
        </p:blipFill>
        <p:spPr>
          <a:xfrm>
            <a:off x="4966472" y="4488936"/>
            <a:ext cx="2640056" cy="269931"/>
          </a:xfrm>
          <a:prstGeom prst="rect">
            <a:avLst/>
          </a:prstGeom>
        </p:spPr>
      </p:pic>
      <p:pic>
        <p:nvPicPr>
          <p:cNvPr id="38" name="Image 7" descr="m_L2-3/kc2c7a067bc.png">    </p:cNvPr>
          <p:cNvPicPr>
            <a:picLocks noChangeAspect="1"/>
          </p:cNvPicPr>
          <p:nvPr/>
        </p:nvPicPr>
        <p:blipFill>
          <a:blip r:embed="rId8"/>
          <a:stretch>
            <a:fillRect/>
          </a:stretch>
        </p:blipFill>
        <p:spPr>
          <a:xfrm>
            <a:off x="5070165" y="4914315"/>
            <a:ext cx="2432670" cy="269931"/>
          </a:xfrm>
          <a:prstGeom prst="rect">
            <a:avLst/>
          </a:prstGeom>
        </p:spPr>
      </p:pic>
      <p:pic>
        <p:nvPicPr>
          <p:cNvPr id="39" name="Image 8" descr="m_L2-3/k00362f02a6.png">    </p:cNvPr>
          <p:cNvPicPr>
            <a:picLocks noChangeAspect="1"/>
          </p:cNvPicPr>
          <p:nvPr/>
        </p:nvPicPr>
        <p:blipFill>
          <a:blip r:embed="rId9"/>
          <a:stretch>
            <a:fillRect/>
          </a:stretch>
        </p:blipFill>
        <p:spPr>
          <a:xfrm>
            <a:off x="4709160" y="5339694"/>
            <a:ext cx="3154680" cy="331736"/>
          </a:xfrm>
          <a:prstGeom prst="rect">
            <a:avLst/>
          </a:prstGeom>
        </p:spPr>
      </p:pic>
      <p:sp>
        <p:nvSpPr>
          <p:cNvPr id="40"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2" name="Image 9" descr="m_L2-3/k1d70703654.png">    </p:cNvPr>
          <p:cNvPicPr>
            <a:picLocks noChangeAspect="1"/>
          </p:cNvPicPr>
          <p:nvPr/>
        </p:nvPicPr>
        <p:blipFill>
          <a:blip r:embed="rId10"/>
          <a:stretch>
            <a:fillRect/>
          </a:stretch>
        </p:blipFill>
        <p:spPr>
          <a:xfrm>
            <a:off x="8366760" y="3566160"/>
            <a:ext cx="3154680" cy="273444"/>
          </a:xfrm>
          <a:prstGeom prst="rect">
            <a:avLst/>
          </a:prstGeom>
        </p:spPr>
      </p:pic>
      <p:pic>
        <p:nvPicPr>
          <p:cNvPr id="43" name="Image 10" descr="m_L2-3/kf7195764f7.png">    </p:cNvPr>
          <p:cNvPicPr>
            <a:picLocks noChangeAspect="1"/>
          </p:cNvPicPr>
          <p:nvPr/>
        </p:nvPicPr>
        <p:blipFill>
          <a:blip r:embed="rId11"/>
          <a:stretch>
            <a:fillRect/>
          </a:stretch>
        </p:blipFill>
        <p:spPr>
          <a:xfrm>
            <a:off x="8974653" y="3995052"/>
            <a:ext cx="1938894" cy="618866"/>
          </a:xfrm>
          <a:prstGeom prst="rect">
            <a:avLst/>
          </a:prstGeom>
        </p:spPr>
      </p:pic>
      <p:pic>
        <p:nvPicPr>
          <p:cNvPr id="44" name="Image 11" descr="m_L2-3/k6732ebe6fb.png">    </p:cNvPr>
          <p:cNvPicPr>
            <a:picLocks noChangeAspect="1"/>
          </p:cNvPicPr>
          <p:nvPr/>
        </p:nvPicPr>
        <p:blipFill>
          <a:blip r:embed="rId12"/>
          <a:stretch>
            <a:fillRect/>
          </a:stretch>
        </p:blipFill>
        <p:spPr>
          <a:xfrm>
            <a:off x="8676742" y="4769366"/>
            <a:ext cx="2534717" cy="342351"/>
          </a:xfrm>
          <a:prstGeom prst="rect">
            <a:avLst/>
          </a:prstGeom>
        </p:spPr>
      </p:pic>
      <p:pic>
        <p:nvPicPr>
          <p:cNvPr id="45" name="Image 12" descr="m_L2-3/kf7c780b8fb.png">    </p:cNvPr>
          <p:cNvPicPr>
            <a:picLocks noChangeAspect="1"/>
          </p:cNvPicPr>
          <p:nvPr/>
        </p:nvPicPr>
        <p:blipFill>
          <a:blip r:embed="rId13"/>
          <a:stretch>
            <a:fillRect/>
          </a:stretch>
        </p:blipFill>
        <p:spPr>
          <a:xfrm>
            <a:off x="9099743" y="5267165"/>
            <a:ext cx="1688714"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Solve by factoring</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3/kb3f20e7828.png">    </p:cNvPr>
          <p:cNvPicPr>
            <a:picLocks noChangeAspect="1"/>
          </p:cNvPicPr>
          <p:nvPr/>
        </p:nvPicPr>
        <p:blipFill>
          <a:blip r:embed="rId3"/>
          <a:stretch>
            <a:fillRect/>
          </a:stretch>
        </p:blipFill>
        <p:spPr>
          <a:xfrm>
            <a:off x="1338682" y="2187245"/>
            <a:ext cx="3639312" cy="288950"/>
          </a:xfrm>
          <a:prstGeom prst="rect">
            <a:avLst/>
          </a:prstGeom>
        </p:spPr>
      </p:pic>
      <p:pic>
        <p:nvPicPr>
          <p:cNvPr id="31" name="Image 3" descr="m_L2-3/ke8c73c36d9.png">    </p:cNvPr>
          <p:cNvPicPr>
            <a:picLocks noChangeAspect="1"/>
          </p:cNvPicPr>
          <p:nvPr/>
        </p:nvPicPr>
        <p:blipFill>
          <a:blip r:embed="rId4"/>
          <a:stretch>
            <a:fillRect/>
          </a:stretch>
        </p:blipFill>
        <p:spPr>
          <a:xfrm>
            <a:off x="5618074" y="2141525"/>
            <a:ext cx="5204765" cy="38039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3/kbd35c2171f.png">    </p:cNvPr>
          <p:cNvPicPr>
            <a:picLocks noChangeAspect="1"/>
          </p:cNvPicPr>
          <p:nvPr/>
        </p:nvPicPr>
        <p:blipFill>
          <a:blip r:embed="rId5"/>
          <a:stretch>
            <a:fillRect/>
          </a:stretch>
        </p:blipFill>
        <p:spPr>
          <a:xfrm>
            <a:off x="792821" y="3566160"/>
            <a:ext cx="2986357" cy="338730"/>
          </a:xfrm>
          <a:prstGeom prst="rect">
            <a:avLst/>
          </a:prstGeom>
        </p:spPr>
      </p:pic>
      <p:pic>
        <p:nvPicPr>
          <p:cNvPr id="35" name="Image 5" descr="m_L2-3/kab3402b9b7.png">    </p:cNvPr>
          <p:cNvPicPr>
            <a:picLocks noChangeAspect="1"/>
          </p:cNvPicPr>
          <p:nvPr/>
        </p:nvPicPr>
        <p:blipFill>
          <a:blip r:embed="rId6"/>
          <a:stretch>
            <a:fillRect/>
          </a:stretch>
        </p:blipFill>
        <p:spPr>
          <a:xfrm>
            <a:off x="1176650" y="4060338"/>
            <a:ext cx="2218700" cy="342351"/>
          </a:xfrm>
          <a:prstGeom prst="rect">
            <a:avLst/>
          </a:prstGeom>
        </p:spPr>
      </p:pic>
      <p:pic>
        <p:nvPicPr>
          <p:cNvPr id="36" name="Image 6" descr="m_L2-3/k352bba555e.png">    </p:cNvPr>
          <p:cNvPicPr>
            <a:picLocks noChangeAspect="1"/>
          </p:cNvPicPr>
          <p:nvPr/>
        </p:nvPicPr>
        <p:blipFill>
          <a:blip r:embed="rId7"/>
          <a:stretch>
            <a:fillRect/>
          </a:stretch>
        </p:blipFill>
        <p:spPr>
          <a:xfrm>
            <a:off x="929762" y="4558138"/>
            <a:ext cx="2712476" cy="269931"/>
          </a:xfrm>
          <a:prstGeom prst="rect">
            <a:avLst/>
          </a:prstGeom>
        </p:spPr>
      </p:pic>
      <p:pic>
        <p:nvPicPr>
          <p:cNvPr id="37" name="Image 7" descr="m_L2-3/k2151502ea2.png">    </p:cNvPr>
          <p:cNvPicPr>
            <a:picLocks noChangeAspect="1"/>
          </p:cNvPicPr>
          <p:nvPr/>
        </p:nvPicPr>
        <p:blipFill>
          <a:blip r:embed="rId8"/>
          <a:stretch>
            <a:fillRect/>
          </a:stretch>
        </p:blipFill>
        <p:spPr>
          <a:xfrm>
            <a:off x="1397203" y="4983517"/>
            <a:ext cx="1777594" cy="246888"/>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2-3/k5e19372824.png">    </p:cNvPr>
          <p:cNvPicPr>
            <a:picLocks noChangeAspect="1"/>
          </p:cNvPicPr>
          <p:nvPr/>
        </p:nvPicPr>
        <p:blipFill>
          <a:blip r:embed="rId9"/>
          <a:stretch>
            <a:fillRect/>
          </a:stretch>
        </p:blipFill>
        <p:spPr>
          <a:xfrm>
            <a:off x="4514996" y="3566160"/>
            <a:ext cx="3131527" cy="338730"/>
          </a:xfrm>
          <a:prstGeom prst="rect">
            <a:avLst/>
          </a:prstGeom>
        </p:spPr>
      </p:pic>
      <p:pic>
        <p:nvPicPr>
          <p:cNvPr id="41" name="Image 9" descr="m_L2-3/k7ae6dfde06.png">    </p:cNvPr>
          <p:cNvPicPr>
            <a:picLocks noChangeAspect="1"/>
          </p:cNvPicPr>
          <p:nvPr/>
        </p:nvPicPr>
        <p:blipFill>
          <a:blip r:embed="rId10"/>
          <a:stretch>
            <a:fillRect/>
          </a:stretch>
        </p:blipFill>
        <p:spPr>
          <a:xfrm>
            <a:off x="5020788" y="4060338"/>
            <a:ext cx="2119945" cy="368686"/>
          </a:xfrm>
          <a:prstGeom prst="rect">
            <a:avLst/>
          </a:prstGeom>
        </p:spPr>
      </p:pic>
      <p:pic>
        <p:nvPicPr>
          <p:cNvPr id="42" name="Image 10" descr="m_L2-3/k2469cbccce.png">    </p:cNvPr>
          <p:cNvPicPr>
            <a:picLocks noChangeAspect="1"/>
          </p:cNvPicPr>
          <p:nvPr/>
        </p:nvPicPr>
        <p:blipFill>
          <a:blip r:embed="rId11"/>
          <a:stretch>
            <a:fillRect/>
          </a:stretch>
        </p:blipFill>
        <p:spPr>
          <a:xfrm>
            <a:off x="4905573" y="4584472"/>
            <a:ext cx="2350374" cy="342351"/>
          </a:xfrm>
          <a:prstGeom prst="rect">
            <a:avLst/>
          </a:prstGeom>
        </p:spPr>
      </p:pic>
      <p:pic>
        <p:nvPicPr>
          <p:cNvPr id="43" name="Image 11" descr="m_L2-3/kadc68ce34e.png">    </p:cNvPr>
          <p:cNvPicPr>
            <a:picLocks noChangeAspect="1"/>
          </p:cNvPicPr>
          <p:nvPr/>
        </p:nvPicPr>
        <p:blipFill>
          <a:blip r:embed="rId12"/>
          <a:stretch>
            <a:fillRect/>
          </a:stretch>
        </p:blipFill>
        <p:spPr>
          <a:xfrm>
            <a:off x="5084978" y="5082272"/>
            <a:ext cx="1991563" cy="269931"/>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L2-3/kc267c51f02.png">    </p:cNvPr>
          <p:cNvPicPr>
            <a:picLocks noChangeAspect="1"/>
          </p:cNvPicPr>
          <p:nvPr/>
        </p:nvPicPr>
        <p:blipFill>
          <a:blip r:embed="rId13"/>
          <a:stretch>
            <a:fillRect/>
          </a:stretch>
        </p:blipFill>
        <p:spPr>
          <a:xfrm>
            <a:off x="8627748" y="3566160"/>
            <a:ext cx="2495544" cy="338730"/>
          </a:xfrm>
          <a:prstGeom prst="rect">
            <a:avLst/>
          </a:prstGeom>
        </p:spPr>
      </p:pic>
      <p:pic>
        <p:nvPicPr>
          <p:cNvPr id="47" name="Image 13" descr="m_L2-3/k835702fb73.png">    </p:cNvPr>
          <p:cNvPicPr>
            <a:picLocks noChangeAspect="1"/>
          </p:cNvPicPr>
          <p:nvPr/>
        </p:nvPicPr>
        <p:blipFill>
          <a:blip r:embed="rId14"/>
          <a:stretch>
            <a:fillRect/>
          </a:stretch>
        </p:blipFill>
        <p:spPr>
          <a:xfrm>
            <a:off x="8855050" y="4060338"/>
            <a:ext cx="2040941" cy="322600"/>
          </a:xfrm>
          <a:prstGeom prst="rect">
            <a:avLst/>
          </a:prstGeom>
        </p:spPr>
      </p:pic>
      <p:pic>
        <p:nvPicPr>
          <p:cNvPr id="48" name="Image 14" descr="m_L2-3/kd1a69a944d.png">    </p:cNvPr>
          <p:cNvPicPr>
            <a:picLocks noChangeAspect="1"/>
          </p:cNvPicPr>
          <p:nvPr/>
        </p:nvPicPr>
        <p:blipFill>
          <a:blip r:embed="rId15"/>
          <a:stretch>
            <a:fillRect/>
          </a:stretch>
        </p:blipFill>
        <p:spPr>
          <a:xfrm>
            <a:off x="8767816" y="4538387"/>
            <a:ext cx="2215408" cy="342351"/>
          </a:xfrm>
          <a:prstGeom prst="rect">
            <a:avLst/>
          </a:prstGeom>
        </p:spPr>
      </p:pic>
      <p:pic>
        <p:nvPicPr>
          <p:cNvPr id="49" name="Image 15" descr="m_L2-3/kb2ff26ab4d.png">    </p:cNvPr>
          <p:cNvPicPr>
            <a:picLocks noChangeAspect="1"/>
          </p:cNvPicPr>
          <p:nvPr/>
        </p:nvPicPr>
        <p:blipFill>
          <a:blip r:embed="rId16"/>
          <a:stretch>
            <a:fillRect/>
          </a:stretch>
        </p:blipFill>
        <p:spPr>
          <a:xfrm>
            <a:off x="8879738" y="5036186"/>
            <a:ext cx="1991563" cy="2699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Positive and negative intervals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2-3/k8dffafa025.png">    </p:cNvPr>
          <p:cNvPicPr>
            <a:picLocks noChangeAspect="1"/>
          </p:cNvPicPr>
          <p:nvPr/>
        </p:nvPicPr>
        <p:blipFill>
          <a:blip r:embed="rId3"/>
          <a:stretch>
            <a:fillRect/>
          </a:stretch>
        </p:blipFill>
        <p:spPr>
          <a:xfrm>
            <a:off x="731520" y="2165677"/>
            <a:ext cx="4859963" cy="332087"/>
          </a:xfrm>
          <a:prstGeom prst="rect">
            <a:avLst/>
          </a:prstGeom>
        </p:spPr>
      </p:pic>
      <p:pic>
        <p:nvPicPr>
          <p:cNvPr id="31" name="Image 3" descr="m_L2-3/k1b34edd7e8.png">    </p:cNvPr>
          <p:cNvPicPr>
            <a:picLocks noChangeAspect="1"/>
          </p:cNvPicPr>
          <p:nvPr/>
        </p:nvPicPr>
        <p:blipFill>
          <a:blip r:embed="rId4"/>
          <a:stretch>
            <a:fillRect/>
          </a:stretch>
        </p:blipFill>
        <p:spPr>
          <a:xfrm>
            <a:off x="6231563" y="2180046"/>
            <a:ext cx="5198437" cy="303349"/>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2-3/k6ff2d44783.png">    </p:cNvPr>
          <p:cNvPicPr>
            <a:picLocks noChangeAspect="1"/>
          </p:cNvPicPr>
          <p:nvPr/>
        </p:nvPicPr>
        <p:blipFill>
          <a:blip r:embed="rId5"/>
          <a:stretch>
            <a:fillRect/>
          </a:stretch>
        </p:blipFill>
        <p:spPr>
          <a:xfrm>
            <a:off x="918981" y="3566160"/>
            <a:ext cx="2734038" cy="359469"/>
          </a:xfrm>
          <a:prstGeom prst="rect">
            <a:avLst/>
          </a:prstGeom>
        </p:spPr>
      </p:pic>
      <p:pic>
        <p:nvPicPr>
          <p:cNvPr id="35" name="Image 5" descr="m_L2-3/kd25a95243c.png">    </p:cNvPr>
          <p:cNvPicPr>
            <a:picLocks noChangeAspect="1"/>
          </p:cNvPicPr>
          <p:nvPr/>
        </p:nvPicPr>
        <p:blipFill>
          <a:blip r:embed="rId6"/>
          <a:stretch>
            <a:fillRect/>
          </a:stretch>
        </p:blipFill>
        <p:spPr>
          <a:xfrm>
            <a:off x="984077" y="4081077"/>
            <a:ext cx="2603845" cy="309433"/>
          </a:xfrm>
          <a:prstGeom prst="rect">
            <a:avLst/>
          </a:prstGeom>
        </p:spPr>
      </p:pic>
      <p:pic>
        <p:nvPicPr>
          <p:cNvPr id="36" name="Image 6" descr="m_L2-3/k478592bed6.png">    </p:cNvPr>
          <p:cNvPicPr>
            <a:picLocks noChangeAspect="1"/>
          </p:cNvPicPr>
          <p:nvPr/>
        </p:nvPicPr>
        <p:blipFill>
          <a:blip r:embed="rId7"/>
          <a:stretch>
            <a:fillRect/>
          </a:stretch>
        </p:blipFill>
        <p:spPr>
          <a:xfrm>
            <a:off x="640080" y="4545958"/>
            <a:ext cx="3291840" cy="240923"/>
          </a:xfrm>
          <a:prstGeom prst="rect">
            <a:avLst/>
          </a:prstGeom>
        </p:spPr>
      </p:pic>
      <p:pic>
        <p:nvPicPr>
          <p:cNvPr id="37" name="Image 7" descr="m_L2-3/k19d3ae4008.png">    </p:cNvPr>
          <p:cNvPicPr>
            <a:picLocks noChangeAspect="1"/>
          </p:cNvPicPr>
          <p:nvPr/>
        </p:nvPicPr>
        <p:blipFill>
          <a:blip r:embed="rId8"/>
          <a:stretch>
            <a:fillRect/>
          </a:stretch>
        </p:blipFill>
        <p:spPr>
          <a:xfrm>
            <a:off x="732252" y="4942329"/>
            <a:ext cx="3107497" cy="312725"/>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L2-3/k50b594fe14.png">    </p:cNvPr>
          <p:cNvPicPr>
            <a:picLocks noChangeAspect="1"/>
          </p:cNvPicPr>
          <p:nvPr/>
        </p:nvPicPr>
        <p:blipFill>
          <a:blip r:embed="rId9"/>
          <a:stretch>
            <a:fillRect/>
          </a:stretch>
        </p:blipFill>
        <p:spPr>
          <a:xfrm>
            <a:off x="4603135" y="3566160"/>
            <a:ext cx="2955249" cy="359469"/>
          </a:xfrm>
          <a:prstGeom prst="rect">
            <a:avLst/>
          </a:prstGeom>
        </p:spPr>
      </p:pic>
      <p:pic>
        <p:nvPicPr>
          <p:cNvPr id="41" name="Image 9" descr="m_L2-3/k4ad9c47f37.png">    </p:cNvPr>
          <p:cNvPicPr>
            <a:picLocks noChangeAspect="1"/>
          </p:cNvPicPr>
          <p:nvPr/>
        </p:nvPicPr>
        <p:blipFill>
          <a:blip r:embed="rId10"/>
          <a:stretch>
            <a:fillRect/>
          </a:stretch>
        </p:blipFill>
        <p:spPr>
          <a:xfrm>
            <a:off x="4778837" y="4081077"/>
            <a:ext cx="2603845" cy="309433"/>
          </a:xfrm>
          <a:prstGeom prst="rect">
            <a:avLst/>
          </a:prstGeom>
        </p:spPr>
      </p:pic>
      <p:pic>
        <p:nvPicPr>
          <p:cNvPr id="42" name="Image 10" descr="m_L2-3/kf724518157.png">    </p:cNvPr>
          <p:cNvPicPr>
            <a:picLocks noChangeAspect="1"/>
          </p:cNvPicPr>
          <p:nvPr/>
        </p:nvPicPr>
        <p:blipFill>
          <a:blip r:embed="rId11"/>
          <a:stretch>
            <a:fillRect/>
          </a:stretch>
        </p:blipFill>
        <p:spPr>
          <a:xfrm>
            <a:off x="4434840" y="4545958"/>
            <a:ext cx="3291840" cy="252472"/>
          </a:xfrm>
          <a:prstGeom prst="rect">
            <a:avLst/>
          </a:prstGeom>
        </p:spPr>
      </p:pic>
      <p:pic>
        <p:nvPicPr>
          <p:cNvPr id="43" name="Image 11" descr="m_L2-3/k37957c8019.png">    </p:cNvPr>
          <p:cNvPicPr>
            <a:picLocks noChangeAspect="1"/>
          </p:cNvPicPr>
          <p:nvPr/>
        </p:nvPicPr>
        <p:blipFill>
          <a:blip r:embed="rId12"/>
          <a:stretch>
            <a:fillRect/>
          </a:stretch>
        </p:blipFill>
        <p:spPr>
          <a:xfrm>
            <a:off x="4527012" y="4953877"/>
            <a:ext cx="3107497" cy="312725"/>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L2-3/k07b3217e89.png">    </p:cNvPr>
          <p:cNvPicPr>
            <a:picLocks noChangeAspect="1"/>
          </p:cNvPicPr>
          <p:nvPr/>
        </p:nvPicPr>
        <p:blipFill>
          <a:blip r:embed="rId13"/>
          <a:stretch>
            <a:fillRect/>
          </a:stretch>
        </p:blipFill>
        <p:spPr>
          <a:xfrm>
            <a:off x="8670953" y="3566160"/>
            <a:ext cx="2409133" cy="387120"/>
          </a:xfrm>
          <a:prstGeom prst="rect">
            <a:avLst/>
          </a:prstGeom>
        </p:spPr>
      </p:pic>
      <p:pic>
        <p:nvPicPr>
          <p:cNvPr id="47" name="Image 13" descr="m_L2-3/kd9e2b94c09.png">    </p:cNvPr>
          <p:cNvPicPr>
            <a:picLocks noChangeAspect="1"/>
          </p:cNvPicPr>
          <p:nvPr/>
        </p:nvPicPr>
        <p:blipFill>
          <a:blip r:embed="rId14"/>
          <a:stretch>
            <a:fillRect/>
          </a:stretch>
        </p:blipFill>
        <p:spPr>
          <a:xfrm>
            <a:off x="8571951" y="4108728"/>
            <a:ext cx="2607137" cy="342351"/>
          </a:xfrm>
          <a:prstGeom prst="rect">
            <a:avLst/>
          </a:prstGeom>
        </p:spPr>
      </p:pic>
      <p:pic>
        <p:nvPicPr>
          <p:cNvPr id="48" name="Image 14" descr="m_L2-3/kc40686c8d8.png">    </p:cNvPr>
          <p:cNvPicPr>
            <a:picLocks noChangeAspect="1"/>
          </p:cNvPicPr>
          <p:nvPr/>
        </p:nvPicPr>
        <p:blipFill>
          <a:blip r:embed="rId15"/>
          <a:stretch>
            <a:fillRect/>
          </a:stretch>
        </p:blipFill>
        <p:spPr>
          <a:xfrm>
            <a:off x="8229600" y="4606528"/>
            <a:ext cx="3291840" cy="259357"/>
          </a:xfrm>
          <a:prstGeom prst="rect">
            <a:avLst/>
          </a:prstGeom>
        </p:spPr>
      </p:pic>
      <p:pic>
        <p:nvPicPr>
          <p:cNvPr id="49" name="Image 15" descr="m_L2-3/kefe5cfe238.png">    </p:cNvPr>
          <p:cNvPicPr>
            <a:picLocks noChangeAspect="1"/>
          </p:cNvPicPr>
          <p:nvPr/>
        </p:nvPicPr>
        <p:blipFill>
          <a:blip r:embed="rId16"/>
          <a:stretch>
            <a:fillRect/>
          </a:stretch>
        </p:blipFill>
        <p:spPr>
          <a:xfrm>
            <a:off x="8428756" y="5021333"/>
            <a:ext cx="2893527" cy="312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2-3/k31f3f7c274.png">    </p:cNvPr>
          <p:cNvPicPr>
            <a:picLocks noChangeAspect="1"/>
          </p:cNvPicPr>
          <p:nvPr/>
        </p:nvPicPr>
        <p:blipFill>
          <a:blip r:embed="rId3"/>
          <a:stretch>
            <a:fillRect/>
          </a:stretch>
        </p:blipFill>
        <p:spPr>
          <a:xfrm>
            <a:off x="684886" y="2926080"/>
            <a:ext cx="3156509" cy="358445"/>
          </a:xfrm>
          <a:prstGeom prst="rect">
            <a:avLst/>
          </a:prstGeom>
        </p:spPr>
      </p:pic>
      <p:pic>
        <p:nvPicPr>
          <p:cNvPr id="34" name="Image 3" descr="m_L2-3/kbcc6388b00.png">    </p:cNvPr>
          <p:cNvPicPr>
            <a:picLocks noChangeAspect="1"/>
          </p:cNvPicPr>
          <p:nvPr/>
        </p:nvPicPr>
        <p:blipFill>
          <a:blip r:embed="rId4"/>
          <a:stretch>
            <a:fillRect/>
          </a:stretch>
        </p:blipFill>
        <p:spPr>
          <a:xfrm>
            <a:off x="571500" y="3558845"/>
            <a:ext cx="3383280" cy="319874"/>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each solution is checked by substitution and the zeros are also written as x-intercepts.</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2-3/k27634a4cd6.png">    </p:cNvPr>
          <p:cNvPicPr>
            <a:picLocks noChangeAspect="1"/>
          </p:cNvPicPr>
          <p:nvPr/>
        </p:nvPicPr>
        <p:blipFill>
          <a:blip r:embed="rId5"/>
          <a:stretch>
            <a:fillRect/>
          </a:stretch>
        </p:blipFill>
        <p:spPr>
          <a:xfrm>
            <a:off x="4366260" y="2926080"/>
            <a:ext cx="3383280" cy="226861"/>
          </a:xfrm>
          <a:prstGeom prst="rect">
            <a:avLst/>
          </a:prstGeom>
        </p:spPr>
      </p:pic>
      <p:pic>
        <p:nvPicPr>
          <p:cNvPr id="41" name="Image 5" descr="m_L2-3/kbf0df8f799.png">    </p:cNvPr>
          <p:cNvPicPr>
            <a:picLocks noChangeAspect="1"/>
          </p:cNvPicPr>
          <p:nvPr/>
        </p:nvPicPr>
        <p:blipFill>
          <a:blip r:embed="rId6"/>
          <a:stretch>
            <a:fillRect/>
          </a:stretch>
        </p:blipFill>
        <p:spPr>
          <a:xfrm>
            <a:off x="4366260" y="3427261"/>
            <a:ext cx="3383280" cy="279033"/>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function is checked by substituting a point and the interval is written with strict inequality signs.</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2-3/k7177e64a66.png">    </p:cNvPr>
          <p:cNvPicPr>
            <a:picLocks noChangeAspect="1"/>
          </p:cNvPicPr>
          <p:nvPr/>
        </p:nvPicPr>
        <p:blipFill>
          <a:blip r:embed="rId7"/>
          <a:stretch>
            <a:fillRect/>
          </a:stretch>
        </p:blipFill>
        <p:spPr>
          <a:xfrm>
            <a:off x="8161020" y="2926080"/>
            <a:ext cx="3383280" cy="375691"/>
          </a:xfrm>
          <a:prstGeom prst="rect">
            <a:avLst/>
          </a:prstGeom>
        </p:spPr>
      </p:pic>
      <p:pic>
        <p:nvPicPr>
          <p:cNvPr id="48" name="Image 7" descr="m_L2-3/k42f8b1f216.png">    </p:cNvPr>
          <p:cNvPicPr>
            <a:picLocks noChangeAspect="1"/>
          </p:cNvPicPr>
          <p:nvPr/>
        </p:nvPicPr>
        <p:blipFill>
          <a:blip r:embed="rId8"/>
          <a:stretch>
            <a:fillRect/>
          </a:stretch>
        </p:blipFill>
        <p:spPr>
          <a:xfrm>
            <a:off x="8161020" y="3576091"/>
            <a:ext cx="3383280" cy="503073"/>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argument uses the zero-product property or the symmetry of the zeros, not just a computed answer.</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the Red Sea dive-tour profit</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A Red Sea tourism operator off the Jeddah coast models its daily profit from a dive-boat tour as a quadratic function of the ticket price, in the spirit of Vision 2030 tourism growth. All numbers are model values invented for this lesson, not real company data.</a:t>
            </a:r>
            <a:endParaRPr lang="en-US" sz="1400" dirty="0"/>
          </a:p>
        </p:txBody>
      </p:sp>
      <p:pic>
        <p:nvPicPr>
          <p:cNvPr id="32" name="Image 2" descr="m_L2-3/kf2d91b9b84.png">    </p:cNvPr>
          <p:cNvPicPr>
            <a:picLocks noChangeAspect="1"/>
          </p:cNvPicPr>
          <p:nvPr/>
        </p:nvPicPr>
        <p:blipFill>
          <a:blip r:embed="rId3"/>
          <a:stretch>
            <a:fillRect/>
          </a:stretch>
        </p:blipFill>
        <p:spPr>
          <a:xfrm>
            <a:off x="1930481" y="3566160"/>
            <a:ext cx="2905597" cy="304312"/>
          </a:xfrm>
          <a:prstGeom prst="rect">
            <a:avLst/>
          </a:prstGeom>
        </p:spPr>
      </p:pic>
      <p:pic>
        <p:nvPicPr>
          <p:cNvPr id="33" name="Image 3" descr="m_L2-3/kfec3b2950d.png">    </p:cNvPr>
          <p:cNvPicPr>
            <a:picLocks noChangeAspect="1"/>
          </p:cNvPicPr>
          <p:nvPr/>
        </p:nvPicPr>
        <p:blipFill>
          <a:blip r:embed="rId4"/>
          <a:stretch>
            <a:fillRect/>
          </a:stretch>
        </p:blipFill>
        <p:spPr>
          <a:xfrm>
            <a:off x="2218700" y="3980200"/>
            <a:ext cx="2329160" cy="231160"/>
          </a:xfrm>
          <a:prstGeom prst="rect">
            <a:avLst/>
          </a:prstGeom>
        </p:spPr>
      </p:pic>
      <p:sp>
        <p:nvSpPr>
          <p:cNvPr id="34" name="Text 27"/>
          <p:cNvSpPr txBox="1"/>
          <p:nvPr/>
        </p:nvSpPr>
        <p:spPr>
          <a:xfrm>
            <a:off x="731520" y="4458249"/>
            <a:ext cx="5303520" cy="1759671"/>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two break-even ticket prices (the zeros) and write them as x-intercepts.</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prices where the tour makes a profit and the price that gives the largest profit.</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profit at a ticket price of 100 SAR and compare it with the largest profit.</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Both zeros are found by setting each bracket equal to 0 and are labelled with SAR.</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profit interval is written with strict inequalities and explained in a sentence.</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best price comes from the axis of symmetry and is checked by substitution.</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Every answer has units (SAR) and a sentence about what it means for the operator.</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the best price is halfway between the break-even prices; substitute it into the function to get the largest profit.</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2-3/kc9ba23d2d9.png">    </p:cNvPr>
          <p:cNvPicPr>
            <a:picLocks noChangeAspect="1"/>
          </p:cNvPicPr>
          <p:nvPr/>
        </p:nvPicPr>
        <p:blipFill>
          <a:blip r:embed="rId3"/>
          <a:stretch>
            <a:fillRect/>
          </a:stretch>
        </p:blipFill>
        <p:spPr>
          <a:xfrm>
            <a:off x="685800" y="2743200"/>
            <a:ext cx="3200400" cy="233737"/>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2-3/kf02f13b264.png">    </p:cNvPr>
          <p:cNvPicPr>
            <a:picLocks noChangeAspect="1"/>
          </p:cNvPicPr>
          <p:nvPr/>
        </p:nvPicPr>
        <p:blipFill>
          <a:blip r:embed="rId4"/>
          <a:stretch>
            <a:fillRect/>
          </a:stretch>
        </p:blipFill>
        <p:spPr>
          <a:xfrm>
            <a:off x="4601718" y="2743200"/>
            <a:ext cx="2866644" cy="340523"/>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2-3/k6562a18802.png">    </p:cNvPr>
          <p:cNvPicPr>
            <a:picLocks noChangeAspect="1"/>
          </p:cNvPicPr>
          <p:nvPr/>
        </p:nvPicPr>
        <p:blipFill>
          <a:blip r:embed="rId5"/>
          <a:stretch>
            <a:fillRect/>
          </a:stretch>
        </p:blipFill>
        <p:spPr>
          <a:xfrm>
            <a:off x="8183880" y="2743200"/>
            <a:ext cx="3200400" cy="223234"/>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one quadratic function in factored form with two integer zeros.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the zeros, the axis, the vertex and the intervals where it is positive and negative on the back.</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solve theirs and check it by substituting a point.</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solution is complete and correct, and your partner agrees with every step.</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2-3/k0c30df27d3.png">    </p:cNvPr>
          <p:cNvPicPr>
            <a:picLocks noChangeAspect="1"/>
          </p:cNvPicPr>
          <p:nvPr/>
        </p:nvPicPr>
        <p:blipFill>
          <a:blip r:embed="rId3"/>
          <a:stretch>
            <a:fillRect/>
          </a:stretch>
        </p:blipFill>
        <p:spPr>
          <a:xfrm>
            <a:off x="7802392" y="3703320"/>
            <a:ext cx="2317455" cy="286756"/>
          </a:xfrm>
          <a:prstGeom prst="rect">
            <a:avLst/>
          </a:prstGeom>
        </p:spPr>
      </p:pic>
      <p:pic>
        <p:nvPicPr>
          <p:cNvPr id="40" name="Image 3" descr="m_L2-3/kdc07e7af10.png">    </p:cNvPr>
          <p:cNvPicPr>
            <a:picLocks noChangeAspect="1"/>
          </p:cNvPicPr>
          <p:nvPr/>
        </p:nvPicPr>
        <p:blipFill>
          <a:blip r:embed="rId4"/>
          <a:stretch>
            <a:fillRect/>
          </a:stretch>
        </p:blipFill>
        <p:spPr>
          <a:xfrm>
            <a:off x="7558065" y="4081516"/>
            <a:ext cx="2806111" cy="286756"/>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2-4 Overview of Complex Numbers.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700" dirty="0">
                <a:solidFill>
                  <a:srgbClr val="5A6B69"/>
                </a:solidFill>
                <a:latin typeface="Calibri" pitchFamily="34" charset="0"/>
                <a:ea typeface="Calibri" pitchFamily="34" charset="-122"/>
                <a:cs typeface="Calibri" pitchFamily="34" charset="-120"/>
              </a:rPr>
              <a:t>HSA.SSE.A.1.B · HSA.SSE.B.3.A · HSA.APR.B.3 · HSF.IF.C.7 · HSF.IF.C.7.A · HSA.SSE.A.2 · HSF.IF.C.8.A</a:t>
            </a:r>
            <a:endParaRPr lang="en-US" sz="70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2-3/k3e9e297c0c.png">    </p:cNvPr>
          <p:cNvPicPr>
            <a:picLocks noChangeAspect="1"/>
          </p:cNvPicPr>
          <p:nvPr/>
        </p:nvPicPr>
        <p:blipFill>
          <a:blip r:embed="rId3"/>
          <a:stretch>
            <a:fillRect/>
          </a:stretch>
        </p:blipFill>
        <p:spPr>
          <a:xfrm>
            <a:off x="606247" y="2148840"/>
            <a:ext cx="3313786" cy="608990"/>
          </a:xfrm>
          <a:prstGeom prst="rect">
            <a:avLst/>
          </a:prstGeom>
        </p:spPr>
      </p:pic>
      <p:pic>
        <p:nvPicPr>
          <p:cNvPr id="15" name="Image 3" descr="m_L2-3/k94c06ff9d7.png">    </p:cNvPr>
          <p:cNvPicPr>
            <a:picLocks noChangeAspect="1"/>
          </p:cNvPicPr>
          <p:nvPr/>
        </p:nvPicPr>
        <p:blipFill>
          <a:blip r:embed="rId4"/>
          <a:stretch>
            <a:fillRect/>
          </a:stretch>
        </p:blipFill>
        <p:spPr>
          <a:xfrm>
            <a:off x="733806" y="2849270"/>
            <a:ext cx="3058668" cy="285293"/>
          </a:xfrm>
          <a:prstGeom prst="rect">
            <a:avLst/>
          </a:prstGeom>
        </p:spPr>
      </p:pic>
      <p:sp>
        <p:nvSpPr>
          <p:cNvPr id="16" name="Text 9"/>
          <p:cNvSpPr txBox="1"/>
          <p:nvPr/>
        </p:nvSpPr>
        <p:spPr>
          <a:xfrm>
            <a:off x="685800" y="3317443"/>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591763"/>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2-3/kf68f99be58.png">    </p:cNvPr>
          <p:cNvPicPr>
            <a:picLocks noChangeAspect="1"/>
          </p:cNvPicPr>
          <p:nvPr/>
        </p:nvPicPr>
        <p:blipFill>
          <a:blip r:embed="rId5"/>
          <a:stretch>
            <a:fillRect/>
          </a:stretch>
        </p:blipFill>
        <p:spPr>
          <a:xfrm>
            <a:off x="1097280" y="3591763"/>
            <a:ext cx="2100925" cy="304312"/>
          </a:xfrm>
          <a:prstGeom prst="rect">
            <a:avLst/>
          </a:prstGeom>
        </p:spPr>
      </p:pic>
      <p:sp>
        <p:nvSpPr>
          <p:cNvPr id="19" name="Text 11"/>
          <p:cNvSpPr txBox="1"/>
          <p:nvPr/>
        </p:nvSpPr>
        <p:spPr>
          <a:xfrm>
            <a:off x="685800" y="4436669"/>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2-3/k6377e54c8d.png">    </p:cNvPr>
          <p:cNvPicPr>
            <a:picLocks noChangeAspect="1"/>
          </p:cNvPicPr>
          <p:nvPr/>
        </p:nvPicPr>
        <p:blipFill>
          <a:blip r:embed="rId6"/>
          <a:stretch>
            <a:fillRect/>
          </a:stretch>
        </p:blipFill>
        <p:spPr>
          <a:xfrm>
            <a:off x="1097280" y="4436669"/>
            <a:ext cx="2601285" cy="304312"/>
          </a:xfrm>
          <a:prstGeom prst="rect">
            <a:avLst/>
          </a:prstGeom>
        </p:spPr>
      </p:pic>
      <p:sp>
        <p:nvSpPr>
          <p:cNvPr id="21" name="Text 12"/>
          <p:cNvSpPr txBox="1"/>
          <p:nvPr/>
        </p:nvSpPr>
        <p:spPr>
          <a:xfrm>
            <a:off x="685800" y="5281574"/>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2" name="Image 6" descr="m_L2-3/k90f70e8ea3.png">    </p:cNvPr>
          <p:cNvPicPr>
            <a:picLocks noChangeAspect="1"/>
          </p:cNvPicPr>
          <p:nvPr/>
        </p:nvPicPr>
        <p:blipFill>
          <a:blip r:embed="rId7"/>
          <a:stretch>
            <a:fillRect/>
          </a:stretch>
        </p:blipFill>
        <p:spPr>
          <a:xfrm>
            <a:off x="1097280" y="5281574"/>
            <a:ext cx="626181" cy="219456"/>
          </a:xfrm>
          <a:prstGeom prst="rect">
            <a:avLst/>
          </a:prstGeom>
        </p:spPr>
      </p:pic>
      <p:sp>
        <p:nvSpPr>
          <p:cNvPr id="23"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4"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5"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6" name="Image 7" descr="m_L2-3/k277b96dca1.png">    </p:cNvPr>
          <p:cNvPicPr>
            <a:picLocks noChangeAspect="1"/>
          </p:cNvPicPr>
          <p:nvPr/>
        </p:nvPicPr>
        <p:blipFill>
          <a:blip r:embed="rId8"/>
          <a:stretch>
            <a:fillRect/>
          </a:stretch>
        </p:blipFill>
        <p:spPr>
          <a:xfrm>
            <a:off x="4999025" y="2148840"/>
            <a:ext cx="2117750" cy="608990"/>
          </a:xfrm>
          <a:prstGeom prst="rect">
            <a:avLst/>
          </a:prstGeom>
        </p:spPr>
      </p:pic>
      <p:pic>
        <p:nvPicPr>
          <p:cNvPr id="27" name="Image 8" descr="m_L2-3/k7f400ed8f2.png">    </p:cNvPr>
          <p:cNvPicPr>
            <a:picLocks noChangeAspect="1"/>
          </p:cNvPicPr>
          <p:nvPr/>
        </p:nvPicPr>
        <p:blipFill>
          <a:blip r:embed="rId9"/>
          <a:stretch>
            <a:fillRect/>
          </a:stretch>
        </p:blipFill>
        <p:spPr>
          <a:xfrm>
            <a:off x="5732831" y="2849270"/>
            <a:ext cx="650138" cy="213970"/>
          </a:xfrm>
          <a:prstGeom prst="rect">
            <a:avLst/>
          </a:prstGeom>
        </p:spPr>
      </p:pic>
      <p:sp>
        <p:nvSpPr>
          <p:cNvPr id="28" name="Text 16"/>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9" name="Text 17"/>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30" name="Image 9" descr="m_L2-3/k37f62b2c39.png">    </p:cNvPr>
          <p:cNvPicPr>
            <a:picLocks noChangeAspect="1"/>
          </p:cNvPicPr>
          <p:nvPr/>
        </p:nvPicPr>
        <p:blipFill>
          <a:blip r:embed="rId10"/>
          <a:stretch>
            <a:fillRect/>
          </a:stretch>
        </p:blipFill>
        <p:spPr>
          <a:xfrm>
            <a:off x="4892040" y="3566160"/>
            <a:ext cx="1969252" cy="304312"/>
          </a:xfrm>
          <a:prstGeom prst="rect">
            <a:avLst/>
          </a:prstGeom>
        </p:spPr>
      </p:pic>
      <p:sp>
        <p:nvSpPr>
          <p:cNvPr id="31" name="Text 18"/>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2" name="Image 10" descr="m_L2-3/kadc68ce34e.png">    </p:cNvPr>
          <p:cNvPicPr>
            <a:picLocks noChangeAspect="1"/>
          </p:cNvPicPr>
          <p:nvPr/>
        </p:nvPicPr>
        <p:blipFill>
          <a:blip r:embed="rId11"/>
          <a:stretch>
            <a:fillRect/>
          </a:stretch>
        </p:blipFill>
        <p:spPr>
          <a:xfrm>
            <a:off x="4892040" y="4419600"/>
            <a:ext cx="1770278" cy="239939"/>
          </a:xfrm>
          <a:prstGeom prst="rect">
            <a:avLst/>
          </a:prstGeom>
        </p:spPr>
      </p:pic>
      <p:sp>
        <p:nvSpPr>
          <p:cNvPr id="33" name="Text 19"/>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4" name="Image 11" descr="m_L2-3/kc8bd363cdf.png">    </p:cNvPr>
          <p:cNvPicPr>
            <a:picLocks noChangeAspect="1"/>
          </p:cNvPicPr>
          <p:nvPr/>
        </p:nvPicPr>
        <p:blipFill>
          <a:blip r:embed="rId12"/>
          <a:stretch>
            <a:fillRect/>
          </a:stretch>
        </p:blipFill>
        <p:spPr>
          <a:xfrm>
            <a:off x="4892040" y="5273040"/>
            <a:ext cx="1190915" cy="228234"/>
          </a:xfrm>
          <a:prstGeom prst="rect">
            <a:avLst/>
          </a:prstGeom>
        </p:spPr>
      </p:pic>
      <p:sp>
        <p:nvSpPr>
          <p:cNvPr id="35"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6"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7"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8" name="Image 12" descr="m_L2-3/kda5918a4cd.png">    </p:cNvPr>
          <p:cNvPicPr>
            <a:picLocks noChangeAspect="1"/>
          </p:cNvPicPr>
          <p:nvPr/>
        </p:nvPicPr>
        <p:blipFill>
          <a:blip r:embed="rId13"/>
          <a:stretch>
            <a:fillRect/>
          </a:stretch>
        </p:blipFill>
        <p:spPr>
          <a:xfrm>
            <a:off x="8726576" y="2148840"/>
            <a:ext cx="2252167" cy="608990"/>
          </a:xfrm>
          <a:prstGeom prst="rect">
            <a:avLst/>
          </a:prstGeom>
        </p:spPr>
      </p:pic>
      <p:sp>
        <p:nvSpPr>
          <p:cNvPr id="39"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0"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1" name="Image 13" descr="m_L2-3/k3af0e7edae.png">    </p:cNvPr>
          <p:cNvPicPr>
            <a:picLocks noChangeAspect="1"/>
          </p:cNvPicPr>
          <p:nvPr/>
        </p:nvPicPr>
        <p:blipFill>
          <a:blip r:embed="rId14"/>
          <a:stretch>
            <a:fillRect/>
          </a:stretch>
        </p:blipFill>
        <p:spPr>
          <a:xfrm>
            <a:off x="8686800" y="3566160"/>
            <a:ext cx="1972178" cy="304312"/>
          </a:xfrm>
          <a:prstGeom prst="rect">
            <a:avLst/>
          </a:prstGeom>
        </p:spPr>
      </p:pic>
      <p:sp>
        <p:nvSpPr>
          <p:cNvPr id="42"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3" name="Image 14" descr="m_L2-3/kb9c05ef3ba.png">    </p:cNvPr>
          <p:cNvPicPr>
            <a:picLocks noChangeAspect="1"/>
          </p:cNvPicPr>
          <p:nvPr/>
        </p:nvPicPr>
        <p:blipFill>
          <a:blip r:embed="rId15"/>
          <a:stretch>
            <a:fillRect/>
          </a:stretch>
        </p:blipFill>
        <p:spPr>
          <a:xfrm>
            <a:off x="8686800" y="4419600"/>
            <a:ext cx="1580083" cy="219456"/>
          </a:xfrm>
          <a:prstGeom prst="rect">
            <a:avLst/>
          </a:prstGeom>
        </p:spPr>
      </p:pic>
      <p:sp>
        <p:nvSpPr>
          <p:cNvPr id="44"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5" name="Image 15" descr="m_L2-3/k1949d89099.png">    </p:cNvPr>
          <p:cNvPicPr>
            <a:picLocks noChangeAspect="1"/>
          </p:cNvPicPr>
          <p:nvPr/>
        </p:nvPicPr>
        <p:blipFill>
          <a:blip r:embed="rId16"/>
          <a:stretch>
            <a:fillRect/>
          </a:stretch>
        </p:blipFill>
        <p:spPr>
          <a:xfrm>
            <a:off x="8686800" y="5273040"/>
            <a:ext cx="1032906" cy="2370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Factor, set each bracket to 0, and read the zeros, the axis and the intervals where a quadratic is positive or negative.</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2-3 Factored Form of a Quadratic Function presentation</dc:title>
  <dc:subject>PptxGenJS Presentation</dc:subject>
  <dc:creator>Mr Malek Thiab</dc:creator>
  <cp:lastModifiedBy>Mr Malek Thiab</cp:lastModifiedBy>
  <cp:revision>1</cp:revision>
  <dcterms:created xsi:type="dcterms:W3CDTF">2026-10-04T20:08:37Z</dcterms:created>
  <dcterms:modified xsi:type="dcterms:W3CDTF">2026-10-04T20:08:37Z</dcterms:modified>
</cp:coreProperties>
</file>